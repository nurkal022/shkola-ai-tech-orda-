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35" d="100"/>
          <a:sy n="135" d="100"/>
        </p:scale>
        <p:origin x="1504" y="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9577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7144" y="0"/>
            <a:ext cx="5943600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5936456" y="0"/>
            <a:ext cx="7144" cy="51435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Text 3"/>
          <p:cNvSpPr/>
          <p:nvPr/>
        </p:nvSpPr>
        <p:spPr>
          <a:xfrm>
            <a:off x="428625" y="1318608"/>
            <a:ext cx="5086350" cy="1851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4974" b="1" kern="0" spc="-2" dirty="0">
                <a:solidFill>
                  <a:srgbClr val="1A1A1A"/>
                </a:solidFill>
              </a:rPr>
              <a:t>Векторные
базы
данных</a:t>
            </a:r>
            <a:endParaRPr lang="en-US" sz="4974" dirty="0"/>
          </a:p>
        </p:txBody>
      </p:sp>
      <p:sp>
        <p:nvSpPr>
          <p:cNvPr id="7" name="Text 4"/>
          <p:cNvSpPr/>
          <p:nvPr/>
        </p:nvSpPr>
        <p:spPr>
          <a:xfrm>
            <a:off x="428625" y="3384547"/>
            <a:ext cx="4069063" cy="618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4" dirty="0">
                <a:solidFill>
                  <a:srgbClr val="333333"/>
                </a:solidFill>
              </a:rPr>
              <a:t>Лекция 8: Введение, архитектура и </a:t>
            </a:r>
            <a:r>
              <a:rPr lang="en-US" sz="1704" dirty="0" err="1">
                <a:solidFill>
                  <a:srgbClr val="333333"/>
                </a:solidFill>
              </a:rPr>
              <a:t>сравнение</a:t>
            </a:r>
            <a:r>
              <a:rPr lang="en-US" sz="1704" dirty="0">
                <a:solidFill>
                  <a:srgbClr val="333333"/>
                </a:solidFill>
              </a:rPr>
              <a:t> </a:t>
            </a:r>
            <a:endParaRPr lang="en-US" sz="1704" dirty="0"/>
          </a:p>
        </p:txBody>
      </p:sp>
      <p:sp>
        <p:nvSpPr>
          <p:cNvPr id="8" name="Shape 5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428625" y="1037630"/>
            <a:ext cx="8286750" cy="2857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Что такое векторная база данных?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428625" y="1394817"/>
            <a:ext cx="3929063" cy="374868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" name="Shape 4"/>
          <p:cNvSpPr/>
          <p:nvPr/>
        </p:nvSpPr>
        <p:spPr>
          <a:xfrm>
            <a:off x="428625" y="1394817"/>
            <a:ext cx="71438" cy="3748683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8" name="Text 5"/>
          <p:cNvSpPr/>
          <p:nvPr/>
        </p:nvSpPr>
        <p:spPr>
          <a:xfrm>
            <a:off x="714375" y="1680567"/>
            <a:ext cx="3357563" cy="1680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1A1A1A"/>
                </a:solidFill>
              </a:rPr>
              <a:t>Специализированная система управления базами данных, оптимизированная для хранения и запроса </a:t>
            </a:r>
            <a:r>
              <a:rPr lang="en-US" sz="1397" b="1" dirty="0">
                <a:solidFill>
                  <a:srgbClr val="0052CC"/>
                </a:solidFill>
              </a:rPr>
              <a:t>векторных эмбеддингов</a:t>
            </a:r>
            <a:r>
              <a:rPr lang="en-US" sz="1486" dirty="0">
                <a:solidFill>
                  <a:srgbClr val="1A1A1A"/>
                </a:solidFill>
              </a:rPr>
              <a:t> (многомерных числовых массивов).</a:t>
            </a:r>
            <a:endParaRPr lang="en-US" sz="1486" dirty="0"/>
          </a:p>
        </p:txBody>
      </p:sp>
      <p:sp>
        <p:nvSpPr>
          <p:cNvPr id="9" name="Text 6"/>
          <p:cNvSpPr/>
          <p:nvPr/>
        </p:nvSpPr>
        <p:spPr>
          <a:xfrm>
            <a:off x="714375" y="3516120"/>
            <a:ext cx="3357563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555555"/>
                </a:solidFill>
              </a:rPr>
              <a:t>В отличие от традиционных БД, она предназначена для выполнения </a:t>
            </a:r>
            <a:r>
              <a:rPr lang="en-US" sz="1090" b="1" dirty="0">
                <a:solidFill>
                  <a:srgbClr val="0052CC"/>
                </a:solidFill>
              </a:rPr>
              <a:t>поиска по сходству</a:t>
            </a:r>
            <a:r>
              <a:rPr lang="en-US" sz="1159" dirty="0">
                <a:solidFill>
                  <a:srgbClr val="555555"/>
                </a:solidFill>
              </a:rPr>
              <a:t> (similarity search), а не точного совпадения.</a:t>
            </a:r>
            <a:endParaRPr lang="en-US" sz="1159" dirty="0"/>
          </a:p>
        </p:txBody>
      </p:sp>
      <p:sp>
        <p:nvSpPr>
          <p:cNvPr id="10" name="Text 7"/>
          <p:cNvSpPr/>
          <p:nvPr/>
        </p:nvSpPr>
        <p:spPr>
          <a:xfrm>
            <a:off x="4786313" y="1729680"/>
            <a:ext cx="39290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Ключевые отличия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4786313" y="2177951"/>
            <a:ext cx="39290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66666"/>
                </a:solidFill>
              </a:rPr>
              <a:t>Тип данных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4786313" y="2369046"/>
            <a:ext cx="111462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1A1A1A"/>
                </a:solidFill>
              </a:rPr>
              <a:t>Строки/Числа</a:t>
            </a:r>
            <a:endParaRPr lang="en-US" sz="1159" dirty="0"/>
          </a:p>
        </p:txBody>
      </p:sp>
      <p:sp>
        <p:nvSpPr>
          <p:cNvPr id="13" name="Shape 10"/>
          <p:cNvSpPr/>
          <p:nvPr/>
        </p:nvSpPr>
        <p:spPr>
          <a:xfrm>
            <a:off x="5972370" y="2422485"/>
            <a:ext cx="212806" cy="14466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Text 11"/>
          <p:cNvSpPr/>
          <p:nvPr/>
        </p:nvSpPr>
        <p:spPr>
          <a:xfrm>
            <a:off x="5972370" y="2422485"/>
            <a:ext cx="212806" cy="144661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VS</a:t>
            </a:r>
            <a:endParaRPr lang="en-US" sz="621" dirty="0"/>
          </a:p>
        </p:txBody>
      </p:sp>
      <p:sp>
        <p:nvSpPr>
          <p:cNvPr id="15" name="Text 12"/>
          <p:cNvSpPr/>
          <p:nvPr/>
        </p:nvSpPr>
        <p:spPr>
          <a:xfrm>
            <a:off x="6256613" y="2369046"/>
            <a:ext cx="130792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1A1A1A"/>
                </a:solidFill>
              </a:rPr>
              <a:t>Векторы (Arrays)</a:t>
            </a:r>
            <a:endParaRPr lang="en-US" sz="1159" dirty="0"/>
          </a:p>
        </p:txBody>
      </p:sp>
      <p:sp>
        <p:nvSpPr>
          <p:cNvPr id="16" name="Text 13"/>
          <p:cNvSpPr/>
          <p:nvPr/>
        </p:nvSpPr>
        <p:spPr>
          <a:xfrm>
            <a:off x="4786313" y="2911971"/>
            <a:ext cx="39290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66666"/>
                </a:solidFill>
              </a:rPr>
              <a:t>Метод поиска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4786313" y="3103066"/>
            <a:ext cx="257574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1A1A1A"/>
                </a:solidFill>
              </a:rPr>
              <a:t>Точное совпадение (Exact Match)</a:t>
            </a:r>
            <a:endParaRPr lang="en-US" sz="1159" dirty="0"/>
          </a:p>
        </p:txBody>
      </p:sp>
      <p:sp>
        <p:nvSpPr>
          <p:cNvPr id="18" name="Shape 15"/>
          <p:cNvSpPr/>
          <p:nvPr/>
        </p:nvSpPr>
        <p:spPr>
          <a:xfrm>
            <a:off x="7433490" y="3156505"/>
            <a:ext cx="212806" cy="14466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9" name="Text 16"/>
          <p:cNvSpPr/>
          <p:nvPr/>
        </p:nvSpPr>
        <p:spPr>
          <a:xfrm>
            <a:off x="7433490" y="3156505"/>
            <a:ext cx="212806" cy="144661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VS</a:t>
            </a:r>
            <a:endParaRPr lang="en-US" sz="621" dirty="0"/>
          </a:p>
        </p:txBody>
      </p:sp>
      <p:sp>
        <p:nvSpPr>
          <p:cNvPr id="20" name="Text 17"/>
          <p:cNvSpPr/>
          <p:nvPr/>
        </p:nvSpPr>
        <p:spPr>
          <a:xfrm>
            <a:off x="7717734" y="3103066"/>
            <a:ext cx="97975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1A1A1A"/>
                </a:solidFill>
              </a:rPr>
              <a:t>Ближайший</a:t>
            </a:r>
            <a:endParaRPr lang="en-US" sz="1159" dirty="0"/>
          </a:p>
        </p:txBody>
      </p:sp>
      <p:sp>
        <p:nvSpPr>
          <p:cNvPr id="21" name="Text 18"/>
          <p:cNvSpPr/>
          <p:nvPr/>
        </p:nvSpPr>
        <p:spPr>
          <a:xfrm>
            <a:off x="4786313" y="3317379"/>
            <a:ext cx="90039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1A1A1A"/>
                </a:solidFill>
              </a:rPr>
              <a:t>сосед (ANN)</a:t>
            </a:r>
            <a:endParaRPr lang="en-US" sz="1159" dirty="0"/>
          </a:p>
        </p:txBody>
      </p:sp>
      <p:sp>
        <p:nvSpPr>
          <p:cNvPr id="22" name="Text 19"/>
          <p:cNvSpPr/>
          <p:nvPr/>
        </p:nvSpPr>
        <p:spPr>
          <a:xfrm>
            <a:off x="4786313" y="3860304"/>
            <a:ext cx="39290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66666"/>
                </a:solidFill>
              </a:rPr>
              <a:t>Результат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4786313" y="4051399"/>
            <a:ext cx="152653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1A1A1A"/>
                </a:solidFill>
              </a:rPr>
              <a:t>Конкретная запись</a:t>
            </a:r>
            <a:endParaRPr lang="en-US" sz="1159" dirty="0"/>
          </a:p>
        </p:txBody>
      </p:sp>
      <p:sp>
        <p:nvSpPr>
          <p:cNvPr id="24" name="Shape 21"/>
          <p:cNvSpPr/>
          <p:nvPr/>
        </p:nvSpPr>
        <p:spPr>
          <a:xfrm>
            <a:off x="6384280" y="4104838"/>
            <a:ext cx="212806" cy="14466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5" name="Text 22"/>
          <p:cNvSpPr/>
          <p:nvPr/>
        </p:nvSpPr>
        <p:spPr>
          <a:xfrm>
            <a:off x="6384280" y="4104838"/>
            <a:ext cx="212806" cy="144661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VS</a:t>
            </a:r>
            <a:endParaRPr lang="en-US" sz="621" dirty="0"/>
          </a:p>
        </p:txBody>
      </p:sp>
      <p:sp>
        <p:nvSpPr>
          <p:cNvPr id="26" name="Text 23"/>
          <p:cNvSpPr/>
          <p:nvPr/>
        </p:nvSpPr>
        <p:spPr>
          <a:xfrm>
            <a:off x="6668523" y="4051399"/>
            <a:ext cx="129787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1A1A1A"/>
                </a:solidFill>
              </a:rPr>
              <a:t>Список похожих</a:t>
            </a:r>
            <a:endParaRPr lang="en-US" sz="1159" dirty="0"/>
          </a:p>
        </p:txBody>
      </p:sp>
      <p:sp>
        <p:nvSpPr>
          <p:cNvPr id="27" name="Text 24"/>
          <p:cNvSpPr/>
          <p:nvPr/>
        </p:nvSpPr>
        <p:spPr>
          <a:xfrm>
            <a:off x="4786313" y="4265712"/>
            <a:ext cx="72924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1A1A1A"/>
                </a:solidFill>
              </a:rPr>
              <a:t>объектов</a:t>
            </a:r>
            <a:endParaRPr lang="en-US" sz="115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428625" y="1037630"/>
            <a:ext cx="8286750" cy="2857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Архитектура и процесс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428625" y="1251942"/>
            <a:ext cx="8286750" cy="2586038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9994" y="1394817"/>
            <a:ext cx="4063984" cy="22860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28625" y="3856927"/>
            <a:ext cx="2571750" cy="12676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9" name="Shape 5"/>
          <p:cNvSpPr/>
          <p:nvPr/>
        </p:nvSpPr>
        <p:spPr>
          <a:xfrm>
            <a:off x="428625" y="3856927"/>
            <a:ext cx="2571750" cy="28575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Text 6"/>
          <p:cNvSpPr/>
          <p:nvPr/>
        </p:nvSpPr>
        <p:spPr>
          <a:xfrm>
            <a:off x="571500" y="3999802"/>
            <a:ext cx="22860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Step 01</a:t>
            </a:r>
            <a:endParaRPr lang="en-US" sz="683" dirty="0"/>
          </a:p>
        </p:txBody>
      </p:sp>
      <p:sp>
        <p:nvSpPr>
          <p:cNvPr id="11" name="Text 7"/>
          <p:cNvSpPr/>
          <p:nvPr/>
        </p:nvSpPr>
        <p:spPr>
          <a:xfrm>
            <a:off x="571500" y="4206970"/>
            <a:ext cx="22860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Ingestion &amp; Embedding</a:t>
            </a:r>
            <a:endParaRPr lang="en-US" sz="987" dirty="0"/>
          </a:p>
        </p:txBody>
      </p:sp>
      <p:sp>
        <p:nvSpPr>
          <p:cNvPr id="12" name="Text 8"/>
          <p:cNvSpPr/>
          <p:nvPr/>
        </p:nvSpPr>
        <p:spPr>
          <a:xfrm>
            <a:off x="571500" y="4473075"/>
            <a:ext cx="228600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Данные преобразуются в векторы с помощью ML-моделей (OpenAI, Cohere) и загружаются в БД.</a:t>
            </a:r>
            <a:endParaRPr lang="en-US" sz="834" dirty="0"/>
          </a:p>
        </p:txBody>
      </p:sp>
      <p:sp>
        <p:nvSpPr>
          <p:cNvPr id="13" name="Shape 9"/>
          <p:cNvSpPr/>
          <p:nvPr/>
        </p:nvSpPr>
        <p:spPr>
          <a:xfrm>
            <a:off x="3286125" y="3856927"/>
            <a:ext cx="2571750" cy="12676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Shape 10"/>
          <p:cNvSpPr/>
          <p:nvPr/>
        </p:nvSpPr>
        <p:spPr>
          <a:xfrm>
            <a:off x="3286125" y="3856927"/>
            <a:ext cx="2571750" cy="28575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5" name="Text 11"/>
          <p:cNvSpPr/>
          <p:nvPr/>
        </p:nvSpPr>
        <p:spPr>
          <a:xfrm>
            <a:off x="3429000" y="3999802"/>
            <a:ext cx="22860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Step 02</a:t>
            </a:r>
            <a:endParaRPr lang="en-US" sz="683" dirty="0"/>
          </a:p>
        </p:txBody>
      </p:sp>
      <p:sp>
        <p:nvSpPr>
          <p:cNvPr id="16" name="Text 12"/>
          <p:cNvSpPr/>
          <p:nvPr/>
        </p:nvSpPr>
        <p:spPr>
          <a:xfrm>
            <a:off x="3429000" y="4206970"/>
            <a:ext cx="22860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Indexing (ANN)</a:t>
            </a:r>
            <a:endParaRPr lang="en-US" sz="987" dirty="0"/>
          </a:p>
        </p:txBody>
      </p:sp>
      <p:sp>
        <p:nvSpPr>
          <p:cNvPr id="17" name="Text 13"/>
          <p:cNvSpPr/>
          <p:nvPr/>
        </p:nvSpPr>
        <p:spPr>
          <a:xfrm>
            <a:off x="3429000" y="4473075"/>
            <a:ext cx="228600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Векторы индексируются с использованием алгоритмов (HNSW, IVF) для быстрого поиска.</a:t>
            </a:r>
            <a:endParaRPr lang="en-US" sz="834" dirty="0"/>
          </a:p>
        </p:txBody>
      </p:sp>
      <p:sp>
        <p:nvSpPr>
          <p:cNvPr id="18" name="Shape 14"/>
          <p:cNvSpPr/>
          <p:nvPr/>
        </p:nvSpPr>
        <p:spPr>
          <a:xfrm>
            <a:off x="6143625" y="3856927"/>
            <a:ext cx="2571750" cy="12676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9" name="Shape 15"/>
          <p:cNvSpPr/>
          <p:nvPr/>
        </p:nvSpPr>
        <p:spPr>
          <a:xfrm>
            <a:off x="6143625" y="3856927"/>
            <a:ext cx="2571750" cy="28575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0" name="Text 16"/>
          <p:cNvSpPr/>
          <p:nvPr/>
        </p:nvSpPr>
        <p:spPr>
          <a:xfrm>
            <a:off x="6286500" y="3999802"/>
            <a:ext cx="22860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Step 03</a:t>
            </a:r>
            <a:endParaRPr lang="en-US" sz="683" dirty="0"/>
          </a:p>
        </p:txBody>
      </p:sp>
      <p:sp>
        <p:nvSpPr>
          <p:cNvPr id="21" name="Text 17"/>
          <p:cNvSpPr/>
          <p:nvPr/>
        </p:nvSpPr>
        <p:spPr>
          <a:xfrm>
            <a:off x="6286500" y="4206970"/>
            <a:ext cx="22860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Query &amp; Retrieval</a:t>
            </a:r>
            <a:endParaRPr lang="en-US" sz="987" dirty="0"/>
          </a:p>
        </p:txBody>
      </p:sp>
      <p:sp>
        <p:nvSpPr>
          <p:cNvPr id="22" name="Text 18"/>
          <p:cNvSpPr/>
          <p:nvPr/>
        </p:nvSpPr>
        <p:spPr>
          <a:xfrm>
            <a:off x="6286500" y="4473075"/>
            <a:ext cx="228600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Запрос преобразуется в вектор, и БД находит ближайших соседей по метрике сходства.</a:t>
            </a:r>
            <a:endParaRPr lang="en-US" sz="83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428625" y="1037630"/>
            <a:ext cx="8286750" cy="2857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Метрики поиска по сходству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428625" y="1323380"/>
            <a:ext cx="3964781" cy="11558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" name="Shape 4"/>
          <p:cNvSpPr/>
          <p:nvPr/>
        </p:nvSpPr>
        <p:spPr>
          <a:xfrm>
            <a:off x="428625" y="1323380"/>
            <a:ext cx="42863" cy="1155836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8" name="Text 5"/>
          <p:cNvSpPr/>
          <p:nvPr/>
        </p:nvSpPr>
        <p:spPr>
          <a:xfrm>
            <a:off x="607219" y="1501973"/>
            <a:ext cx="153470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Cosine Similarity</a:t>
            </a:r>
            <a:endParaRPr lang="en-US" sz="1090" dirty="0"/>
          </a:p>
        </p:txBody>
      </p:sp>
      <p:sp>
        <p:nvSpPr>
          <p:cNvPr id="9" name="Shape 6"/>
          <p:cNvSpPr/>
          <p:nvPr/>
        </p:nvSpPr>
        <p:spPr>
          <a:xfrm>
            <a:off x="2757822" y="1517154"/>
            <a:ext cx="1456990" cy="18395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Text 7"/>
          <p:cNvSpPr/>
          <p:nvPr/>
        </p:nvSpPr>
        <p:spPr>
          <a:xfrm>
            <a:off x="2757822" y="1517154"/>
            <a:ext cx="1456990" cy="18395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cos(θ) = A·B / ||A||||B||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607219" y="1787723"/>
            <a:ext cx="36075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Измеряет косинус угла между векторами. Фокусируется на направлении, игнорируя длину (магнитуду).</a:t>
            </a:r>
            <a:endParaRPr lang="en-US" sz="834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19" y="2182750"/>
            <a:ext cx="100013" cy="10001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7231" y="2164891"/>
            <a:ext cx="264173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Идеально для NLP и семантического поиска</a:t>
            </a:r>
            <a:endParaRPr lang="en-US" sz="683" dirty="0"/>
          </a:p>
        </p:txBody>
      </p:sp>
      <p:sp>
        <p:nvSpPr>
          <p:cNvPr id="14" name="Shape 10"/>
          <p:cNvSpPr/>
          <p:nvPr/>
        </p:nvSpPr>
        <p:spPr>
          <a:xfrm>
            <a:off x="428625" y="2602836"/>
            <a:ext cx="3964781" cy="11558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5" name="Shape 11"/>
          <p:cNvSpPr/>
          <p:nvPr/>
        </p:nvSpPr>
        <p:spPr>
          <a:xfrm>
            <a:off x="428625" y="2602836"/>
            <a:ext cx="42863" cy="1155836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6" name="Text 12"/>
          <p:cNvSpPr/>
          <p:nvPr/>
        </p:nvSpPr>
        <p:spPr>
          <a:xfrm>
            <a:off x="607219" y="2781430"/>
            <a:ext cx="170663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Euclidean Distance</a:t>
            </a:r>
            <a:endParaRPr lang="en-US" sz="1090" dirty="0"/>
          </a:p>
        </p:txBody>
      </p:sp>
      <p:sp>
        <p:nvSpPr>
          <p:cNvPr id="17" name="Shape 13"/>
          <p:cNvSpPr/>
          <p:nvPr/>
        </p:nvSpPr>
        <p:spPr>
          <a:xfrm>
            <a:off x="3438488" y="2796611"/>
            <a:ext cx="776325" cy="18395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8" name="Text 14"/>
          <p:cNvSpPr/>
          <p:nvPr/>
        </p:nvSpPr>
        <p:spPr>
          <a:xfrm>
            <a:off x="3438488" y="2796611"/>
            <a:ext cx="776325" cy="18395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d = ||A - B||</a:t>
            </a:r>
            <a:endParaRPr lang="en-US" sz="834" dirty="0"/>
          </a:p>
        </p:txBody>
      </p:sp>
      <p:sp>
        <p:nvSpPr>
          <p:cNvPr id="19" name="Text 15"/>
          <p:cNvSpPr/>
          <p:nvPr/>
        </p:nvSpPr>
        <p:spPr>
          <a:xfrm>
            <a:off x="607219" y="3067180"/>
            <a:ext cx="36075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Измеряет расстояние по прямой между концами векторов (L2). Чувствительна к магнитуде.</a:t>
            </a:r>
            <a:endParaRPr lang="en-US" sz="834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219" y="3462207"/>
            <a:ext cx="100013" cy="10001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07231" y="3444348"/>
            <a:ext cx="164373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Кластеризация, гео-данные</a:t>
            </a:r>
            <a:endParaRPr lang="en-US" sz="683" dirty="0"/>
          </a:p>
        </p:txBody>
      </p:sp>
      <p:sp>
        <p:nvSpPr>
          <p:cNvPr id="22" name="Shape 17"/>
          <p:cNvSpPr/>
          <p:nvPr/>
        </p:nvSpPr>
        <p:spPr>
          <a:xfrm>
            <a:off x="428625" y="3882293"/>
            <a:ext cx="3964781" cy="11558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3" name="Shape 18"/>
          <p:cNvSpPr/>
          <p:nvPr/>
        </p:nvSpPr>
        <p:spPr>
          <a:xfrm>
            <a:off x="428625" y="3882293"/>
            <a:ext cx="42863" cy="1155836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4" name="Text 19"/>
          <p:cNvSpPr/>
          <p:nvPr/>
        </p:nvSpPr>
        <p:spPr>
          <a:xfrm>
            <a:off x="607219" y="4060887"/>
            <a:ext cx="112232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Dot Product</a:t>
            </a:r>
            <a:endParaRPr lang="en-US" sz="1090" dirty="0"/>
          </a:p>
        </p:txBody>
      </p:sp>
      <p:sp>
        <p:nvSpPr>
          <p:cNvPr id="25" name="Shape 20"/>
          <p:cNvSpPr/>
          <p:nvPr/>
        </p:nvSpPr>
        <p:spPr>
          <a:xfrm>
            <a:off x="3891669" y="4076067"/>
            <a:ext cx="323143" cy="18395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6" name="Text 21"/>
          <p:cNvSpPr/>
          <p:nvPr/>
        </p:nvSpPr>
        <p:spPr>
          <a:xfrm>
            <a:off x="3891669" y="4076067"/>
            <a:ext cx="323143" cy="18395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A · B</a:t>
            </a:r>
            <a:endParaRPr lang="en-US" sz="834" dirty="0"/>
          </a:p>
        </p:txBody>
      </p:sp>
      <p:sp>
        <p:nvSpPr>
          <p:cNvPr id="27" name="Text 22"/>
          <p:cNvSpPr/>
          <p:nvPr/>
        </p:nvSpPr>
        <p:spPr>
          <a:xfrm>
            <a:off x="607219" y="4346637"/>
            <a:ext cx="36075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Произведение магнитуд и косинуса угла. Учитывает и направление, и "вес" вектора.</a:t>
            </a:r>
            <a:endParaRPr lang="en-US" sz="834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219" y="4741664"/>
            <a:ext cx="100013" cy="100013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07231" y="4723805"/>
            <a:ext cx="166482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Рекомендательные системы</a:t>
            </a:r>
            <a:endParaRPr lang="en-US" sz="683" dirty="0"/>
          </a:p>
        </p:txBody>
      </p:sp>
      <p:sp>
        <p:nvSpPr>
          <p:cNvPr id="30" name="Shape 24"/>
          <p:cNvSpPr/>
          <p:nvPr/>
        </p:nvSpPr>
        <p:spPr>
          <a:xfrm>
            <a:off x="4750594" y="1323380"/>
            <a:ext cx="3964781" cy="3714750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3469" y="1466255"/>
            <a:ext cx="3679031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428625" y="1037630"/>
            <a:ext cx="8286750" cy="2857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1747903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Pinecone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6421868" y="610791"/>
            <a:ext cx="229350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52CC"/>
                </a:solidFill>
              </a:rPr>
              <a:t>Managed SaaS Solution</a:t>
            </a:r>
            <a:endParaRPr lang="en-US" sz="1193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359098"/>
            <a:ext cx="178594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4375" y="1323380"/>
            <a:ext cx="114886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Fully Managed</a:t>
            </a:r>
            <a:endParaRPr lang="en-US" sz="1090" dirty="0"/>
          </a:p>
        </p:txBody>
      </p:sp>
      <p:sp>
        <p:nvSpPr>
          <p:cNvPr id="9" name="Text 5"/>
          <p:cNvSpPr/>
          <p:nvPr/>
        </p:nvSpPr>
        <p:spPr>
          <a:xfrm>
            <a:off x="428625" y="1573411"/>
            <a:ext cx="4714875" cy="360034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Полностью управляемый сервис. Нет необходимости настраивать или обслуживать инфраструктуру.</a:t>
            </a:r>
            <a:endParaRPr lang="en-US" sz="942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2183476"/>
            <a:ext cx="142875" cy="1428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78656" y="2147757"/>
            <a:ext cx="182545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Serverless Architecture</a:t>
            </a:r>
            <a:endParaRPr lang="en-US" sz="1090" dirty="0"/>
          </a:p>
        </p:txBody>
      </p:sp>
      <p:sp>
        <p:nvSpPr>
          <p:cNvPr id="12" name="Text 7"/>
          <p:cNvSpPr/>
          <p:nvPr/>
        </p:nvSpPr>
        <p:spPr>
          <a:xfrm>
            <a:off x="428625" y="2397789"/>
            <a:ext cx="4714875" cy="360034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Разделение хранения и вычислений. Автоматическое масштабирование под нагрузку.</a:t>
            </a:r>
            <a:endParaRPr lang="en-US" sz="942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3007854"/>
            <a:ext cx="107156" cy="1428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2938" y="2972135"/>
            <a:ext cx="143034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High Performance</a:t>
            </a:r>
            <a:endParaRPr lang="en-US" sz="1090" dirty="0"/>
          </a:p>
        </p:txBody>
      </p:sp>
      <p:sp>
        <p:nvSpPr>
          <p:cNvPr id="15" name="Text 9"/>
          <p:cNvSpPr/>
          <p:nvPr/>
        </p:nvSpPr>
        <p:spPr>
          <a:xfrm>
            <a:off x="428625" y="3222166"/>
            <a:ext cx="4714875" cy="180017"/>
          </a:xfrm>
          <a:prstGeom prst="rect">
            <a:avLst/>
          </a:prstGeom>
          <a:noFill/>
          <a:ln/>
        </p:spPr>
        <p:txBody>
          <a:bodyPr wrap="none" lIns="297688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Низкая задержка (low latency) даже при миллиардах векторов.</a:t>
            </a:r>
            <a:endParaRPr lang="en-US" sz="942" dirty="0"/>
          </a:p>
        </p:txBody>
      </p:sp>
      <p:sp>
        <p:nvSpPr>
          <p:cNvPr id="16" name="Shape 10"/>
          <p:cNvSpPr/>
          <p:nvPr/>
        </p:nvSpPr>
        <p:spPr>
          <a:xfrm>
            <a:off x="428625" y="3616496"/>
            <a:ext cx="4714875" cy="1285875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625" y="3616496"/>
            <a:ext cx="4714875" cy="1285875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5572125" y="1323380"/>
            <a:ext cx="3143250" cy="2668191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Text 12"/>
          <p:cNvSpPr/>
          <p:nvPr/>
        </p:nvSpPr>
        <p:spPr>
          <a:xfrm>
            <a:off x="5786438" y="1537692"/>
            <a:ext cx="2714625" cy="225028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E7D32"/>
                </a:solidFill>
              </a:rPr>
              <a:t>Преимущества</a:t>
            </a:r>
            <a:endParaRPr lang="en-US" sz="885" dirty="0"/>
          </a:p>
        </p:txBody>
      </p:sp>
      <p:sp>
        <p:nvSpPr>
          <p:cNvPr id="20" name="Text 13"/>
          <p:cNvSpPr/>
          <p:nvPr/>
        </p:nvSpPr>
        <p:spPr>
          <a:xfrm>
            <a:off x="5786438" y="1869877"/>
            <a:ext cx="27146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000000"/>
                </a:solidFill>
              </a:rPr>
              <a:t>Быстрый старт (Time-to-market)</a:t>
            </a:r>
            <a:endParaRPr lang="en-US" sz="834" dirty="0"/>
          </a:p>
        </p:txBody>
      </p:sp>
      <p:sp>
        <p:nvSpPr>
          <p:cNvPr id="21" name="Text 14"/>
          <p:cNvSpPr/>
          <p:nvPr/>
        </p:nvSpPr>
        <p:spPr>
          <a:xfrm>
            <a:off x="5786438" y="2082403"/>
            <a:ext cx="27146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000000"/>
                </a:solidFill>
              </a:rPr>
              <a:t>Простая интеграция (Python/JS SDK)</a:t>
            </a:r>
            <a:endParaRPr lang="en-US" sz="834" dirty="0"/>
          </a:p>
        </p:txBody>
      </p:sp>
      <p:sp>
        <p:nvSpPr>
          <p:cNvPr id="22" name="Text 15"/>
          <p:cNvSpPr/>
          <p:nvPr/>
        </p:nvSpPr>
        <p:spPr>
          <a:xfrm>
            <a:off x="5786438" y="2294930"/>
            <a:ext cx="27146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000000"/>
                </a:solidFill>
              </a:rPr>
              <a:t>Встроенная безопасность (SOC 2)</a:t>
            </a:r>
            <a:endParaRPr lang="en-US" sz="834" dirty="0"/>
          </a:p>
        </p:txBody>
      </p:sp>
      <p:sp>
        <p:nvSpPr>
          <p:cNvPr id="23" name="Text 16"/>
          <p:cNvSpPr/>
          <p:nvPr/>
        </p:nvSpPr>
        <p:spPr>
          <a:xfrm>
            <a:off x="5786438" y="2650331"/>
            <a:ext cx="2714625" cy="225028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C62828"/>
                </a:solidFill>
              </a:rPr>
              <a:t>Ограничения</a:t>
            </a:r>
            <a:endParaRPr lang="en-US" sz="885" dirty="0"/>
          </a:p>
        </p:txBody>
      </p:sp>
      <p:sp>
        <p:nvSpPr>
          <p:cNvPr id="24" name="Text 17"/>
          <p:cNvSpPr/>
          <p:nvPr/>
        </p:nvSpPr>
        <p:spPr>
          <a:xfrm>
            <a:off x="5786438" y="2982516"/>
            <a:ext cx="27146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000000"/>
                </a:solidFill>
              </a:rPr>
              <a:t>Стоимость на масштабе ($$$)</a:t>
            </a:r>
            <a:endParaRPr lang="en-US" sz="834" dirty="0"/>
          </a:p>
        </p:txBody>
      </p:sp>
      <p:sp>
        <p:nvSpPr>
          <p:cNvPr id="25" name="Text 18"/>
          <p:cNvSpPr/>
          <p:nvPr/>
        </p:nvSpPr>
        <p:spPr>
          <a:xfrm>
            <a:off x="5786438" y="3195042"/>
            <a:ext cx="27146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000000"/>
                </a:solidFill>
              </a:rPr>
              <a:t>Только облако (Cloud-only)</a:t>
            </a:r>
            <a:endParaRPr lang="en-US" sz="834" dirty="0"/>
          </a:p>
        </p:txBody>
      </p:sp>
      <p:sp>
        <p:nvSpPr>
          <p:cNvPr id="26" name="Text 19"/>
          <p:cNvSpPr/>
          <p:nvPr/>
        </p:nvSpPr>
        <p:spPr>
          <a:xfrm>
            <a:off x="5786438" y="3407569"/>
            <a:ext cx="27146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000000"/>
                </a:solidFill>
              </a:rPr>
              <a:t>Vendor Lock-in</a:t>
            </a:r>
            <a:endParaRPr lang="en-US" sz="83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428625" y="1037630"/>
            <a:ext cx="8286750" cy="2857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Qdrant: Гибкость и производительность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650081" y="1323380"/>
            <a:ext cx="453628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Rust-Based Engine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650081" y="1628775"/>
            <a:ext cx="4536281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Написана на Rust для максимальной производительности, безопасности памяти и низких задержек даже при высокой нагрузке.</a:t>
            </a:r>
            <a:endParaRPr lang="en-US" sz="942" dirty="0"/>
          </a:p>
        </p:txBody>
      </p:sp>
      <p:sp>
        <p:nvSpPr>
          <p:cNvPr id="8" name="Shape 5"/>
          <p:cNvSpPr/>
          <p:nvPr/>
        </p:nvSpPr>
        <p:spPr>
          <a:xfrm>
            <a:off x="650081" y="2024528"/>
            <a:ext cx="1182932" cy="19288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9" name="Text 6"/>
          <p:cNvSpPr/>
          <p:nvPr/>
        </p:nvSpPr>
        <p:spPr>
          <a:xfrm>
            <a:off x="650081" y="2024528"/>
            <a:ext cx="1182932" cy="192881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HIGH PERFORMANCE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650081" y="2662303"/>
            <a:ext cx="453628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Advanced Filtering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650081" y="2967698"/>
            <a:ext cx="4536281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Мощная система фильтрации по метаданным (Payload). Поддержка сложных условий, гео-фильтров и полнотекстового поиска.</a:t>
            </a:r>
            <a:endParaRPr lang="en-US" sz="942" dirty="0"/>
          </a:p>
        </p:txBody>
      </p:sp>
      <p:sp>
        <p:nvSpPr>
          <p:cNvPr id="12" name="Shape 9"/>
          <p:cNvSpPr/>
          <p:nvPr/>
        </p:nvSpPr>
        <p:spPr>
          <a:xfrm>
            <a:off x="650081" y="3363451"/>
            <a:ext cx="876393" cy="19288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3" name="Text 10"/>
          <p:cNvSpPr/>
          <p:nvPr/>
        </p:nvSpPr>
        <p:spPr>
          <a:xfrm>
            <a:off x="650081" y="3363451"/>
            <a:ext cx="876393" cy="192881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JSON PAYLOAD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650081" y="4001226"/>
            <a:ext cx="453628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Flexible Deployment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650081" y="4306621"/>
            <a:ext cx="4536281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Полная свобода выбора: запускайте локально в Docker, разворачивайте в Kubernetes или используйте Managed Cloud.</a:t>
            </a:r>
            <a:endParaRPr lang="en-US" sz="942" dirty="0"/>
          </a:p>
        </p:txBody>
      </p:sp>
      <p:sp>
        <p:nvSpPr>
          <p:cNvPr id="16" name="Shape 13"/>
          <p:cNvSpPr/>
          <p:nvPr/>
        </p:nvSpPr>
        <p:spPr>
          <a:xfrm>
            <a:off x="650081" y="4702373"/>
            <a:ext cx="844665" cy="19288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7" name="Text 14"/>
          <p:cNvSpPr/>
          <p:nvPr/>
        </p:nvSpPr>
        <p:spPr>
          <a:xfrm>
            <a:off x="650081" y="4702373"/>
            <a:ext cx="844665" cy="192881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OPEN SOURCE</a:t>
            </a:r>
            <a:endParaRPr lang="en-US" sz="683" dirty="0"/>
          </a:p>
        </p:txBody>
      </p:sp>
      <p:sp>
        <p:nvSpPr>
          <p:cNvPr id="18" name="Shape 15"/>
          <p:cNvSpPr/>
          <p:nvPr/>
        </p:nvSpPr>
        <p:spPr>
          <a:xfrm>
            <a:off x="5543550" y="1323380"/>
            <a:ext cx="3171825" cy="3571875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6425" y="1466255"/>
            <a:ext cx="2886075" cy="32861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428625" y="1037630"/>
            <a:ext cx="8286750" cy="2857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pgvector: PostgreSQL Extension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428625" y="1323380"/>
            <a:ext cx="8286750" cy="840088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333333"/>
                </a:solidFill>
              </a:rPr>
              <a:t>Open-source расширение, превращающее PostgreSQL в векторную базу данных. Позволяет хранить эмбеддинги и выполнять поиск по сходству (IVFFlat, HNSW) внутри существующей реляционной БД.</a:t>
            </a:r>
            <a:endParaRPr lang="en-US" sz="1486" dirty="0"/>
          </a:p>
        </p:txBody>
      </p:sp>
      <p:sp>
        <p:nvSpPr>
          <p:cNvPr id="7" name="Text 4"/>
          <p:cNvSpPr/>
          <p:nvPr/>
        </p:nvSpPr>
        <p:spPr>
          <a:xfrm>
            <a:off x="428625" y="2322611"/>
            <a:ext cx="38576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Преимущества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428625" y="2735163"/>
            <a:ext cx="38576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Единый стек технологий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428625" y="2972693"/>
            <a:ext cx="3389430" cy="594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Не нужно внедрять и поддерживать новую базу данных. Векторы живут рядом с реляционными данными.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28625" y="3713857"/>
            <a:ext cx="38576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ACID транзакции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428625" y="3951386"/>
            <a:ext cx="3470160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Полная поддержка транзакционной целостности PostgreSQL.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28625" y="4492526"/>
            <a:ext cx="38576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Стоимость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428625" y="4730055"/>
            <a:ext cx="2894809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Полностью бесплатно и open-source. Нет лицензионных отчислений.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857750" y="2322611"/>
            <a:ext cx="38576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Ограничения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4857750" y="2735163"/>
            <a:ext cx="38576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Масштабируемость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4857750" y="2972693"/>
            <a:ext cx="3681180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Сложнее масштабировать горизонтально по сравнению с cloud-native решениями (как Pinecone).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57750" y="3513832"/>
            <a:ext cx="38576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Производительность на объеме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4857750" y="3751361"/>
            <a:ext cx="3774328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Может уступать специализированным БД на наборах данных &gt;100 млн векторов.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857750" y="4292501"/>
            <a:ext cx="38576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Ресурсы</a:t>
            </a:r>
            <a:endParaRPr lang="en-US" sz="987" dirty="0"/>
          </a:p>
        </p:txBody>
      </p:sp>
      <p:sp>
        <p:nvSpPr>
          <p:cNvPr id="20" name="Text 17"/>
          <p:cNvSpPr/>
          <p:nvPr/>
        </p:nvSpPr>
        <p:spPr>
          <a:xfrm>
            <a:off x="4857750" y="4530030"/>
            <a:ext cx="3331583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Векторный поиск создает высокую нагрузку на CPU/RAM, конкурируя с основными запросами.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428625" y="1037630"/>
            <a:ext cx="8286750" cy="2857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Сравнительный анализ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428625" y="1323380"/>
            <a:ext cx="1491593" cy="416123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b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Критерий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1920218" y="1323380"/>
            <a:ext cx="2265043" cy="416123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b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2CC"/>
                </a:solidFill>
              </a:rPr>
              <a:t>Pinecone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4185261" y="1323380"/>
            <a:ext cx="2265043" cy="416123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b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2CC"/>
                </a:solidFill>
              </a:rPr>
              <a:t>Qdrant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6450304" y="1323380"/>
            <a:ext cx="2265071" cy="416123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b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2CC"/>
                </a:solidFill>
              </a:rPr>
              <a:t>pgvector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428625" y="1739503"/>
            <a:ext cx="1491593" cy="47648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Тип решения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1920218" y="1739503"/>
            <a:ext cx="2265043" cy="47648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Managed SaaS (Closed Source)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4185261" y="1739503"/>
            <a:ext cx="2265043" cy="47648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Open-Source (Rust)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6450304" y="1739503"/>
            <a:ext cx="2265071" cy="47648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Open-Source Extension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428625" y="2215986"/>
            <a:ext cx="1491593" cy="65292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Развертывание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1920218" y="2215986"/>
            <a:ext cx="2265043" cy="65292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Только Cloud (AWS, GCP, Azure)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4185261" y="2215986"/>
            <a:ext cx="2265043" cy="65292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Docker, Cloud, Hybrid, On-premise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6450304" y="2215986"/>
            <a:ext cx="2265071" cy="65292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Любой PostgreSQL (Local, Cloud)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428625" y="2868913"/>
            <a:ext cx="1491593" cy="70720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Производительность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2063093" y="3017146"/>
            <a:ext cx="53519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Высокая</a:t>
            </a:r>
            <a:endParaRPr lang="en-US" sz="942" dirty="0"/>
          </a:p>
        </p:txBody>
      </p:sp>
      <p:sp>
        <p:nvSpPr>
          <p:cNvPr id="20" name="Shape 17"/>
          <p:cNvSpPr/>
          <p:nvPr/>
        </p:nvSpPr>
        <p:spPr>
          <a:xfrm>
            <a:off x="2063093" y="3252527"/>
            <a:ext cx="617348" cy="177143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1" name="Text 18"/>
          <p:cNvSpPr/>
          <p:nvPr/>
        </p:nvSpPr>
        <p:spPr>
          <a:xfrm>
            <a:off x="2063093" y="3252527"/>
            <a:ext cx="617348" cy="177143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Serverless</a:t>
            </a:r>
            <a:endParaRPr lang="en-US" sz="584" dirty="0"/>
          </a:p>
        </p:txBody>
      </p:sp>
      <p:sp>
        <p:nvSpPr>
          <p:cNvPr id="22" name="Text 19"/>
          <p:cNvSpPr/>
          <p:nvPr/>
        </p:nvSpPr>
        <p:spPr>
          <a:xfrm>
            <a:off x="4328136" y="3017146"/>
            <a:ext cx="10296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Очень высокая</a:t>
            </a:r>
            <a:endParaRPr lang="en-US" sz="885" dirty="0"/>
          </a:p>
        </p:txBody>
      </p:sp>
      <p:sp>
        <p:nvSpPr>
          <p:cNvPr id="23" name="Shape 20"/>
          <p:cNvSpPr/>
          <p:nvPr/>
        </p:nvSpPr>
        <p:spPr>
          <a:xfrm>
            <a:off x="4328136" y="3252527"/>
            <a:ext cx="685660" cy="177143"/>
          </a:xfrm>
          <a:prstGeom prst="rect">
            <a:avLst/>
          </a:prstGeom>
          <a:solidFill>
            <a:srgbClr val="D1E8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4" name="Text 21"/>
          <p:cNvSpPr/>
          <p:nvPr/>
        </p:nvSpPr>
        <p:spPr>
          <a:xfrm>
            <a:off x="4328136" y="3252527"/>
            <a:ext cx="685660" cy="177143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0052CC"/>
                </a:solidFill>
              </a:rPr>
              <a:t>Rust Engine</a:t>
            </a:r>
            <a:endParaRPr lang="en-US" sz="584" dirty="0"/>
          </a:p>
        </p:txBody>
      </p:sp>
      <p:sp>
        <p:nvSpPr>
          <p:cNvPr id="25" name="Text 22"/>
          <p:cNvSpPr/>
          <p:nvPr/>
        </p:nvSpPr>
        <p:spPr>
          <a:xfrm>
            <a:off x="6593179" y="3017146"/>
            <a:ext cx="121747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Средняя / Хорошая</a:t>
            </a:r>
            <a:endParaRPr lang="en-US" sz="942" dirty="0"/>
          </a:p>
        </p:txBody>
      </p:sp>
      <p:sp>
        <p:nvSpPr>
          <p:cNvPr id="26" name="Shape 23"/>
          <p:cNvSpPr/>
          <p:nvPr/>
        </p:nvSpPr>
        <p:spPr>
          <a:xfrm>
            <a:off x="6593179" y="3252527"/>
            <a:ext cx="807746" cy="177143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7" name="Text 24"/>
          <p:cNvSpPr/>
          <p:nvPr/>
        </p:nvSpPr>
        <p:spPr>
          <a:xfrm>
            <a:off x="6593179" y="3252527"/>
            <a:ext cx="807746" cy="177143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Зависит от PG</a:t>
            </a:r>
            <a:endParaRPr lang="en-US" sz="584" dirty="0"/>
          </a:p>
        </p:txBody>
      </p:sp>
      <p:sp>
        <p:nvSpPr>
          <p:cNvPr id="28" name="Text 25"/>
          <p:cNvSpPr/>
          <p:nvPr/>
        </p:nvSpPr>
        <p:spPr>
          <a:xfrm>
            <a:off x="428625" y="3576117"/>
            <a:ext cx="1491593" cy="65292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Стоимость</a:t>
            </a:r>
            <a:endParaRPr lang="en-US" sz="885" dirty="0"/>
          </a:p>
        </p:txBody>
      </p:sp>
      <p:sp>
        <p:nvSpPr>
          <p:cNvPr id="29" name="Text 26"/>
          <p:cNvSpPr/>
          <p:nvPr/>
        </p:nvSpPr>
        <p:spPr>
          <a:xfrm>
            <a:off x="2063093" y="3724349"/>
            <a:ext cx="104787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$$$ (Pay-per-use)</a:t>
            </a:r>
            <a:endParaRPr lang="en-US" sz="942" dirty="0"/>
          </a:p>
        </p:txBody>
      </p:sp>
      <p:sp>
        <p:nvSpPr>
          <p:cNvPr id="30" name="Text 27"/>
          <p:cNvSpPr/>
          <p:nvPr/>
        </p:nvSpPr>
        <p:spPr>
          <a:xfrm>
            <a:off x="2063093" y="3904366"/>
            <a:ext cx="130479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Дорого на масштабе</a:t>
            </a:r>
            <a:endParaRPr lang="en-US" sz="942" dirty="0"/>
          </a:p>
        </p:txBody>
      </p:sp>
      <p:sp>
        <p:nvSpPr>
          <p:cNvPr id="31" name="Text 28"/>
          <p:cNvSpPr/>
          <p:nvPr/>
        </p:nvSpPr>
        <p:spPr>
          <a:xfrm>
            <a:off x="4328136" y="3724349"/>
            <a:ext cx="177491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Free (Self-hosted) / $$ (Cloud)</a:t>
            </a:r>
            <a:endParaRPr lang="en-US" sz="942" dirty="0"/>
          </a:p>
        </p:txBody>
      </p:sp>
      <p:sp>
        <p:nvSpPr>
          <p:cNvPr id="32" name="Text 29"/>
          <p:cNvSpPr/>
          <p:nvPr/>
        </p:nvSpPr>
        <p:spPr>
          <a:xfrm>
            <a:off x="4328136" y="3904366"/>
            <a:ext cx="80149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Экономично</a:t>
            </a:r>
            <a:endParaRPr lang="en-US" sz="942" dirty="0"/>
          </a:p>
        </p:txBody>
      </p:sp>
      <p:sp>
        <p:nvSpPr>
          <p:cNvPr id="33" name="Text 30"/>
          <p:cNvSpPr/>
          <p:nvPr/>
        </p:nvSpPr>
        <p:spPr>
          <a:xfrm>
            <a:off x="6593179" y="3724349"/>
            <a:ext cx="70441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Бесплатно</a:t>
            </a:r>
            <a:endParaRPr lang="en-US" sz="885" dirty="0"/>
          </a:p>
        </p:txBody>
      </p:sp>
      <p:sp>
        <p:nvSpPr>
          <p:cNvPr id="34" name="Text 31"/>
          <p:cNvSpPr/>
          <p:nvPr/>
        </p:nvSpPr>
        <p:spPr>
          <a:xfrm>
            <a:off x="6593179" y="3904366"/>
            <a:ext cx="144289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Входит в стоимость БД</a:t>
            </a:r>
            <a:endParaRPr lang="en-US" sz="942" dirty="0"/>
          </a:p>
        </p:txBody>
      </p:sp>
      <p:sp>
        <p:nvSpPr>
          <p:cNvPr id="35" name="Text 32"/>
          <p:cNvSpPr/>
          <p:nvPr/>
        </p:nvSpPr>
        <p:spPr>
          <a:xfrm>
            <a:off x="428625" y="4229044"/>
            <a:ext cx="1491593" cy="64935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Сценарий (Best For)</a:t>
            </a:r>
            <a:endParaRPr lang="en-US" sz="885" dirty="0"/>
          </a:p>
        </p:txBody>
      </p:sp>
      <p:sp>
        <p:nvSpPr>
          <p:cNvPr id="36" name="Text 33"/>
          <p:cNvSpPr/>
          <p:nvPr/>
        </p:nvSpPr>
        <p:spPr>
          <a:xfrm>
            <a:off x="1920218" y="4229044"/>
            <a:ext cx="2265043" cy="64935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Быстрый старт, Enterprise, No-Ops</a:t>
            </a:r>
            <a:endParaRPr lang="en-US" sz="942" dirty="0"/>
          </a:p>
        </p:txBody>
      </p:sp>
      <p:sp>
        <p:nvSpPr>
          <p:cNvPr id="37" name="Text 34"/>
          <p:cNvSpPr/>
          <p:nvPr/>
        </p:nvSpPr>
        <p:spPr>
          <a:xfrm>
            <a:off x="4185261" y="4229044"/>
            <a:ext cx="2265043" cy="64935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High-load, Гибкость, Контроль данных</a:t>
            </a:r>
            <a:endParaRPr lang="en-US" sz="942" dirty="0"/>
          </a:p>
        </p:txBody>
      </p:sp>
      <p:sp>
        <p:nvSpPr>
          <p:cNvPr id="38" name="Text 35"/>
          <p:cNvSpPr/>
          <p:nvPr/>
        </p:nvSpPr>
        <p:spPr>
          <a:xfrm>
            <a:off x="6450304" y="4229044"/>
            <a:ext cx="2265071" cy="64935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MVP, Интеграция с реляционными данными</a:t>
            </a:r>
            <a:endParaRPr lang="en-US" sz="94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428625" y="1037630"/>
            <a:ext cx="8286750" cy="2857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Сценарии использования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428625" y="1394817"/>
            <a:ext cx="2571750" cy="346293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" name="Shape 4"/>
          <p:cNvSpPr/>
          <p:nvPr/>
        </p:nvSpPr>
        <p:spPr>
          <a:xfrm>
            <a:off x="428625" y="1394817"/>
            <a:ext cx="2571750" cy="42863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1664494"/>
            <a:ext cx="285750" cy="2857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2938" y="2141339"/>
            <a:ext cx="21431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MVP &amp; Integrated Data</a:t>
            </a:r>
            <a:endParaRPr lang="en-US" sz="1090" dirty="0"/>
          </a:p>
        </p:txBody>
      </p:sp>
      <p:sp>
        <p:nvSpPr>
          <p:cNvPr id="10" name="Text 6"/>
          <p:cNvSpPr/>
          <p:nvPr/>
        </p:nvSpPr>
        <p:spPr>
          <a:xfrm>
            <a:off x="642938" y="2634258"/>
            <a:ext cx="2143125" cy="1235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У вас уже есть PostgreSQL, ограниченный бюджет или необходимость делать сложные JOIN-запросы между векторами и метаданными.</a:t>
            </a:r>
            <a:endParaRPr lang="en-US" sz="942" dirty="0"/>
          </a:p>
        </p:txBody>
      </p:sp>
      <p:sp>
        <p:nvSpPr>
          <p:cNvPr id="11" name="Text 7"/>
          <p:cNvSpPr/>
          <p:nvPr/>
        </p:nvSpPr>
        <p:spPr>
          <a:xfrm>
            <a:off x="642938" y="4198739"/>
            <a:ext cx="21431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99999"/>
                </a:solidFill>
              </a:rPr>
              <a:t>Рекомендация</a:t>
            </a:r>
            <a:endParaRPr lang="en-US" sz="683" dirty="0"/>
          </a:p>
        </p:txBody>
      </p:sp>
      <p:sp>
        <p:nvSpPr>
          <p:cNvPr id="12" name="Text 8"/>
          <p:cNvSpPr/>
          <p:nvPr/>
        </p:nvSpPr>
        <p:spPr>
          <a:xfrm>
            <a:off x="642938" y="4370189"/>
            <a:ext cx="214312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52CC"/>
                </a:solidFill>
              </a:rPr>
              <a:t>pgvector</a:t>
            </a:r>
            <a:endParaRPr lang="en-US" sz="1397" dirty="0"/>
          </a:p>
        </p:txBody>
      </p:sp>
      <p:sp>
        <p:nvSpPr>
          <p:cNvPr id="13" name="Shape 9"/>
          <p:cNvSpPr/>
          <p:nvPr/>
        </p:nvSpPr>
        <p:spPr>
          <a:xfrm>
            <a:off x="3286125" y="1394817"/>
            <a:ext cx="2571750" cy="346293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Shape 10"/>
          <p:cNvSpPr/>
          <p:nvPr/>
        </p:nvSpPr>
        <p:spPr>
          <a:xfrm>
            <a:off x="3286125" y="1394817"/>
            <a:ext cx="2571750" cy="42863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0438" y="1664494"/>
            <a:ext cx="285750" cy="2857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00438" y="2141339"/>
            <a:ext cx="21431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Fast Launch &amp; No-Ops</a:t>
            </a:r>
            <a:endParaRPr lang="en-US" sz="1090" dirty="0"/>
          </a:p>
        </p:txBody>
      </p:sp>
      <p:sp>
        <p:nvSpPr>
          <p:cNvPr id="17" name="Text 12"/>
          <p:cNvSpPr/>
          <p:nvPr/>
        </p:nvSpPr>
        <p:spPr>
          <a:xfrm>
            <a:off x="3500438" y="2634258"/>
            <a:ext cx="2143125" cy="1235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Нужно максимально быстро запустить RAG в продакшн. Команда не хочет администрировать инфраструктуру. Бюджет позволяет.</a:t>
            </a:r>
            <a:endParaRPr lang="en-US" sz="942" dirty="0"/>
          </a:p>
        </p:txBody>
      </p:sp>
      <p:sp>
        <p:nvSpPr>
          <p:cNvPr id="18" name="Text 13"/>
          <p:cNvSpPr/>
          <p:nvPr/>
        </p:nvSpPr>
        <p:spPr>
          <a:xfrm>
            <a:off x="3500438" y="4198739"/>
            <a:ext cx="21431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99999"/>
                </a:solidFill>
              </a:rPr>
              <a:t>Рекомендация</a:t>
            </a:r>
            <a:endParaRPr lang="en-US" sz="683" dirty="0"/>
          </a:p>
        </p:txBody>
      </p:sp>
      <p:sp>
        <p:nvSpPr>
          <p:cNvPr id="19" name="Text 14"/>
          <p:cNvSpPr/>
          <p:nvPr/>
        </p:nvSpPr>
        <p:spPr>
          <a:xfrm>
            <a:off x="3500438" y="4370189"/>
            <a:ext cx="214312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52CC"/>
                </a:solidFill>
              </a:rPr>
              <a:t>Pinecone</a:t>
            </a:r>
            <a:endParaRPr lang="en-US" sz="1397" dirty="0"/>
          </a:p>
        </p:txBody>
      </p:sp>
      <p:sp>
        <p:nvSpPr>
          <p:cNvPr id="20" name="Shape 15"/>
          <p:cNvSpPr/>
          <p:nvPr/>
        </p:nvSpPr>
        <p:spPr>
          <a:xfrm>
            <a:off x="6143625" y="1394817"/>
            <a:ext cx="2571750" cy="346293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1" name="Shape 16"/>
          <p:cNvSpPr/>
          <p:nvPr/>
        </p:nvSpPr>
        <p:spPr>
          <a:xfrm>
            <a:off x="6143625" y="1394817"/>
            <a:ext cx="2571750" cy="42863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938" y="1664494"/>
            <a:ext cx="285750" cy="28575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357938" y="2141339"/>
            <a:ext cx="21431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High Scale &amp; Control</a:t>
            </a:r>
            <a:endParaRPr lang="en-US" sz="1090" dirty="0"/>
          </a:p>
        </p:txBody>
      </p:sp>
      <p:sp>
        <p:nvSpPr>
          <p:cNvPr id="24" name="Text 18"/>
          <p:cNvSpPr/>
          <p:nvPr/>
        </p:nvSpPr>
        <p:spPr>
          <a:xfrm>
            <a:off x="6357938" y="2634258"/>
            <a:ext cx="2143125" cy="1235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Миллиарды векторов, высокая нагрузка (High QPS). Требуется оптимизация затрат, on-premise или гибридное развертывание.</a:t>
            </a:r>
            <a:endParaRPr lang="en-US" sz="942" dirty="0"/>
          </a:p>
        </p:txBody>
      </p:sp>
      <p:sp>
        <p:nvSpPr>
          <p:cNvPr id="25" name="Text 19"/>
          <p:cNvSpPr/>
          <p:nvPr/>
        </p:nvSpPr>
        <p:spPr>
          <a:xfrm>
            <a:off x="6357938" y="4198739"/>
            <a:ext cx="21431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99999"/>
                </a:solidFill>
              </a:rPr>
              <a:t>Рекомендация</a:t>
            </a:r>
            <a:endParaRPr lang="en-US" sz="683" dirty="0"/>
          </a:p>
        </p:txBody>
      </p:sp>
      <p:sp>
        <p:nvSpPr>
          <p:cNvPr id="26" name="Text 20"/>
          <p:cNvSpPr/>
          <p:nvPr/>
        </p:nvSpPr>
        <p:spPr>
          <a:xfrm>
            <a:off x="6357938" y="4370189"/>
            <a:ext cx="214312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52CC"/>
                </a:solidFill>
              </a:rPr>
              <a:t>Qdrant</a:t>
            </a:r>
            <a:endParaRPr lang="en-US" sz="139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428625" y="1037630"/>
            <a:ext cx="8286750" cy="2857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Заключение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428625" y="1394817"/>
            <a:ext cx="46291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0052CC"/>
                </a:solidFill>
              </a:rPr>
              <a:t>Ключевые выводы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428625" y="1878806"/>
            <a:ext cx="11430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0052CC"/>
                </a:solidFill>
              </a:rPr>
              <a:t>■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678656" y="1844873"/>
            <a:ext cx="3779797" cy="713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1A1A1A"/>
                </a:solidFill>
              </a:rPr>
              <a:t>Векторные базы данных — фундамент современных RAG-систем, обеспечивающий семантический поиск.</a:t>
            </a:r>
            <a:endParaRPr lang="en-US" sz="1269" dirty="0"/>
          </a:p>
        </p:txBody>
      </p:sp>
      <p:sp>
        <p:nvSpPr>
          <p:cNvPr id="9" name="Text 6"/>
          <p:cNvSpPr/>
          <p:nvPr/>
        </p:nvSpPr>
        <p:spPr>
          <a:xfrm>
            <a:off x="428625" y="2813159"/>
            <a:ext cx="11430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0052CC"/>
                </a:solidFill>
              </a:rPr>
              <a:t>■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678656" y="2748555"/>
            <a:ext cx="4029828" cy="861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ru-RU" sz="1400" dirty="0"/>
              <a:t>Выбор инструмента зависит от компромисса: </a:t>
            </a:r>
            <a:r>
              <a:rPr lang="en" sz="1400" b="1" dirty="0"/>
              <a:t>Pinecone</a:t>
            </a:r>
            <a:r>
              <a:rPr lang="en" sz="1400" dirty="0"/>
              <a:t> </a:t>
            </a:r>
            <a:r>
              <a:rPr lang="ru-RU" sz="1400" dirty="0"/>
              <a:t>для скорости разработки, </a:t>
            </a:r>
            <a:r>
              <a:rPr lang="en" sz="1400" b="1" dirty="0" err="1"/>
              <a:t>Qdrant</a:t>
            </a:r>
            <a:r>
              <a:rPr lang="en" sz="1400" dirty="0"/>
              <a:t> </a:t>
            </a:r>
            <a:r>
              <a:rPr lang="ru-RU" sz="1400" dirty="0"/>
              <a:t>для производительности и контроля, </a:t>
            </a:r>
            <a:r>
              <a:rPr lang="en" sz="1400" b="1" dirty="0" err="1"/>
              <a:t>pgvector</a:t>
            </a:r>
            <a:r>
              <a:rPr lang="en" sz="1400" dirty="0"/>
              <a:t> </a:t>
            </a:r>
            <a:r>
              <a:rPr lang="ru-RU" sz="1400" dirty="0"/>
              <a:t>для интеграции.</a:t>
            </a:r>
          </a:p>
        </p:txBody>
      </p:sp>
      <p:sp>
        <p:nvSpPr>
          <p:cNvPr id="14" name="Text 11"/>
          <p:cNvSpPr/>
          <p:nvPr/>
        </p:nvSpPr>
        <p:spPr>
          <a:xfrm>
            <a:off x="678656" y="3266647"/>
            <a:ext cx="3981273" cy="225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endParaRPr lang="en-US" sz="1269" dirty="0"/>
          </a:p>
        </p:txBody>
      </p:sp>
      <p:sp>
        <p:nvSpPr>
          <p:cNvPr id="17" name="Text 14"/>
          <p:cNvSpPr/>
          <p:nvPr/>
        </p:nvSpPr>
        <p:spPr>
          <a:xfrm>
            <a:off x="428625" y="3987524"/>
            <a:ext cx="11430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0052CC"/>
                </a:solidFill>
              </a:rPr>
              <a:t>■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678656" y="3953591"/>
            <a:ext cx="4260549" cy="713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1A1A1A"/>
                </a:solidFill>
              </a:rPr>
              <a:t>Начинайте с простого (pgvector), но будьте готовы мигрировать на специализированные решения при росте нагрузки.</a:t>
            </a:r>
            <a:endParaRPr lang="en-US" sz="1269" dirty="0"/>
          </a:p>
        </p:txBody>
      </p:sp>
      <p:sp>
        <p:nvSpPr>
          <p:cNvPr id="19" name="Shape 16"/>
          <p:cNvSpPr/>
          <p:nvPr/>
        </p:nvSpPr>
        <p:spPr>
          <a:xfrm>
            <a:off x="5629275" y="1394817"/>
            <a:ext cx="3086100" cy="28575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0" name="Text 17"/>
          <p:cNvSpPr/>
          <p:nvPr/>
        </p:nvSpPr>
        <p:spPr>
          <a:xfrm>
            <a:off x="5915025" y="1790402"/>
            <a:ext cx="25146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999999"/>
                </a:solidFill>
              </a:rPr>
              <a:t>Следующая лекция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5915025" y="2108299"/>
            <a:ext cx="2514600" cy="61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FFFF"/>
                </a:solidFill>
              </a:rPr>
              <a:t>Поиск и ранжирование</a:t>
            </a:r>
            <a:endParaRPr lang="en-US" sz="1808" dirty="0"/>
          </a:p>
        </p:txBody>
      </p:sp>
      <p:sp>
        <p:nvSpPr>
          <p:cNvPr id="22" name="Text 19"/>
          <p:cNvSpPr/>
          <p:nvPr/>
        </p:nvSpPr>
        <p:spPr>
          <a:xfrm>
            <a:off x="5915025" y="2868383"/>
            <a:ext cx="2514600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CCCCCC"/>
                </a:solidFill>
              </a:rPr>
              <a:t>Разберем алгоритмы Hybrid Search, Re-ranking и как улучшить релевантность ответов.</a:t>
            </a:r>
            <a:endParaRPr lang="en-US" sz="942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5025" y="3654893"/>
            <a:ext cx="150019" cy="171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762</Words>
  <Application>Microsoft Macintosh PowerPoint</Application>
  <PresentationFormat>Экран (16:9)</PresentationFormat>
  <Paragraphs>150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Қалжанов Нұрлыхан Ерланұлы</cp:lastModifiedBy>
  <cp:revision>3</cp:revision>
  <dcterms:created xsi:type="dcterms:W3CDTF">2025-12-19T13:47:15Z</dcterms:created>
  <dcterms:modified xsi:type="dcterms:W3CDTF">2025-12-19T13:50:47Z</dcterms:modified>
</cp:coreProperties>
</file>