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4" d="100"/>
          <a:sy n="124" d="100"/>
        </p:scale>
        <p:origin x="2336" y="1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7481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4389120" cy="4389120"/>
          </a:xfrm>
          <a:prstGeom prst="ellipse">
            <a:avLst/>
          </a:prstGeom>
          <a:solidFill>
            <a:srgbClr val="0070F3">
              <a:alpha val="8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8046720" y="-274320"/>
            <a:ext cx="2194560" cy="2194560"/>
          </a:xfrm>
          <a:prstGeom prst="ellipse">
            <a:avLst/>
          </a:prstGeom>
          <a:solidFill>
            <a:srgbClr val="60A5FA">
              <a:alpha val="75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2"/>
          <p:cNvSpPr/>
          <p:nvPr/>
        </p:nvSpPr>
        <p:spPr>
          <a:xfrm>
            <a:off x="-1463040" y="3840480"/>
            <a:ext cx="3291840" cy="3291840"/>
          </a:xfrm>
          <a:prstGeom prst="ellipse">
            <a:avLst/>
          </a:prstGeom>
          <a:solidFill>
            <a:srgbClr val="0070F3">
              <a:alpha val="8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25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Создание пользовательского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интерфейса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 помощью React / Next.js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3977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чата, стриминг ответов, компонентный подход, Server Components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Повестка лекции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1051560"/>
            <a:ext cx="1737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1325880" y="1234440"/>
            <a:ext cx="731520" cy="731520"/>
          </a:xfrm>
          <a:prstGeom prst="ellipse">
            <a:avLst/>
          </a:prstGeom>
          <a:solidFill>
            <a:srgbClr val="0070F3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Shape 4"/>
          <p:cNvSpPr/>
          <p:nvPr/>
        </p:nvSpPr>
        <p:spPr>
          <a:xfrm>
            <a:off x="1581912" y="1490472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Основы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0" y="1051560"/>
            <a:ext cx="1737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Shape 8"/>
          <p:cNvSpPr/>
          <p:nvPr/>
        </p:nvSpPr>
        <p:spPr>
          <a:xfrm>
            <a:off x="3502152" y="1490472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2834640" y="2011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Компоненты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 JSX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051560"/>
            <a:ext cx="1737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Shape 11"/>
          <p:cNvSpPr/>
          <p:nvPr/>
        </p:nvSpPr>
        <p:spPr>
          <a:xfrm>
            <a:off x="5166360" y="1234440"/>
            <a:ext cx="731520" cy="73152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Shape 12"/>
          <p:cNvSpPr/>
          <p:nvPr/>
        </p:nvSpPr>
        <p:spPr>
          <a:xfrm>
            <a:off x="5422392" y="1490472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5" name="Text 13"/>
          <p:cNvSpPr/>
          <p:nvPr/>
        </p:nvSpPr>
        <p:spPr>
          <a:xfrm>
            <a:off x="4754880" y="2011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Хуки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1051560"/>
            <a:ext cx="1737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Shape 15"/>
          <p:cNvSpPr/>
          <p:nvPr/>
        </p:nvSpPr>
        <p:spPr>
          <a:xfrm>
            <a:off x="7086600" y="1234440"/>
            <a:ext cx="731520" cy="7315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8" name="Shape 16"/>
          <p:cNvSpPr/>
          <p:nvPr/>
        </p:nvSpPr>
        <p:spPr>
          <a:xfrm>
            <a:off x="7342632" y="1490472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9" name="Text 17"/>
          <p:cNvSpPr/>
          <p:nvPr/>
        </p:nvSpPr>
        <p:spPr>
          <a:xfrm>
            <a:off x="6675120" y="2011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Next.js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фреймворк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2834640"/>
            <a:ext cx="1737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Shape 19"/>
          <p:cNvSpPr/>
          <p:nvPr/>
        </p:nvSpPr>
        <p:spPr>
          <a:xfrm>
            <a:off x="1325880" y="3017520"/>
            <a:ext cx="731520" cy="73152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2" name="Shape 20"/>
          <p:cNvSpPr/>
          <p:nvPr/>
        </p:nvSpPr>
        <p:spPr>
          <a:xfrm>
            <a:off x="1581912" y="3273552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3" name="Text 21"/>
          <p:cNvSpPr/>
          <p:nvPr/>
        </p:nvSpPr>
        <p:spPr>
          <a:xfrm>
            <a:off x="914400" y="3794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Интерфейс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чата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0" y="2834640"/>
            <a:ext cx="1737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5" name="Shape 23"/>
          <p:cNvSpPr/>
          <p:nvPr/>
        </p:nvSpPr>
        <p:spPr>
          <a:xfrm>
            <a:off x="3246120" y="3017520"/>
            <a:ext cx="731520" cy="7315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6" name="Shape 24"/>
          <p:cNvSpPr/>
          <p:nvPr/>
        </p:nvSpPr>
        <p:spPr>
          <a:xfrm>
            <a:off x="3502152" y="3273552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7" name="Text 25"/>
          <p:cNvSpPr/>
          <p:nvPr/>
        </p:nvSpPr>
        <p:spPr>
          <a:xfrm>
            <a:off x="2834640" y="3794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История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сообщений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3440" y="2834640"/>
            <a:ext cx="1737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Shape 27"/>
          <p:cNvSpPr/>
          <p:nvPr/>
        </p:nvSpPr>
        <p:spPr>
          <a:xfrm>
            <a:off x="5166360" y="3017520"/>
            <a:ext cx="731520" cy="73152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0" name="Shape 28"/>
          <p:cNvSpPr/>
          <p:nvPr/>
        </p:nvSpPr>
        <p:spPr>
          <a:xfrm>
            <a:off x="5422392" y="3273552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1" name="Text 29"/>
          <p:cNvSpPr/>
          <p:nvPr/>
        </p:nvSpPr>
        <p:spPr>
          <a:xfrm>
            <a:off x="4754880" y="3794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Стриминг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ответов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83680" y="2834640"/>
            <a:ext cx="1737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3" name="Shape 31"/>
          <p:cNvSpPr/>
          <p:nvPr/>
        </p:nvSpPr>
        <p:spPr>
          <a:xfrm>
            <a:off x="7086600" y="3017520"/>
            <a:ext cx="731520" cy="731520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4" name="Shape 32"/>
          <p:cNvSpPr/>
          <p:nvPr/>
        </p:nvSpPr>
        <p:spPr>
          <a:xfrm>
            <a:off x="7342632" y="3273552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5" name="Text 33"/>
          <p:cNvSpPr/>
          <p:nvPr/>
        </p:nvSpPr>
        <p:spPr>
          <a:xfrm>
            <a:off x="6675120" y="3794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UX/UI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практики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Почему UI критичен для AI-приложений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2651760" cy="3566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2651760" cy="548640"/>
          </a:xfrm>
          <a:prstGeom prst="rect">
            <a:avLst/>
          </a:prstGeom>
          <a:solidFill>
            <a:srgbClr val="0070F3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Пользовательский опыт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194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Даже самая умная модель бесполезна, если UX неудобный. Чат без истории, без индикации загрузки, без форматирования кода = нерабочий продукт.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651760" cy="3566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651760" cy="5486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3429000" y="1051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Интерактивность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1828800"/>
            <a:ext cx="2194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LLM-ответы приходят долго (2–30 сек). Без стриминга пользователь думает, что приложение зависло. React + SSE решают это красиво.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1051560"/>
            <a:ext cx="2651760" cy="3566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3" name="Shape 11"/>
          <p:cNvSpPr/>
          <p:nvPr/>
        </p:nvSpPr>
        <p:spPr>
          <a:xfrm>
            <a:off x="6080760" y="1051560"/>
            <a:ext cx="2651760" cy="5486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6263640" y="1051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Production-ready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1828800"/>
            <a:ext cx="2194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даёт SSR, API routes, оптимизацию из коробки. Меньше инфраструктурного кода — больше времени на логику продукта.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Экосистема React для AI-приложений (2026)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Стек, на котором сегодня строят AI-фронтенды: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09728" cy="548640"/>
          </a:xfrm>
          <a:prstGeom prst="rect">
            <a:avLst/>
          </a:prstGeom>
          <a:solidFill>
            <a:srgbClr val="0070F3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0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R01: </a:t>
            </a: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0" y="12344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Компонентная библиотека UI. Виртуальный DOM, однонаправленный поток данных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109728" cy="5486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R02: </a:t>
            </a: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Next.js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18288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Мета-фреймворк на React: роутинг, SSR, API routes, App Router, RSC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109728" cy="5486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R03: </a:t>
            </a: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TypeScript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24231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Типы для props, API-ответов, стейта. Меньше багов в проде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109728" cy="5486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640080" y="3017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R04: </a:t>
            </a: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Tailwind CSS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30175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стили. Быстрые прототипы, консистентный дизайн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611880"/>
            <a:ext cx="109728" cy="5486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7" name="Text 15"/>
          <p:cNvSpPr/>
          <p:nvPr/>
        </p:nvSpPr>
        <p:spPr>
          <a:xfrm>
            <a:off x="640080" y="36118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R05: </a:t>
            </a: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Vercel AI SDK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0" y="36118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Готовые хуки useChat, useCompletion. Стриминг из коробки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206240"/>
            <a:ext cx="109728" cy="5486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0" name="Text 18"/>
          <p:cNvSpPr/>
          <p:nvPr/>
        </p:nvSpPr>
        <p:spPr>
          <a:xfrm>
            <a:off x="640080" y="4206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R06: </a:t>
            </a: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shadcn / Radix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0" y="42062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Доступные UI-компоненты. Копируются в проект, кастомизируются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645920"/>
            <a:ext cx="5486400" cy="5486400"/>
          </a:xfrm>
          <a:prstGeom prst="ellipse">
            <a:avLst/>
          </a:prstGeom>
          <a:solidFill>
            <a:srgbClr val="0070F3">
              <a:alpha val="8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7680960" y="-457200"/>
            <a:ext cx="2743200" cy="2743200"/>
          </a:xfrm>
          <a:prstGeom prst="ellipse">
            <a:avLst/>
          </a:prstGeom>
          <a:solidFill>
            <a:srgbClr val="60A5FA">
              <a:alpha val="75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2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0070F3">
              <a:alpha val="8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4160520" y="1234440"/>
            <a:ext cx="822960" cy="822960"/>
          </a:xfrm>
          <a:prstGeom prst="rect">
            <a:avLst/>
          </a:prstGeom>
          <a:solidFill>
            <a:srgbClr val="0D0D12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4114800" y="12344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1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Основы React: компоненты и хуки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такое React?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— это библиотека JavaScript для построения пользовательских интерфейсов через переиспользуемые компоненты. Вместо того чтобы вручную обновлять DOM, вы описываете, как UI должен выглядеть для каждого состояния — React сам обновит экран.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идея — декларативный UI. Вы пишете «какой должен быть вид», а не «как его менять». Это упрощает разработку сложных интерактивных приложений вроде чатов.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880360"/>
            <a:ext cx="4114800" cy="182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" name="Shape 5"/>
          <p:cNvSpPr/>
          <p:nvPr/>
        </p:nvSpPr>
        <p:spPr>
          <a:xfrm>
            <a:off x="365760" y="2880360"/>
            <a:ext cx="4114800" cy="457200"/>
          </a:xfrm>
          <a:prstGeom prst="rect">
            <a:avLst/>
          </a:prstGeom>
          <a:solidFill>
            <a:srgbClr val="0070F3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Компонентный подход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347472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разбивается на маленькие независимые блоки: &lt;ChatInput&gt;, &lt;Message&gt;, &lt;TypingIndicator&gt;. Каждый переиспользуется.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2880360"/>
            <a:ext cx="4114800" cy="182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1" name="Shape 9"/>
          <p:cNvSpPr/>
          <p:nvPr/>
        </p:nvSpPr>
        <p:spPr>
          <a:xfrm>
            <a:off x="4663440" y="2880360"/>
            <a:ext cx="4114800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2" name="Text 10"/>
          <p:cNvSpPr/>
          <p:nvPr/>
        </p:nvSpPr>
        <p:spPr>
          <a:xfrm>
            <a:off x="4846320" y="2880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Виртуальный DOM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347472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сравнивает новое состояние со старым и обновляет только то, что реально изменилось. Быстро и эффективно.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Примеры React-компонентов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8412480" cy="914400"/>
          </a:xfrm>
          <a:prstGeom prst="rect">
            <a:avLst/>
          </a:prstGeom>
          <a:solidFill>
            <a:srgbClr val="1A1A22"/>
          </a:solidFill>
          <a:ln w="6350">
            <a:solidFill>
              <a:srgbClr val="0070F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73152" cy="914400"/>
          </a:xfrm>
          <a:prstGeom prst="rect">
            <a:avLst/>
          </a:prstGeom>
          <a:solidFill>
            <a:srgbClr val="0070F3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Message({ role, text }) {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&lt;div className={role}&gt;{text}&lt;/div&gt;;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0" y="9144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Простой функциональный компонент — принимает props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856232"/>
            <a:ext cx="8412480" cy="914400"/>
          </a:xfrm>
          <a:prstGeom prst="rect">
            <a:avLst/>
          </a:prstGeom>
          <a:solidFill>
            <a:srgbClr val="1A1A22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Shape 6"/>
          <p:cNvSpPr/>
          <p:nvPr/>
        </p:nvSpPr>
        <p:spPr>
          <a:xfrm>
            <a:off x="365760" y="1856232"/>
            <a:ext cx="73152" cy="914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9" name="Text 7"/>
          <p:cNvSpPr/>
          <p:nvPr/>
        </p:nvSpPr>
        <p:spPr>
          <a:xfrm>
            <a:off x="548640" y="1901952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&lt;ChatWindow&gt;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&lt;Message role="user" text="Привет" /&gt;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&lt;Message role="assistant" text="Здравствуйте!" /&gt;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&lt;/ChatWindow&gt;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60720" y="190195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Композиция: компоненты вкладываются друг в друга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solidFill>
            <a:srgbClr val="1A1A22"/>
          </a:solidFill>
          <a:ln w="63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Shape 10"/>
          <p:cNvSpPr/>
          <p:nvPr/>
        </p:nvSpPr>
        <p:spPr>
          <a:xfrm>
            <a:off x="365760" y="2843784"/>
            <a:ext cx="73152" cy="9144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548640" y="2889504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[input, setInput] = useState("");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value={input} onChange={e =&gt; setInput(e.target.value)} /&gt;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60720" y="2889504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input — состояние живёт в React, не в DOM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831336"/>
            <a:ext cx="8412480" cy="914400"/>
          </a:xfrm>
          <a:prstGeom prst="rect">
            <a:avLst/>
          </a:prstGeom>
          <a:solidFill>
            <a:srgbClr val="1A1A22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Shape 14"/>
          <p:cNvSpPr/>
          <p:nvPr/>
        </p:nvSpPr>
        <p:spPr>
          <a:xfrm>
            <a:off x="365760" y="3831336"/>
            <a:ext cx="73152" cy="9144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7" name="Text 15"/>
          <p:cNvSpPr/>
          <p:nvPr/>
        </p:nvSpPr>
        <p:spPr>
          <a:xfrm>
            <a:off x="548640" y="3877056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{messages.map(m =&gt; &lt;Message key={m.id} {...m} /&gt;)}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60720" y="3877056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Рендер списка через map — ключи обязательны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Главные хуки React: 5 инструментов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834640" cy="713232"/>
          </a:xfrm>
          <a:prstGeom prst="rect">
            <a:avLst/>
          </a:prstGeom>
          <a:solidFill>
            <a:srgbClr val="0070F3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useState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0" y="1005840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Локальное состояние компонента: текущее сообщение в инпуте, открыт ли сайдбар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92224"/>
            <a:ext cx="841248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9" name="Shape 7"/>
          <p:cNvSpPr/>
          <p:nvPr/>
        </p:nvSpPr>
        <p:spPr>
          <a:xfrm>
            <a:off x="365760" y="1792224"/>
            <a:ext cx="2834640" cy="7132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457200" y="1792224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useEffect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1792224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Побочные эффекты: запрос к API при маунте, подписки, таймеры, очистка ресурсов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578608"/>
            <a:ext cx="841248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3" name="Shape 11"/>
          <p:cNvSpPr/>
          <p:nvPr/>
        </p:nvSpPr>
        <p:spPr>
          <a:xfrm>
            <a:off x="365760" y="2578608"/>
            <a:ext cx="2834640" cy="71323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457200" y="257860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useRef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2578608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Ссылка на DOM-элемент: автоскролл чата вниз, фокус на инпут после отправки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364992"/>
            <a:ext cx="841248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7" name="Shape 15"/>
          <p:cNvSpPr/>
          <p:nvPr/>
        </p:nvSpPr>
        <p:spPr>
          <a:xfrm>
            <a:off x="365760" y="3364992"/>
            <a:ext cx="2834640" cy="7132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8" name="Text 16"/>
          <p:cNvSpPr/>
          <p:nvPr/>
        </p:nvSpPr>
        <p:spPr>
          <a:xfrm>
            <a:off x="457200" y="33649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useContext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83280" y="3364992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Глобальные данные без prop drilling: тема, текущий пользователь, настройки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151376"/>
            <a:ext cx="841248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1" name="Shape 19"/>
          <p:cNvSpPr/>
          <p:nvPr/>
        </p:nvSpPr>
        <p:spPr>
          <a:xfrm>
            <a:off x="365760" y="4151376"/>
            <a:ext cx="2834640" cy="71323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2" name="Text 20"/>
          <p:cNvSpPr/>
          <p:nvPr/>
        </p:nvSpPr>
        <p:spPr>
          <a:xfrm>
            <a:off x="457200" y="415137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useMemo / useCallback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83280" y="4151376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Оптимизация: мемоизация тяжёлых вычислений и стабильных коллбеков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Практические техники компоновки UI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1691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solidFill>
            <a:srgbClr val="0070F3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Props Drilling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Передача данных через props сверху вниз. Для 2–3 уровней — ок. Глубже — выносим в Context или state-менеджер.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1691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023360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4846320" y="1005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Children как API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55448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&lt;Card&gt;&lt;Card.Header/&gt;&lt;Card.Body/&gt;&lt;/Card&gt;. Родитель даёт структуру, ребёнок — содержимое. Максимальная гибкость.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4023360" cy="1691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402336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64008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 Props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4290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 принимает функцию-рендерер и вызывает её со своими данными. Актуально для кастомных списков и форм.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880360"/>
            <a:ext cx="4023360" cy="1691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7" name="Shape 15"/>
          <p:cNvSpPr/>
          <p:nvPr/>
        </p:nvSpPr>
        <p:spPr>
          <a:xfrm>
            <a:off x="4663440" y="2880360"/>
            <a:ext cx="4023360" cy="4572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8" name="Text 16"/>
          <p:cNvSpPr/>
          <p:nvPr/>
        </p:nvSpPr>
        <p:spPr>
          <a:xfrm>
            <a:off x="484632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 Hooks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4290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useChat(), useStream(), useAutoScroll() — логика инкапсулирована в хуке. Один хук — много компонентов.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645920"/>
            <a:ext cx="5486400" cy="5486400"/>
          </a:xfrm>
          <a:prstGeom prst="ellipse">
            <a:avLst/>
          </a:prstGeom>
          <a:solidFill>
            <a:srgbClr val="0070F3">
              <a:alpha val="8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7680960" y="-457200"/>
            <a:ext cx="2743200" cy="2743200"/>
          </a:xfrm>
          <a:prstGeom prst="ellipse">
            <a:avLst/>
          </a:prstGeom>
          <a:solidFill>
            <a:srgbClr val="60A5FA">
              <a:alpha val="75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2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0070F3">
              <a:alpha val="8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4160520" y="1234440"/>
            <a:ext cx="822960" cy="822960"/>
          </a:xfrm>
          <a:prstGeom prst="rect">
            <a:avLst/>
          </a:prstGeom>
          <a:solidFill>
            <a:srgbClr val="0D0D12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4114800" y="12344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2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Next.js: фреймворк для продакшена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Next.js: React для продакшена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Чистый React — это только UI-библиотека. Для реального продукта нужны роутинг, серверный рендеринг, API-эндпоинты, оптимизация изображений, кэширование. Всё это пришлось бы настраивать вручную.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783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даёт весь этот фундамент из коробки. Вы пишете страницы и компоненты — фреймворк берёт на себя инфраструктуру.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2468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 + Server Components — новый стандарт: часть компонентов рендерится на сервере, часть на клиенте.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429000"/>
            <a:ext cx="3108960" cy="10972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30+ мин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103120" y="36118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 вручную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3429000"/>
            <a:ext cx="3108960" cy="10972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5029200" y="35204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 сек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00800" y="36118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Next.js —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коробки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Ключевые возможности Next.js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560320" cy="777240"/>
          </a:xfrm>
          <a:prstGeom prst="rect">
            <a:avLst/>
          </a:prstGeom>
          <a:solidFill>
            <a:srgbClr val="0070F3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Router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26080" y="1005840"/>
            <a:ext cx="585216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3063240" y="100584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Роутинг через структуру папок app/. Вложенные layouts, loading-states, error boundaries из коробки.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2560320" cy="7772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 Components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926080" y="1874520"/>
            <a:ext cx="585216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3063240" y="187452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Компоненты выполняются на сервере. Можно напрямую обращаться к БД, избегать лишнего JS на клиенте.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2560320" cy="7772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Routes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926080" y="2743200"/>
            <a:ext cx="585216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5" name="Text 13"/>
          <p:cNvSpPr/>
          <p:nvPr/>
        </p:nvSpPr>
        <p:spPr>
          <a:xfrm>
            <a:off x="3063240" y="274320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Бэкенд-эндпоинты прямо в проекте: app/api/chat/route.ts. Идеально для прокси к OpenAI/Anthropic.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611880"/>
            <a:ext cx="2560320" cy="7772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7" name="Text 15"/>
          <p:cNvSpPr/>
          <p:nvPr/>
        </p:nvSpPr>
        <p:spPr>
          <a:xfrm>
            <a:off x="457200" y="36118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Streaming / Suspense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926080" y="3611880"/>
            <a:ext cx="585216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9" name="Text 17"/>
          <p:cNvSpPr/>
          <p:nvPr/>
        </p:nvSpPr>
        <p:spPr>
          <a:xfrm>
            <a:off x="3063240" y="361188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Встроенная поддержка стриминга UI и данных. Пользователь видит контент по мере готовности.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Реализация: Next.js API Route для чата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app/api/chat/route.ts — серверный эндпоинт, который принимает сообщения и стримит ответ от LLM.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3886200"/>
          </a:xfrm>
          <a:prstGeom prst="rect">
            <a:avLst/>
          </a:prstGeom>
          <a:solidFill>
            <a:srgbClr val="1A1A22"/>
          </a:solidFill>
          <a:ln w="9525">
            <a:solidFill>
              <a:srgbClr val="0070F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81381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Anthropic from "@anthropic-ai/sdk";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client = new Anthropic();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async function POST(req: Request) {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messages } = await req.json();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stream = await client.messages.stream({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model: "claude-opus-4-7",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max_tokens: 1024,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messages,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Next.js умеет отдавать ReadableStream напрямую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new Response(stream.toReadableStream(), {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headers: { "Content-Type": "text/event-stream" },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645920"/>
            <a:ext cx="5486400" cy="5486400"/>
          </a:xfrm>
          <a:prstGeom prst="ellipse">
            <a:avLst/>
          </a:prstGeom>
          <a:solidFill>
            <a:srgbClr val="0070F3">
              <a:alpha val="8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7680960" y="-457200"/>
            <a:ext cx="2743200" cy="2743200"/>
          </a:xfrm>
          <a:prstGeom prst="ellipse">
            <a:avLst/>
          </a:prstGeom>
          <a:solidFill>
            <a:srgbClr val="60A5FA">
              <a:alpha val="75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2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0070F3">
              <a:alpha val="8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4160520" y="1234440"/>
            <a:ext cx="822960" cy="822960"/>
          </a:xfrm>
          <a:prstGeom prst="rect">
            <a:avLst/>
          </a:prstGeom>
          <a:solidFill>
            <a:srgbClr val="0D0D12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4114800" y="12344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3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Построение интерфейса чата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Интерфейс чата: наивный vs компонентный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3566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5029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Наивно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большой JSX в page.tsx на 500 строк.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стейт — в одном useState({...}). Любое изменение перерисовывает всё дерево.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Стили inline или в одном глобальном CSS. Правка одного компонента ломает остальные.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Логика API-запросов прямо в обработчике клика. Нет переиспользования.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114800" cy="3566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114800" cy="5029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4846320" y="10058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Компонентно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&lt;ChatLayout&gt; → &lt;Sidebar&gt; + &lt;ChatWindow&gt; + &lt;Composer&gt;. Каждый — отдельный файл.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Стейт чата в useChat(). Локальные стейты — в компонентах, где используются.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утилиты или CSS-модули. Стили изолированы в своём компоненте.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Кастомный хук useStream() абстрагирует SSE. Переиспользуется в 3 местах.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именно выделять в компоненты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28016" cy="594360"/>
          </a:xfrm>
          <a:prstGeom prst="rect">
            <a:avLst/>
          </a:prstGeom>
          <a:solidFill>
            <a:srgbClr val="0070F3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&lt;ChatWindow&gt;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91840" y="8686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Контейнер со всеми сообщениями. Автоскролл вниз при новом сообщении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128016" cy="5943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&lt;Message&gt;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0" y="15087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сообщение: аватар, роль, текст, markdown-рендер, код с подсветкой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128016" cy="5943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640080" y="21488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&lt;Composer&gt;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21488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 ввода: textarea, кнопка Send, Ctrl+Enter, счётчик символов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788920"/>
            <a:ext cx="128016" cy="5943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640080" y="27889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&lt;TypingIndicator&gt;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27889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«…печатает» или три точки во время стриминга. Критично для UX ожидания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429000"/>
            <a:ext cx="128016" cy="5943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640080" y="34290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&lt;Sidebar / History&gt;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91840" y="342900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чатов: создать новый, переключить, удалить. Сохраняется в БД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069080"/>
            <a:ext cx="128016" cy="5943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9" name="Text 17"/>
          <p:cNvSpPr/>
          <p:nvPr/>
        </p:nvSpPr>
        <p:spPr>
          <a:xfrm>
            <a:off x="640080" y="40690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&lt;ModelSwitcher&gt;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40690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модели (Haiku / Sonnet / Opus). Настройки температуры, max_tokens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645920"/>
            <a:ext cx="5486400" cy="5486400"/>
          </a:xfrm>
          <a:prstGeom prst="ellipse">
            <a:avLst/>
          </a:prstGeom>
          <a:solidFill>
            <a:srgbClr val="0070F3">
              <a:alpha val="8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7680960" y="-457200"/>
            <a:ext cx="2743200" cy="2743200"/>
          </a:xfrm>
          <a:prstGeom prst="ellipse">
            <a:avLst/>
          </a:prstGeom>
          <a:solidFill>
            <a:srgbClr val="60A5FA">
              <a:alpha val="75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2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0070F3">
              <a:alpha val="8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4160520" y="1234440"/>
            <a:ext cx="822960" cy="822960"/>
          </a:xfrm>
          <a:prstGeom prst="rect">
            <a:avLst/>
          </a:prstGeom>
          <a:solidFill>
            <a:srgbClr val="0D0D12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4114800" y="12344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4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чата и управление состоянием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История сообщений: где хранить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чата должна переживать обновление страницы, быть доступной с других устройств и не взрываться по памяти при длинных беседах. Выбор места хранения — архитектурное решение.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828800"/>
            <a:ext cx="2651760" cy="2331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Shape 4"/>
          <p:cNvSpPr/>
          <p:nvPr/>
        </p:nvSpPr>
        <p:spPr>
          <a:xfrm>
            <a:off x="411480" y="1828800"/>
            <a:ext cx="2651760" cy="457200"/>
          </a:xfrm>
          <a:prstGeom prst="rect">
            <a:avLst/>
          </a:prstGeom>
          <a:solidFill>
            <a:srgbClr val="0070F3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state (useState)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текущая сессия. При F5 — всё пропадает. Подходит для демо, прототипов, анонимных чатов.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1828800"/>
            <a:ext cx="2651760" cy="2331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Shape 8"/>
          <p:cNvSpPr/>
          <p:nvPr/>
        </p:nvSpPr>
        <p:spPr>
          <a:xfrm>
            <a:off x="3246120" y="1828800"/>
            <a:ext cx="2651760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338328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localStorage / IndexedDB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24231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Переживает F5, живёт в браузере. Не синхронизируется между устройствами. Лимит ~5–10 МБ для localStorage.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80760" y="1828800"/>
            <a:ext cx="2651760" cy="2331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Shape 12"/>
          <p:cNvSpPr/>
          <p:nvPr/>
        </p:nvSpPr>
        <p:spPr>
          <a:xfrm>
            <a:off x="6080760" y="1828800"/>
            <a:ext cx="265176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5" name="Text 13"/>
          <p:cNvSpPr/>
          <p:nvPr/>
        </p:nvSpPr>
        <p:spPr>
          <a:xfrm>
            <a:off x="621792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База данных (Postgres)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24231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хранит беседы по user_id. Синхронизация, поиск, аналитика. Требует аутентификации и API-слоя.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Управление состоянием чата: 5 правил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926080" cy="65836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Один источник истины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91840" y="868680"/>
            <a:ext cx="548640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3429000" y="86868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Массив messages живёт в одном месте (хук или store). Все компоненты читают оттуда — нет рассинхрона.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2926080" cy="65836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Иммутабельные обновления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600200"/>
            <a:ext cx="548640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3429000" y="160020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setMessages(prev =&gt; [...prev, newMsg]). Никогда не мутируем массив — React не заметит изменений.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2926080" cy="65836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2" name="Text 10"/>
          <p:cNvSpPr/>
          <p:nvPr/>
        </p:nvSpPr>
        <p:spPr>
          <a:xfrm>
            <a:off x="457200" y="233172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Оптимистичный UI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91840" y="2331720"/>
            <a:ext cx="548640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3429000" y="233172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Сообщение пользователя добавляем сразу, до ответа API. Пользователь не ждёт, интерфейс отзывчив.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063240"/>
            <a:ext cx="2926080" cy="658368"/>
          </a:xfrm>
          <a:prstGeom prst="rect">
            <a:avLst/>
          </a:prstGeom>
          <a:solidFill>
            <a:srgbClr val="0070F3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457200" y="30632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Стриминг — отдельный стейт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91840" y="3063240"/>
            <a:ext cx="548640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8" name="Text 16"/>
          <p:cNvSpPr/>
          <p:nvPr/>
        </p:nvSpPr>
        <p:spPr>
          <a:xfrm>
            <a:off x="3429000" y="306324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streamingMessage обновляется по чанкам. Когда поток закончен — пушим в messages и чистим.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794760"/>
            <a:ext cx="2926080" cy="65836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0" name="Text 18"/>
          <p:cNvSpPr/>
          <p:nvPr/>
        </p:nvSpPr>
        <p:spPr>
          <a:xfrm>
            <a:off x="457200" y="37947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Контекстное окно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91840" y="3794760"/>
            <a:ext cx="548640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2" name="Text 20"/>
          <p:cNvSpPr/>
          <p:nvPr/>
        </p:nvSpPr>
        <p:spPr>
          <a:xfrm>
            <a:off x="3429000" y="379476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шлём всю историю в API. Храним N последних или суммируем старое. Экономит токены и деньги.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645920"/>
            <a:ext cx="5486400" cy="5486400"/>
          </a:xfrm>
          <a:prstGeom prst="ellipse">
            <a:avLst/>
          </a:prstGeom>
          <a:solidFill>
            <a:srgbClr val="0070F3">
              <a:alpha val="8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7680960" y="-457200"/>
            <a:ext cx="2743200" cy="2743200"/>
          </a:xfrm>
          <a:prstGeom prst="ellipse">
            <a:avLst/>
          </a:prstGeom>
          <a:solidFill>
            <a:srgbClr val="60A5FA">
              <a:alpha val="75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2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0070F3">
              <a:alpha val="8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4160520" y="1234440"/>
            <a:ext cx="822960" cy="822960"/>
          </a:xfrm>
          <a:prstGeom prst="rect">
            <a:avLst/>
          </a:prstGeom>
          <a:solidFill>
            <a:srgbClr val="0D0D12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4114800" y="12344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5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Стриминг ответов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Стриминг: зачем и как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Claude Opus может генерироваться 5–30 секунд. Без стриминга пользователь смотрит на спиннер и думает, что всё сломалось. Стриминг показывает текст по мере генерации — ощущение, будто модель «печатает» прямо сейчас.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2057400"/>
            <a:ext cx="4114800" cy="1325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Shape 4"/>
          <p:cNvSpPr/>
          <p:nvPr/>
        </p:nvSpPr>
        <p:spPr>
          <a:xfrm>
            <a:off x="365760" y="2057400"/>
            <a:ext cx="128016" cy="13258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640080" y="21305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Стримим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ответа, токен за токеном. Прогресс tool use, промежуточные reasoning-шаги, статусы агента.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2057400"/>
            <a:ext cx="4114800" cy="1325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Shape 8"/>
          <p:cNvSpPr/>
          <p:nvPr/>
        </p:nvSpPr>
        <p:spPr>
          <a:xfrm>
            <a:off x="4663440" y="2057400"/>
            <a:ext cx="128016" cy="13258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4937760" y="21305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НЕ стримим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4688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JSON-ответы (парсятся целиком), бинарные данные, ответы &lt; 200 мс. Избыточный оверхед.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520440"/>
            <a:ext cx="4114800" cy="1325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Shape 12"/>
          <p:cNvSpPr/>
          <p:nvPr/>
        </p:nvSpPr>
        <p:spPr>
          <a:xfrm>
            <a:off x="365760" y="3520440"/>
            <a:ext cx="128016" cy="13258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5" name="Text 13"/>
          <p:cNvSpPr/>
          <p:nvPr/>
        </p:nvSpPr>
        <p:spPr>
          <a:xfrm>
            <a:off x="640080" y="35935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События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9319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message_start, content_block_delta, message_stop. SSE-формат. Каждый event — один чанк.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520440"/>
            <a:ext cx="4114800" cy="1325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8" name="Shape 16"/>
          <p:cNvSpPr/>
          <p:nvPr/>
        </p:nvSpPr>
        <p:spPr>
          <a:xfrm>
            <a:off x="4663440" y="3520440"/>
            <a:ext cx="128016" cy="13258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9" name="Text 17"/>
          <p:cNvSpPr/>
          <p:nvPr/>
        </p:nvSpPr>
        <p:spPr>
          <a:xfrm>
            <a:off x="4937760" y="35935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Обработка ошибок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9319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Стрим может оборваться посередине. Нужен retry, timeout, сохранение частичного ответа.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Технологии стриминга: что выбрать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способа получать данные с сервера в реальном времени. Для LLM-чатов побеждает SSE.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8620" y="1371600"/>
            <a:ext cx="2697480" cy="3108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Shape 4"/>
          <p:cNvSpPr/>
          <p:nvPr/>
        </p:nvSpPr>
        <p:spPr>
          <a:xfrm>
            <a:off x="388620" y="1371600"/>
            <a:ext cx="2697480" cy="5029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525780" y="13716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Polling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1500" y="2011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Плюсы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1500" y="22860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Просто, работает везде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71500" y="2971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Минусы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1500" y="32461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Задержка, лишние запросы, дорого для LLM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71500" y="4023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Только как fallback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23260" y="1371600"/>
            <a:ext cx="2697480" cy="3108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Shape 12"/>
          <p:cNvSpPr/>
          <p:nvPr/>
        </p:nvSpPr>
        <p:spPr>
          <a:xfrm>
            <a:off x="3223260" y="1371600"/>
            <a:ext cx="2697480" cy="5029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5" name="Text 13"/>
          <p:cNvSpPr/>
          <p:nvPr/>
        </p:nvSpPr>
        <p:spPr>
          <a:xfrm>
            <a:off x="3360420" y="13716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Server-Sent Events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06140" y="2011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Плюсы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06140" y="22860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Родной для HTTP, авто-reconnect, одностороннее — идеально для LLM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06140" y="2971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Минусы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06140" y="32461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text, нет бинарного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06140" y="4023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Выбор по умолчанию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57900" y="1371600"/>
            <a:ext cx="2697480" cy="3108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2" name="Shape 20"/>
          <p:cNvSpPr/>
          <p:nvPr/>
        </p:nvSpPr>
        <p:spPr>
          <a:xfrm>
            <a:off x="6057900" y="1371600"/>
            <a:ext cx="2697480" cy="502920"/>
          </a:xfrm>
          <a:prstGeom prst="rect">
            <a:avLst/>
          </a:prstGeom>
          <a:solidFill>
            <a:srgbClr val="0070F3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3" name="Text 21"/>
          <p:cNvSpPr/>
          <p:nvPr/>
        </p:nvSpPr>
        <p:spPr>
          <a:xfrm>
            <a:off x="6195060" y="13716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WebSocket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40780" y="2011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Плюсы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40780" y="22860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Двунаправленный, низкая задержка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40780" y="2971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Минусы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40780" y="32461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Сложнее, требует отдельной инфры, proxy-проблемы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40780" y="4023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0070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Нужен для voice / коллаборации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645920"/>
            <a:ext cx="5486400" cy="5486400"/>
          </a:xfrm>
          <a:prstGeom prst="ellipse">
            <a:avLst/>
          </a:prstGeom>
          <a:solidFill>
            <a:srgbClr val="0070F3">
              <a:alpha val="8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7680960" y="-457200"/>
            <a:ext cx="2743200" cy="2743200"/>
          </a:xfrm>
          <a:prstGeom prst="ellipse">
            <a:avLst/>
          </a:prstGeom>
          <a:solidFill>
            <a:srgbClr val="60A5FA">
              <a:alpha val="75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2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0070F3">
              <a:alpha val="8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4160520" y="1234440"/>
            <a:ext cx="822960" cy="822960"/>
          </a:xfrm>
          <a:prstGeom prst="rect">
            <a:avLst/>
          </a:prstGeom>
          <a:solidFill>
            <a:srgbClr val="0D0D12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4114800" y="12344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6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Продвинутый UX: от хорошего к отличному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Vercel AI SDK: хуки для AI-чатов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AI SDK — открытая библиотека от создателей Next.js, которая инкапсулирует стриминг, управление историей и интеграцию с OpenAI / Anthropic / Google. Вместо сотни строк boilerplate — один хук useChat().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8288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берёт на себя: SSE-парсинг, массив messages, input state, loading-флаг, отмену запросов, работу с tool calls. Фронтендер пишет только разметку.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2514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 преимущество — провайдеро-агностичность. Переключиться с Claude на GPT-4o = заменить одну строку в API route.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91540" y="3931920"/>
            <a:ext cx="1737360" cy="594360"/>
          </a:xfrm>
          <a:prstGeom prst="roundRect">
            <a:avLst>
              <a:gd name="adj" fmla="val 15385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891540" y="39319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useChat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66060" y="3931920"/>
            <a:ext cx="1737360" cy="594360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9" name="Text 7"/>
          <p:cNvSpPr/>
          <p:nvPr/>
        </p:nvSpPr>
        <p:spPr>
          <a:xfrm>
            <a:off x="2766060" y="39319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useCompletion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40580" y="3931920"/>
            <a:ext cx="1737360" cy="594360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4640580" y="39319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useObject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15100" y="3931920"/>
            <a:ext cx="1737360" cy="594360"/>
          </a:xfrm>
          <a:prstGeom prst="roundRect">
            <a:avLst>
              <a:gd name="adj" fmla="val 15385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6515100" y="39319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streamText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Архитектура: клиент → Next.js API → LLM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54380" y="1371600"/>
            <a:ext cx="1737360" cy="1005840"/>
          </a:xfrm>
          <a:prstGeom prst="rect">
            <a:avLst/>
          </a:prstGeom>
          <a:solidFill>
            <a:srgbClr val="0070F3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754380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UI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54380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useChat()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19172" y="1371600"/>
            <a:ext cx="228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20340" y="1371600"/>
            <a:ext cx="1737360" cy="10058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9" name="Text 7"/>
          <p:cNvSpPr/>
          <p:nvPr/>
        </p:nvSpPr>
        <p:spPr>
          <a:xfrm>
            <a:off x="2720340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Route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20340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/api/chat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85132" y="1371600"/>
            <a:ext cx="228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686300" y="1371600"/>
            <a:ext cx="1737360" cy="10058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4686300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SDK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86300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streamText()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51092" y="1371600"/>
            <a:ext cx="228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652260" y="1371600"/>
            <a:ext cx="1737360" cy="10058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7" name="Text 15"/>
          <p:cNvSpPr/>
          <p:nvPr/>
        </p:nvSpPr>
        <p:spPr>
          <a:xfrm>
            <a:off x="6652260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Провайдер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52260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 / OpenAI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 — не просто прокси. Это граница безопасности: здесь проверяем auth, добавляем system prompt, накладываем rate limit, санитизируем input пользователя.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API-ключ OpenAI / Anthropic живёт ТОЛЬКО на сервере. Клиент никогда не видит его. Это базовое правило — и его часто нарушают.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UX-вызовы AI-интерфейсов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651760" cy="71323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Медленный ответ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017520" y="868680"/>
            <a:ext cx="576072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3154680" y="86868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думает 5–30 сек. Без стриминга и индикатора — выглядит как фриз. Решение: skeleton + typing-анимация.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2651760" cy="7132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Галлюцинации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017520" y="1645920"/>
            <a:ext cx="576072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3154680" y="164592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уверенно выдаёт выдумку. UI должен давать пользователю возможность пометить ошибку и показать источники.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423160"/>
            <a:ext cx="2651760" cy="71323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2" name="Text 10"/>
          <p:cNvSpPr/>
          <p:nvPr/>
        </p:nvSpPr>
        <p:spPr>
          <a:xfrm>
            <a:off x="457200" y="242316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Обрыв стрима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017520" y="2423160"/>
            <a:ext cx="576072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3154680" y="242316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Соединение падает посередине ответа. Частичный текст + кнопка «Продолжить» без потери контекста.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200400"/>
            <a:ext cx="2651760" cy="7132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457200" y="320040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Markdown / код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017520" y="3200400"/>
            <a:ext cx="576072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8" name="Text 16"/>
          <p:cNvSpPr/>
          <p:nvPr/>
        </p:nvSpPr>
        <p:spPr>
          <a:xfrm>
            <a:off x="3154680" y="320040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Ответы в markdown, код с подсветкой, кнопка «копировать». Plain text = непрофессионально.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977640"/>
            <a:ext cx="2651760" cy="713232"/>
          </a:xfrm>
          <a:prstGeom prst="rect">
            <a:avLst/>
          </a:prstGeom>
          <a:solidFill>
            <a:srgbClr val="0070F3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0" name="Text 18"/>
          <p:cNvSpPr/>
          <p:nvPr/>
        </p:nvSpPr>
        <p:spPr>
          <a:xfrm>
            <a:off x="457200" y="397764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Контекст окна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017520" y="3977640"/>
            <a:ext cx="576072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2" name="Text 20"/>
          <p:cNvSpPr/>
          <p:nvPr/>
        </p:nvSpPr>
        <p:spPr>
          <a:xfrm>
            <a:off x="3154680" y="397764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Длинные беседы вылезают за токен-лимит. UI должен показывать, что будет обрезано, и как суммаризировать.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645920"/>
            <a:ext cx="5486400" cy="5486400"/>
          </a:xfrm>
          <a:prstGeom prst="ellipse">
            <a:avLst/>
          </a:prstGeom>
          <a:solidFill>
            <a:srgbClr val="0070F3">
              <a:alpha val="8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7680960" y="-457200"/>
            <a:ext cx="2743200" cy="2743200"/>
          </a:xfrm>
          <a:prstGeom prst="ellipse">
            <a:avLst/>
          </a:prstGeom>
          <a:solidFill>
            <a:srgbClr val="60A5FA">
              <a:alpha val="75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2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0070F3">
              <a:alpha val="8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4160520" y="1234440"/>
            <a:ext cx="822960" cy="822960"/>
          </a:xfrm>
          <a:prstGeom prst="rect">
            <a:avLst/>
          </a:prstGeom>
          <a:solidFill>
            <a:srgbClr val="0D0D12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4114800" y="12344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7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Checklist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Frontend Checklist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Стриминг ответов через SSE (не polling)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663440" y="868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Автоскролл чата вниз на новое сообщение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+ подсветка кода + кнопка «Копировать»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3440" y="1188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Оптимистичный UI: сообщение пользователя — сразу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Stop для прерывания генерации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1508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чата: persist в БД, не только в state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Индикатор печати / skeleton во время ожидания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1828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 ошибок: retry, понятные сообщения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148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shortcuts: Enter / Ctrl+Enter / Esc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2148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Mobile-responsive: 375px, жесты, виртуальная клавиатура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468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Accessibility: aria-labels, фокус, контраст ≥ 4.5:1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2468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≥ 90, оптимизация изображений через next/image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Лучшие практики разработки UI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2651760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2651760" cy="457200"/>
          </a:xfrm>
          <a:prstGeom prst="rect">
            <a:avLst/>
          </a:prstGeom>
          <a:solidFill>
            <a:srgbClr val="0070F3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594360" y="960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 Components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тянем на сервере, клиенту отдаём HTML. Меньше JS, быстрее TTI, SEO из коробки.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651760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651760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3429000" y="960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15087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Компонент, его тесты, стили и хук лежат в одной папке. Проще рефакторить — проще удалять.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960120"/>
            <a:ext cx="2651760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3" name="Shape 11"/>
          <p:cNvSpPr/>
          <p:nvPr/>
        </p:nvSpPr>
        <p:spPr>
          <a:xfrm>
            <a:off x="6080760" y="960120"/>
            <a:ext cx="2651760" cy="4572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6263640" y="960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 everything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15087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на props, API, messages. tRPC или zod для runtime-валидации. Меньше багов в проде.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2880360"/>
            <a:ext cx="2651760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7" name="Shape 15"/>
          <p:cNvSpPr/>
          <p:nvPr/>
        </p:nvSpPr>
        <p:spPr>
          <a:xfrm>
            <a:off x="411480" y="2880360"/>
            <a:ext cx="265176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8" name="Text 16"/>
          <p:cNvSpPr/>
          <p:nvPr/>
        </p:nvSpPr>
        <p:spPr>
          <a:xfrm>
            <a:off x="594360" y="2880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Mobile-first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4290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Рисуем сначала для 375px, потом расширяем. Большинство AI-чатов — с телефона.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46120" y="2880360"/>
            <a:ext cx="2651760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1" name="Shape 19"/>
          <p:cNvSpPr/>
          <p:nvPr/>
        </p:nvSpPr>
        <p:spPr>
          <a:xfrm>
            <a:off x="3246120" y="2880360"/>
            <a:ext cx="2651760" cy="4572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2" name="Text 20"/>
          <p:cNvSpPr/>
          <p:nvPr/>
        </p:nvSpPr>
        <p:spPr>
          <a:xfrm>
            <a:off x="3429000" y="2880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Accessibility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74720" y="34290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Семантика, клавиатура, контраст. Инклюзивность — не только про «правильно», но и про больше пользователей.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80760" y="2880360"/>
            <a:ext cx="2651760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5" name="Shape 23"/>
          <p:cNvSpPr/>
          <p:nvPr/>
        </p:nvSpPr>
        <p:spPr>
          <a:xfrm>
            <a:off x="6080760" y="2880360"/>
            <a:ext cx="2651760" cy="4572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6" name="Text 24"/>
          <p:cNvSpPr/>
          <p:nvPr/>
        </p:nvSpPr>
        <p:spPr>
          <a:xfrm>
            <a:off x="6263640" y="2880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9360" y="34290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для фронтенд-ошибок, Vercel Analytics, Web Vitals. Меряем latency стрима, TTFB, CLS.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Типичные ошибки фронтенда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743200" cy="71323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API-ключ на клиенте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108960" y="868680"/>
            <a:ext cx="566928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3246120" y="86868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OPENAI_API_KEY попал в NEXT_PUBLIC_* или в бандл. Ключ утёк = все $$ ваши. Ключи только в API routes!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2743200" cy="7132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Fetch без streaming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108960" y="1645920"/>
            <a:ext cx="566928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3246120" y="164592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Ждём весь ответ, потом показываем. Пользователь видит спиннер 20 сек. SSE / стрим — обязательны.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423160"/>
            <a:ext cx="2743200" cy="71323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2" name="Text 10"/>
          <p:cNvSpPr/>
          <p:nvPr/>
        </p:nvSpPr>
        <p:spPr>
          <a:xfrm>
            <a:off x="457200" y="242316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Вся история в one useState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108960" y="2423160"/>
            <a:ext cx="566928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3246120" y="242316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100 сообщений каждое нажатие клавиши = перерисовка всего. useReducer или Zustand спасают.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200400"/>
            <a:ext cx="2743200" cy="7132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457200" y="320040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Нет обработки ошибок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108960" y="3200400"/>
            <a:ext cx="566928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8" name="Text 16"/>
          <p:cNvSpPr/>
          <p:nvPr/>
        </p:nvSpPr>
        <p:spPr>
          <a:xfrm>
            <a:off x="3246120" y="320040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/ timeout / 500 от провайдера — и экран белый. Error boundary + понятный UI — обязательны.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977640"/>
            <a:ext cx="2743200" cy="713232"/>
          </a:xfrm>
          <a:prstGeom prst="rect">
            <a:avLst/>
          </a:prstGeom>
          <a:solidFill>
            <a:srgbClr val="0070F3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0" name="Text 18"/>
          <p:cNvSpPr/>
          <p:nvPr/>
        </p:nvSpPr>
        <p:spPr>
          <a:xfrm>
            <a:off x="457200" y="397764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Перерисовки из-за объектов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108960" y="3977640"/>
            <a:ext cx="566928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2" name="Text 20"/>
          <p:cNvSpPr/>
          <p:nvPr/>
        </p:nvSpPr>
        <p:spPr>
          <a:xfrm>
            <a:off x="3246120" y="397764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объект в пропсах каждый рендер → memo не работает. useMemo / стабильные ссылки — must-have.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Практическое задание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Соберите фронтенд для вашего AI-приложения на Next.js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20040" cy="320040"/>
          </a:xfrm>
          <a:prstGeom prst="ellipse">
            <a:avLst/>
          </a:prstGeom>
          <a:solidFill>
            <a:srgbClr val="0070F3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5087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Создайте Next.js-проект: npx create-next-app@latest с App Router и TypeScript. Установите Tailwind CSS и Vercel AI SDK.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67128"/>
            <a:ext cx="320040" cy="320040"/>
          </a:xfrm>
          <a:prstGeom prst="ellipse">
            <a:avLst/>
          </a:prstGeom>
          <a:solidFill>
            <a:srgbClr val="0070F3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457200" y="21671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07568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Напишите API Route app/api/chat/route.ts, которая принимает массив messages и стримит ответ от Claude через @anthropic-ai/sdk.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34056"/>
            <a:ext cx="320040" cy="320040"/>
          </a:xfrm>
          <a:prstGeom prst="ellipse">
            <a:avLst/>
          </a:prstGeom>
          <a:solidFill>
            <a:srgbClr val="0070F3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457200" y="27340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642616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Создайте страницу чата: &lt;ChatWindow&gt;, &lt;Message&gt;, &lt;Composer&gt;. Используйте хук useChat() из AI SDK для подключения к API.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00984"/>
            <a:ext cx="320040" cy="320040"/>
          </a:xfrm>
          <a:prstGeom prst="ellipse">
            <a:avLst/>
          </a:prstGeom>
          <a:solidFill>
            <a:srgbClr val="0070F3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457200" y="33009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20954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Реализуйте стриминг: ответ модели должен появляться по мере генерации, а не целиком. Покажите индикатор «печатает».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867912"/>
            <a:ext cx="320040" cy="320040"/>
          </a:xfrm>
          <a:prstGeom prst="ellipse">
            <a:avLst/>
          </a:prstGeom>
          <a:solidFill>
            <a:srgbClr val="0070F3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9" name="Text 17"/>
          <p:cNvSpPr/>
          <p:nvPr/>
        </p:nvSpPr>
        <p:spPr>
          <a:xfrm>
            <a:off x="457200" y="38679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377647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Добавьте историю: localStorage или простой API-эндпоинт /api/conversations. Сайдбар с возможностью создать / переключить чат.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434840"/>
            <a:ext cx="320040" cy="320040"/>
          </a:xfrm>
          <a:prstGeom prst="ellipse">
            <a:avLst/>
          </a:prstGeom>
          <a:solidFill>
            <a:srgbClr val="0070F3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2" name="Text 20"/>
          <p:cNvSpPr/>
          <p:nvPr/>
        </p:nvSpPr>
        <p:spPr>
          <a:xfrm>
            <a:off x="457200" y="4434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43434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Бонус: markdown-рендер с react-markdown, подсветка кода через shiki, кнопка «Stop» для прерывания генерации.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Итоги лекции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377440" cy="713232"/>
          </a:xfrm>
          <a:prstGeom prst="rect">
            <a:avLst/>
          </a:prstGeom>
          <a:solidFill>
            <a:srgbClr val="0070F3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960120"/>
            <a:ext cx="603504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2880360" y="960120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Компоненты, JSX, хуки: useState, useEffect, useRef, useContext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746504"/>
            <a:ext cx="2377440" cy="7132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9" name="Text 7"/>
          <p:cNvSpPr/>
          <p:nvPr/>
        </p:nvSpPr>
        <p:spPr>
          <a:xfrm>
            <a:off x="457200" y="1746504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Next.js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0" y="1746504"/>
            <a:ext cx="603504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2880360" y="1746504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Router, Server Components, API routes, встроенный стриминг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532888"/>
            <a:ext cx="2377440" cy="7132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457200" y="2532888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Чат-интерфейс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0" y="2532888"/>
            <a:ext cx="603504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5" name="Text 13"/>
          <p:cNvSpPr/>
          <p:nvPr/>
        </p:nvSpPr>
        <p:spPr>
          <a:xfrm>
            <a:off x="2880360" y="2532888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&lt;ChatWindow&gt;, &lt;Message&gt;, &lt;Composer&gt;. Автоскролл, markdown, код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319272"/>
            <a:ext cx="2377440" cy="71323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7" name="Text 15"/>
          <p:cNvSpPr/>
          <p:nvPr/>
        </p:nvSpPr>
        <p:spPr>
          <a:xfrm>
            <a:off x="457200" y="3319272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История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0" y="3319272"/>
            <a:ext cx="603504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9" name="Text 17"/>
          <p:cNvSpPr/>
          <p:nvPr/>
        </p:nvSpPr>
        <p:spPr>
          <a:xfrm>
            <a:off x="2880360" y="3319272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 / localStorage / БД. Оптимистичный UI, иммутабельность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4105656"/>
            <a:ext cx="2377440" cy="71323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1" name="Text 19"/>
          <p:cNvSpPr/>
          <p:nvPr/>
        </p:nvSpPr>
        <p:spPr>
          <a:xfrm>
            <a:off x="457200" y="4105656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Стриминг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0" y="4105656"/>
            <a:ext cx="603504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3" name="Text 21"/>
          <p:cNvSpPr/>
          <p:nvPr/>
        </p:nvSpPr>
        <p:spPr>
          <a:xfrm>
            <a:off x="2880360" y="4105656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— стандарт для LLM. useChat() из Vercel AI SDK — всё из коробки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2532</Words>
  <Application>Microsoft Macintosh PowerPoint</Application>
  <PresentationFormat>Экран (16:9)</PresentationFormat>
  <Paragraphs>345</Paragraphs>
  <Slides>32</Slides>
  <Notes>32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7" baseType="lpstr">
      <vt:lpstr>Arial</vt:lpstr>
      <vt:lpstr>Calibri</vt:lpstr>
      <vt:lpstr>Consolas</vt:lpstr>
      <vt:lpstr>Trebuchet MS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25 — React/Next.js</dc:title>
  <dc:subject>PptxGenJS Presentation</dc:subject>
  <dc:creator>AI Курс</dc:creator>
  <cp:lastModifiedBy>Қалжанов Нұрлыхан Ерланұлы</cp:lastModifiedBy>
  <cp:revision>2</cp:revision>
  <dcterms:created xsi:type="dcterms:W3CDTF">2026-04-17T13:44:57Z</dcterms:created>
  <dcterms:modified xsi:type="dcterms:W3CDTF">2026-04-17T20:01:36Z</dcterms:modified>
</cp:coreProperties>
</file>