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66" r:id="rId4"/>
    <p:sldId id="281" r:id="rId5"/>
    <p:sldId id="258" r:id="rId6"/>
    <p:sldId id="267" r:id="rId7"/>
    <p:sldId id="268" r:id="rId8"/>
    <p:sldId id="269" r:id="rId9"/>
    <p:sldId id="270" r:id="rId10"/>
    <p:sldId id="271" r:id="rId11"/>
    <p:sldId id="272" r:id="rId12"/>
    <p:sldId id="261" r:id="rId13"/>
    <p:sldId id="273" r:id="rId14"/>
    <p:sldId id="274" r:id="rId15"/>
    <p:sldId id="275" r:id="rId16"/>
    <p:sldId id="276" r:id="rId17"/>
    <p:sldId id="277" r:id="rId18"/>
    <p:sldId id="278" r:id="rId19"/>
    <p:sldId id="279" r:id="rId20"/>
    <p:sldId id="259" r:id="rId21"/>
    <p:sldId id="280" r:id="rId22"/>
    <p:sldId id="260" r:id="rId23"/>
    <p:sldId id="263" r:id="rId24"/>
    <p:sldId id="264" r:id="rId25"/>
    <p:sldId id="265"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60"/>
    <p:restoredTop sz="94610"/>
  </p:normalViewPr>
  <p:slideViewPr>
    <p:cSldViewPr snapToGrid="0" snapToObjects="1">
      <p:cViewPr>
        <p:scale>
          <a:sx n="154" d="100"/>
          <a:sy n="154" d="100"/>
        </p:scale>
        <p:origin x="1496" y="11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483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Сегодня мы поговорим о том, что такое ИИ-агенты и почему они представляют собой следующий большой шаг в развитии искусственного интеллекта. Мы переходим от пассивных моделей, которые просто генерируют текст, к активным, автономным системам, способным действовать в реальном мире. Понимание архитектуры агентов — это ключ к созданию по-настоящему полезных и сложных приложений. Мы рассмотрим, как эти системы планируют, запоминают информацию и используют инструменты для достижения своих целей. Давайте начнем с того, как мы вообще пришли к концепции ИИ-агентов.</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Чтобы понять, что такое агент, нужно увидеть его место в эволюции ИИ. Классические большие языковые модели, или LLM, — это пассивные системы. Они блестяще предсказывают следующее слово, но их знания ограничены обучающим набором и текущим контекстным окном. Затем появились RAG-системы, которые добавили внешние данные. Это сделало модели реактивными: они могут искать информацию и отвечать на вопросы, но только в ответ на запрос. ИИ-агенты — это качественный скачок. Это активные системы. Они не просто реагируют, они планируют, действуют и рефлексируют, чтобы достичь поставленной цели. Это переход от простого генератора текста к автономному исполнителю задач. Посмотрим, из каких ключевых компонентов состоит эта активная система.</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Анатомия ИИ-агента состоит из четырех ключевых элементов, которые работают вместе, как единый организм. Мозг агента — это, конечно, LLM. Он служит движком рассуждений, который интерпретирует задачу и принимает решения. Но в отличие от простой LLM, агент имеет компонент Планирования. Это позволяет ему разбивать сложные задачи на управляемые подзадачи и корректировать свой путь. Для взаимодействия с внешним миром агент использует Инструменты. Это могут быть API, поиск в интернете или выполнение кода. И, наконец, критически важна Память. Она позволяет агенту учиться на своем опыте и сохранять знания между сессиями. Эти четыре части — Мозг, Планирование, Инструменты и Память — превращают модель в полноценного агента. Теперь давайте углубимся в то, как именно агент осуществляет свое Планирование.</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423302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Мы уже обсудили, как агенты думают и как они запоминают информацию. Но чтобы агент мог действовать в реальном мире, ему нужны инструменты. Это ключевое отличие агента от простого чат-бота. Инструменты — это глаза, руки и ноги нашего агента, которые связывают его с внешним миром. Без них агент остается запертым в своей языковой модели. Самый очевидный инструмент — это Web Search. Он дает агенту доступ к актуальной информации, позволяя проверять факты и избегать галлюцинаций. Агент может гуглить, читать статьи и проверять данные в реальном времени. Другой мощный инструмент — Code Interpreter. Он позволяет агенту выполнять код, проводить сложные вычисления или анализировать данные в безопасной песочнице. И, наконец, Custom APIs. Это интеграция с любыми внешними сервисами, будь то отправка почты, управление базой данных или даже управление умным домом. Именно эта возможность использовать инструменты делает агентов по-настоящему автономными и полезными. Но что, если задача слишком сложна для одного агента? Переходим к следующей концепции.</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Планирование — это то, что отличает агента от простой LLM. Агент не просто выдает ответ, он строит стратегию. Существует несколько ключевых стратегий. Task Decomposition, или декомпозиция задач, позволяет агенту разбить сложную цель на последовательность простых шагов. Chain of Thought, или цепочка рассуждений, заставляет модель "думать вслух", прописывая промежуточные шаги, что резко повышает точность. А Plan-and-Execute — это когда агент сначала формирует полный план, а затем приступает к его выполнению. Но самое важное — это Рефлексия, часто реализуемая через цикл ReAct. Агент выполняет действие, получает наблюдение, а затем критически оценивает его в блоке Thought. Эта способность критиковать свои прошлые действия и корректировать план на лету делает агента по-настоящему автономным. Но чтобы учиться и помнить свои ошибки, агенту нужна эффективная система памяти.</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Память агента делится на два основных типа, каждый из которых выполняет свою критическую функцию. Краткосрочная память — это, по сути, контекстное окно LLM. Она обеспечивает мгновенный доступ к текущему диалогу и недавним мыслям. Но она ограничена лимитом токенов и очищается после завершения сессии. Долгосрочная память — это внешние базы данных, чаще всего векторные. Она позволяет хранить гигабайты знаний, которые сохраняются между сессиями. Доступ к ней осуществляется через механизм RAG, когда агент извлекает релевантную информацию по запросу. Эффективное структурирование опыта и знаний в долгосрочной памяти позволяет агенту не повторять ошибки и постоянно улучшать свои навыки. А теперь, когда мы знаем, как агент планирует и помнит, давайте посмотрим, как он взаимодействует с внешним миром.</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Экосистема фреймворков развивается невероятно быстро, и к 2026 году мы видим три основных лидера, каждый со своей специализацией. LangGraph — это выбор для тех, кому нужен полный контроль над состоянием и сложные итеративные процессы. Он позволяет строить циклические графы, где агент может возвращаться к предыдущим шагам, пока не достигнет цели. Это идеально для сложных корпоративных пайплайнов с жесткой логикой. CrewAI, напротив, фокусируется на ролевом взаимодействии. Он позволяет легко настроить команду агентов, которые автономно делегируют задачи друг другу. Это лучший выбор для творческих и бизнес-задач, где важна командная работа. И наконец, AutoGen от Microsoft. Он силен в многоагентных диалогах и нативной поддержке выполнения кода. AutoGen отлично подходит для исследовательских задач и автоматизации кодинга. Выбор фреймворка зависит от вашей задачи: контроль состояния, ролевая игра или диалоговое взаимодействие. А теперь давайте посмотрим, где эти агенты уже приносят пользу.</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Мы видим, что агентные системы уже выходят за рамки лабораторных экспериментов и активно внедряются в индустрии. В сфере Market Intelligence автономные агенты-исследователи круглосуточно мониторят новости и анализируют отчеты конкурентов. Они формируют краткие сводки, позволяя бизнесу принимать решения на основе актуальных данных. Это автономный поиск информации в чистом виде. В DevOps и разработке агенты не просто пишут код. Они способны самостоятельно запускать тесты, исправлять баги в CI/CD пайплайнах и проводить аудит безопасности. Мы говорим о Self-Healing Code, который сам себя чинит. И, конечно, Business Operations. Здесь агенты берут на себя сложную оркестрацию рабочих процессов. Они обрабатывают входящие счета, сверяют данные и координируют встречи между командами. Это автоматизация, которая выходит за рамки простых скриптов. Эти примеры показывают, что агенты — это не просто будущее, это уже наше настоящее. Но куда мы движемся дальше?</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Подводя итог, важно запомнить: агенты — это не просто чат-боты. Это сложные системы, которые используют LLM как мощный движок рассуждений для автономного планирования, использования инструментов и управления памятью. Они способны решать задачи, которые раньше требовали участия человека. С ростом их автономности критически важными становятся вопросы этики и безопасности. Мы должны гарантировать, что агенты безопасны, что их цели согласованы с нашими, и что человек всегда может вмешаться в процесс. Вектор развития очевиден: будущее за мультиагентными системами. Они смогут решать самые комплексные задачи, от научных исследований до полной автоматизации бизнеса. Это будет мир, где программное обеспечение не просто выполняет команды, а автономно действует для достижения цели. На этом мы завершаем наш курс по архитектуре агентов. В следующей лекции мы углубимся в Agentic RAG и продвинутые паттерны. Спасибо за внимание!</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4" name="Image 1" descr="preencoded.png"/>
          <p:cNvPicPr>
            <a:picLocks noChangeAspect="1"/>
          </p:cNvPicPr>
          <p:nvPr/>
        </p:nvPicPr>
        <p:blipFill>
          <a:blip r:embed="rId4"/>
          <a:stretch>
            <a:fillRect/>
          </a:stretch>
        </p:blipFill>
        <p:spPr>
          <a:xfrm>
            <a:off x="4214813" y="1392501"/>
            <a:ext cx="714375" cy="571500"/>
          </a:xfrm>
          <a:prstGeom prst="rect">
            <a:avLst/>
          </a:prstGeom>
        </p:spPr>
      </p:pic>
      <p:sp>
        <p:nvSpPr>
          <p:cNvPr id="5" name="Text 0"/>
          <p:cNvSpPr/>
          <p:nvPr/>
        </p:nvSpPr>
        <p:spPr>
          <a:xfrm>
            <a:off x="825578" y="2274754"/>
            <a:ext cx="7492845" cy="1131559"/>
          </a:xfrm>
          <a:prstGeom prst="rect">
            <a:avLst/>
          </a:prstGeom>
          <a:noFill/>
          <a:ln/>
        </p:spPr>
        <p:txBody>
          <a:bodyPr wrap="square" lIns="0" tIns="0" rIns="0" bIns="0" rtlCol="0" anchor="t">
            <a:spAutoFit/>
          </a:bodyPr>
          <a:lstStyle/>
          <a:p>
            <a:pPr marL="0" indent="0" algn="ctr">
              <a:lnSpc>
                <a:spcPts val="4500"/>
              </a:lnSpc>
              <a:buNone/>
            </a:pPr>
            <a:r>
              <a:rPr lang="en-US" sz="3731" b="1" kern="0" spc="-2" dirty="0">
                <a:solidFill>
                  <a:srgbClr val="00F0FF"/>
                </a:solidFill>
              </a:rPr>
              <a:t>Лекция 12:
Введение в ИИ-агентов</a:t>
            </a:r>
            <a:endParaRPr lang="en-US" sz="3731" dirty="0"/>
          </a:p>
        </p:txBody>
      </p:sp>
      <p:sp>
        <p:nvSpPr>
          <p:cNvPr id="6" name="Text 1"/>
          <p:cNvSpPr/>
          <p:nvPr/>
        </p:nvSpPr>
        <p:spPr>
          <a:xfrm>
            <a:off x="825578" y="3549188"/>
            <a:ext cx="7492845" cy="312539"/>
          </a:xfrm>
          <a:prstGeom prst="rect">
            <a:avLst/>
          </a:prstGeom>
          <a:noFill/>
          <a:ln/>
        </p:spPr>
        <p:txBody>
          <a:bodyPr wrap="none" lIns="0" tIns="0" rIns="0" bIns="0" rtlCol="0" anchor="t">
            <a:spAutoFit/>
          </a:bodyPr>
          <a:lstStyle/>
          <a:p>
            <a:pPr marL="0" indent="0" algn="ctr">
              <a:lnSpc>
                <a:spcPts val="2200"/>
              </a:lnSpc>
              <a:buNone/>
            </a:pPr>
            <a:r>
              <a:rPr lang="en-US" sz="1704" kern="0" spc="3" dirty="0">
                <a:solidFill>
                  <a:srgbClr val="7000FF"/>
                </a:solidFill>
              </a:rPr>
              <a:t>От пассивных моделей к автономным системам</a:t>
            </a:r>
            <a:endParaRPr lang="en-US" sz="1704"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428625"/>
            <a:ext cx="8572500" cy="466130"/>
          </a:xfrm>
          <a:prstGeom prst="rect">
            <a:avLst/>
          </a:prstGeom>
          <a:noFill/>
          <a:ln/>
        </p:spPr>
        <p:txBody>
          <a:bodyPr wrap="none" lIns="0" tIns="0" rIns="0" bIns="0" rtlCol="0" anchor="t">
            <a:spAutoFit/>
          </a:bodyPr>
          <a:lstStyle/>
          <a:p>
            <a:pPr marL="0" indent="0" algn="l">
              <a:lnSpc>
                <a:spcPts val="3200"/>
              </a:lnSpc>
              <a:buNone/>
            </a:pPr>
            <a:r>
              <a:rPr lang="en-US" sz="2436" b="1" kern="0" spc="-1" dirty="0">
                <a:solidFill>
                  <a:srgbClr val="00F0FF"/>
                </a:solidFill>
              </a:rPr>
              <a:t>Эволюция: от LLM к Агентам</a:t>
            </a:r>
            <a:endParaRPr lang="en-US" sz="2436" dirty="0"/>
          </a:p>
        </p:txBody>
      </p:sp>
      <p:sp>
        <p:nvSpPr>
          <p:cNvPr id="5" name="Shape 1"/>
          <p:cNvSpPr/>
          <p:nvPr/>
        </p:nvSpPr>
        <p:spPr>
          <a:xfrm>
            <a:off x="571500" y="1323380"/>
            <a:ext cx="2476481" cy="3820120"/>
          </a:xfrm>
          <a:prstGeom prst="rect">
            <a:avLst/>
          </a:prstGeom>
          <a:solidFill>
            <a:srgbClr val="161B22"/>
          </a:solidFill>
          <a:ln/>
        </p:spPr>
        <p:txBody>
          <a:bodyPr/>
          <a:lstStyle/>
          <a:p>
            <a:endParaRPr lang="ru-KZ"/>
          </a:p>
        </p:txBody>
      </p:sp>
      <p:sp>
        <p:nvSpPr>
          <p:cNvPr id="6" name="Shape 2"/>
          <p:cNvSpPr/>
          <p:nvPr/>
        </p:nvSpPr>
        <p:spPr>
          <a:xfrm>
            <a:off x="571500" y="1323380"/>
            <a:ext cx="2476481" cy="28575"/>
          </a:xfrm>
          <a:prstGeom prst="rect">
            <a:avLst/>
          </a:prstGeom>
          <a:solidFill>
            <a:srgbClr val="7000FF"/>
          </a:solidFill>
          <a:ln/>
        </p:spPr>
        <p:txBody>
          <a:bodyPr/>
          <a:lstStyle/>
          <a:p>
            <a:endParaRPr lang="ru-KZ"/>
          </a:p>
        </p:txBody>
      </p:sp>
      <p:pic>
        <p:nvPicPr>
          <p:cNvPr id="7" name="Image 1" descr="preencoded.png"/>
          <p:cNvPicPr>
            <a:picLocks noChangeAspect="1"/>
          </p:cNvPicPr>
          <p:nvPr/>
        </p:nvPicPr>
        <p:blipFill>
          <a:blip r:embed="rId4"/>
          <a:stretch>
            <a:fillRect/>
          </a:stretch>
        </p:blipFill>
        <p:spPr>
          <a:xfrm>
            <a:off x="1631147" y="1678781"/>
            <a:ext cx="357188" cy="357188"/>
          </a:xfrm>
          <a:prstGeom prst="rect">
            <a:avLst/>
          </a:prstGeom>
        </p:spPr>
      </p:pic>
      <p:sp>
        <p:nvSpPr>
          <p:cNvPr id="8" name="Text 3"/>
          <p:cNvSpPr/>
          <p:nvPr/>
        </p:nvSpPr>
        <p:spPr>
          <a:xfrm>
            <a:off x="1602405" y="2275284"/>
            <a:ext cx="414672" cy="273248"/>
          </a:xfrm>
          <a:prstGeom prst="rect">
            <a:avLst/>
          </a:prstGeom>
          <a:noFill/>
          <a:ln/>
        </p:spPr>
        <p:txBody>
          <a:bodyPr wrap="none" lIns="0" tIns="0" rIns="0" bIns="0" rtlCol="0" anchor="t">
            <a:spAutoFit/>
          </a:bodyPr>
          <a:lstStyle/>
          <a:p>
            <a:pPr marL="0" indent="0" algn="ctr">
              <a:lnSpc>
                <a:spcPts val="1900"/>
              </a:lnSpc>
              <a:buNone/>
            </a:pPr>
            <a:r>
              <a:rPr lang="en-US" sz="1397" b="1" dirty="0">
                <a:solidFill>
                  <a:srgbClr val="FFFFFF"/>
                </a:solidFill>
              </a:rPr>
              <a:t>LLM</a:t>
            </a:r>
            <a:endParaRPr lang="en-US" sz="1397" dirty="0"/>
          </a:p>
        </p:txBody>
      </p:sp>
      <p:sp>
        <p:nvSpPr>
          <p:cNvPr id="9" name="Text 4"/>
          <p:cNvSpPr/>
          <p:nvPr/>
        </p:nvSpPr>
        <p:spPr>
          <a:xfrm>
            <a:off x="785813" y="2691408"/>
            <a:ext cx="2047856" cy="1028588"/>
          </a:xfrm>
          <a:prstGeom prst="rect">
            <a:avLst/>
          </a:prstGeom>
          <a:noFill/>
          <a:ln/>
        </p:spPr>
        <p:txBody>
          <a:bodyPr wrap="square" lIns="0" tIns="0" rIns="0" bIns="0" rtlCol="0" anchor="t">
            <a:spAutoFit/>
          </a:bodyPr>
          <a:lstStyle/>
          <a:p>
            <a:pPr marL="0" indent="0" algn="ctr">
              <a:lnSpc>
                <a:spcPts val="1600"/>
              </a:lnSpc>
              <a:buNone/>
            </a:pPr>
            <a:r>
              <a:rPr lang="en-US" sz="942" dirty="0">
                <a:solidFill>
                  <a:srgbClr val="A0AEC0"/>
                </a:solidFill>
              </a:rPr>
              <a:t>Пассивная модель предсказания текста. Ограничена знаниями из обучения и контекстным окном.</a:t>
            </a:r>
            <a:endParaRPr lang="en-US" sz="942" dirty="0"/>
          </a:p>
        </p:txBody>
      </p:sp>
      <p:sp>
        <p:nvSpPr>
          <p:cNvPr id="10" name="Shape 5"/>
          <p:cNvSpPr/>
          <p:nvPr/>
        </p:nvSpPr>
        <p:spPr>
          <a:xfrm>
            <a:off x="1341602" y="3934309"/>
            <a:ext cx="936278" cy="250031"/>
          </a:xfrm>
          <a:prstGeom prst="rect">
            <a:avLst/>
          </a:prstGeom>
          <a:solidFill>
            <a:srgbClr val="2D3748"/>
          </a:solidFill>
          <a:ln/>
        </p:spPr>
        <p:txBody>
          <a:bodyPr/>
          <a:lstStyle/>
          <a:p>
            <a:endParaRPr lang="ru-KZ"/>
          </a:p>
        </p:txBody>
      </p:sp>
      <p:sp>
        <p:nvSpPr>
          <p:cNvPr id="11" name="Text 6"/>
          <p:cNvSpPr/>
          <p:nvPr/>
        </p:nvSpPr>
        <p:spPr>
          <a:xfrm>
            <a:off x="1341602" y="3934309"/>
            <a:ext cx="936278" cy="250031"/>
          </a:xfrm>
          <a:prstGeom prst="rect">
            <a:avLst/>
          </a:prstGeom>
          <a:noFill/>
          <a:ln/>
        </p:spPr>
        <p:txBody>
          <a:bodyPr wrap="square" lIns="136017" tIns="68072" rIns="136017" bIns="68072" rtlCol="0" anchor="t">
            <a:spAutoFit/>
          </a:bodyPr>
          <a:lstStyle/>
          <a:p>
            <a:pPr marL="0" indent="0" algn="ctr">
              <a:lnSpc>
                <a:spcPts val="900"/>
              </a:lnSpc>
              <a:buNone/>
            </a:pPr>
            <a:r>
              <a:rPr lang="en-US" sz="683" b="1" kern="0" spc="1" dirty="0">
                <a:solidFill>
                  <a:srgbClr val="CBD5E0"/>
                </a:solidFill>
              </a:rPr>
              <a:t>Пассивная</a:t>
            </a:r>
            <a:endParaRPr lang="en-US" sz="683" dirty="0"/>
          </a:p>
        </p:txBody>
      </p:sp>
      <p:sp>
        <p:nvSpPr>
          <p:cNvPr id="12" name="Shape 7"/>
          <p:cNvSpPr/>
          <p:nvPr/>
        </p:nvSpPr>
        <p:spPr>
          <a:xfrm>
            <a:off x="3333731" y="1323380"/>
            <a:ext cx="2476509" cy="3820120"/>
          </a:xfrm>
          <a:prstGeom prst="rect">
            <a:avLst/>
          </a:prstGeom>
          <a:solidFill>
            <a:srgbClr val="161B22"/>
          </a:solidFill>
          <a:ln/>
        </p:spPr>
        <p:txBody>
          <a:bodyPr/>
          <a:lstStyle/>
          <a:p>
            <a:endParaRPr lang="ru-KZ"/>
          </a:p>
        </p:txBody>
      </p:sp>
      <p:sp>
        <p:nvSpPr>
          <p:cNvPr id="13" name="Shape 8"/>
          <p:cNvSpPr/>
          <p:nvPr/>
        </p:nvSpPr>
        <p:spPr>
          <a:xfrm>
            <a:off x="3333731" y="1323380"/>
            <a:ext cx="2476509" cy="28575"/>
          </a:xfrm>
          <a:prstGeom prst="rect">
            <a:avLst/>
          </a:prstGeom>
          <a:solidFill>
            <a:srgbClr val="7000FF"/>
          </a:solidFill>
          <a:ln/>
        </p:spPr>
        <p:txBody>
          <a:bodyPr/>
          <a:lstStyle/>
          <a:p>
            <a:endParaRPr lang="ru-KZ"/>
          </a:p>
        </p:txBody>
      </p:sp>
      <p:pic>
        <p:nvPicPr>
          <p:cNvPr id="14" name="Image 2" descr="preencoded.png"/>
          <p:cNvPicPr>
            <a:picLocks noChangeAspect="1"/>
          </p:cNvPicPr>
          <p:nvPr/>
        </p:nvPicPr>
        <p:blipFill>
          <a:blip r:embed="rId5"/>
          <a:stretch>
            <a:fillRect/>
          </a:stretch>
        </p:blipFill>
        <p:spPr>
          <a:xfrm>
            <a:off x="4415703" y="1678781"/>
            <a:ext cx="312539" cy="357188"/>
          </a:xfrm>
          <a:prstGeom prst="rect">
            <a:avLst/>
          </a:prstGeom>
        </p:spPr>
      </p:pic>
      <p:sp>
        <p:nvSpPr>
          <p:cNvPr id="15" name="Text 9"/>
          <p:cNvSpPr/>
          <p:nvPr/>
        </p:nvSpPr>
        <p:spPr>
          <a:xfrm>
            <a:off x="4366533" y="2275284"/>
            <a:ext cx="410877" cy="273248"/>
          </a:xfrm>
          <a:prstGeom prst="rect">
            <a:avLst/>
          </a:prstGeom>
          <a:noFill/>
          <a:ln/>
        </p:spPr>
        <p:txBody>
          <a:bodyPr wrap="none" lIns="0" tIns="0" rIns="0" bIns="0" rtlCol="0" anchor="t">
            <a:spAutoFit/>
          </a:bodyPr>
          <a:lstStyle/>
          <a:p>
            <a:pPr marL="0" indent="0" algn="ctr">
              <a:lnSpc>
                <a:spcPts val="1900"/>
              </a:lnSpc>
              <a:buNone/>
            </a:pPr>
            <a:r>
              <a:rPr lang="en-US" sz="1397" b="1" dirty="0">
                <a:solidFill>
                  <a:srgbClr val="FFFFFF"/>
                </a:solidFill>
              </a:rPr>
              <a:t>RAG</a:t>
            </a:r>
            <a:endParaRPr lang="en-US" sz="1397" dirty="0"/>
          </a:p>
        </p:txBody>
      </p:sp>
      <p:sp>
        <p:nvSpPr>
          <p:cNvPr id="16" name="Text 10"/>
          <p:cNvSpPr/>
          <p:nvPr/>
        </p:nvSpPr>
        <p:spPr>
          <a:xfrm>
            <a:off x="3548044" y="2691408"/>
            <a:ext cx="2047884" cy="617153"/>
          </a:xfrm>
          <a:prstGeom prst="rect">
            <a:avLst/>
          </a:prstGeom>
          <a:noFill/>
          <a:ln/>
        </p:spPr>
        <p:txBody>
          <a:bodyPr wrap="square" lIns="0" tIns="0" rIns="0" bIns="0" rtlCol="0" anchor="t">
            <a:spAutoFit/>
          </a:bodyPr>
          <a:lstStyle/>
          <a:p>
            <a:pPr marL="0" indent="0" algn="ctr">
              <a:lnSpc>
                <a:spcPts val="1600"/>
              </a:lnSpc>
              <a:buNone/>
            </a:pPr>
            <a:r>
              <a:rPr lang="en-US" sz="942" dirty="0">
                <a:solidFill>
                  <a:srgbClr val="A0AEC0"/>
                </a:solidFill>
              </a:rPr>
              <a:t>LLM + Внешние данные. Улучшает точность фактов, но остается реактивной системой.</a:t>
            </a:r>
            <a:endParaRPr lang="en-US" sz="942" dirty="0"/>
          </a:p>
        </p:txBody>
      </p:sp>
      <p:sp>
        <p:nvSpPr>
          <p:cNvPr id="17" name="Shape 11"/>
          <p:cNvSpPr/>
          <p:nvPr/>
        </p:nvSpPr>
        <p:spPr>
          <a:xfrm>
            <a:off x="4077658" y="3522873"/>
            <a:ext cx="988628" cy="250031"/>
          </a:xfrm>
          <a:prstGeom prst="rect">
            <a:avLst/>
          </a:prstGeom>
          <a:solidFill>
            <a:srgbClr val="2D3748"/>
          </a:solidFill>
          <a:ln/>
        </p:spPr>
        <p:txBody>
          <a:bodyPr/>
          <a:lstStyle/>
          <a:p>
            <a:endParaRPr lang="ru-KZ"/>
          </a:p>
        </p:txBody>
      </p:sp>
      <p:sp>
        <p:nvSpPr>
          <p:cNvPr id="18" name="Text 12"/>
          <p:cNvSpPr/>
          <p:nvPr/>
        </p:nvSpPr>
        <p:spPr>
          <a:xfrm>
            <a:off x="4077658" y="3522873"/>
            <a:ext cx="988628" cy="250031"/>
          </a:xfrm>
          <a:prstGeom prst="rect">
            <a:avLst/>
          </a:prstGeom>
          <a:noFill/>
          <a:ln/>
        </p:spPr>
        <p:txBody>
          <a:bodyPr wrap="square" lIns="136017" tIns="68072" rIns="136017" bIns="68072" rtlCol="0" anchor="t">
            <a:spAutoFit/>
          </a:bodyPr>
          <a:lstStyle/>
          <a:p>
            <a:pPr marL="0" indent="0" algn="ctr">
              <a:lnSpc>
                <a:spcPts val="900"/>
              </a:lnSpc>
              <a:buNone/>
            </a:pPr>
            <a:r>
              <a:rPr lang="en-US" sz="683" b="1" kern="0" spc="1" dirty="0">
                <a:solidFill>
                  <a:srgbClr val="CBD5E0"/>
                </a:solidFill>
              </a:rPr>
              <a:t>Реактивная</a:t>
            </a:r>
            <a:endParaRPr lang="en-US" sz="683" dirty="0"/>
          </a:p>
        </p:txBody>
      </p:sp>
      <p:sp>
        <p:nvSpPr>
          <p:cNvPr id="19" name="Shape 13"/>
          <p:cNvSpPr/>
          <p:nvPr/>
        </p:nvSpPr>
        <p:spPr>
          <a:xfrm>
            <a:off x="6095991" y="1323380"/>
            <a:ext cx="2476481" cy="3820120"/>
          </a:xfrm>
          <a:prstGeom prst="rect">
            <a:avLst/>
          </a:prstGeom>
          <a:solidFill>
            <a:srgbClr val="1C2128"/>
          </a:solidFill>
          <a:ln/>
        </p:spPr>
        <p:txBody>
          <a:bodyPr/>
          <a:lstStyle/>
          <a:p>
            <a:endParaRPr lang="ru-KZ"/>
          </a:p>
        </p:txBody>
      </p:sp>
      <p:sp>
        <p:nvSpPr>
          <p:cNvPr id="20" name="Shape 14"/>
          <p:cNvSpPr/>
          <p:nvPr/>
        </p:nvSpPr>
        <p:spPr>
          <a:xfrm>
            <a:off x="6095991" y="1323380"/>
            <a:ext cx="2476481" cy="28575"/>
          </a:xfrm>
          <a:prstGeom prst="rect">
            <a:avLst/>
          </a:prstGeom>
          <a:solidFill>
            <a:srgbClr val="00F0FF"/>
          </a:solidFill>
          <a:ln/>
        </p:spPr>
        <p:txBody>
          <a:bodyPr/>
          <a:lstStyle/>
          <a:p>
            <a:endParaRPr lang="ru-KZ"/>
          </a:p>
        </p:txBody>
      </p:sp>
      <p:pic>
        <p:nvPicPr>
          <p:cNvPr id="21" name="Image 3" descr="preencoded.png"/>
          <p:cNvPicPr>
            <a:picLocks noChangeAspect="1"/>
          </p:cNvPicPr>
          <p:nvPr/>
        </p:nvPicPr>
        <p:blipFill>
          <a:blip r:embed="rId6"/>
          <a:stretch>
            <a:fillRect/>
          </a:stretch>
        </p:blipFill>
        <p:spPr>
          <a:xfrm>
            <a:off x="7110989" y="1678781"/>
            <a:ext cx="446484" cy="357188"/>
          </a:xfrm>
          <a:prstGeom prst="rect">
            <a:avLst/>
          </a:prstGeom>
        </p:spPr>
      </p:pic>
      <p:sp>
        <p:nvSpPr>
          <p:cNvPr id="22" name="Text 15"/>
          <p:cNvSpPr/>
          <p:nvPr/>
        </p:nvSpPr>
        <p:spPr>
          <a:xfrm>
            <a:off x="6755950" y="2275284"/>
            <a:ext cx="1156562" cy="273248"/>
          </a:xfrm>
          <a:prstGeom prst="rect">
            <a:avLst/>
          </a:prstGeom>
          <a:noFill/>
          <a:ln/>
        </p:spPr>
        <p:txBody>
          <a:bodyPr wrap="none" lIns="0" tIns="0" rIns="0" bIns="0" rtlCol="0" anchor="t">
            <a:spAutoFit/>
          </a:bodyPr>
          <a:lstStyle/>
          <a:p>
            <a:pPr marL="0" indent="0" algn="ctr">
              <a:lnSpc>
                <a:spcPts val="1900"/>
              </a:lnSpc>
              <a:buNone/>
            </a:pPr>
            <a:r>
              <a:rPr lang="en-US" sz="1397" b="1" dirty="0">
                <a:solidFill>
                  <a:srgbClr val="FFFFFF"/>
                </a:solidFill>
              </a:rPr>
              <a:t>ИИ-Агенты</a:t>
            </a:r>
            <a:endParaRPr lang="en-US" sz="1397" dirty="0"/>
          </a:p>
        </p:txBody>
      </p:sp>
      <p:sp>
        <p:nvSpPr>
          <p:cNvPr id="23" name="Text 16"/>
          <p:cNvSpPr/>
          <p:nvPr/>
        </p:nvSpPr>
        <p:spPr>
          <a:xfrm>
            <a:off x="6310303" y="2691408"/>
            <a:ext cx="2047856" cy="1028588"/>
          </a:xfrm>
          <a:prstGeom prst="rect">
            <a:avLst/>
          </a:prstGeom>
          <a:noFill/>
          <a:ln/>
        </p:spPr>
        <p:txBody>
          <a:bodyPr wrap="square" lIns="0" tIns="0" rIns="0" bIns="0" rtlCol="0" anchor="t">
            <a:spAutoFit/>
          </a:bodyPr>
          <a:lstStyle/>
          <a:p>
            <a:pPr marL="0" indent="0" algn="ctr">
              <a:lnSpc>
                <a:spcPts val="1600"/>
              </a:lnSpc>
              <a:buNone/>
            </a:pPr>
            <a:r>
              <a:rPr lang="en-US" sz="942" dirty="0">
                <a:solidFill>
                  <a:srgbClr val="A0AEC0"/>
                </a:solidFill>
              </a:rPr>
              <a:t>LLM + Планирование + Инструменты. Автономная система, способная действовать для достижения цели.</a:t>
            </a:r>
            <a:endParaRPr lang="en-US" sz="942" dirty="0"/>
          </a:p>
        </p:txBody>
      </p:sp>
      <p:sp>
        <p:nvSpPr>
          <p:cNvPr id="24" name="Shape 17"/>
          <p:cNvSpPr/>
          <p:nvPr/>
        </p:nvSpPr>
        <p:spPr>
          <a:xfrm>
            <a:off x="6906109" y="3934309"/>
            <a:ext cx="856245" cy="250031"/>
          </a:xfrm>
          <a:prstGeom prst="rect">
            <a:avLst/>
          </a:prstGeom>
          <a:solidFill>
            <a:srgbClr val="00F0FF"/>
          </a:solidFill>
          <a:ln/>
        </p:spPr>
        <p:txBody>
          <a:bodyPr/>
          <a:lstStyle/>
          <a:p>
            <a:endParaRPr lang="ru-KZ"/>
          </a:p>
        </p:txBody>
      </p:sp>
      <p:sp>
        <p:nvSpPr>
          <p:cNvPr id="25" name="Text 18"/>
          <p:cNvSpPr/>
          <p:nvPr/>
        </p:nvSpPr>
        <p:spPr>
          <a:xfrm>
            <a:off x="6906109" y="3934309"/>
            <a:ext cx="856245" cy="250031"/>
          </a:xfrm>
          <a:prstGeom prst="rect">
            <a:avLst/>
          </a:prstGeom>
          <a:noFill/>
          <a:ln/>
        </p:spPr>
        <p:txBody>
          <a:bodyPr wrap="square" lIns="136017" tIns="68072" rIns="136017" bIns="68072" rtlCol="0" anchor="t">
            <a:spAutoFit/>
          </a:bodyPr>
          <a:lstStyle/>
          <a:p>
            <a:pPr marL="0" indent="0" algn="ctr">
              <a:lnSpc>
                <a:spcPts val="900"/>
              </a:lnSpc>
              <a:buNone/>
            </a:pPr>
            <a:r>
              <a:rPr lang="en-US" sz="683" b="1" kern="0" spc="1" dirty="0">
                <a:solidFill>
                  <a:srgbClr val="0A0E14"/>
                </a:solidFill>
              </a:rPr>
              <a:t>Активная</a:t>
            </a:r>
            <a:endParaRPr lang="en-US" sz="683"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759A9AD9-54BB-8154-BAC4-3847496BA813}"/>
              </a:ext>
            </a:extLst>
          </p:cNvPr>
          <p:cNvPicPr>
            <a:picLocks noChangeAspect="1"/>
          </p:cNvPicPr>
          <p:nvPr/>
        </p:nvPicPr>
        <p:blipFill>
          <a:blip r:embed="rId2"/>
          <a:stretch>
            <a:fillRect/>
          </a:stretch>
        </p:blipFill>
        <p:spPr>
          <a:xfrm>
            <a:off x="0" y="0"/>
            <a:ext cx="9144000" cy="5143500"/>
          </a:xfrm>
          <a:prstGeom prst="rect">
            <a:avLst/>
          </a:prstGeom>
        </p:spPr>
      </p:pic>
      <p:sp>
        <p:nvSpPr>
          <p:cNvPr id="4" name="TextBox 3">
            <a:extLst>
              <a:ext uri="{FF2B5EF4-FFF2-40B4-BE49-F238E27FC236}">
                <a16:creationId xmlns:a16="http://schemas.microsoft.com/office/drawing/2014/main" id="{D1B89E46-6097-0205-9194-040B12952A7C}"/>
              </a:ext>
            </a:extLst>
          </p:cNvPr>
          <p:cNvSpPr txBox="1"/>
          <p:nvPr/>
        </p:nvSpPr>
        <p:spPr>
          <a:xfrm>
            <a:off x="2286000" y="2387084"/>
            <a:ext cx="4572000" cy="369332"/>
          </a:xfrm>
          <a:prstGeom prst="rect">
            <a:avLst/>
          </a:prstGeom>
          <a:noFill/>
        </p:spPr>
        <p:txBody>
          <a:bodyPr wrap="square">
            <a:spAutoFit/>
          </a:bodyPr>
          <a:lstStyle/>
          <a:p>
            <a:endParaRPr lang="ru-KZ" dirty="0"/>
          </a:p>
        </p:txBody>
      </p:sp>
      <p:pic>
        <p:nvPicPr>
          <p:cNvPr id="5" name="Рисунок 4">
            <a:extLst>
              <a:ext uri="{FF2B5EF4-FFF2-40B4-BE49-F238E27FC236}">
                <a16:creationId xmlns:a16="http://schemas.microsoft.com/office/drawing/2014/main" id="{266E6F4E-A5B4-97E1-FA1A-8BC8452C7D57}"/>
              </a:ext>
            </a:extLst>
          </p:cNvPr>
          <p:cNvPicPr>
            <a:picLocks noChangeAspect="1"/>
          </p:cNvPicPr>
          <p:nvPr/>
        </p:nvPicPr>
        <p:blipFill>
          <a:blip r:embed="rId3"/>
          <a:stretch>
            <a:fillRect/>
          </a:stretch>
        </p:blipFill>
        <p:spPr>
          <a:xfrm>
            <a:off x="594360" y="407272"/>
            <a:ext cx="7772400" cy="4435636"/>
          </a:xfrm>
          <a:prstGeom prst="rect">
            <a:avLst/>
          </a:prstGeom>
        </p:spPr>
      </p:pic>
    </p:spTree>
    <p:extLst>
      <p:ext uri="{BB962C8B-B14F-4D97-AF65-F5344CB8AC3E}">
        <p14:creationId xmlns:p14="http://schemas.microsoft.com/office/powerpoint/2010/main" val="10589818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85D4B-043F-7EE5-B25A-DC4C30F83125}"/>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BC16E224-50D3-B9AD-F0BB-0611ABA57D28}"/>
              </a:ext>
            </a:extLst>
          </p:cNvPr>
          <p:cNvPicPr>
            <a:picLocks noChangeAspect="1"/>
          </p:cNvPicPr>
          <p:nvPr/>
        </p:nvPicPr>
        <p:blipFill>
          <a:blip r:embed="rId2"/>
          <a:stretch>
            <a:fillRect/>
          </a:stretch>
        </p:blipFill>
        <p:spPr>
          <a:xfrm>
            <a:off x="0" y="0"/>
            <a:ext cx="9144000" cy="5143500"/>
          </a:xfrm>
          <a:prstGeom prst="rect">
            <a:avLst/>
          </a:prstGeom>
        </p:spPr>
      </p:pic>
      <p:sp>
        <p:nvSpPr>
          <p:cNvPr id="4" name="TextBox 3">
            <a:extLst>
              <a:ext uri="{FF2B5EF4-FFF2-40B4-BE49-F238E27FC236}">
                <a16:creationId xmlns:a16="http://schemas.microsoft.com/office/drawing/2014/main" id="{22B61C2A-BF93-F9F5-AF8C-70C010FE87BF}"/>
              </a:ext>
            </a:extLst>
          </p:cNvPr>
          <p:cNvSpPr txBox="1"/>
          <p:nvPr/>
        </p:nvSpPr>
        <p:spPr>
          <a:xfrm>
            <a:off x="2286000" y="2387084"/>
            <a:ext cx="4572000" cy="369332"/>
          </a:xfrm>
          <a:prstGeom prst="rect">
            <a:avLst/>
          </a:prstGeom>
          <a:noFill/>
        </p:spPr>
        <p:txBody>
          <a:bodyPr wrap="square">
            <a:spAutoFit/>
          </a:bodyPr>
          <a:lstStyle/>
          <a:p>
            <a:endParaRPr lang="ru-KZ" dirty="0"/>
          </a:p>
        </p:txBody>
      </p:sp>
      <p:pic>
        <p:nvPicPr>
          <p:cNvPr id="3" name="Рисунок 2">
            <a:extLst>
              <a:ext uri="{FF2B5EF4-FFF2-40B4-BE49-F238E27FC236}">
                <a16:creationId xmlns:a16="http://schemas.microsoft.com/office/drawing/2014/main" id="{3E2AAD20-583D-0D2E-F330-ABE521A59F1B}"/>
              </a:ext>
            </a:extLst>
          </p:cNvPr>
          <p:cNvPicPr>
            <a:picLocks noChangeAspect="1"/>
          </p:cNvPicPr>
          <p:nvPr/>
        </p:nvPicPr>
        <p:blipFill>
          <a:blip r:embed="rId3"/>
          <a:stretch>
            <a:fillRect/>
          </a:stretch>
        </p:blipFill>
        <p:spPr>
          <a:xfrm>
            <a:off x="1760210" y="389238"/>
            <a:ext cx="5623580" cy="4197310"/>
          </a:xfrm>
          <a:prstGeom prst="rect">
            <a:avLst/>
          </a:prstGeom>
        </p:spPr>
      </p:pic>
      <p:sp>
        <p:nvSpPr>
          <p:cNvPr id="7" name="TextBox 6">
            <a:extLst>
              <a:ext uri="{FF2B5EF4-FFF2-40B4-BE49-F238E27FC236}">
                <a16:creationId xmlns:a16="http://schemas.microsoft.com/office/drawing/2014/main" id="{FEC9337E-08B6-A01D-B76A-E27BC881CD00}"/>
              </a:ext>
            </a:extLst>
          </p:cNvPr>
          <p:cNvSpPr txBox="1"/>
          <p:nvPr/>
        </p:nvSpPr>
        <p:spPr>
          <a:xfrm>
            <a:off x="1760210" y="4680358"/>
            <a:ext cx="4572000" cy="369332"/>
          </a:xfrm>
          <a:prstGeom prst="rect">
            <a:avLst/>
          </a:prstGeom>
          <a:noFill/>
        </p:spPr>
        <p:txBody>
          <a:bodyPr wrap="square">
            <a:spAutoFit/>
          </a:bodyPr>
          <a:lstStyle/>
          <a:p>
            <a:r>
              <a:rPr lang="ru-KZ" dirty="0">
                <a:solidFill>
                  <a:schemeClr val="bg1"/>
                </a:solidFill>
              </a:rPr>
              <a:t>https://arxiv.org/pdf/2405.10467</a:t>
            </a:r>
          </a:p>
        </p:txBody>
      </p:sp>
    </p:spTree>
    <p:extLst>
      <p:ext uri="{BB962C8B-B14F-4D97-AF65-F5344CB8AC3E}">
        <p14:creationId xmlns:p14="http://schemas.microsoft.com/office/powerpoint/2010/main" val="3490735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428625"/>
            <a:ext cx="8572500" cy="466130"/>
          </a:xfrm>
          <a:prstGeom prst="rect">
            <a:avLst/>
          </a:prstGeom>
          <a:noFill/>
          <a:ln/>
        </p:spPr>
        <p:txBody>
          <a:bodyPr wrap="none" lIns="0" tIns="0" rIns="0" bIns="0" rtlCol="0" anchor="t">
            <a:spAutoFit/>
          </a:bodyPr>
          <a:lstStyle/>
          <a:p>
            <a:pPr marL="0" indent="0" algn="l">
              <a:lnSpc>
                <a:spcPts val="3200"/>
              </a:lnSpc>
              <a:buNone/>
            </a:pPr>
            <a:r>
              <a:rPr lang="en-US" sz="2436" b="1" kern="0" spc="-1" dirty="0">
                <a:solidFill>
                  <a:srgbClr val="00F0FF"/>
                </a:solidFill>
              </a:rPr>
              <a:t>Анатомия ИИ-агента</a:t>
            </a:r>
            <a:endParaRPr lang="en-US" sz="2436" dirty="0"/>
          </a:p>
        </p:txBody>
      </p:sp>
      <p:sp>
        <p:nvSpPr>
          <p:cNvPr id="5" name="Shape 1"/>
          <p:cNvSpPr/>
          <p:nvPr/>
        </p:nvSpPr>
        <p:spPr>
          <a:xfrm>
            <a:off x="1750219" y="2447627"/>
            <a:ext cx="1428750" cy="1428750"/>
          </a:xfrm>
          <a:prstGeom prst="rect">
            <a:avLst/>
          </a:prstGeom>
          <a:solidFill>
            <a:srgbClr val="161B22"/>
          </a:solidFill>
          <a:ln w="27432">
            <a:solidFill>
              <a:srgbClr val="00F0FF"/>
            </a:solidFill>
            <a:prstDash val="solid"/>
          </a:ln>
        </p:spPr>
        <p:txBody>
          <a:bodyPr/>
          <a:lstStyle/>
          <a:p>
            <a:endParaRPr lang="ru-KZ"/>
          </a:p>
        </p:txBody>
      </p:sp>
      <p:pic>
        <p:nvPicPr>
          <p:cNvPr id="6" name="Image 1" descr="preencoded.png"/>
          <p:cNvPicPr>
            <a:picLocks noChangeAspect="1"/>
          </p:cNvPicPr>
          <p:nvPr/>
        </p:nvPicPr>
        <p:blipFill>
          <a:blip r:embed="rId4"/>
          <a:stretch>
            <a:fillRect/>
          </a:stretch>
        </p:blipFill>
        <p:spPr>
          <a:xfrm>
            <a:off x="2250281" y="2834283"/>
            <a:ext cx="428625" cy="428625"/>
          </a:xfrm>
          <a:prstGeom prst="rect">
            <a:avLst/>
          </a:prstGeom>
        </p:spPr>
      </p:pic>
      <p:sp>
        <p:nvSpPr>
          <p:cNvPr id="7" name="Text 2"/>
          <p:cNvSpPr/>
          <p:nvPr/>
        </p:nvSpPr>
        <p:spPr>
          <a:xfrm>
            <a:off x="2016798" y="3334345"/>
            <a:ext cx="895564" cy="155377"/>
          </a:xfrm>
          <a:prstGeom prst="rect">
            <a:avLst/>
          </a:prstGeom>
          <a:noFill/>
          <a:ln/>
        </p:spPr>
        <p:txBody>
          <a:bodyPr wrap="none" lIns="0" tIns="0" rIns="0" bIns="0" rtlCol="0" anchor="t">
            <a:spAutoFit/>
          </a:bodyPr>
          <a:lstStyle/>
          <a:p>
            <a:pPr marL="0" indent="0" algn="l">
              <a:lnSpc>
                <a:spcPts val="1100"/>
              </a:lnSpc>
              <a:buNone/>
            </a:pPr>
            <a:r>
              <a:rPr lang="en-US" sz="784" b="1" kern="0" spc="2" dirty="0">
                <a:solidFill>
                  <a:srgbClr val="E0E6ED"/>
                </a:solidFill>
              </a:rPr>
              <a:t>Brain (LLM)</a:t>
            </a:r>
            <a:endParaRPr lang="en-US" sz="784" dirty="0"/>
          </a:p>
        </p:txBody>
      </p:sp>
      <p:sp>
        <p:nvSpPr>
          <p:cNvPr id="8" name="Shape 3"/>
          <p:cNvSpPr/>
          <p:nvPr/>
        </p:nvSpPr>
        <p:spPr>
          <a:xfrm>
            <a:off x="1893094" y="1537692"/>
            <a:ext cx="1143000" cy="714375"/>
          </a:xfrm>
          <a:prstGeom prst="rect">
            <a:avLst/>
          </a:prstGeom>
          <a:solidFill>
            <a:srgbClr val="1C2128"/>
          </a:solidFill>
          <a:ln w="18288">
            <a:solidFill>
              <a:srgbClr val="7000FF"/>
            </a:solidFill>
            <a:prstDash val="solid"/>
          </a:ln>
        </p:spPr>
        <p:txBody>
          <a:bodyPr/>
          <a:lstStyle/>
          <a:p>
            <a:endParaRPr lang="ru-KZ"/>
          </a:p>
        </p:txBody>
      </p:sp>
      <p:pic>
        <p:nvPicPr>
          <p:cNvPr id="9" name="Image 2" descr="preencoded.png"/>
          <p:cNvPicPr>
            <a:picLocks noChangeAspect="1"/>
          </p:cNvPicPr>
          <p:nvPr/>
        </p:nvPicPr>
        <p:blipFill>
          <a:blip r:embed="rId5"/>
          <a:stretch>
            <a:fillRect/>
          </a:stretch>
        </p:blipFill>
        <p:spPr>
          <a:xfrm>
            <a:off x="2378869" y="1723430"/>
            <a:ext cx="171450" cy="171450"/>
          </a:xfrm>
          <a:prstGeom prst="rect">
            <a:avLst/>
          </a:prstGeom>
        </p:spPr>
      </p:pic>
      <p:sp>
        <p:nvSpPr>
          <p:cNvPr id="10" name="Text 4"/>
          <p:cNvSpPr/>
          <p:nvPr/>
        </p:nvSpPr>
        <p:spPr>
          <a:xfrm>
            <a:off x="2192796" y="1930598"/>
            <a:ext cx="543595" cy="135731"/>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E0E6ED"/>
                </a:solidFill>
              </a:rPr>
              <a:t>Planning</a:t>
            </a:r>
            <a:endParaRPr lang="en-US" sz="683" dirty="0"/>
          </a:p>
        </p:txBody>
      </p:sp>
      <p:sp>
        <p:nvSpPr>
          <p:cNvPr id="11" name="Shape 5"/>
          <p:cNvSpPr/>
          <p:nvPr/>
        </p:nvSpPr>
        <p:spPr>
          <a:xfrm>
            <a:off x="1893094" y="4071938"/>
            <a:ext cx="1143000" cy="714375"/>
          </a:xfrm>
          <a:prstGeom prst="rect">
            <a:avLst/>
          </a:prstGeom>
          <a:solidFill>
            <a:srgbClr val="1C2128"/>
          </a:solidFill>
          <a:ln w="18288">
            <a:solidFill>
              <a:srgbClr val="7000FF"/>
            </a:solidFill>
            <a:prstDash val="solid"/>
          </a:ln>
        </p:spPr>
        <p:txBody>
          <a:bodyPr/>
          <a:lstStyle/>
          <a:p>
            <a:endParaRPr lang="ru-KZ"/>
          </a:p>
        </p:txBody>
      </p:sp>
      <p:pic>
        <p:nvPicPr>
          <p:cNvPr id="12" name="Image 3" descr="preencoded.png"/>
          <p:cNvPicPr>
            <a:picLocks noChangeAspect="1"/>
          </p:cNvPicPr>
          <p:nvPr/>
        </p:nvPicPr>
        <p:blipFill>
          <a:blip r:embed="rId6"/>
          <a:stretch>
            <a:fillRect/>
          </a:stretch>
        </p:blipFill>
        <p:spPr>
          <a:xfrm>
            <a:off x="2378869" y="4257675"/>
            <a:ext cx="171450" cy="171450"/>
          </a:xfrm>
          <a:prstGeom prst="rect">
            <a:avLst/>
          </a:prstGeom>
        </p:spPr>
      </p:pic>
      <p:sp>
        <p:nvSpPr>
          <p:cNvPr id="13" name="Text 6"/>
          <p:cNvSpPr/>
          <p:nvPr/>
        </p:nvSpPr>
        <p:spPr>
          <a:xfrm>
            <a:off x="2301208" y="4464844"/>
            <a:ext cx="326743" cy="135731"/>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E0E6ED"/>
                </a:solidFill>
              </a:rPr>
              <a:t>Tools</a:t>
            </a:r>
            <a:endParaRPr lang="en-US" sz="683" dirty="0"/>
          </a:p>
        </p:txBody>
      </p:sp>
      <p:sp>
        <p:nvSpPr>
          <p:cNvPr id="14" name="Shape 7"/>
          <p:cNvSpPr/>
          <p:nvPr/>
        </p:nvSpPr>
        <p:spPr>
          <a:xfrm>
            <a:off x="571500" y="2804815"/>
            <a:ext cx="1143000" cy="714375"/>
          </a:xfrm>
          <a:prstGeom prst="rect">
            <a:avLst/>
          </a:prstGeom>
          <a:solidFill>
            <a:srgbClr val="1C2128"/>
          </a:solidFill>
          <a:ln w="18288">
            <a:solidFill>
              <a:srgbClr val="7000FF"/>
            </a:solidFill>
            <a:prstDash val="solid"/>
          </a:ln>
        </p:spPr>
        <p:txBody>
          <a:bodyPr/>
          <a:lstStyle/>
          <a:p>
            <a:endParaRPr lang="ru-KZ"/>
          </a:p>
        </p:txBody>
      </p:sp>
      <p:pic>
        <p:nvPicPr>
          <p:cNvPr id="15" name="Image 4" descr="preencoded.png"/>
          <p:cNvPicPr>
            <a:picLocks noChangeAspect="1"/>
          </p:cNvPicPr>
          <p:nvPr/>
        </p:nvPicPr>
        <p:blipFill>
          <a:blip r:embed="rId7"/>
          <a:stretch>
            <a:fillRect/>
          </a:stretch>
        </p:blipFill>
        <p:spPr>
          <a:xfrm>
            <a:off x="1057275" y="2990552"/>
            <a:ext cx="171450" cy="171450"/>
          </a:xfrm>
          <a:prstGeom prst="rect">
            <a:avLst/>
          </a:prstGeom>
        </p:spPr>
      </p:pic>
      <p:sp>
        <p:nvSpPr>
          <p:cNvPr id="16" name="Text 8"/>
          <p:cNvSpPr/>
          <p:nvPr/>
        </p:nvSpPr>
        <p:spPr>
          <a:xfrm>
            <a:off x="916660" y="3197721"/>
            <a:ext cx="452679" cy="135731"/>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E0E6ED"/>
                </a:solidFill>
              </a:rPr>
              <a:t>Memory</a:t>
            </a:r>
            <a:endParaRPr lang="en-US" sz="683" dirty="0"/>
          </a:p>
        </p:txBody>
      </p:sp>
      <p:sp>
        <p:nvSpPr>
          <p:cNvPr id="17" name="Shape 9"/>
          <p:cNvSpPr/>
          <p:nvPr/>
        </p:nvSpPr>
        <p:spPr>
          <a:xfrm>
            <a:off x="3214688" y="2804815"/>
            <a:ext cx="1143000" cy="714375"/>
          </a:xfrm>
          <a:prstGeom prst="rect">
            <a:avLst/>
          </a:prstGeom>
          <a:solidFill>
            <a:srgbClr val="1C2128"/>
          </a:solidFill>
          <a:ln w="18288">
            <a:solidFill>
              <a:srgbClr val="7000FF"/>
            </a:solidFill>
            <a:prstDash val="solid"/>
          </a:ln>
        </p:spPr>
        <p:txBody>
          <a:bodyPr/>
          <a:lstStyle/>
          <a:p>
            <a:endParaRPr lang="ru-KZ"/>
          </a:p>
        </p:txBody>
      </p:sp>
      <p:pic>
        <p:nvPicPr>
          <p:cNvPr id="18" name="Image 5" descr="preencoded.png"/>
          <p:cNvPicPr>
            <a:picLocks noChangeAspect="1"/>
          </p:cNvPicPr>
          <p:nvPr/>
        </p:nvPicPr>
        <p:blipFill>
          <a:blip r:embed="rId8"/>
          <a:stretch>
            <a:fillRect/>
          </a:stretch>
        </p:blipFill>
        <p:spPr>
          <a:xfrm>
            <a:off x="3689747" y="2990552"/>
            <a:ext cx="192881" cy="171450"/>
          </a:xfrm>
          <a:prstGeom prst="rect">
            <a:avLst/>
          </a:prstGeom>
        </p:spPr>
      </p:pic>
      <p:sp>
        <p:nvSpPr>
          <p:cNvPr id="19" name="Text 10"/>
          <p:cNvSpPr/>
          <p:nvPr/>
        </p:nvSpPr>
        <p:spPr>
          <a:xfrm>
            <a:off x="3591939" y="3197721"/>
            <a:ext cx="388469" cy="135731"/>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E0E6ED"/>
                </a:solidFill>
              </a:rPr>
              <a:t>Action</a:t>
            </a:r>
            <a:endParaRPr lang="en-US" sz="683" dirty="0"/>
          </a:p>
        </p:txBody>
      </p:sp>
      <p:sp>
        <p:nvSpPr>
          <p:cNvPr id="20" name="Shape 11"/>
          <p:cNvSpPr/>
          <p:nvPr/>
        </p:nvSpPr>
        <p:spPr>
          <a:xfrm>
            <a:off x="4786313" y="1336774"/>
            <a:ext cx="3786188" cy="751880"/>
          </a:xfrm>
          <a:prstGeom prst="rect">
            <a:avLst/>
          </a:prstGeom>
          <a:solidFill>
            <a:srgbClr val="161B22"/>
          </a:solidFill>
          <a:ln/>
        </p:spPr>
        <p:txBody>
          <a:bodyPr/>
          <a:lstStyle/>
          <a:p>
            <a:endParaRPr lang="ru-KZ"/>
          </a:p>
        </p:txBody>
      </p:sp>
      <p:sp>
        <p:nvSpPr>
          <p:cNvPr id="21" name="Shape 12"/>
          <p:cNvSpPr/>
          <p:nvPr/>
        </p:nvSpPr>
        <p:spPr>
          <a:xfrm>
            <a:off x="4786313" y="1336774"/>
            <a:ext cx="28575" cy="751880"/>
          </a:xfrm>
          <a:prstGeom prst="rect">
            <a:avLst/>
          </a:prstGeom>
          <a:solidFill>
            <a:srgbClr val="7000FF"/>
          </a:solidFill>
          <a:ln/>
        </p:spPr>
        <p:txBody>
          <a:bodyPr/>
          <a:lstStyle/>
          <a:p>
            <a:endParaRPr lang="ru-KZ"/>
          </a:p>
        </p:txBody>
      </p:sp>
      <p:sp>
        <p:nvSpPr>
          <p:cNvPr id="22" name="Text 13"/>
          <p:cNvSpPr/>
          <p:nvPr/>
        </p:nvSpPr>
        <p:spPr>
          <a:xfrm>
            <a:off x="4964906" y="1479649"/>
            <a:ext cx="3429000"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F0FF"/>
                </a:solidFill>
              </a:rPr>
              <a:t>Brain (LLM)</a:t>
            </a:r>
            <a:endParaRPr lang="en-US" sz="987" dirty="0"/>
          </a:p>
        </p:txBody>
      </p:sp>
      <p:sp>
        <p:nvSpPr>
          <p:cNvPr id="23" name="Text 14"/>
          <p:cNvSpPr/>
          <p:nvPr/>
        </p:nvSpPr>
        <p:spPr>
          <a:xfrm>
            <a:off x="4964906" y="1745754"/>
            <a:ext cx="3429000"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A0AEC0"/>
                </a:solidFill>
              </a:rPr>
              <a:t>Движок рассуждений, который интерпретирует задачи и принимает решения на основе контекста.</a:t>
            </a:r>
            <a:endParaRPr lang="en-US" sz="834" dirty="0"/>
          </a:p>
        </p:txBody>
      </p:sp>
      <p:sp>
        <p:nvSpPr>
          <p:cNvPr id="24" name="Shape 15"/>
          <p:cNvSpPr/>
          <p:nvPr/>
        </p:nvSpPr>
        <p:spPr>
          <a:xfrm>
            <a:off x="4786313" y="2302966"/>
            <a:ext cx="3786188" cy="751880"/>
          </a:xfrm>
          <a:prstGeom prst="rect">
            <a:avLst/>
          </a:prstGeom>
          <a:solidFill>
            <a:srgbClr val="161B22"/>
          </a:solidFill>
          <a:ln/>
        </p:spPr>
        <p:txBody>
          <a:bodyPr/>
          <a:lstStyle/>
          <a:p>
            <a:endParaRPr lang="ru-KZ"/>
          </a:p>
        </p:txBody>
      </p:sp>
      <p:sp>
        <p:nvSpPr>
          <p:cNvPr id="25" name="Shape 16"/>
          <p:cNvSpPr/>
          <p:nvPr/>
        </p:nvSpPr>
        <p:spPr>
          <a:xfrm>
            <a:off x="4786313" y="2302966"/>
            <a:ext cx="28575" cy="751880"/>
          </a:xfrm>
          <a:prstGeom prst="rect">
            <a:avLst/>
          </a:prstGeom>
          <a:solidFill>
            <a:srgbClr val="7000FF"/>
          </a:solidFill>
          <a:ln/>
        </p:spPr>
        <p:txBody>
          <a:bodyPr/>
          <a:lstStyle/>
          <a:p>
            <a:endParaRPr lang="ru-KZ"/>
          </a:p>
        </p:txBody>
      </p:sp>
      <p:sp>
        <p:nvSpPr>
          <p:cNvPr id="26" name="Text 17"/>
          <p:cNvSpPr/>
          <p:nvPr/>
        </p:nvSpPr>
        <p:spPr>
          <a:xfrm>
            <a:off x="4964906" y="2445841"/>
            <a:ext cx="3429000"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F0FF"/>
                </a:solidFill>
              </a:rPr>
              <a:t>Planning</a:t>
            </a:r>
            <a:endParaRPr lang="en-US" sz="987" dirty="0"/>
          </a:p>
        </p:txBody>
      </p:sp>
      <p:sp>
        <p:nvSpPr>
          <p:cNvPr id="27" name="Text 18"/>
          <p:cNvSpPr/>
          <p:nvPr/>
        </p:nvSpPr>
        <p:spPr>
          <a:xfrm>
            <a:off x="4964906" y="2711946"/>
            <a:ext cx="3429000"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A0AEC0"/>
                </a:solidFill>
              </a:rPr>
              <a:t>Разбиение сложных целей на подзадачи и саморефлексия для исправления ошибок.</a:t>
            </a:r>
            <a:endParaRPr lang="en-US" sz="834" dirty="0"/>
          </a:p>
        </p:txBody>
      </p:sp>
      <p:sp>
        <p:nvSpPr>
          <p:cNvPr id="28" name="Shape 19"/>
          <p:cNvSpPr/>
          <p:nvPr/>
        </p:nvSpPr>
        <p:spPr>
          <a:xfrm>
            <a:off x="4786313" y="3269159"/>
            <a:ext cx="3786188" cy="751880"/>
          </a:xfrm>
          <a:prstGeom prst="rect">
            <a:avLst/>
          </a:prstGeom>
          <a:solidFill>
            <a:srgbClr val="161B22"/>
          </a:solidFill>
          <a:ln/>
        </p:spPr>
        <p:txBody>
          <a:bodyPr/>
          <a:lstStyle/>
          <a:p>
            <a:endParaRPr lang="ru-KZ"/>
          </a:p>
        </p:txBody>
      </p:sp>
      <p:sp>
        <p:nvSpPr>
          <p:cNvPr id="29" name="Shape 20"/>
          <p:cNvSpPr/>
          <p:nvPr/>
        </p:nvSpPr>
        <p:spPr>
          <a:xfrm>
            <a:off x="4786313" y="3269159"/>
            <a:ext cx="28575" cy="751880"/>
          </a:xfrm>
          <a:prstGeom prst="rect">
            <a:avLst/>
          </a:prstGeom>
          <a:solidFill>
            <a:srgbClr val="7000FF"/>
          </a:solidFill>
          <a:ln/>
        </p:spPr>
        <p:txBody>
          <a:bodyPr/>
          <a:lstStyle/>
          <a:p>
            <a:endParaRPr lang="ru-KZ"/>
          </a:p>
        </p:txBody>
      </p:sp>
      <p:sp>
        <p:nvSpPr>
          <p:cNvPr id="30" name="Text 21"/>
          <p:cNvSpPr/>
          <p:nvPr/>
        </p:nvSpPr>
        <p:spPr>
          <a:xfrm>
            <a:off x="4964906" y="3412034"/>
            <a:ext cx="3429000"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F0FF"/>
                </a:solidFill>
              </a:rPr>
              <a:t>Memory</a:t>
            </a:r>
            <a:endParaRPr lang="en-US" sz="987" dirty="0"/>
          </a:p>
        </p:txBody>
      </p:sp>
      <p:sp>
        <p:nvSpPr>
          <p:cNvPr id="31" name="Text 22"/>
          <p:cNvSpPr/>
          <p:nvPr/>
        </p:nvSpPr>
        <p:spPr>
          <a:xfrm>
            <a:off x="4964906" y="3678138"/>
            <a:ext cx="3429000"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A0AEC0"/>
                </a:solidFill>
              </a:rPr>
              <a:t>Краткосрочная (контекст диалога) и долгосрочная (базы знаний) память для обучения на опыте.</a:t>
            </a:r>
            <a:endParaRPr lang="en-US" sz="834" dirty="0"/>
          </a:p>
        </p:txBody>
      </p:sp>
      <p:sp>
        <p:nvSpPr>
          <p:cNvPr id="32" name="Shape 23"/>
          <p:cNvSpPr/>
          <p:nvPr/>
        </p:nvSpPr>
        <p:spPr>
          <a:xfrm>
            <a:off x="4786313" y="4235351"/>
            <a:ext cx="3786188" cy="751880"/>
          </a:xfrm>
          <a:prstGeom prst="rect">
            <a:avLst/>
          </a:prstGeom>
          <a:solidFill>
            <a:srgbClr val="161B22"/>
          </a:solidFill>
          <a:ln/>
        </p:spPr>
        <p:txBody>
          <a:bodyPr/>
          <a:lstStyle/>
          <a:p>
            <a:endParaRPr lang="ru-KZ"/>
          </a:p>
        </p:txBody>
      </p:sp>
      <p:sp>
        <p:nvSpPr>
          <p:cNvPr id="33" name="Shape 24"/>
          <p:cNvSpPr/>
          <p:nvPr/>
        </p:nvSpPr>
        <p:spPr>
          <a:xfrm>
            <a:off x="4786313" y="4235351"/>
            <a:ext cx="28575" cy="751880"/>
          </a:xfrm>
          <a:prstGeom prst="rect">
            <a:avLst/>
          </a:prstGeom>
          <a:solidFill>
            <a:srgbClr val="7000FF"/>
          </a:solidFill>
          <a:ln/>
        </p:spPr>
        <p:txBody>
          <a:bodyPr/>
          <a:lstStyle/>
          <a:p>
            <a:endParaRPr lang="ru-KZ"/>
          </a:p>
        </p:txBody>
      </p:sp>
      <p:sp>
        <p:nvSpPr>
          <p:cNvPr id="34" name="Text 25"/>
          <p:cNvSpPr/>
          <p:nvPr/>
        </p:nvSpPr>
        <p:spPr>
          <a:xfrm>
            <a:off x="4964906" y="4378226"/>
            <a:ext cx="3429000"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F0FF"/>
                </a:solidFill>
              </a:rPr>
              <a:t>Tools</a:t>
            </a:r>
            <a:endParaRPr lang="en-US" sz="987" dirty="0"/>
          </a:p>
        </p:txBody>
      </p:sp>
      <p:sp>
        <p:nvSpPr>
          <p:cNvPr id="35" name="Text 26"/>
          <p:cNvSpPr/>
          <p:nvPr/>
        </p:nvSpPr>
        <p:spPr>
          <a:xfrm>
            <a:off x="4964906" y="4644330"/>
            <a:ext cx="3429000"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A0AEC0"/>
                </a:solidFill>
              </a:rPr>
              <a:t>Набор внешних инструментов (API, поиск, код) для взаимодействия с внешним миром.</a:t>
            </a:r>
            <a:endParaRPr lang="en-US" sz="834" dirty="0"/>
          </a:p>
        </p:txBody>
      </p:sp>
    </p:spTree>
    <p:extLst>
      <p:ext uri="{BB962C8B-B14F-4D97-AF65-F5344CB8AC3E}">
        <p14:creationId xmlns:p14="http://schemas.microsoft.com/office/powerpoint/2010/main" val="15644791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BF359-7717-641A-7729-FC9EDFEAF18F}"/>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1FAE80E0-84AF-69A3-6734-6A0E1BDF06FF}"/>
              </a:ext>
            </a:extLst>
          </p:cNvPr>
          <p:cNvPicPr>
            <a:picLocks noChangeAspect="1"/>
          </p:cNvPicPr>
          <p:nvPr/>
        </p:nvPicPr>
        <p:blipFill>
          <a:blip r:embed="rId2"/>
          <a:stretch>
            <a:fillRect/>
          </a:stretch>
        </p:blipFill>
        <p:spPr>
          <a:xfrm>
            <a:off x="0" y="0"/>
            <a:ext cx="9144000" cy="5143500"/>
          </a:xfrm>
          <a:prstGeom prst="rect">
            <a:avLst/>
          </a:prstGeom>
        </p:spPr>
      </p:pic>
      <p:pic>
        <p:nvPicPr>
          <p:cNvPr id="1026" name="Picture 2" descr="AI Atlas #19: Reinforcement Learning (RL) | Glasswing Ventures">
            <a:extLst>
              <a:ext uri="{FF2B5EF4-FFF2-40B4-BE49-F238E27FC236}">
                <a16:creationId xmlns:a16="http://schemas.microsoft.com/office/drawing/2014/main" id="{B8DBDAE3-9B7E-C244-B902-CC9DF06C39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9800" y="0"/>
            <a:ext cx="72644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4040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8EF2B-8C46-87C6-2994-273F5F888C62}"/>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BA587F5C-5D31-49D4-5C5C-DC6C430CDFA8}"/>
              </a:ext>
            </a:extLst>
          </p:cNvPr>
          <p:cNvPicPr>
            <a:picLocks noChangeAspect="1"/>
          </p:cNvPicPr>
          <p:nvPr/>
        </p:nvPicPr>
        <p:blipFill>
          <a:blip r:embed="rId2"/>
          <a:stretch>
            <a:fillRect/>
          </a:stretch>
        </p:blipFill>
        <p:spPr>
          <a:xfrm>
            <a:off x="0" y="0"/>
            <a:ext cx="9144000" cy="5143500"/>
          </a:xfrm>
          <a:prstGeom prst="rect">
            <a:avLst/>
          </a:prstGeom>
        </p:spPr>
      </p:pic>
      <p:pic>
        <p:nvPicPr>
          <p:cNvPr id="3" name="Рисунок 2">
            <a:extLst>
              <a:ext uri="{FF2B5EF4-FFF2-40B4-BE49-F238E27FC236}">
                <a16:creationId xmlns:a16="http://schemas.microsoft.com/office/drawing/2014/main" id="{680C7769-59F0-B223-788F-788628EE9583}"/>
              </a:ext>
            </a:extLst>
          </p:cNvPr>
          <p:cNvPicPr>
            <a:picLocks noChangeAspect="1"/>
          </p:cNvPicPr>
          <p:nvPr/>
        </p:nvPicPr>
        <p:blipFill>
          <a:blip r:embed="rId3"/>
          <a:stretch>
            <a:fillRect/>
          </a:stretch>
        </p:blipFill>
        <p:spPr>
          <a:xfrm>
            <a:off x="685800" y="465732"/>
            <a:ext cx="7772400" cy="4212036"/>
          </a:xfrm>
          <a:prstGeom prst="rect">
            <a:avLst/>
          </a:prstGeom>
        </p:spPr>
      </p:pic>
    </p:spTree>
    <p:extLst>
      <p:ext uri="{BB962C8B-B14F-4D97-AF65-F5344CB8AC3E}">
        <p14:creationId xmlns:p14="http://schemas.microsoft.com/office/powerpoint/2010/main" val="29047425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642F8-ED41-DC1B-5DB3-AAC3A857977C}"/>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9DA84D72-786B-BB18-1282-10127F4BEE36}"/>
              </a:ext>
            </a:extLst>
          </p:cNvPr>
          <p:cNvPicPr>
            <a:picLocks noChangeAspect="1"/>
          </p:cNvPicPr>
          <p:nvPr/>
        </p:nvPicPr>
        <p:blipFill>
          <a:blip r:embed="rId2"/>
          <a:stretch>
            <a:fillRect/>
          </a:stretch>
        </p:blipFill>
        <p:spPr>
          <a:xfrm>
            <a:off x="0" y="0"/>
            <a:ext cx="9144000" cy="5143500"/>
          </a:xfrm>
          <a:prstGeom prst="rect">
            <a:avLst/>
          </a:prstGeom>
        </p:spPr>
      </p:pic>
      <p:pic>
        <p:nvPicPr>
          <p:cNvPr id="4" name="Рисунок 3">
            <a:extLst>
              <a:ext uri="{FF2B5EF4-FFF2-40B4-BE49-F238E27FC236}">
                <a16:creationId xmlns:a16="http://schemas.microsoft.com/office/drawing/2014/main" id="{2DBFB9DE-8995-5E2C-B85D-618FBEFE2F4A}"/>
              </a:ext>
            </a:extLst>
          </p:cNvPr>
          <p:cNvPicPr>
            <a:picLocks noChangeAspect="1"/>
          </p:cNvPicPr>
          <p:nvPr/>
        </p:nvPicPr>
        <p:blipFill>
          <a:blip r:embed="rId3"/>
          <a:stretch>
            <a:fillRect/>
          </a:stretch>
        </p:blipFill>
        <p:spPr>
          <a:xfrm>
            <a:off x="685800" y="492257"/>
            <a:ext cx="7772400" cy="4158985"/>
          </a:xfrm>
          <a:prstGeom prst="rect">
            <a:avLst/>
          </a:prstGeom>
        </p:spPr>
      </p:pic>
    </p:spTree>
    <p:extLst>
      <p:ext uri="{BB962C8B-B14F-4D97-AF65-F5344CB8AC3E}">
        <p14:creationId xmlns:p14="http://schemas.microsoft.com/office/powerpoint/2010/main" val="3408942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921F4-C4EB-D0AB-340C-F7CE68CCA18C}"/>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C31A355C-6FA9-5CFF-ADD3-7894A24A3908}"/>
              </a:ext>
            </a:extLst>
          </p:cNvPr>
          <p:cNvPicPr>
            <a:picLocks noChangeAspect="1"/>
          </p:cNvPicPr>
          <p:nvPr/>
        </p:nvPicPr>
        <p:blipFill>
          <a:blip r:embed="rId2"/>
          <a:stretch>
            <a:fillRect/>
          </a:stretch>
        </p:blipFill>
        <p:spPr>
          <a:xfrm>
            <a:off x="0" y="0"/>
            <a:ext cx="9144000" cy="5143500"/>
          </a:xfrm>
          <a:prstGeom prst="rect">
            <a:avLst/>
          </a:prstGeom>
        </p:spPr>
      </p:pic>
      <p:pic>
        <p:nvPicPr>
          <p:cNvPr id="3" name="Рисунок 2">
            <a:extLst>
              <a:ext uri="{FF2B5EF4-FFF2-40B4-BE49-F238E27FC236}">
                <a16:creationId xmlns:a16="http://schemas.microsoft.com/office/drawing/2014/main" id="{709ADE59-9BA2-C635-93C0-58FC4D5FF2E0}"/>
              </a:ext>
            </a:extLst>
          </p:cNvPr>
          <p:cNvPicPr>
            <a:picLocks noChangeAspect="1"/>
          </p:cNvPicPr>
          <p:nvPr/>
        </p:nvPicPr>
        <p:blipFill>
          <a:blip r:embed="rId3"/>
          <a:stretch>
            <a:fillRect/>
          </a:stretch>
        </p:blipFill>
        <p:spPr>
          <a:xfrm>
            <a:off x="685800" y="478874"/>
            <a:ext cx="7772400" cy="4185752"/>
          </a:xfrm>
          <a:prstGeom prst="rect">
            <a:avLst/>
          </a:prstGeom>
        </p:spPr>
      </p:pic>
    </p:spTree>
    <p:extLst>
      <p:ext uri="{BB962C8B-B14F-4D97-AF65-F5344CB8AC3E}">
        <p14:creationId xmlns:p14="http://schemas.microsoft.com/office/powerpoint/2010/main" val="38566395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C12A4-ADFD-3261-8A38-3A26A67CC05D}"/>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8493412B-8E64-65C6-8AEA-5910E0EABE7A}"/>
              </a:ext>
            </a:extLst>
          </p:cNvPr>
          <p:cNvPicPr>
            <a:picLocks noChangeAspect="1"/>
          </p:cNvPicPr>
          <p:nvPr/>
        </p:nvPicPr>
        <p:blipFill>
          <a:blip r:embed="rId2"/>
          <a:stretch>
            <a:fillRect/>
          </a:stretch>
        </p:blipFill>
        <p:spPr>
          <a:xfrm>
            <a:off x="0" y="0"/>
            <a:ext cx="9144000" cy="5143500"/>
          </a:xfrm>
          <a:prstGeom prst="rect">
            <a:avLst/>
          </a:prstGeom>
        </p:spPr>
      </p:pic>
      <p:pic>
        <p:nvPicPr>
          <p:cNvPr id="3" name="Рисунок 2">
            <a:extLst>
              <a:ext uri="{FF2B5EF4-FFF2-40B4-BE49-F238E27FC236}">
                <a16:creationId xmlns:a16="http://schemas.microsoft.com/office/drawing/2014/main" id="{14874287-985A-924E-F656-3CD024264ED5}"/>
              </a:ext>
            </a:extLst>
          </p:cNvPr>
          <p:cNvPicPr>
            <a:picLocks noChangeAspect="1"/>
          </p:cNvPicPr>
          <p:nvPr/>
        </p:nvPicPr>
        <p:blipFill>
          <a:blip r:embed="rId3"/>
          <a:stretch>
            <a:fillRect/>
          </a:stretch>
        </p:blipFill>
        <p:spPr>
          <a:xfrm>
            <a:off x="685800" y="489713"/>
            <a:ext cx="7772400" cy="4164073"/>
          </a:xfrm>
          <a:prstGeom prst="rect">
            <a:avLst/>
          </a:prstGeom>
        </p:spPr>
      </p:pic>
    </p:spTree>
    <p:extLst>
      <p:ext uri="{BB962C8B-B14F-4D97-AF65-F5344CB8AC3E}">
        <p14:creationId xmlns:p14="http://schemas.microsoft.com/office/powerpoint/2010/main" val="5501315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7DCC2-D177-3176-DB90-2A50C2E2CB43}"/>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C5678F1E-C4B5-21B9-1D80-B5537D86AAEC}"/>
              </a:ext>
            </a:extLst>
          </p:cNvPr>
          <p:cNvPicPr>
            <a:picLocks noChangeAspect="1"/>
          </p:cNvPicPr>
          <p:nvPr/>
        </p:nvPicPr>
        <p:blipFill>
          <a:blip r:embed="rId2"/>
          <a:stretch>
            <a:fillRect/>
          </a:stretch>
        </p:blipFill>
        <p:spPr>
          <a:xfrm>
            <a:off x="0" y="0"/>
            <a:ext cx="9144000" cy="5143500"/>
          </a:xfrm>
          <a:prstGeom prst="rect">
            <a:avLst/>
          </a:prstGeom>
        </p:spPr>
      </p:pic>
      <p:pic>
        <p:nvPicPr>
          <p:cNvPr id="3" name="Рисунок 2">
            <a:extLst>
              <a:ext uri="{FF2B5EF4-FFF2-40B4-BE49-F238E27FC236}">
                <a16:creationId xmlns:a16="http://schemas.microsoft.com/office/drawing/2014/main" id="{61D12926-5E22-2EEA-EBDE-532602445033}"/>
              </a:ext>
            </a:extLst>
          </p:cNvPr>
          <p:cNvPicPr>
            <a:picLocks noChangeAspect="1"/>
          </p:cNvPicPr>
          <p:nvPr/>
        </p:nvPicPr>
        <p:blipFill>
          <a:blip r:embed="rId3"/>
          <a:stretch>
            <a:fillRect/>
          </a:stretch>
        </p:blipFill>
        <p:spPr>
          <a:xfrm>
            <a:off x="685800" y="1019753"/>
            <a:ext cx="7772400" cy="3103993"/>
          </a:xfrm>
          <a:prstGeom prst="rect">
            <a:avLst/>
          </a:prstGeom>
        </p:spPr>
      </p:pic>
    </p:spTree>
    <p:extLst>
      <p:ext uri="{BB962C8B-B14F-4D97-AF65-F5344CB8AC3E}">
        <p14:creationId xmlns:p14="http://schemas.microsoft.com/office/powerpoint/2010/main" val="38548481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428625"/>
            <a:ext cx="8572500" cy="466130"/>
          </a:xfrm>
          <a:prstGeom prst="rect">
            <a:avLst/>
          </a:prstGeom>
          <a:noFill/>
          <a:ln/>
        </p:spPr>
        <p:txBody>
          <a:bodyPr wrap="none" lIns="0" tIns="0" rIns="0" bIns="0" rtlCol="0" anchor="t">
            <a:spAutoFit/>
          </a:bodyPr>
          <a:lstStyle/>
          <a:p>
            <a:pPr marL="0" indent="0" algn="l">
              <a:lnSpc>
                <a:spcPts val="3200"/>
              </a:lnSpc>
              <a:buNone/>
            </a:pPr>
            <a:r>
              <a:rPr lang="en-US" sz="2436" b="1" kern="0" spc="-1" dirty="0">
                <a:solidFill>
                  <a:srgbClr val="00F0FF"/>
                </a:solidFill>
              </a:rPr>
              <a:t>Инструменты: Связь с реальным миром</a:t>
            </a:r>
            <a:endParaRPr lang="en-US" sz="2436" dirty="0"/>
          </a:p>
        </p:txBody>
      </p:sp>
      <p:sp>
        <p:nvSpPr>
          <p:cNvPr id="5" name="Shape 1"/>
          <p:cNvSpPr/>
          <p:nvPr/>
        </p:nvSpPr>
        <p:spPr>
          <a:xfrm>
            <a:off x="571500" y="1323380"/>
            <a:ext cx="3571875" cy="2500313"/>
          </a:xfrm>
          <a:prstGeom prst="rect">
            <a:avLst/>
          </a:prstGeom>
          <a:solidFill>
            <a:srgbClr val="161B22"/>
          </a:solidFill>
          <a:ln w="18288">
            <a:solidFill>
              <a:srgbClr val="7000FF"/>
            </a:solidFill>
            <a:prstDash val="solid"/>
          </a:ln>
        </p:spPr>
        <p:txBody>
          <a:bodyPr/>
          <a:lstStyle/>
          <a:p>
            <a:endParaRPr lang="ru-KZ"/>
          </a:p>
        </p:txBody>
      </p:sp>
      <p:pic>
        <p:nvPicPr>
          <p:cNvPr id="6" name="Image 1" descr="preencoded.png"/>
          <p:cNvPicPr>
            <a:picLocks noChangeAspect="1"/>
          </p:cNvPicPr>
          <p:nvPr/>
        </p:nvPicPr>
        <p:blipFill>
          <a:blip r:embed="rId4"/>
          <a:stretch>
            <a:fillRect/>
          </a:stretch>
        </p:blipFill>
        <p:spPr>
          <a:xfrm>
            <a:off x="571500" y="1323380"/>
            <a:ext cx="3571875" cy="2500313"/>
          </a:xfrm>
          <a:prstGeom prst="rect">
            <a:avLst/>
          </a:prstGeom>
        </p:spPr>
      </p:pic>
      <p:sp>
        <p:nvSpPr>
          <p:cNvPr id="7" name="Text 2"/>
          <p:cNvSpPr/>
          <p:nvPr/>
        </p:nvSpPr>
        <p:spPr>
          <a:xfrm>
            <a:off x="571500" y="3930848"/>
            <a:ext cx="3571875" cy="271463"/>
          </a:xfrm>
          <a:prstGeom prst="rect">
            <a:avLst/>
          </a:prstGeom>
          <a:noFill/>
          <a:ln/>
        </p:spPr>
        <p:txBody>
          <a:bodyPr wrap="square" lIns="0" tIns="0" rIns="0" bIns="0" rtlCol="0" anchor="t">
            <a:spAutoFit/>
          </a:bodyPr>
          <a:lstStyle/>
          <a:p>
            <a:pPr marL="0" indent="0" algn="l">
              <a:lnSpc>
                <a:spcPts val="900"/>
              </a:lnSpc>
              <a:buNone/>
            </a:pPr>
            <a:r>
              <a:rPr lang="en-US" sz="683" b="1" kern="0" spc="1" dirty="0">
                <a:solidFill>
                  <a:srgbClr val="7000FF"/>
                </a:solidFill>
              </a:rPr>
              <a:t>Визуализация: Обогащение контекста через инструменты</a:t>
            </a:r>
            <a:endParaRPr lang="en-US" sz="683" dirty="0"/>
          </a:p>
        </p:txBody>
      </p:sp>
      <p:sp>
        <p:nvSpPr>
          <p:cNvPr id="8" name="Shape 3"/>
          <p:cNvSpPr/>
          <p:nvPr/>
        </p:nvSpPr>
        <p:spPr>
          <a:xfrm>
            <a:off x="4572000" y="1323380"/>
            <a:ext cx="4000500" cy="964406"/>
          </a:xfrm>
          <a:prstGeom prst="rect">
            <a:avLst/>
          </a:prstGeom>
          <a:solidFill>
            <a:srgbClr val="161B22"/>
          </a:solidFill>
          <a:ln/>
        </p:spPr>
        <p:txBody>
          <a:bodyPr/>
          <a:lstStyle/>
          <a:p>
            <a:endParaRPr lang="ru-KZ"/>
          </a:p>
        </p:txBody>
      </p:sp>
      <p:sp>
        <p:nvSpPr>
          <p:cNvPr id="9" name="Shape 4"/>
          <p:cNvSpPr/>
          <p:nvPr/>
        </p:nvSpPr>
        <p:spPr>
          <a:xfrm>
            <a:off x="4572000" y="1323380"/>
            <a:ext cx="28575" cy="964406"/>
          </a:xfrm>
          <a:prstGeom prst="rect">
            <a:avLst/>
          </a:prstGeom>
          <a:solidFill>
            <a:srgbClr val="00F0FF"/>
          </a:solidFill>
          <a:ln/>
        </p:spPr>
        <p:txBody>
          <a:bodyPr/>
          <a:lstStyle/>
          <a:p>
            <a:endParaRPr lang="ru-KZ"/>
          </a:p>
        </p:txBody>
      </p:sp>
      <p:pic>
        <p:nvPicPr>
          <p:cNvPr id="10" name="Image 2" descr="preencoded.png"/>
          <p:cNvPicPr>
            <a:picLocks noChangeAspect="1"/>
          </p:cNvPicPr>
          <p:nvPr/>
        </p:nvPicPr>
        <p:blipFill>
          <a:blip r:embed="rId5"/>
          <a:stretch>
            <a:fillRect/>
          </a:stretch>
        </p:blipFill>
        <p:spPr>
          <a:xfrm>
            <a:off x="4850606" y="1546622"/>
            <a:ext cx="228600" cy="228600"/>
          </a:xfrm>
          <a:prstGeom prst="rect">
            <a:avLst/>
          </a:prstGeom>
        </p:spPr>
      </p:pic>
      <p:sp>
        <p:nvSpPr>
          <p:cNvPr id="11" name="Text 5"/>
          <p:cNvSpPr/>
          <p:nvPr/>
        </p:nvSpPr>
        <p:spPr>
          <a:xfrm>
            <a:off x="5286375" y="1501973"/>
            <a:ext cx="3071813"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FFFFFF"/>
                </a:solidFill>
              </a:rPr>
              <a:t>Web Search</a:t>
            </a:r>
            <a:endParaRPr lang="en-US" sz="1090" dirty="0"/>
          </a:p>
        </p:txBody>
      </p:sp>
      <p:sp>
        <p:nvSpPr>
          <p:cNvPr id="12" name="Text 6"/>
          <p:cNvSpPr/>
          <p:nvPr/>
        </p:nvSpPr>
        <p:spPr>
          <a:xfrm>
            <a:off x="5286375" y="1773436"/>
            <a:ext cx="3071813" cy="51435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A0AEC0"/>
                </a:solidFill>
              </a:rPr>
              <a:t>Доступ к актуальной информации в реальном времени. Агент может гуглить, читать статьи и проверять факты.</a:t>
            </a:r>
            <a:endParaRPr lang="en-US" sz="834" dirty="0"/>
          </a:p>
        </p:txBody>
      </p:sp>
      <p:sp>
        <p:nvSpPr>
          <p:cNvPr id="13" name="Shape 7"/>
          <p:cNvSpPr/>
          <p:nvPr/>
        </p:nvSpPr>
        <p:spPr>
          <a:xfrm>
            <a:off x="4572000" y="2502098"/>
            <a:ext cx="4000500" cy="964406"/>
          </a:xfrm>
          <a:prstGeom prst="rect">
            <a:avLst/>
          </a:prstGeom>
          <a:solidFill>
            <a:srgbClr val="161B22"/>
          </a:solidFill>
          <a:ln/>
        </p:spPr>
        <p:txBody>
          <a:bodyPr/>
          <a:lstStyle/>
          <a:p>
            <a:endParaRPr lang="ru-KZ"/>
          </a:p>
        </p:txBody>
      </p:sp>
      <p:sp>
        <p:nvSpPr>
          <p:cNvPr id="14" name="Shape 8"/>
          <p:cNvSpPr/>
          <p:nvPr/>
        </p:nvSpPr>
        <p:spPr>
          <a:xfrm>
            <a:off x="4572000" y="2502098"/>
            <a:ext cx="28575" cy="964406"/>
          </a:xfrm>
          <a:prstGeom prst="rect">
            <a:avLst/>
          </a:prstGeom>
          <a:solidFill>
            <a:srgbClr val="00F0FF"/>
          </a:solidFill>
          <a:ln/>
        </p:spPr>
        <p:txBody>
          <a:bodyPr/>
          <a:lstStyle/>
          <a:p>
            <a:endParaRPr lang="ru-KZ"/>
          </a:p>
        </p:txBody>
      </p:sp>
      <p:pic>
        <p:nvPicPr>
          <p:cNvPr id="15" name="Image 3" descr="preencoded.png"/>
          <p:cNvPicPr>
            <a:picLocks noChangeAspect="1"/>
          </p:cNvPicPr>
          <p:nvPr/>
        </p:nvPicPr>
        <p:blipFill>
          <a:blip r:embed="rId6"/>
          <a:stretch>
            <a:fillRect/>
          </a:stretch>
        </p:blipFill>
        <p:spPr>
          <a:xfrm>
            <a:off x="4822031" y="2725341"/>
            <a:ext cx="285750" cy="228600"/>
          </a:xfrm>
          <a:prstGeom prst="rect">
            <a:avLst/>
          </a:prstGeom>
        </p:spPr>
      </p:pic>
      <p:sp>
        <p:nvSpPr>
          <p:cNvPr id="16" name="Text 9"/>
          <p:cNvSpPr/>
          <p:nvPr/>
        </p:nvSpPr>
        <p:spPr>
          <a:xfrm>
            <a:off x="5286375" y="2680692"/>
            <a:ext cx="3071813"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FFFFFF"/>
                </a:solidFill>
              </a:rPr>
              <a:t>Code Interpreter</a:t>
            </a:r>
            <a:endParaRPr lang="en-US" sz="1090" dirty="0"/>
          </a:p>
        </p:txBody>
      </p:sp>
      <p:sp>
        <p:nvSpPr>
          <p:cNvPr id="17" name="Text 10"/>
          <p:cNvSpPr/>
          <p:nvPr/>
        </p:nvSpPr>
        <p:spPr>
          <a:xfrm>
            <a:off x="5286375" y="2952155"/>
            <a:ext cx="3071813" cy="51435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A0AEC0"/>
                </a:solidFill>
              </a:rPr>
              <a:t>Выполнение Python-кода для сложных вычислений, анализа данных и визуализации. </a:t>
            </a:r>
            <a:r>
              <a:rPr lang="en-US" sz="784" b="1" dirty="0">
                <a:solidFill>
                  <a:srgbClr val="7000FF"/>
                </a:solidFill>
              </a:rPr>
              <a:t>Безопасная песочница.</a:t>
            </a:r>
            <a:endParaRPr lang="en-US" sz="834" dirty="0"/>
          </a:p>
        </p:txBody>
      </p:sp>
      <p:sp>
        <p:nvSpPr>
          <p:cNvPr id="18" name="Shape 11"/>
          <p:cNvSpPr/>
          <p:nvPr/>
        </p:nvSpPr>
        <p:spPr>
          <a:xfrm>
            <a:off x="4572000" y="3680817"/>
            <a:ext cx="4000500" cy="964406"/>
          </a:xfrm>
          <a:prstGeom prst="rect">
            <a:avLst/>
          </a:prstGeom>
          <a:solidFill>
            <a:srgbClr val="161B22"/>
          </a:solidFill>
          <a:ln/>
        </p:spPr>
        <p:txBody>
          <a:bodyPr/>
          <a:lstStyle/>
          <a:p>
            <a:endParaRPr lang="ru-KZ"/>
          </a:p>
        </p:txBody>
      </p:sp>
      <p:sp>
        <p:nvSpPr>
          <p:cNvPr id="19" name="Shape 12"/>
          <p:cNvSpPr/>
          <p:nvPr/>
        </p:nvSpPr>
        <p:spPr>
          <a:xfrm>
            <a:off x="4572000" y="3680817"/>
            <a:ext cx="28575" cy="964406"/>
          </a:xfrm>
          <a:prstGeom prst="rect">
            <a:avLst/>
          </a:prstGeom>
          <a:solidFill>
            <a:srgbClr val="00F0FF"/>
          </a:solidFill>
          <a:ln/>
        </p:spPr>
        <p:txBody>
          <a:bodyPr/>
          <a:lstStyle/>
          <a:p>
            <a:endParaRPr lang="ru-KZ"/>
          </a:p>
        </p:txBody>
      </p:sp>
      <p:pic>
        <p:nvPicPr>
          <p:cNvPr id="20" name="Image 4" descr="preencoded.png"/>
          <p:cNvPicPr>
            <a:picLocks noChangeAspect="1"/>
          </p:cNvPicPr>
          <p:nvPr/>
        </p:nvPicPr>
        <p:blipFill>
          <a:blip r:embed="rId7"/>
          <a:stretch>
            <a:fillRect/>
          </a:stretch>
        </p:blipFill>
        <p:spPr>
          <a:xfrm>
            <a:off x="4879181" y="3904059"/>
            <a:ext cx="171450" cy="228600"/>
          </a:xfrm>
          <a:prstGeom prst="rect">
            <a:avLst/>
          </a:prstGeom>
        </p:spPr>
      </p:pic>
      <p:sp>
        <p:nvSpPr>
          <p:cNvPr id="21" name="Text 13"/>
          <p:cNvSpPr/>
          <p:nvPr/>
        </p:nvSpPr>
        <p:spPr>
          <a:xfrm>
            <a:off x="5286375" y="3859411"/>
            <a:ext cx="3071813"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FFFFFF"/>
                </a:solidFill>
              </a:rPr>
              <a:t>Custom APIs</a:t>
            </a:r>
            <a:endParaRPr lang="en-US" sz="1090" dirty="0"/>
          </a:p>
        </p:txBody>
      </p:sp>
      <p:sp>
        <p:nvSpPr>
          <p:cNvPr id="22" name="Text 14"/>
          <p:cNvSpPr/>
          <p:nvPr/>
        </p:nvSpPr>
        <p:spPr>
          <a:xfrm>
            <a:off x="5286375" y="4130873"/>
            <a:ext cx="3071813" cy="51435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A0AEC0"/>
                </a:solidFill>
              </a:rPr>
              <a:t>Интеграция с любыми сервисами: отправка почты, создание встреч в календаре, управление умным домом или базой данных.</a:t>
            </a:r>
            <a:endParaRPr lang="en-US" sz="834"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ED17E-8F13-2299-C9FF-854B8519C890}"/>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48CD142B-550E-0515-DAA3-52A571F391E7}"/>
              </a:ext>
            </a:extLst>
          </p:cNvPr>
          <p:cNvPicPr>
            <a:picLocks noChangeAspect="1"/>
          </p:cNvPicPr>
          <p:nvPr/>
        </p:nvPicPr>
        <p:blipFill>
          <a:blip r:embed="rId2"/>
          <a:stretch>
            <a:fillRect/>
          </a:stretch>
        </p:blipFill>
        <p:spPr>
          <a:xfrm>
            <a:off x="0" y="0"/>
            <a:ext cx="9144000" cy="5143500"/>
          </a:xfrm>
          <a:prstGeom prst="rect">
            <a:avLst/>
          </a:prstGeom>
        </p:spPr>
      </p:pic>
      <p:pic>
        <p:nvPicPr>
          <p:cNvPr id="4" name="Рисунок 3">
            <a:extLst>
              <a:ext uri="{FF2B5EF4-FFF2-40B4-BE49-F238E27FC236}">
                <a16:creationId xmlns:a16="http://schemas.microsoft.com/office/drawing/2014/main" id="{BE234F47-ED96-D19E-FE8F-AB0BA1A2038E}"/>
              </a:ext>
            </a:extLst>
          </p:cNvPr>
          <p:cNvPicPr>
            <a:picLocks noChangeAspect="1"/>
          </p:cNvPicPr>
          <p:nvPr/>
        </p:nvPicPr>
        <p:blipFill>
          <a:blip r:embed="rId3"/>
          <a:stretch>
            <a:fillRect/>
          </a:stretch>
        </p:blipFill>
        <p:spPr>
          <a:xfrm>
            <a:off x="685800" y="459146"/>
            <a:ext cx="7772400" cy="4225208"/>
          </a:xfrm>
          <a:prstGeom prst="rect">
            <a:avLst/>
          </a:prstGeom>
        </p:spPr>
      </p:pic>
    </p:spTree>
    <p:extLst>
      <p:ext uri="{BB962C8B-B14F-4D97-AF65-F5344CB8AC3E}">
        <p14:creationId xmlns:p14="http://schemas.microsoft.com/office/powerpoint/2010/main" val="8112317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BB9C7-782A-A7E2-B005-DE9643B78165}"/>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CF7B7691-F321-80D0-B0B9-4BCBF9A94649}"/>
              </a:ext>
            </a:extLst>
          </p:cNvPr>
          <p:cNvPicPr>
            <a:picLocks noChangeAspect="1"/>
          </p:cNvPicPr>
          <p:nvPr/>
        </p:nvPicPr>
        <p:blipFill>
          <a:blip r:embed="rId2"/>
          <a:stretch>
            <a:fillRect/>
          </a:stretch>
        </p:blipFill>
        <p:spPr>
          <a:xfrm>
            <a:off x="0" y="0"/>
            <a:ext cx="9144000" cy="5143500"/>
          </a:xfrm>
          <a:prstGeom prst="rect">
            <a:avLst/>
          </a:prstGeom>
        </p:spPr>
      </p:pic>
      <p:pic>
        <p:nvPicPr>
          <p:cNvPr id="3" name="Рисунок 2">
            <a:extLst>
              <a:ext uri="{FF2B5EF4-FFF2-40B4-BE49-F238E27FC236}">
                <a16:creationId xmlns:a16="http://schemas.microsoft.com/office/drawing/2014/main" id="{F74E5039-2F23-7706-1642-40D8D4523F94}"/>
              </a:ext>
            </a:extLst>
          </p:cNvPr>
          <p:cNvPicPr>
            <a:picLocks noChangeAspect="1"/>
          </p:cNvPicPr>
          <p:nvPr/>
        </p:nvPicPr>
        <p:blipFill>
          <a:blip r:embed="rId3"/>
          <a:stretch>
            <a:fillRect/>
          </a:stretch>
        </p:blipFill>
        <p:spPr>
          <a:xfrm>
            <a:off x="2055698" y="476256"/>
            <a:ext cx="4895022" cy="4321946"/>
          </a:xfrm>
          <a:prstGeom prst="rect">
            <a:avLst/>
          </a:prstGeom>
        </p:spPr>
      </p:pic>
    </p:spTree>
    <p:extLst>
      <p:ext uri="{BB962C8B-B14F-4D97-AF65-F5344CB8AC3E}">
        <p14:creationId xmlns:p14="http://schemas.microsoft.com/office/powerpoint/2010/main" val="23061248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B663A-35B5-A065-D84F-BE62AA618A1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2D1F0199-5D21-11A1-EB2E-677F3C03B5BC}"/>
              </a:ext>
            </a:extLst>
          </p:cNvPr>
          <p:cNvPicPr>
            <a:picLocks noChangeAspect="1"/>
          </p:cNvPicPr>
          <p:nvPr/>
        </p:nvPicPr>
        <p:blipFill>
          <a:blip r:embed="rId2"/>
          <a:stretch>
            <a:fillRect/>
          </a:stretch>
        </p:blipFill>
        <p:spPr>
          <a:xfrm>
            <a:off x="0" y="0"/>
            <a:ext cx="9144000" cy="5143500"/>
          </a:xfrm>
          <a:prstGeom prst="rect">
            <a:avLst/>
          </a:prstGeom>
        </p:spPr>
      </p:pic>
      <p:pic>
        <p:nvPicPr>
          <p:cNvPr id="3" name="Рисунок 2">
            <a:extLst>
              <a:ext uri="{FF2B5EF4-FFF2-40B4-BE49-F238E27FC236}">
                <a16:creationId xmlns:a16="http://schemas.microsoft.com/office/drawing/2014/main" id="{CD9435BD-90E6-8EA8-B974-ED70C5273A34}"/>
              </a:ext>
            </a:extLst>
          </p:cNvPr>
          <p:cNvPicPr>
            <a:picLocks noChangeAspect="1"/>
          </p:cNvPicPr>
          <p:nvPr/>
        </p:nvPicPr>
        <p:blipFill>
          <a:blip r:embed="rId3"/>
          <a:stretch>
            <a:fillRect/>
          </a:stretch>
        </p:blipFill>
        <p:spPr>
          <a:xfrm>
            <a:off x="685800" y="314480"/>
            <a:ext cx="7772400" cy="4514539"/>
          </a:xfrm>
          <a:prstGeom prst="rect">
            <a:avLst/>
          </a:prstGeom>
        </p:spPr>
      </p:pic>
    </p:spTree>
    <p:extLst>
      <p:ext uri="{BB962C8B-B14F-4D97-AF65-F5344CB8AC3E}">
        <p14:creationId xmlns:p14="http://schemas.microsoft.com/office/powerpoint/2010/main" val="21646053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1A985-ED34-12EB-6772-0286E593DDA8}"/>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63E38C84-2E1F-3FD0-49E5-756300820245}"/>
              </a:ext>
            </a:extLst>
          </p:cNvPr>
          <p:cNvPicPr>
            <a:picLocks noChangeAspect="1"/>
          </p:cNvPicPr>
          <p:nvPr/>
        </p:nvPicPr>
        <p:blipFill>
          <a:blip r:embed="rId2"/>
          <a:stretch>
            <a:fillRect/>
          </a:stretch>
        </p:blipFill>
        <p:spPr>
          <a:xfrm>
            <a:off x="0" y="0"/>
            <a:ext cx="9144000" cy="5143500"/>
          </a:xfrm>
          <a:prstGeom prst="rect">
            <a:avLst/>
          </a:prstGeom>
        </p:spPr>
      </p:pic>
      <p:pic>
        <p:nvPicPr>
          <p:cNvPr id="3" name="Рисунок 2">
            <a:extLst>
              <a:ext uri="{FF2B5EF4-FFF2-40B4-BE49-F238E27FC236}">
                <a16:creationId xmlns:a16="http://schemas.microsoft.com/office/drawing/2014/main" id="{136DD613-A51E-0565-59AB-54B269D83A19}"/>
              </a:ext>
            </a:extLst>
          </p:cNvPr>
          <p:cNvPicPr>
            <a:picLocks noChangeAspect="1"/>
          </p:cNvPicPr>
          <p:nvPr/>
        </p:nvPicPr>
        <p:blipFill>
          <a:blip r:embed="rId3"/>
          <a:stretch>
            <a:fillRect/>
          </a:stretch>
        </p:blipFill>
        <p:spPr>
          <a:xfrm>
            <a:off x="685800" y="260688"/>
            <a:ext cx="7772400" cy="4622124"/>
          </a:xfrm>
          <a:prstGeom prst="rect">
            <a:avLst/>
          </a:prstGeom>
        </p:spPr>
      </p:pic>
    </p:spTree>
    <p:extLst>
      <p:ext uri="{BB962C8B-B14F-4D97-AF65-F5344CB8AC3E}">
        <p14:creationId xmlns:p14="http://schemas.microsoft.com/office/powerpoint/2010/main" val="19441927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25FB3-16D9-CC85-5698-58613183B545}"/>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51C3BF23-001B-ADC4-00C0-F80F60CD3EBB}"/>
              </a:ext>
            </a:extLst>
          </p:cNvPr>
          <p:cNvPicPr>
            <a:picLocks noChangeAspect="1"/>
          </p:cNvPicPr>
          <p:nvPr/>
        </p:nvPicPr>
        <p:blipFill>
          <a:blip r:embed="rId2"/>
          <a:stretch>
            <a:fillRect/>
          </a:stretch>
        </p:blipFill>
        <p:spPr>
          <a:xfrm>
            <a:off x="0" y="0"/>
            <a:ext cx="9144000" cy="5143500"/>
          </a:xfrm>
          <a:prstGeom prst="rect">
            <a:avLst/>
          </a:prstGeom>
        </p:spPr>
      </p:pic>
      <p:pic>
        <p:nvPicPr>
          <p:cNvPr id="3" name="Рисунок 2">
            <a:extLst>
              <a:ext uri="{FF2B5EF4-FFF2-40B4-BE49-F238E27FC236}">
                <a16:creationId xmlns:a16="http://schemas.microsoft.com/office/drawing/2014/main" id="{2449E8F7-3A3A-B64D-4711-B5B86EE45BA0}"/>
              </a:ext>
            </a:extLst>
          </p:cNvPr>
          <p:cNvPicPr>
            <a:picLocks noChangeAspect="1"/>
          </p:cNvPicPr>
          <p:nvPr/>
        </p:nvPicPr>
        <p:blipFill>
          <a:blip r:embed="rId3"/>
          <a:stretch>
            <a:fillRect/>
          </a:stretch>
        </p:blipFill>
        <p:spPr>
          <a:xfrm>
            <a:off x="685800" y="389147"/>
            <a:ext cx="7772400" cy="4365206"/>
          </a:xfrm>
          <a:prstGeom prst="rect">
            <a:avLst/>
          </a:prstGeom>
        </p:spPr>
      </p:pic>
    </p:spTree>
    <p:extLst>
      <p:ext uri="{BB962C8B-B14F-4D97-AF65-F5344CB8AC3E}">
        <p14:creationId xmlns:p14="http://schemas.microsoft.com/office/powerpoint/2010/main" val="30439215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13C8E-E911-1601-BDFA-4BC2E59E9340}"/>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ADDD08E7-1BD5-54C0-C632-48B56E4F6979}"/>
              </a:ext>
            </a:extLst>
          </p:cNvPr>
          <p:cNvPicPr>
            <a:picLocks noChangeAspect="1"/>
          </p:cNvPicPr>
          <p:nvPr/>
        </p:nvPicPr>
        <p:blipFill>
          <a:blip r:embed="rId2"/>
          <a:stretch>
            <a:fillRect/>
          </a:stretch>
        </p:blipFill>
        <p:spPr>
          <a:xfrm>
            <a:off x="0" y="0"/>
            <a:ext cx="9144000" cy="5143500"/>
          </a:xfrm>
          <a:prstGeom prst="rect">
            <a:avLst/>
          </a:prstGeom>
        </p:spPr>
      </p:pic>
      <p:pic>
        <p:nvPicPr>
          <p:cNvPr id="3" name="Рисунок 2">
            <a:extLst>
              <a:ext uri="{FF2B5EF4-FFF2-40B4-BE49-F238E27FC236}">
                <a16:creationId xmlns:a16="http://schemas.microsoft.com/office/drawing/2014/main" id="{39A424E4-FD2E-B6C0-6E64-AA7B31FA6D4C}"/>
              </a:ext>
            </a:extLst>
          </p:cNvPr>
          <p:cNvPicPr>
            <a:picLocks noChangeAspect="1"/>
          </p:cNvPicPr>
          <p:nvPr/>
        </p:nvPicPr>
        <p:blipFill>
          <a:blip r:embed="rId3"/>
          <a:stretch>
            <a:fillRect/>
          </a:stretch>
        </p:blipFill>
        <p:spPr>
          <a:xfrm>
            <a:off x="1033686" y="0"/>
            <a:ext cx="7076628" cy="5143500"/>
          </a:xfrm>
          <a:prstGeom prst="rect">
            <a:avLst/>
          </a:prstGeom>
        </p:spPr>
      </p:pic>
    </p:spTree>
    <p:extLst>
      <p:ext uri="{BB962C8B-B14F-4D97-AF65-F5344CB8AC3E}">
        <p14:creationId xmlns:p14="http://schemas.microsoft.com/office/powerpoint/2010/main" val="22183316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84FC3-656A-0985-3C7B-D2A9A65BF48B}"/>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9D6EC14B-9ECF-C848-A991-ABBBE0EC3027}"/>
              </a:ext>
            </a:extLst>
          </p:cNvPr>
          <p:cNvPicPr>
            <a:picLocks noChangeAspect="1"/>
          </p:cNvPicPr>
          <p:nvPr/>
        </p:nvPicPr>
        <p:blipFill>
          <a:blip r:embed="rId2"/>
          <a:stretch>
            <a:fillRect/>
          </a:stretch>
        </p:blipFill>
        <p:spPr>
          <a:xfrm>
            <a:off x="0" y="0"/>
            <a:ext cx="9144000" cy="5143500"/>
          </a:xfrm>
          <a:prstGeom prst="rect">
            <a:avLst/>
          </a:prstGeom>
        </p:spPr>
      </p:pic>
      <p:pic>
        <p:nvPicPr>
          <p:cNvPr id="3" name="Рисунок 2">
            <a:extLst>
              <a:ext uri="{FF2B5EF4-FFF2-40B4-BE49-F238E27FC236}">
                <a16:creationId xmlns:a16="http://schemas.microsoft.com/office/drawing/2014/main" id="{3411D05E-FABC-CE4C-6158-F11E40242822}"/>
              </a:ext>
            </a:extLst>
          </p:cNvPr>
          <p:cNvPicPr>
            <a:picLocks noChangeAspect="1"/>
          </p:cNvPicPr>
          <p:nvPr/>
        </p:nvPicPr>
        <p:blipFill>
          <a:blip r:embed="rId3"/>
          <a:stretch>
            <a:fillRect/>
          </a:stretch>
        </p:blipFill>
        <p:spPr>
          <a:xfrm>
            <a:off x="685800" y="252772"/>
            <a:ext cx="7772400" cy="4637956"/>
          </a:xfrm>
          <a:prstGeom prst="rect">
            <a:avLst/>
          </a:prstGeom>
        </p:spPr>
      </p:pic>
    </p:spTree>
    <p:extLst>
      <p:ext uri="{BB962C8B-B14F-4D97-AF65-F5344CB8AC3E}">
        <p14:creationId xmlns:p14="http://schemas.microsoft.com/office/powerpoint/2010/main" val="3099189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428625"/>
            <a:ext cx="8572500" cy="466130"/>
          </a:xfrm>
          <a:prstGeom prst="rect">
            <a:avLst/>
          </a:prstGeom>
          <a:noFill/>
          <a:ln/>
        </p:spPr>
        <p:txBody>
          <a:bodyPr wrap="none" lIns="0" tIns="0" rIns="0" bIns="0" rtlCol="0" anchor="t">
            <a:spAutoFit/>
          </a:bodyPr>
          <a:lstStyle/>
          <a:p>
            <a:pPr marL="0" indent="0" algn="l">
              <a:lnSpc>
                <a:spcPts val="3200"/>
              </a:lnSpc>
              <a:buNone/>
            </a:pPr>
            <a:r>
              <a:rPr lang="en-US" sz="2436" b="1" kern="0" spc="-1" dirty="0">
                <a:solidFill>
                  <a:srgbClr val="00F0FF"/>
                </a:solidFill>
              </a:rPr>
              <a:t>Планирование и Рефлексия</a:t>
            </a:r>
            <a:endParaRPr lang="en-US" sz="2436" dirty="0"/>
          </a:p>
        </p:txBody>
      </p:sp>
      <p:sp>
        <p:nvSpPr>
          <p:cNvPr id="5" name="Shape 1"/>
          <p:cNvSpPr/>
          <p:nvPr/>
        </p:nvSpPr>
        <p:spPr>
          <a:xfrm>
            <a:off x="571500" y="1180505"/>
            <a:ext cx="3786188" cy="3962995"/>
          </a:xfrm>
          <a:prstGeom prst="rect">
            <a:avLst/>
          </a:prstGeom>
          <a:solidFill>
            <a:srgbClr val="161B22"/>
          </a:solidFill>
          <a:ln/>
        </p:spPr>
        <p:txBody>
          <a:bodyPr/>
          <a:lstStyle/>
          <a:p>
            <a:endParaRPr lang="ru-KZ"/>
          </a:p>
        </p:txBody>
      </p:sp>
      <p:sp>
        <p:nvSpPr>
          <p:cNvPr id="6" name="Shape 2"/>
          <p:cNvSpPr/>
          <p:nvPr/>
        </p:nvSpPr>
        <p:spPr>
          <a:xfrm>
            <a:off x="571500" y="1180505"/>
            <a:ext cx="3786188" cy="28575"/>
          </a:xfrm>
          <a:prstGeom prst="rect">
            <a:avLst/>
          </a:prstGeom>
          <a:solidFill>
            <a:srgbClr val="7000FF"/>
          </a:solidFill>
          <a:ln/>
        </p:spPr>
        <p:txBody>
          <a:bodyPr/>
          <a:lstStyle/>
          <a:p>
            <a:endParaRPr lang="ru-KZ"/>
          </a:p>
        </p:txBody>
      </p:sp>
      <p:sp>
        <p:nvSpPr>
          <p:cNvPr id="7" name="Text 3"/>
          <p:cNvSpPr/>
          <p:nvPr/>
        </p:nvSpPr>
        <p:spPr>
          <a:xfrm>
            <a:off x="785813" y="1394817"/>
            <a:ext cx="3357563" cy="273248"/>
          </a:xfrm>
          <a:prstGeom prst="rect">
            <a:avLst/>
          </a:prstGeom>
          <a:noFill/>
          <a:ln/>
        </p:spPr>
        <p:txBody>
          <a:bodyPr wrap="none" lIns="0" tIns="0" rIns="0" bIns="0" rtlCol="0" anchor="t">
            <a:spAutoFit/>
          </a:bodyPr>
          <a:lstStyle/>
          <a:p>
            <a:pPr marL="0" indent="0" algn="l">
              <a:lnSpc>
                <a:spcPts val="1900"/>
              </a:lnSpc>
              <a:buNone/>
            </a:pPr>
            <a:r>
              <a:rPr lang="en-US" sz="1397" b="1" kern="0" spc="1" dirty="0">
                <a:solidFill>
                  <a:srgbClr val="FFFFFF"/>
                </a:solidFill>
              </a:rPr>
              <a:t>Стратегии планирования</a:t>
            </a:r>
            <a:endParaRPr lang="en-US" sz="1397" dirty="0"/>
          </a:p>
        </p:txBody>
      </p:sp>
      <p:pic>
        <p:nvPicPr>
          <p:cNvPr id="8" name="Image 1" descr="preencoded.png"/>
          <p:cNvPicPr>
            <a:picLocks noChangeAspect="1"/>
          </p:cNvPicPr>
          <p:nvPr/>
        </p:nvPicPr>
        <p:blipFill>
          <a:blip r:embed="rId4"/>
          <a:stretch>
            <a:fillRect/>
          </a:stretch>
        </p:blipFill>
        <p:spPr>
          <a:xfrm>
            <a:off x="785813" y="1914525"/>
            <a:ext cx="192881" cy="171450"/>
          </a:xfrm>
          <a:prstGeom prst="rect">
            <a:avLst/>
          </a:prstGeom>
        </p:spPr>
      </p:pic>
      <p:sp>
        <p:nvSpPr>
          <p:cNvPr id="9" name="Text 4"/>
          <p:cNvSpPr/>
          <p:nvPr/>
        </p:nvSpPr>
        <p:spPr>
          <a:xfrm>
            <a:off x="1214438" y="1846659"/>
            <a:ext cx="2928938"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F0FF"/>
                </a:solidFill>
              </a:rPr>
              <a:t>Task Decomposition</a:t>
            </a:r>
            <a:endParaRPr lang="en-US" sz="987" dirty="0"/>
          </a:p>
        </p:txBody>
      </p:sp>
      <p:sp>
        <p:nvSpPr>
          <p:cNvPr id="10" name="Text 5"/>
          <p:cNvSpPr/>
          <p:nvPr/>
        </p:nvSpPr>
        <p:spPr>
          <a:xfrm>
            <a:off x="1214438" y="2098477"/>
            <a:ext cx="2928938" cy="51435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A0AEC0"/>
                </a:solidFill>
              </a:rPr>
              <a:t>Разбиение сложной цели на последовательность простых и понятных подзадач, которые агент может выполнить по отдельности.</a:t>
            </a:r>
            <a:endParaRPr lang="en-US" sz="834" dirty="0"/>
          </a:p>
        </p:txBody>
      </p:sp>
      <p:pic>
        <p:nvPicPr>
          <p:cNvPr id="11" name="Image 2" descr="preencoded.png"/>
          <p:cNvPicPr>
            <a:picLocks noChangeAspect="1"/>
          </p:cNvPicPr>
          <p:nvPr/>
        </p:nvPicPr>
        <p:blipFill>
          <a:blip r:embed="rId5"/>
          <a:stretch>
            <a:fillRect/>
          </a:stretch>
        </p:blipFill>
        <p:spPr>
          <a:xfrm>
            <a:off x="785813" y="2895005"/>
            <a:ext cx="214313" cy="171450"/>
          </a:xfrm>
          <a:prstGeom prst="rect">
            <a:avLst/>
          </a:prstGeom>
        </p:spPr>
      </p:pic>
      <p:sp>
        <p:nvSpPr>
          <p:cNvPr id="12" name="Text 6"/>
          <p:cNvSpPr/>
          <p:nvPr/>
        </p:nvSpPr>
        <p:spPr>
          <a:xfrm>
            <a:off x="1214438" y="2827139"/>
            <a:ext cx="2928938"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F0FF"/>
                </a:solidFill>
              </a:rPr>
              <a:t>Chain of Thought (CoT)</a:t>
            </a:r>
            <a:endParaRPr lang="en-US" sz="987" dirty="0"/>
          </a:p>
        </p:txBody>
      </p:sp>
      <p:sp>
        <p:nvSpPr>
          <p:cNvPr id="13" name="Text 7"/>
          <p:cNvSpPr/>
          <p:nvPr/>
        </p:nvSpPr>
        <p:spPr>
          <a:xfrm>
            <a:off x="1214438" y="3078956"/>
            <a:ext cx="2928938" cy="51435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A0AEC0"/>
                </a:solidFill>
              </a:rPr>
              <a:t>Побуждение модели "думать вслух", прописывая промежуточные шаги рассуждения перед выдачей финального ответа.</a:t>
            </a:r>
            <a:endParaRPr lang="en-US" sz="834" dirty="0"/>
          </a:p>
        </p:txBody>
      </p:sp>
      <p:pic>
        <p:nvPicPr>
          <p:cNvPr id="14" name="Image 3" descr="preencoded.png"/>
          <p:cNvPicPr>
            <a:picLocks noChangeAspect="1"/>
          </p:cNvPicPr>
          <p:nvPr/>
        </p:nvPicPr>
        <p:blipFill>
          <a:blip r:embed="rId6"/>
          <a:stretch>
            <a:fillRect/>
          </a:stretch>
        </p:blipFill>
        <p:spPr>
          <a:xfrm>
            <a:off x="785813" y="3875484"/>
            <a:ext cx="171450" cy="171450"/>
          </a:xfrm>
          <a:prstGeom prst="rect">
            <a:avLst/>
          </a:prstGeom>
        </p:spPr>
      </p:pic>
      <p:sp>
        <p:nvSpPr>
          <p:cNvPr id="15" name="Text 8"/>
          <p:cNvSpPr/>
          <p:nvPr/>
        </p:nvSpPr>
        <p:spPr>
          <a:xfrm>
            <a:off x="1214438" y="3807619"/>
            <a:ext cx="2928938"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F0FF"/>
                </a:solidFill>
              </a:rPr>
              <a:t>Plan-and-Execute</a:t>
            </a:r>
            <a:endParaRPr lang="en-US" sz="987" dirty="0"/>
          </a:p>
        </p:txBody>
      </p:sp>
      <p:sp>
        <p:nvSpPr>
          <p:cNvPr id="16" name="Text 9"/>
          <p:cNvSpPr/>
          <p:nvPr/>
        </p:nvSpPr>
        <p:spPr>
          <a:xfrm>
            <a:off x="1214438" y="4059436"/>
            <a:ext cx="2928938" cy="51435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A0AEC0"/>
                </a:solidFill>
              </a:rPr>
              <a:t>Сначала агент формирует полный план действий, а затем последовательно выполняет его, используя инструменты.</a:t>
            </a:r>
            <a:endParaRPr lang="en-US" sz="834" dirty="0"/>
          </a:p>
        </p:txBody>
      </p:sp>
      <p:sp>
        <p:nvSpPr>
          <p:cNvPr id="17" name="Shape 10"/>
          <p:cNvSpPr/>
          <p:nvPr/>
        </p:nvSpPr>
        <p:spPr>
          <a:xfrm>
            <a:off x="4786313" y="1180505"/>
            <a:ext cx="3786188" cy="3962995"/>
          </a:xfrm>
          <a:prstGeom prst="rect">
            <a:avLst/>
          </a:prstGeom>
          <a:solidFill>
            <a:srgbClr val="161B22"/>
          </a:solidFill>
          <a:ln/>
        </p:spPr>
        <p:txBody>
          <a:bodyPr/>
          <a:lstStyle/>
          <a:p>
            <a:endParaRPr lang="ru-KZ"/>
          </a:p>
        </p:txBody>
      </p:sp>
      <p:sp>
        <p:nvSpPr>
          <p:cNvPr id="18" name="Shape 11"/>
          <p:cNvSpPr/>
          <p:nvPr/>
        </p:nvSpPr>
        <p:spPr>
          <a:xfrm>
            <a:off x="4786313" y="1180505"/>
            <a:ext cx="3786188" cy="28575"/>
          </a:xfrm>
          <a:prstGeom prst="rect">
            <a:avLst/>
          </a:prstGeom>
          <a:solidFill>
            <a:srgbClr val="00F0FF"/>
          </a:solidFill>
          <a:ln/>
        </p:spPr>
        <p:txBody>
          <a:bodyPr/>
          <a:lstStyle/>
          <a:p>
            <a:endParaRPr lang="ru-KZ"/>
          </a:p>
        </p:txBody>
      </p:sp>
      <p:sp>
        <p:nvSpPr>
          <p:cNvPr id="19" name="Text 12"/>
          <p:cNvSpPr/>
          <p:nvPr/>
        </p:nvSpPr>
        <p:spPr>
          <a:xfrm>
            <a:off x="5000625" y="1394817"/>
            <a:ext cx="3357563" cy="273248"/>
          </a:xfrm>
          <a:prstGeom prst="rect">
            <a:avLst/>
          </a:prstGeom>
          <a:noFill/>
          <a:ln/>
        </p:spPr>
        <p:txBody>
          <a:bodyPr wrap="none" lIns="0" tIns="0" rIns="0" bIns="0" rtlCol="0" anchor="t">
            <a:spAutoFit/>
          </a:bodyPr>
          <a:lstStyle/>
          <a:p>
            <a:pPr marL="0" indent="0" algn="l">
              <a:lnSpc>
                <a:spcPts val="1900"/>
              </a:lnSpc>
              <a:buNone/>
            </a:pPr>
            <a:r>
              <a:rPr lang="en-US" sz="1397" b="1" kern="0" spc="1" dirty="0">
                <a:solidFill>
                  <a:srgbClr val="FFFFFF"/>
                </a:solidFill>
              </a:rPr>
              <a:t>Цикл ReAct и Рефлексия</a:t>
            </a:r>
            <a:endParaRPr lang="en-US" sz="1397" dirty="0"/>
          </a:p>
        </p:txBody>
      </p:sp>
      <p:pic>
        <p:nvPicPr>
          <p:cNvPr id="20" name="Image 4" descr="preencoded.png"/>
          <p:cNvPicPr>
            <a:picLocks noChangeAspect="1"/>
          </p:cNvPicPr>
          <p:nvPr/>
        </p:nvPicPr>
        <p:blipFill>
          <a:blip r:embed="rId7"/>
          <a:stretch>
            <a:fillRect/>
          </a:stretch>
        </p:blipFill>
        <p:spPr>
          <a:xfrm>
            <a:off x="5000625" y="1914525"/>
            <a:ext cx="171450" cy="171450"/>
          </a:xfrm>
          <a:prstGeom prst="rect">
            <a:avLst/>
          </a:prstGeom>
        </p:spPr>
      </p:pic>
      <p:sp>
        <p:nvSpPr>
          <p:cNvPr id="21" name="Text 13"/>
          <p:cNvSpPr/>
          <p:nvPr/>
        </p:nvSpPr>
        <p:spPr>
          <a:xfrm>
            <a:off x="5429250" y="1846659"/>
            <a:ext cx="2928938"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F0FF"/>
                </a:solidFill>
              </a:rPr>
              <a:t>Self-Reflection</a:t>
            </a:r>
            <a:endParaRPr lang="en-US" sz="987" dirty="0"/>
          </a:p>
        </p:txBody>
      </p:sp>
      <p:sp>
        <p:nvSpPr>
          <p:cNvPr id="22" name="Text 14"/>
          <p:cNvSpPr/>
          <p:nvPr/>
        </p:nvSpPr>
        <p:spPr>
          <a:xfrm>
            <a:off x="5429250" y="2098477"/>
            <a:ext cx="2928938" cy="51435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A0AEC0"/>
                </a:solidFill>
              </a:rPr>
              <a:t>Способность агента критиковать свои прошлые действия, находить ошибки и корректировать план на лету.</a:t>
            </a:r>
            <a:endParaRPr lang="en-US" sz="834" dirty="0"/>
          </a:p>
        </p:txBody>
      </p:sp>
      <p:sp>
        <p:nvSpPr>
          <p:cNvPr id="23" name="Shape 15"/>
          <p:cNvSpPr/>
          <p:nvPr/>
        </p:nvSpPr>
        <p:spPr>
          <a:xfrm>
            <a:off x="5000625" y="2827139"/>
            <a:ext cx="3357563" cy="1278731"/>
          </a:xfrm>
          <a:prstGeom prst="rect">
            <a:avLst/>
          </a:prstGeom>
          <a:solidFill>
            <a:srgbClr val="0A0E14"/>
          </a:solidFill>
          <a:ln w="9144">
            <a:solidFill>
              <a:srgbClr val="7000FF"/>
            </a:solidFill>
            <a:prstDash val="dash"/>
          </a:ln>
        </p:spPr>
        <p:txBody>
          <a:bodyPr/>
          <a:lstStyle/>
          <a:p>
            <a:endParaRPr lang="ru-KZ"/>
          </a:p>
        </p:txBody>
      </p:sp>
      <p:sp>
        <p:nvSpPr>
          <p:cNvPr id="24" name="Shape 16"/>
          <p:cNvSpPr/>
          <p:nvPr/>
        </p:nvSpPr>
        <p:spPr>
          <a:xfrm>
            <a:off x="5143500" y="2970014"/>
            <a:ext cx="714375" cy="173236"/>
          </a:xfrm>
          <a:prstGeom prst="rect">
            <a:avLst/>
          </a:prstGeom>
          <a:solidFill>
            <a:srgbClr val="7000FF"/>
          </a:solidFill>
          <a:ln/>
        </p:spPr>
        <p:txBody>
          <a:bodyPr/>
          <a:lstStyle/>
          <a:p>
            <a:endParaRPr lang="ru-KZ"/>
          </a:p>
        </p:txBody>
      </p:sp>
      <p:sp>
        <p:nvSpPr>
          <p:cNvPr id="25" name="Text 17"/>
          <p:cNvSpPr/>
          <p:nvPr/>
        </p:nvSpPr>
        <p:spPr>
          <a:xfrm>
            <a:off x="5143500" y="2970014"/>
            <a:ext cx="714375" cy="173236"/>
          </a:xfrm>
          <a:prstGeom prst="rect">
            <a:avLst/>
          </a:prstGeom>
          <a:noFill/>
          <a:ln/>
        </p:spPr>
        <p:txBody>
          <a:bodyPr wrap="square" lIns="68072" tIns="34036" rIns="68072" bIns="34036" rtlCol="0" anchor="t">
            <a:spAutoFit/>
          </a:bodyPr>
          <a:lstStyle/>
          <a:p>
            <a:pPr marL="0" indent="0" algn="ctr">
              <a:lnSpc>
                <a:spcPts val="800"/>
              </a:lnSpc>
              <a:buNone/>
            </a:pPr>
            <a:r>
              <a:rPr lang="en-US" sz="584" b="1" dirty="0">
                <a:solidFill>
                  <a:srgbClr val="FFFFFF"/>
                </a:solidFill>
              </a:rPr>
              <a:t>Thought</a:t>
            </a:r>
            <a:endParaRPr lang="en-US" sz="584" dirty="0"/>
          </a:p>
        </p:txBody>
      </p:sp>
      <p:sp>
        <p:nvSpPr>
          <p:cNvPr id="26" name="Text 18"/>
          <p:cNvSpPr/>
          <p:nvPr/>
        </p:nvSpPr>
        <p:spPr>
          <a:xfrm>
            <a:off x="5965031" y="2988766"/>
            <a:ext cx="1917148" cy="135731"/>
          </a:xfrm>
          <a:prstGeom prst="rect">
            <a:avLst/>
          </a:prstGeom>
          <a:noFill/>
          <a:ln/>
        </p:spPr>
        <p:txBody>
          <a:bodyPr wrap="none" lIns="0" tIns="0" rIns="0" bIns="0" rtlCol="0" anchor="t">
            <a:spAutoFit/>
          </a:bodyPr>
          <a:lstStyle/>
          <a:p>
            <a:pPr marL="0" indent="0" algn="l">
              <a:lnSpc>
                <a:spcPts val="900"/>
              </a:lnSpc>
              <a:buNone/>
            </a:pPr>
            <a:r>
              <a:rPr lang="en-US" sz="727" dirty="0">
                <a:solidFill>
                  <a:srgbClr val="E0E6ED"/>
                </a:solidFill>
              </a:rPr>
              <a:t>"Мне нужно найти цену акций Apple..."</a:t>
            </a:r>
            <a:endParaRPr lang="en-US" sz="727" dirty="0"/>
          </a:p>
        </p:txBody>
      </p:sp>
      <p:sp>
        <p:nvSpPr>
          <p:cNvPr id="27" name="Shape 19"/>
          <p:cNvSpPr/>
          <p:nvPr/>
        </p:nvSpPr>
        <p:spPr>
          <a:xfrm>
            <a:off x="5143500" y="3250406"/>
            <a:ext cx="714375" cy="173236"/>
          </a:xfrm>
          <a:prstGeom prst="rect">
            <a:avLst/>
          </a:prstGeom>
          <a:solidFill>
            <a:srgbClr val="00F0FF"/>
          </a:solidFill>
          <a:ln/>
        </p:spPr>
        <p:txBody>
          <a:bodyPr/>
          <a:lstStyle/>
          <a:p>
            <a:endParaRPr lang="ru-KZ"/>
          </a:p>
        </p:txBody>
      </p:sp>
      <p:sp>
        <p:nvSpPr>
          <p:cNvPr id="28" name="Text 20"/>
          <p:cNvSpPr/>
          <p:nvPr/>
        </p:nvSpPr>
        <p:spPr>
          <a:xfrm>
            <a:off x="5143500" y="3250406"/>
            <a:ext cx="714375" cy="173236"/>
          </a:xfrm>
          <a:prstGeom prst="rect">
            <a:avLst/>
          </a:prstGeom>
          <a:noFill/>
          <a:ln/>
        </p:spPr>
        <p:txBody>
          <a:bodyPr wrap="square" lIns="68072" tIns="34036" rIns="68072" bIns="34036" rtlCol="0" anchor="t">
            <a:spAutoFit/>
          </a:bodyPr>
          <a:lstStyle/>
          <a:p>
            <a:pPr marL="0" indent="0" algn="ctr">
              <a:lnSpc>
                <a:spcPts val="800"/>
              </a:lnSpc>
              <a:buNone/>
            </a:pPr>
            <a:r>
              <a:rPr lang="en-US" sz="584" b="1" dirty="0">
                <a:solidFill>
                  <a:srgbClr val="0A0E14"/>
                </a:solidFill>
              </a:rPr>
              <a:t>Action</a:t>
            </a:r>
            <a:endParaRPr lang="en-US" sz="584" dirty="0"/>
          </a:p>
        </p:txBody>
      </p:sp>
      <p:sp>
        <p:nvSpPr>
          <p:cNvPr id="29" name="Text 21"/>
          <p:cNvSpPr/>
          <p:nvPr/>
        </p:nvSpPr>
        <p:spPr>
          <a:xfrm>
            <a:off x="5965031" y="3269159"/>
            <a:ext cx="1585522" cy="135731"/>
          </a:xfrm>
          <a:prstGeom prst="rect">
            <a:avLst/>
          </a:prstGeom>
          <a:noFill/>
          <a:ln/>
        </p:spPr>
        <p:txBody>
          <a:bodyPr wrap="none" lIns="0" tIns="0" rIns="0" bIns="0" rtlCol="0" anchor="t">
            <a:spAutoFit/>
          </a:bodyPr>
          <a:lstStyle/>
          <a:p>
            <a:pPr marL="0" indent="0" algn="l">
              <a:lnSpc>
                <a:spcPts val="900"/>
              </a:lnSpc>
              <a:buNone/>
            </a:pPr>
            <a:r>
              <a:rPr lang="en-US" sz="727" dirty="0">
                <a:solidFill>
                  <a:srgbClr val="E0E6ED"/>
                </a:solidFill>
              </a:rPr>
              <a:t>google_search("AAPL stock price")</a:t>
            </a:r>
            <a:endParaRPr lang="en-US" sz="727" dirty="0"/>
          </a:p>
        </p:txBody>
      </p:sp>
      <p:sp>
        <p:nvSpPr>
          <p:cNvPr id="30" name="Shape 22"/>
          <p:cNvSpPr/>
          <p:nvPr/>
        </p:nvSpPr>
        <p:spPr>
          <a:xfrm>
            <a:off x="5143500" y="3530798"/>
            <a:ext cx="714375" cy="173236"/>
          </a:xfrm>
          <a:prstGeom prst="rect">
            <a:avLst/>
          </a:prstGeom>
          <a:solidFill>
            <a:srgbClr val="E0E6ED"/>
          </a:solidFill>
          <a:ln/>
        </p:spPr>
        <p:txBody>
          <a:bodyPr/>
          <a:lstStyle/>
          <a:p>
            <a:endParaRPr lang="ru-KZ"/>
          </a:p>
        </p:txBody>
      </p:sp>
      <p:sp>
        <p:nvSpPr>
          <p:cNvPr id="31" name="Text 23"/>
          <p:cNvSpPr/>
          <p:nvPr/>
        </p:nvSpPr>
        <p:spPr>
          <a:xfrm>
            <a:off x="5143500" y="3530798"/>
            <a:ext cx="714375" cy="173236"/>
          </a:xfrm>
          <a:prstGeom prst="rect">
            <a:avLst/>
          </a:prstGeom>
          <a:noFill/>
          <a:ln/>
        </p:spPr>
        <p:txBody>
          <a:bodyPr wrap="square" lIns="68072" tIns="34036" rIns="68072" bIns="34036" rtlCol="0" anchor="t">
            <a:spAutoFit/>
          </a:bodyPr>
          <a:lstStyle/>
          <a:p>
            <a:pPr marL="0" indent="0" algn="ctr">
              <a:lnSpc>
                <a:spcPts val="800"/>
              </a:lnSpc>
              <a:buNone/>
            </a:pPr>
            <a:r>
              <a:rPr lang="en-US" sz="584" b="1" dirty="0">
                <a:solidFill>
                  <a:srgbClr val="0A0E14"/>
                </a:solidFill>
              </a:rPr>
              <a:t>Observation</a:t>
            </a:r>
            <a:endParaRPr lang="en-US" sz="584" dirty="0"/>
          </a:p>
        </p:txBody>
      </p:sp>
      <p:sp>
        <p:nvSpPr>
          <p:cNvPr id="32" name="Text 24"/>
          <p:cNvSpPr/>
          <p:nvPr/>
        </p:nvSpPr>
        <p:spPr>
          <a:xfrm>
            <a:off x="5965031" y="3549551"/>
            <a:ext cx="1745028" cy="135731"/>
          </a:xfrm>
          <a:prstGeom prst="rect">
            <a:avLst/>
          </a:prstGeom>
          <a:noFill/>
          <a:ln/>
        </p:spPr>
        <p:txBody>
          <a:bodyPr wrap="none" lIns="0" tIns="0" rIns="0" bIns="0" rtlCol="0" anchor="t">
            <a:spAutoFit/>
          </a:bodyPr>
          <a:lstStyle/>
          <a:p>
            <a:pPr marL="0" indent="0" algn="l">
              <a:lnSpc>
                <a:spcPts val="900"/>
              </a:lnSpc>
              <a:buNone/>
            </a:pPr>
            <a:r>
              <a:rPr lang="en-US" sz="727" dirty="0">
                <a:solidFill>
                  <a:srgbClr val="E0E6ED"/>
                </a:solidFill>
              </a:rPr>
              <a:t>"AAPL is currently trading at $190.50"</a:t>
            </a:r>
            <a:endParaRPr lang="en-US" sz="727" dirty="0"/>
          </a:p>
        </p:txBody>
      </p:sp>
      <p:sp>
        <p:nvSpPr>
          <p:cNvPr id="33" name="Shape 25"/>
          <p:cNvSpPr/>
          <p:nvPr/>
        </p:nvSpPr>
        <p:spPr>
          <a:xfrm>
            <a:off x="5143500" y="3811191"/>
            <a:ext cx="714375" cy="173236"/>
          </a:xfrm>
          <a:prstGeom prst="rect">
            <a:avLst/>
          </a:prstGeom>
          <a:solidFill>
            <a:srgbClr val="7000FF"/>
          </a:solidFill>
          <a:ln/>
        </p:spPr>
        <p:txBody>
          <a:bodyPr/>
          <a:lstStyle/>
          <a:p>
            <a:endParaRPr lang="ru-KZ"/>
          </a:p>
        </p:txBody>
      </p:sp>
      <p:sp>
        <p:nvSpPr>
          <p:cNvPr id="34" name="Text 26"/>
          <p:cNvSpPr/>
          <p:nvPr/>
        </p:nvSpPr>
        <p:spPr>
          <a:xfrm>
            <a:off x="5143500" y="3811191"/>
            <a:ext cx="714375" cy="173236"/>
          </a:xfrm>
          <a:prstGeom prst="rect">
            <a:avLst/>
          </a:prstGeom>
          <a:noFill/>
          <a:ln/>
        </p:spPr>
        <p:txBody>
          <a:bodyPr wrap="square" lIns="68072" tIns="34036" rIns="68072" bIns="34036" rtlCol="0" anchor="t">
            <a:spAutoFit/>
          </a:bodyPr>
          <a:lstStyle/>
          <a:p>
            <a:pPr marL="0" indent="0" algn="ctr">
              <a:lnSpc>
                <a:spcPts val="800"/>
              </a:lnSpc>
              <a:buNone/>
            </a:pPr>
            <a:r>
              <a:rPr lang="en-US" sz="584" b="1" dirty="0">
                <a:solidFill>
                  <a:srgbClr val="FFFFFF"/>
                </a:solidFill>
              </a:rPr>
              <a:t>Thought</a:t>
            </a:r>
            <a:endParaRPr lang="en-US" sz="584" dirty="0"/>
          </a:p>
        </p:txBody>
      </p:sp>
      <p:sp>
        <p:nvSpPr>
          <p:cNvPr id="35" name="Text 27"/>
          <p:cNvSpPr/>
          <p:nvPr/>
        </p:nvSpPr>
        <p:spPr>
          <a:xfrm>
            <a:off x="5965031" y="3829943"/>
            <a:ext cx="2043978" cy="135731"/>
          </a:xfrm>
          <a:prstGeom prst="rect">
            <a:avLst/>
          </a:prstGeom>
          <a:noFill/>
          <a:ln/>
        </p:spPr>
        <p:txBody>
          <a:bodyPr wrap="none" lIns="0" tIns="0" rIns="0" bIns="0" rtlCol="0" anchor="t">
            <a:spAutoFit/>
          </a:bodyPr>
          <a:lstStyle/>
          <a:p>
            <a:pPr marL="0" indent="0" algn="l">
              <a:lnSpc>
                <a:spcPts val="900"/>
              </a:lnSpc>
              <a:buNone/>
            </a:pPr>
            <a:r>
              <a:rPr lang="en-US" sz="727" dirty="0">
                <a:solidFill>
                  <a:srgbClr val="E0E6ED"/>
                </a:solidFill>
              </a:rPr>
              <a:t>"Теперь я могу ответить пользователю..."</a:t>
            </a:r>
            <a:endParaRPr lang="en-US" sz="727"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4BF21-4736-CCB2-66BC-675C9CEAA243}"/>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46C52692-E182-E3DD-1627-6BABB2F85533}"/>
              </a:ext>
            </a:extLst>
          </p:cNvPr>
          <p:cNvPicPr>
            <a:picLocks noChangeAspect="1"/>
          </p:cNvPicPr>
          <p:nvPr/>
        </p:nvPicPr>
        <p:blipFill>
          <a:blip r:embed="rId2"/>
          <a:stretch>
            <a:fillRect/>
          </a:stretch>
        </p:blipFill>
        <p:spPr>
          <a:xfrm>
            <a:off x="0" y="0"/>
            <a:ext cx="9144000" cy="5143500"/>
          </a:xfrm>
          <a:prstGeom prst="rect">
            <a:avLst/>
          </a:prstGeom>
        </p:spPr>
      </p:pic>
      <p:pic>
        <p:nvPicPr>
          <p:cNvPr id="3" name="Рисунок 2">
            <a:extLst>
              <a:ext uri="{FF2B5EF4-FFF2-40B4-BE49-F238E27FC236}">
                <a16:creationId xmlns:a16="http://schemas.microsoft.com/office/drawing/2014/main" id="{7A2C9FF1-1775-B70F-C829-22D89256B767}"/>
              </a:ext>
            </a:extLst>
          </p:cNvPr>
          <p:cNvPicPr>
            <a:picLocks noChangeAspect="1"/>
          </p:cNvPicPr>
          <p:nvPr/>
        </p:nvPicPr>
        <p:blipFill>
          <a:blip r:embed="rId3"/>
          <a:stretch>
            <a:fillRect/>
          </a:stretch>
        </p:blipFill>
        <p:spPr>
          <a:xfrm>
            <a:off x="685800" y="211015"/>
            <a:ext cx="7772400" cy="4721469"/>
          </a:xfrm>
          <a:prstGeom prst="rect">
            <a:avLst/>
          </a:prstGeom>
        </p:spPr>
      </p:pic>
    </p:spTree>
    <p:extLst>
      <p:ext uri="{BB962C8B-B14F-4D97-AF65-F5344CB8AC3E}">
        <p14:creationId xmlns:p14="http://schemas.microsoft.com/office/powerpoint/2010/main" val="35229273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428625"/>
            <a:ext cx="8572500" cy="932259"/>
          </a:xfrm>
          <a:prstGeom prst="rect">
            <a:avLst/>
          </a:prstGeom>
          <a:noFill/>
          <a:ln/>
        </p:spPr>
        <p:txBody>
          <a:bodyPr wrap="square" lIns="0" tIns="0" rIns="0" bIns="0" rtlCol="0" anchor="t">
            <a:spAutoFit/>
          </a:bodyPr>
          <a:lstStyle/>
          <a:p>
            <a:pPr marL="0" indent="0" algn="l">
              <a:lnSpc>
                <a:spcPts val="3200"/>
              </a:lnSpc>
              <a:buNone/>
            </a:pPr>
            <a:r>
              <a:rPr lang="en-US" sz="2436" b="1" kern="0" spc="-1" dirty="0">
                <a:solidFill>
                  <a:srgbClr val="00F0FF"/>
                </a:solidFill>
              </a:rPr>
              <a:t>Память агента: Краткосрочная и Долгосрочная</a:t>
            </a:r>
            <a:endParaRPr lang="en-US" sz="2436" dirty="0"/>
          </a:p>
        </p:txBody>
      </p:sp>
      <p:sp>
        <p:nvSpPr>
          <p:cNvPr id="5" name="Shape 1"/>
          <p:cNvSpPr/>
          <p:nvPr/>
        </p:nvSpPr>
        <p:spPr>
          <a:xfrm>
            <a:off x="571500" y="1646634"/>
            <a:ext cx="2571750" cy="2857500"/>
          </a:xfrm>
          <a:prstGeom prst="rect">
            <a:avLst/>
          </a:prstGeom>
          <a:solidFill>
            <a:srgbClr val="161B22"/>
          </a:solidFill>
          <a:ln/>
        </p:spPr>
        <p:txBody>
          <a:bodyPr/>
          <a:lstStyle/>
          <a:p>
            <a:endParaRPr lang="ru-KZ"/>
          </a:p>
        </p:txBody>
      </p:sp>
      <p:sp>
        <p:nvSpPr>
          <p:cNvPr id="6" name="Shape 2"/>
          <p:cNvSpPr/>
          <p:nvPr/>
        </p:nvSpPr>
        <p:spPr>
          <a:xfrm>
            <a:off x="571500" y="1646634"/>
            <a:ext cx="2571750" cy="14288"/>
          </a:xfrm>
          <a:prstGeom prst="rect">
            <a:avLst/>
          </a:prstGeom>
          <a:solidFill>
            <a:srgbClr val="00F0FF"/>
          </a:solidFill>
          <a:ln/>
        </p:spPr>
        <p:txBody>
          <a:bodyPr/>
          <a:lstStyle/>
          <a:p>
            <a:endParaRPr lang="ru-KZ"/>
          </a:p>
        </p:txBody>
      </p:sp>
      <p:pic>
        <p:nvPicPr>
          <p:cNvPr id="7" name="Image 1" descr="preencoded.png"/>
          <p:cNvPicPr>
            <a:picLocks noChangeAspect="1"/>
          </p:cNvPicPr>
          <p:nvPr/>
        </p:nvPicPr>
        <p:blipFill>
          <a:blip r:embed="rId4"/>
          <a:stretch>
            <a:fillRect/>
          </a:stretch>
        </p:blipFill>
        <p:spPr>
          <a:xfrm>
            <a:off x="785813" y="1792188"/>
            <a:ext cx="228600" cy="228600"/>
          </a:xfrm>
          <a:prstGeom prst="rect">
            <a:avLst/>
          </a:prstGeom>
        </p:spPr>
      </p:pic>
      <p:sp>
        <p:nvSpPr>
          <p:cNvPr id="8" name="Text 3"/>
          <p:cNvSpPr/>
          <p:nvPr/>
        </p:nvSpPr>
        <p:spPr>
          <a:xfrm>
            <a:off x="1100138" y="1789509"/>
            <a:ext cx="1633882" cy="233958"/>
          </a:xfrm>
          <a:prstGeom prst="rect">
            <a:avLst/>
          </a:prstGeom>
          <a:noFill/>
          <a:ln/>
        </p:spPr>
        <p:txBody>
          <a:bodyPr wrap="none" lIns="0" tIns="0" rIns="0" bIns="0" rtlCol="0" anchor="t">
            <a:spAutoFit/>
          </a:bodyPr>
          <a:lstStyle/>
          <a:p>
            <a:pPr marL="0" indent="0" algn="l">
              <a:lnSpc>
                <a:spcPts val="1600"/>
              </a:lnSpc>
              <a:buNone/>
            </a:pPr>
            <a:r>
              <a:rPr lang="en-US" sz="1193" b="1" kern="0" spc="1" dirty="0">
                <a:solidFill>
                  <a:srgbClr val="E0E6ED"/>
                </a:solidFill>
              </a:rPr>
              <a:t>Краткосрочная</a:t>
            </a:r>
            <a:endParaRPr lang="en-US" sz="1193" dirty="0"/>
          </a:p>
        </p:txBody>
      </p:sp>
      <p:sp>
        <p:nvSpPr>
          <p:cNvPr id="9" name="Text 4"/>
          <p:cNvSpPr/>
          <p:nvPr/>
        </p:nvSpPr>
        <p:spPr>
          <a:xfrm>
            <a:off x="905610" y="2130623"/>
            <a:ext cx="851920" cy="385763"/>
          </a:xfrm>
          <a:prstGeom prst="rect">
            <a:avLst/>
          </a:prstGeom>
          <a:noFill/>
          <a:ln/>
        </p:spPr>
        <p:txBody>
          <a:bodyPr wrap="square" lIns="0" tIns="0" rIns="0" bIns="0" rtlCol="0" anchor="t">
            <a:spAutoFit/>
          </a:bodyPr>
          <a:lstStyle/>
          <a:p>
            <a:pPr marL="0" indent="0" algn="l">
              <a:lnSpc>
                <a:spcPts val="1500"/>
              </a:lnSpc>
              <a:buNone/>
            </a:pPr>
            <a:r>
              <a:rPr lang="en-US" sz="885" b="1" dirty="0">
                <a:solidFill>
                  <a:srgbClr val="A0AEC0"/>
                </a:solidFill>
              </a:rPr>
              <a:t>Контекстное окно:</a:t>
            </a:r>
            <a:endParaRPr lang="en-US" sz="885" dirty="0"/>
          </a:p>
        </p:txBody>
      </p:sp>
      <p:sp>
        <p:nvSpPr>
          <p:cNvPr id="10" name="Text 5"/>
          <p:cNvSpPr/>
          <p:nvPr/>
        </p:nvSpPr>
        <p:spPr>
          <a:xfrm>
            <a:off x="1828967" y="2130623"/>
            <a:ext cx="1099970" cy="578644"/>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A0AEC0"/>
                </a:solidFill>
              </a:rPr>
              <a:t>текущий диалог и недавние мысли.</a:t>
            </a:r>
            <a:endParaRPr lang="en-US" sz="942" dirty="0"/>
          </a:p>
        </p:txBody>
      </p:sp>
      <p:sp>
        <p:nvSpPr>
          <p:cNvPr id="11" name="Text 6"/>
          <p:cNvSpPr/>
          <p:nvPr/>
        </p:nvSpPr>
        <p:spPr>
          <a:xfrm>
            <a:off x="905610" y="2766417"/>
            <a:ext cx="1163594"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A0AEC0"/>
                </a:solidFill>
              </a:rPr>
              <a:t>Ограниченность:</a:t>
            </a:r>
            <a:endParaRPr lang="en-US" sz="885" dirty="0"/>
          </a:p>
        </p:txBody>
      </p:sp>
      <p:sp>
        <p:nvSpPr>
          <p:cNvPr id="12" name="Text 7"/>
          <p:cNvSpPr/>
          <p:nvPr/>
        </p:nvSpPr>
        <p:spPr>
          <a:xfrm>
            <a:off x="2140641" y="2766417"/>
            <a:ext cx="788296" cy="385763"/>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A0AEC0"/>
                </a:solidFill>
              </a:rPr>
              <a:t>лимит токенов.</a:t>
            </a:r>
            <a:endParaRPr lang="en-US" sz="942" dirty="0"/>
          </a:p>
        </p:txBody>
      </p:sp>
      <p:sp>
        <p:nvSpPr>
          <p:cNvPr id="13" name="Text 8"/>
          <p:cNvSpPr/>
          <p:nvPr/>
        </p:nvSpPr>
        <p:spPr>
          <a:xfrm>
            <a:off x="905610" y="3209330"/>
            <a:ext cx="652342"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A0AEC0"/>
                </a:solidFill>
              </a:rPr>
              <a:t>Скорость:</a:t>
            </a:r>
            <a:endParaRPr lang="en-US" sz="885" dirty="0"/>
          </a:p>
        </p:txBody>
      </p:sp>
      <p:sp>
        <p:nvSpPr>
          <p:cNvPr id="14" name="Text 9"/>
          <p:cNvSpPr/>
          <p:nvPr/>
        </p:nvSpPr>
        <p:spPr>
          <a:xfrm>
            <a:off x="1629389" y="3209330"/>
            <a:ext cx="1293605" cy="192881"/>
          </a:xfrm>
          <a:prstGeom prst="rect">
            <a:avLst/>
          </a:prstGeom>
          <a:noFill/>
          <a:ln/>
        </p:spPr>
        <p:txBody>
          <a:bodyPr wrap="none" lIns="0" tIns="0" rIns="0" bIns="0" rtlCol="0" anchor="t">
            <a:spAutoFit/>
          </a:bodyPr>
          <a:lstStyle/>
          <a:p>
            <a:pPr marL="0" indent="0" algn="l">
              <a:lnSpc>
                <a:spcPts val="1500"/>
              </a:lnSpc>
              <a:buNone/>
            </a:pPr>
            <a:r>
              <a:rPr lang="en-US" sz="942" dirty="0">
                <a:solidFill>
                  <a:srgbClr val="A0AEC0"/>
                </a:solidFill>
              </a:rPr>
              <a:t>мгновенный доступ.</a:t>
            </a:r>
            <a:endParaRPr lang="en-US" sz="942" dirty="0"/>
          </a:p>
        </p:txBody>
      </p:sp>
      <p:sp>
        <p:nvSpPr>
          <p:cNvPr id="15" name="Text 10"/>
          <p:cNvSpPr/>
          <p:nvPr/>
        </p:nvSpPr>
        <p:spPr>
          <a:xfrm>
            <a:off x="905610" y="3459361"/>
            <a:ext cx="930976"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A0AEC0"/>
                </a:solidFill>
              </a:rPr>
              <a:t>Временность:</a:t>
            </a:r>
            <a:endParaRPr lang="en-US" sz="885" dirty="0"/>
          </a:p>
        </p:txBody>
      </p:sp>
      <p:sp>
        <p:nvSpPr>
          <p:cNvPr id="16" name="Text 11"/>
          <p:cNvSpPr/>
          <p:nvPr/>
        </p:nvSpPr>
        <p:spPr>
          <a:xfrm>
            <a:off x="1908023" y="3459361"/>
            <a:ext cx="1020914" cy="385763"/>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A0AEC0"/>
                </a:solidFill>
              </a:rPr>
              <a:t>очищается после сессии.</a:t>
            </a:r>
            <a:endParaRPr lang="en-US" sz="942" dirty="0"/>
          </a:p>
        </p:txBody>
      </p:sp>
      <p:pic>
        <p:nvPicPr>
          <p:cNvPr id="17" name="Image 2" descr="preencoded.png"/>
          <p:cNvPicPr>
            <a:picLocks noChangeAspect="1"/>
          </p:cNvPicPr>
          <p:nvPr/>
        </p:nvPicPr>
        <p:blipFill>
          <a:blip r:embed="rId5"/>
          <a:stretch>
            <a:fillRect/>
          </a:stretch>
        </p:blipFill>
        <p:spPr>
          <a:xfrm>
            <a:off x="3500438" y="1646634"/>
            <a:ext cx="2143125" cy="2571750"/>
          </a:xfrm>
          <a:prstGeom prst="rect">
            <a:avLst/>
          </a:prstGeom>
        </p:spPr>
      </p:pic>
      <p:sp>
        <p:nvSpPr>
          <p:cNvPr id="18" name="Text 12"/>
          <p:cNvSpPr/>
          <p:nvPr/>
        </p:nvSpPr>
        <p:spPr>
          <a:xfrm>
            <a:off x="3429000" y="4304109"/>
            <a:ext cx="2286000" cy="271463"/>
          </a:xfrm>
          <a:prstGeom prst="rect">
            <a:avLst/>
          </a:prstGeom>
          <a:noFill/>
          <a:ln/>
        </p:spPr>
        <p:txBody>
          <a:bodyPr wrap="square" lIns="0" tIns="0" rIns="0" bIns="0" rtlCol="0" anchor="t">
            <a:spAutoFit/>
          </a:bodyPr>
          <a:lstStyle/>
          <a:p>
            <a:pPr marL="0" indent="0" algn="ctr">
              <a:lnSpc>
                <a:spcPts val="900"/>
              </a:lnSpc>
              <a:buNone/>
            </a:pPr>
            <a:r>
              <a:rPr lang="en-US" sz="727" kern="0" spc="1" dirty="0">
                <a:solidFill>
                  <a:srgbClr val="666666"/>
                </a:solidFill>
              </a:rPr>
              <a:t>Структурирование опыта для хранения</a:t>
            </a:r>
            <a:endParaRPr lang="en-US" sz="727" dirty="0"/>
          </a:p>
        </p:txBody>
      </p:sp>
      <p:sp>
        <p:nvSpPr>
          <p:cNvPr id="19" name="Shape 13"/>
          <p:cNvSpPr/>
          <p:nvPr/>
        </p:nvSpPr>
        <p:spPr>
          <a:xfrm>
            <a:off x="6000750" y="1646634"/>
            <a:ext cx="2571750" cy="2857500"/>
          </a:xfrm>
          <a:prstGeom prst="rect">
            <a:avLst/>
          </a:prstGeom>
          <a:solidFill>
            <a:srgbClr val="161B22"/>
          </a:solidFill>
          <a:ln/>
        </p:spPr>
        <p:txBody>
          <a:bodyPr/>
          <a:lstStyle/>
          <a:p>
            <a:endParaRPr lang="ru-KZ"/>
          </a:p>
        </p:txBody>
      </p:sp>
      <p:sp>
        <p:nvSpPr>
          <p:cNvPr id="20" name="Shape 14"/>
          <p:cNvSpPr/>
          <p:nvPr/>
        </p:nvSpPr>
        <p:spPr>
          <a:xfrm>
            <a:off x="6000750" y="1646634"/>
            <a:ext cx="2571750" cy="14288"/>
          </a:xfrm>
          <a:prstGeom prst="rect">
            <a:avLst/>
          </a:prstGeom>
          <a:solidFill>
            <a:srgbClr val="7000FF"/>
          </a:solidFill>
          <a:ln/>
        </p:spPr>
        <p:txBody>
          <a:bodyPr/>
          <a:lstStyle/>
          <a:p>
            <a:endParaRPr lang="ru-KZ"/>
          </a:p>
        </p:txBody>
      </p:sp>
      <p:pic>
        <p:nvPicPr>
          <p:cNvPr id="21" name="Image 3" descr="preencoded.png"/>
          <p:cNvPicPr>
            <a:picLocks noChangeAspect="1"/>
          </p:cNvPicPr>
          <p:nvPr/>
        </p:nvPicPr>
        <p:blipFill>
          <a:blip r:embed="rId6"/>
          <a:stretch>
            <a:fillRect/>
          </a:stretch>
        </p:blipFill>
        <p:spPr>
          <a:xfrm>
            <a:off x="6215063" y="1792188"/>
            <a:ext cx="228600" cy="228600"/>
          </a:xfrm>
          <a:prstGeom prst="rect">
            <a:avLst/>
          </a:prstGeom>
        </p:spPr>
      </p:pic>
      <p:sp>
        <p:nvSpPr>
          <p:cNvPr id="22" name="Text 15"/>
          <p:cNvSpPr/>
          <p:nvPr/>
        </p:nvSpPr>
        <p:spPr>
          <a:xfrm>
            <a:off x="6529388" y="1789509"/>
            <a:ext cx="1576676" cy="233958"/>
          </a:xfrm>
          <a:prstGeom prst="rect">
            <a:avLst/>
          </a:prstGeom>
          <a:noFill/>
          <a:ln/>
        </p:spPr>
        <p:txBody>
          <a:bodyPr wrap="none" lIns="0" tIns="0" rIns="0" bIns="0" rtlCol="0" anchor="t">
            <a:spAutoFit/>
          </a:bodyPr>
          <a:lstStyle/>
          <a:p>
            <a:pPr marL="0" indent="0" algn="l">
              <a:lnSpc>
                <a:spcPts val="1600"/>
              </a:lnSpc>
              <a:buNone/>
            </a:pPr>
            <a:r>
              <a:rPr lang="en-US" sz="1193" b="1" kern="0" spc="1" dirty="0">
                <a:solidFill>
                  <a:srgbClr val="E0E6ED"/>
                </a:solidFill>
              </a:rPr>
              <a:t>Долгосрочная</a:t>
            </a:r>
            <a:endParaRPr lang="en-US" sz="1193" dirty="0"/>
          </a:p>
        </p:txBody>
      </p:sp>
      <p:sp>
        <p:nvSpPr>
          <p:cNvPr id="23" name="Text 16"/>
          <p:cNvSpPr/>
          <p:nvPr/>
        </p:nvSpPr>
        <p:spPr>
          <a:xfrm>
            <a:off x="6334860" y="2130623"/>
            <a:ext cx="625859" cy="385763"/>
          </a:xfrm>
          <a:prstGeom prst="rect">
            <a:avLst/>
          </a:prstGeom>
          <a:noFill/>
          <a:ln/>
        </p:spPr>
        <p:txBody>
          <a:bodyPr wrap="square" lIns="0" tIns="0" rIns="0" bIns="0" rtlCol="0" anchor="t">
            <a:spAutoFit/>
          </a:bodyPr>
          <a:lstStyle/>
          <a:p>
            <a:pPr marL="0" indent="0" algn="l">
              <a:lnSpc>
                <a:spcPts val="1500"/>
              </a:lnSpc>
              <a:buNone/>
            </a:pPr>
            <a:r>
              <a:rPr lang="en-US" sz="885" b="1" dirty="0">
                <a:solidFill>
                  <a:srgbClr val="A0AEC0"/>
                </a:solidFill>
              </a:rPr>
              <a:t>Внешние БД:</a:t>
            </a:r>
            <a:endParaRPr lang="en-US" sz="885" dirty="0"/>
          </a:p>
        </p:txBody>
      </p:sp>
      <p:sp>
        <p:nvSpPr>
          <p:cNvPr id="24" name="Text 17"/>
          <p:cNvSpPr/>
          <p:nvPr/>
        </p:nvSpPr>
        <p:spPr>
          <a:xfrm>
            <a:off x="7032157" y="2130623"/>
            <a:ext cx="1326031" cy="385763"/>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A0AEC0"/>
                </a:solidFill>
              </a:rPr>
              <a:t>векторные базы (Pinecone, Qdrant).</a:t>
            </a:r>
            <a:endParaRPr lang="en-US" sz="942" dirty="0"/>
          </a:p>
        </p:txBody>
      </p:sp>
      <p:sp>
        <p:nvSpPr>
          <p:cNvPr id="25" name="Text 18"/>
          <p:cNvSpPr/>
          <p:nvPr/>
        </p:nvSpPr>
        <p:spPr>
          <a:xfrm>
            <a:off x="6334860" y="2573536"/>
            <a:ext cx="1043769"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A0AEC0"/>
                </a:solidFill>
              </a:rPr>
              <a:t>Бесконечность:</a:t>
            </a:r>
            <a:endParaRPr lang="en-US" sz="885" dirty="0"/>
          </a:p>
        </p:txBody>
      </p:sp>
      <p:sp>
        <p:nvSpPr>
          <p:cNvPr id="26" name="Text 19"/>
          <p:cNvSpPr/>
          <p:nvPr/>
        </p:nvSpPr>
        <p:spPr>
          <a:xfrm>
            <a:off x="7450066" y="2573536"/>
            <a:ext cx="908121" cy="578644"/>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A0AEC0"/>
                </a:solidFill>
              </a:rPr>
              <a:t>хранит гигабайты знаний.</a:t>
            </a:r>
            <a:endParaRPr lang="en-US" sz="942" dirty="0"/>
          </a:p>
        </p:txBody>
      </p:sp>
      <p:sp>
        <p:nvSpPr>
          <p:cNvPr id="27" name="Text 20"/>
          <p:cNvSpPr/>
          <p:nvPr/>
        </p:nvSpPr>
        <p:spPr>
          <a:xfrm>
            <a:off x="6334860" y="3209330"/>
            <a:ext cx="794742" cy="385763"/>
          </a:xfrm>
          <a:prstGeom prst="rect">
            <a:avLst/>
          </a:prstGeom>
          <a:noFill/>
          <a:ln/>
        </p:spPr>
        <p:txBody>
          <a:bodyPr wrap="square" lIns="0" tIns="0" rIns="0" bIns="0" rtlCol="0" anchor="t">
            <a:spAutoFit/>
          </a:bodyPr>
          <a:lstStyle/>
          <a:p>
            <a:pPr marL="0" indent="0" algn="l">
              <a:lnSpc>
                <a:spcPts val="1500"/>
              </a:lnSpc>
              <a:buNone/>
            </a:pPr>
            <a:r>
              <a:rPr lang="en-US" sz="885" b="1" dirty="0">
                <a:solidFill>
                  <a:srgbClr val="A0AEC0"/>
                </a:solidFill>
              </a:rPr>
              <a:t>RAG-механизм:</a:t>
            </a:r>
            <a:endParaRPr lang="en-US" sz="885" dirty="0"/>
          </a:p>
        </p:txBody>
      </p:sp>
      <p:sp>
        <p:nvSpPr>
          <p:cNvPr id="28" name="Text 21"/>
          <p:cNvSpPr/>
          <p:nvPr/>
        </p:nvSpPr>
        <p:spPr>
          <a:xfrm>
            <a:off x="7201040" y="3209330"/>
            <a:ext cx="1157148" cy="385763"/>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A0AEC0"/>
                </a:solidFill>
              </a:rPr>
              <a:t>извлечение по запросу.</a:t>
            </a:r>
            <a:endParaRPr lang="en-US" sz="942" dirty="0"/>
          </a:p>
        </p:txBody>
      </p:sp>
      <p:sp>
        <p:nvSpPr>
          <p:cNvPr id="29" name="Text 22"/>
          <p:cNvSpPr/>
          <p:nvPr/>
        </p:nvSpPr>
        <p:spPr>
          <a:xfrm>
            <a:off x="6334860" y="3652242"/>
            <a:ext cx="886634"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A0AEC0"/>
                </a:solidFill>
              </a:rPr>
              <a:t>Постоянство:</a:t>
            </a:r>
            <a:endParaRPr lang="en-US" sz="885" dirty="0"/>
          </a:p>
        </p:txBody>
      </p:sp>
      <p:sp>
        <p:nvSpPr>
          <p:cNvPr id="30" name="Text 23"/>
          <p:cNvSpPr/>
          <p:nvPr/>
        </p:nvSpPr>
        <p:spPr>
          <a:xfrm>
            <a:off x="7292932" y="3652242"/>
            <a:ext cx="1065256" cy="385763"/>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A0AEC0"/>
                </a:solidFill>
              </a:rPr>
              <a:t>сохраняется между сессиями.</a:t>
            </a:r>
            <a:endParaRPr lang="en-US" sz="942"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428625"/>
            <a:ext cx="8572500" cy="466130"/>
          </a:xfrm>
          <a:prstGeom prst="rect">
            <a:avLst/>
          </a:prstGeom>
          <a:noFill/>
          <a:ln/>
        </p:spPr>
        <p:txBody>
          <a:bodyPr wrap="none" lIns="0" tIns="0" rIns="0" bIns="0" rtlCol="0" anchor="t">
            <a:spAutoFit/>
          </a:bodyPr>
          <a:lstStyle/>
          <a:p>
            <a:pPr marL="0" indent="0" algn="l">
              <a:lnSpc>
                <a:spcPts val="3200"/>
              </a:lnSpc>
              <a:buNone/>
            </a:pPr>
            <a:r>
              <a:rPr lang="en-US" sz="2436" b="1" kern="0" spc="-1" dirty="0">
                <a:solidFill>
                  <a:srgbClr val="00F0FF"/>
                </a:solidFill>
              </a:rPr>
              <a:t>Экосистема фреймворков 2026</a:t>
            </a:r>
            <a:endParaRPr lang="en-US" sz="2436" dirty="0"/>
          </a:p>
        </p:txBody>
      </p:sp>
      <p:sp>
        <p:nvSpPr>
          <p:cNvPr id="5" name="Shape 1"/>
          <p:cNvSpPr/>
          <p:nvPr/>
        </p:nvSpPr>
        <p:spPr>
          <a:xfrm>
            <a:off x="571500" y="1251942"/>
            <a:ext cx="2524116" cy="3891558"/>
          </a:xfrm>
          <a:prstGeom prst="rect">
            <a:avLst/>
          </a:prstGeom>
          <a:solidFill>
            <a:srgbClr val="1C2128"/>
          </a:solidFill>
          <a:ln/>
        </p:spPr>
        <p:txBody>
          <a:bodyPr/>
          <a:lstStyle/>
          <a:p>
            <a:endParaRPr lang="ru-KZ"/>
          </a:p>
        </p:txBody>
      </p:sp>
      <p:sp>
        <p:nvSpPr>
          <p:cNvPr id="6" name="Shape 2"/>
          <p:cNvSpPr/>
          <p:nvPr/>
        </p:nvSpPr>
        <p:spPr>
          <a:xfrm>
            <a:off x="571500" y="1251942"/>
            <a:ext cx="2524116" cy="28575"/>
          </a:xfrm>
          <a:prstGeom prst="rect">
            <a:avLst/>
          </a:prstGeom>
          <a:solidFill>
            <a:srgbClr val="00F0FF"/>
          </a:solidFill>
          <a:ln/>
        </p:spPr>
        <p:txBody>
          <a:bodyPr/>
          <a:lstStyle/>
          <a:p>
            <a:endParaRPr lang="ru-KZ"/>
          </a:p>
        </p:txBody>
      </p:sp>
      <p:pic>
        <p:nvPicPr>
          <p:cNvPr id="7" name="Image 1" descr="preencoded.png"/>
          <p:cNvPicPr>
            <a:picLocks noChangeAspect="1"/>
          </p:cNvPicPr>
          <p:nvPr/>
        </p:nvPicPr>
        <p:blipFill>
          <a:blip r:embed="rId4"/>
          <a:stretch>
            <a:fillRect/>
          </a:stretch>
        </p:blipFill>
        <p:spPr>
          <a:xfrm>
            <a:off x="750094" y="1477863"/>
            <a:ext cx="257175" cy="228600"/>
          </a:xfrm>
          <a:prstGeom prst="rect">
            <a:avLst/>
          </a:prstGeom>
        </p:spPr>
      </p:pic>
      <p:sp>
        <p:nvSpPr>
          <p:cNvPr id="8" name="Text 3"/>
          <p:cNvSpPr/>
          <p:nvPr/>
        </p:nvSpPr>
        <p:spPr>
          <a:xfrm>
            <a:off x="1114425" y="1466255"/>
            <a:ext cx="1193006" cy="251817"/>
          </a:xfrm>
          <a:prstGeom prst="rect">
            <a:avLst/>
          </a:prstGeom>
          <a:noFill/>
          <a:ln/>
        </p:spPr>
        <p:txBody>
          <a:bodyPr wrap="none" lIns="0" tIns="0" rIns="0" bIns="0" rtlCol="0" anchor="t">
            <a:spAutoFit/>
          </a:bodyPr>
          <a:lstStyle/>
          <a:p>
            <a:pPr marL="0" indent="0" algn="l">
              <a:lnSpc>
                <a:spcPts val="1800"/>
              </a:lnSpc>
              <a:buNone/>
            </a:pPr>
            <a:r>
              <a:rPr lang="en-US" sz="1295" b="1" dirty="0">
                <a:solidFill>
                  <a:srgbClr val="FFFFFF"/>
                </a:solidFill>
              </a:rPr>
              <a:t>LangGraph</a:t>
            </a:r>
            <a:endParaRPr lang="en-US" sz="1295" dirty="0"/>
          </a:p>
        </p:txBody>
      </p:sp>
      <p:sp>
        <p:nvSpPr>
          <p:cNvPr id="9" name="Text 4"/>
          <p:cNvSpPr/>
          <p:nvPr/>
        </p:nvSpPr>
        <p:spPr>
          <a:xfrm>
            <a:off x="750094" y="1896666"/>
            <a:ext cx="114300" cy="159981"/>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00F0FF"/>
                </a:solidFill>
              </a:rPr>
              <a:t>→</a:t>
            </a:r>
            <a:endParaRPr lang="en-US" sz="784" dirty="0"/>
          </a:p>
        </p:txBody>
      </p:sp>
      <p:sp>
        <p:nvSpPr>
          <p:cNvPr id="10" name="Text 5"/>
          <p:cNvSpPr/>
          <p:nvPr/>
        </p:nvSpPr>
        <p:spPr>
          <a:xfrm>
            <a:off x="928688" y="1898452"/>
            <a:ext cx="1882992" cy="315385"/>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A0AEC0"/>
                </a:solidFill>
              </a:rPr>
              <a:t>Циклические графы для сложных итеративных процессов.</a:t>
            </a:r>
            <a:endParaRPr lang="en-US" sz="834" dirty="0"/>
          </a:p>
        </p:txBody>
      </p:sp>
      <p:sp>
        <p:nvSpPr>
          <p:cNvPr id="11" name="Text 6"/>
          <p:cNvSpPr/>
          <p:nvPr/>
        </p:nvSpPr>
        <p:spPr>
          <a:xfrm>
            <a:off x="750094" y="2323840"/>
            <a:ext cx="114300" cy="159981"/>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00F0FF"/>
                </a:solidFill>
              </a:rPr>
              <a:t>→</a:t>
            </a:r>
            <a:endParaRPr lang="en-US" sz="784" dirty="0"/>
          </a:p>
        </p:txBody>
      </p:sp>
      <p:sp>
        <p:nvSpPr>
          <p:cNvPr id="12" name="Text 7"/>
          <p:cNvSpPr/>
          <p:nvPr/>
        </p:nvSpPr>
        <p:spPr>
          <a:xfrm>
            <a:off x="928688" y="2325625"/>
            <a:ext cx="1935677" cy="315385"/>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A0AEC0"/>
                </a:solidFill>
              </a:rPr>
              <a:t>Полный контроль над состоянием (State Management).</a:t>
            </a:r>
            <a:endParaRPr lang="en-US" sz="834" dirty="0"/>
          </a:p>
        </p:txBody>
      </p:sp>
      <p:sp>
        <p:nvSpPr>
          <p:cNvPr id="13" name="Text 8"/>
          <p:cNvSpPr/>
          <p:nvPr/>
        </p:nvSpPr>
        <p:spPr>
          <a:xfrm>
            <a:off x="750094" y="2751013"/>
            <a:ext cx="114300" cy="159981"/>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00F0FF"/>
                </a:solidFill>
              </a:rPr>
              <a:t>→</a:t>
            </a:r>
            <a:endParaRPr lang="en-US" sz="784" dirty="0"/>
          </a:p>
        </p:txBody>
      </p:sp>
      <p:sp>
        <p:nvSpPr>
          <p:cNvPr id="14" name="Text 9"/>
          <p:cNvSpPr/>
          <p:nvPr/>
        </p:nvSpPr>
        <p:spPr>
          <a:xfrm>
            <a:off x="928688" y="2752799"/>
            <a:ext cx="1498820" cy="315385"/>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A0AEC0"/>
                </a:solidFill>
              </a:rPr>
              <a:t>Интеграция с экосистемой LangChain и LangSmith.</a:t>
            </a:r>
            <a:endParaRPr lang="en-US" sz="834" dirty="0"/>
          </a:p>
        </p:txBody>
      </p:sp>
      <p:sp>
        <p:nvSpPr>
          <p:cNvPr id="15" name="Text 10"/>
          <p:cNvSpPr/>
          <p:nvPr/>
        </p:nvSpPr>
        <p:spPr>
          <a:xfrm>
            <a:off x="750094" y="3178187"/>
            <a:ext cx="114300" cy="159981"/>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00F0FF"/>
                </a:solidFill>
              </a:rPr>
              <a:t>→</a:t>
            </a:r>
            <a:endParaRPr lang="en-US" sz="784" dirty="0"/>
          </a:p>
        </p:txBody>
      </p:sp>
      <p:sp>
        <p:nvSpPr>
          <p:cNvPr id="16" name="Text 11"/>
          <p:cNvSpPr/>
          <p:nvPr/>
        </p:nvSpPr>
        <p:spPr>
          <a:xfrm>
            <a:off x="928688" y="3179973"/>
            <a:ext cx="1846631" cy="315385"/>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A0AEC0"/>
                </a:solidFill>
              </a:rPr>
              <a:t>Поддержка Human-in-the-loop на любом этапе.</a:t>
            </a:r>
            <a:endParaRPr lang="en-US" sz="834" dirty="0"/>
          </a:p>
        </p:txBody>
      </p:sp>
      <p:sp>
        <p:nvSpPr>
          <p:cNvPr id="17" name="Shape 12"/>
          <p:cNvSpPr/>
          <p:nvPr/>
        </p:nvSpPr>
        <p:spPr>
          <a:xfrm>
            <a:off x="750094" y="4572000"/>
            <a:ext cx="2166928" cy="571500"/>
          </a:xfrm>
          <a:prstGeom prst="rect">
            <a:avLst/>
          </a:prstGeom>
          <a:solidFill>
            <a:srgbClr val="0A0E14"/>
          </a:solidFill>
          <a:ln/>
        </p:spPr>
        <p:txBody>
          <a:bodyPr/>
          <a:lstStyle/>
          <a:p>
            <a:endParaRPr lang="ru-KZ"/>
          </a:p>
        </p:txBody>
      </p:sp>
      <p:sp>
        <p:nvSpPr>
          <p:cNvPr id="18" name="Shape 13"/>
          <p:cNvSpPr/>
          <p:nvPr/>
        </p:nvSpPr>
        <p:spPr>
          <a:xfrm>
            <a:off x="750094" y="4572000"/>
            <a:ext cx="21431" cy="571500"/>
          </a:xfrm>
          <a:prstGeom prst="rect">
            <a:avLst/>
          </a:prstGeom>
          <a:solidFill>
            <a:srgbClr val="00F0FF"/>
          </a:solidFill>
          <a:ln/>
        </p:spPr>
        <p:txBody>
          <a:bodyPr/>
          <a:lstStyle/>
          <a:p>
            <a:endParaRPr lang="ru-KZ"/>
          </a:p>
        </p:txBody>
      </p:sp>
      <p:sp>
        <p:nvSpPr>
          <p:cNvPr id="19" name="Text 14"/>
          <p:cNvSpPr/>
          <p:nvPr/>
        </p:nvSpPr>
        <p:spPr>
          <a:xfrm>
            <a:off x="857250" y="4679156"/>
            <a:ext cx="1952616" cy="116086"/>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00F0FF"/>
                </a:solidFill>
              </a:rPr>
              <a:t>Лучший выбор для:</a:t>
            </a:r>
            <a:endParaRPr lang="en-US" sz="584" dirty="0"/>
          </a:p>
        </p:txBody>
      </p:sp>
      <p:sp>
        <p:nvSpPr>
          <p:cNvPr id="20" name="Text 15"/>
          <p:cNvSpPr/>
          <p:nvPr/>
        </p:nvSpPr>
        <p:spPr>
          <a:xfrm>
            <a:off x="857250" y="4830961"/>
            <a:ext cx="1952616" cy="292894"/>
          </a:xfrm>
          <a:prstGeom prst="rect">
            <a:avLst/>
          </a:prstGeom>
          <a:noFill/>
          <a:ln/>
        </p:spPr>
        <p:txBody>
          <a:bodyPr wrap="square" lIns="0" tIns="0" rIns="0" bIns="0" rtlCol="0" anchor="t">
            <a:spAutoFit/>
          </a:bodyPr>
          <a:lstStyle/>
          <a:p>
            <a:pPr marL="0" indent="0" algn="l">
              <a:lnSpc>
                <a:spcPts val="1000"/>
              </a:lnSpc>
              <a:buNone/>
            </a:pPr>
            <a:r>
              <a:rPr lang="en-US" sz="734" b="1" dirty="0">
                <a:solidFill>
                  <a:srgbClr val="E0E6ED"/>
                </a:solidFill>
              </a:rPr>
              <a:t>Сложных корпоративных пайплайнов с жесткой логикой.</a:t>
            </a:r>
            <a:endParaRPr lang="en-US" sz="734" dirty="0"/>
          </a:p>
        </p:txBody>
      </p:sp>
      <p:sp>
        <p:nvSpPr>
          <p:cNvPr id="21" name="Shape 16"/>
          <p:cNvSpPr/>
          <p:nvPr/>
        </p:nvSpPr>
        <p:spPr>
          <a:xfrm>
            <a:off x="3309928" y="1251942"/>
            <a:ext cx="2524116" cy="3891558"/>
          </a:xfrm>
          <a:prstGeom prst="rect">
            <a:avLst/>
          </a:prstGeom>
          <a:solidFill>
            <a:srgbClr val="161B22"/>
          </a:solidFill>
          <a:ln/>
        </p:spPr>
        <p:txBody>
          <a:bodyPr/>
          <a:lstStyle/>
          <a:p>
            <a:endParaRPr lang="ru-KZ"/>
          </a:p>
        </p:txBody>
      </p:sp>
      <p:sp>
        <p:nvSpPr>
          <p:cNvPr id="22" name="Shape 17"/>
          <p:cNvSpPr/>
          <p:nvPr/>
        </p:nvSpPr>
        <p:spPr>
          <a:xfrm>
            <a:off x="3309928" y="1251942"/>
            <a:ext cx="2524116" cy="28575"/>
          </a:xfrm>
          <a:prstGeom prst="rect">
            <a:avLst/>
          </a:prstGeom>
          <a:solidFill>
            <a:srgbClr val="7000FF"/>
          </a:solidFill>
          <a:ln/>
        </p:spPr>
        <p:txBody>
          <a:bodyPr/>
          <a:lstStyle/>
          <a:p>
            <a:endParaRPr lang="ru-KZ"/>
          </a:p>
        </p:txBody>
      </p:sp>
      <p:pic>
        <p:nvPicPr>
          <p:cNvPr id="23" name="Image 2" descr="preencoded.png"/>
          <p:cNvPicPr>
            <a:picLocks noChangeAspect="1"/>
          </p:cNvPicPr>
          <p:nvPr/>
        </p:nvPicPr>
        <p:blipFill>
          <a:blip r:embed="rId5"/>
          <a:stretch>
            <a:fillRect/>
          </a:stretch>
        </p:blipFill>
        <p:spPr>
          <a:xfrm>
            <a:off x="3488522" y="1477863"/>
            <a:ext cx="285750" cy="228600"/>
          </a:xfrm>
          <a:prstGeom prst="rect">
            <a:avLst/>
          </a:prstGeom>
        </p:spPr>
      </p:pic>
      <p:sp>
        <p:nvSpPr>
          <p:cNvPr id="24" name="Text 18"/>
          <p:cNvSpPr/>
          <p:nvPr/>
        </p:nvSpPr>
        <p:spPr>
          <a:xfrm>
            <a:off x="3881428" y="1466255"/>
            <a:ext cx="750401" cy="251817"/>
          </a:xfrm>
          <a:prstGeom prst="rect">
            <a:avLst/>
          </a:prstGeom>
          <a:noFill/>
          <a:ln/>
        </p:spPr>
        <p:txBody>
          <a:bodyPr wrap="none" lIns="0" tIns="0" rIns="0" bIns="0" rtlCol="0" anchor="t">
            <a:spAutoFit/>
          </a:bodyPr>
          <a:lstStyle/>
          <a:p>
            <a:pPr marL="0" indent="0" algn="l">
              <a:lnSpc>
                <a:spcPts val="1800"/>
              </a:lnSpc>
              <a:buNone/>
            </a:pPr>
            <a:r>
              <a:rPr lang="en-US" sz="1295" b="1" dirty="0">
                <a:solidFill>
                  <a:srgbClr val="FFFFFF"/>
                </a:solidFill>
              </a:rPr>
              <a:t>CrewAI</a:t>
            </a:r>
            <a:endParaRPr lang="en-US" sz="1295" dirty="0"/>
          </a:p>
        </p:txBody>
      </p:sp>
      <p:sp>
        <p:nvSpPr>
          <p:cNvPr id="25" name="Text 19"/>
          <p:cNvSpPr/>
          <p:nvPr/>
        </p:nvSpPr>
        <p:spPr>
          <a:xfrm>
            <a:off x="3488522" y="1896666"/>
            <a:ext cx="114300" cy="159981"/>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7000FF"/>
                </a:solidFill>
              </a:rPr>
              <a:t>→</a:t>
            </a:r>
            <a:endParaRPr lang="en-US" sz="784" dirty="0"/>
          </a:p>
        </p:txBody>
      </p:sp>
      <p:sp>
        <p:nvSpPr>
          <p:cNvPr id="26" name="Text 20"/>
          <p:cNvSpPr/>
          <p:nvPr/>
        </p:nvSpPr>
        <p:spPr>
          <a:xfrm>
            <a:off x="3667116" y="1898452"/>
            <a:ext cx="1897056" cy="315385"/>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A0AEC0"/>
                </a:solidFill>
              </a:rPr>
              <a:t>Ролевое взаимодействие агентов (Role-playing).</a:t>
            </a:r>
            <a:endParaRPr lang="en-US" sz="834" dirty="0"/>
          </a:p>
        </p:txBody>
      </p:sp>
      <p:sp>
        <p:nvSpPr>
          <p:cNvPr id="27" name="Text 21"/>
          <p:cNvSpPr/>
          <p:nvPr/>
        </p:nvSpPr>
        <p:spPr>
          <a:xfrm>
            <a:off x="3488522" y="2323840"/>
            <a:ext cx="114300" cy="159981"/>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7000FF"/>
                </a:solidFill>
              </a:rPr>
              <a:t>→</a:t>
            </a:r>
            <a:endParaRPr lang="en-US" sz="784" dirty="0"/>
          </a:p>
        </p:txBody>
      </p:sp>
      <p:sp>
        <p:nvSpPr>
          <p:cNvPr id="28" name="Text 22"/>
          <p:cNvSpPr/>
          <p:nvPr/>
        </p:nvSpPr>
        <p:spPr>
          <a:xfrm>
            <a:off x="3667116" y="2325625"/>
            <a:ext cx="1939668" cy="315385"/>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A0AEC0"/>
                </a:solidFill>
              </a:rPr>
              <a:t>Автономное делегирование задач между агентами.</a:t>
            </a:r>
            <a:endParaRPr lang="en-US" sz="834" dirty="0"/>
          </a:p>
        </p:txBody>
      </p:sp>
      <p:sp>
        <p:nvSpPr>
          <p:cNvPr id="29" name="Text 23"/>
          <p:cNvSpPr/>
          <p:nvPr/>
        </p:nvSpPr>
        <p:spPr>
          <a:xfrm>
            <a:off x="3488522" y="2751013"/>
            <a:ext cx="114300" cy="159981"/>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7000FF"/>
                </a:solidFill>
              </a:rPr>
              <a:t>→</a:t>
            </a:r>
            <a:endParaRPr lang="en-US" sz="784" dirty="0"/>
          </a:p>
        </p:txBody>
      </p:sp>
      <p:sp>
        <p:nvSpPr>
          <p:cNvPr id="30" name="Text 24"/>
          <p:cNvSpPr/>
          <p:nvPr/>
        </p:nvSpPr>
        <p:spPr>
          <a:xfrm>
            <a:off x="3667116" y="2752799"/>
            <a:ext cx="1674958" cy="475394"/>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A0AEC0"/>
                </a:solidFill>
              </a:rPr>
              <a:t>Процессно-ориентированное управление (Sequential, Hierarchical).</a:t>
            </a:r>
            <a:endParaRPr lang="en-US" sz="834" dirty="0"/>
          </a:p>
        </p:txBody>
      </p:sp>
      <p:sp>
        <p:nvSpPr>
          <p:cNvPr id="31" name="Text 25"/>
          <p:cNvSpPr/>
          <p:nvPr/>
        </p:nvSpPr>
        <p:spPr>
          <a:xfrm>
            <a:off x="3488522" y="3338196"/>
            <a:ext cx="114300" cy="159981"/>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7000FF"/>
                </a:solidFill>
              </a:rPr>
              <a:t>→</a:t>
            </a:r>
            <a:endParaRPr lang="en-US" sz="784" dirty="0"/>
          </a:p>
        </p:txBody>
      </p:sp>
      <p:sp>
        <p:nvSpPr>
          <p:cNvPr id="32" name="Text 26"/>
          <p:cNvSpPr/>
          <p:nvPr/>
        </p:nvSpPr>
        <p:spPr>
          <a:xfrm>
            <a:off x="3667116" y="3339982"/>
            <a:ext cx="1329212" cy="315385"/>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A0AEC0"/>
                </a:solidFill>
              </a:rPr>
              <a:t>Легкий старт и высокая читаемость кода.</a:t>
            </a:r>
            <a:endParaRPr lang="en-US" sz="834" dirty="0"/>
          </a:p>
        </p:txBody>
      </p:sp>
      <p:sp>
        <p:nvSpPr>
          <p:cNvPr id="33" name="Shape 27"/>
          <p:cNvSpPr/>
          <p:nvPr/>
        </p:nvSpPr>
        <p:spPr>
          <a:xfrm>
            <a:off x="3488522" y="4572000"/>
            <a:ext cx="2166928" cy="571500"/>
          </a:xfrm>
          <a:prstGeom prst="rect">
            <a:avLst/>
          </a:prstGeom>
          <a:solidFill>
            <a:srgbClr val="0A0E14"/>
          </a:solidFill>
          <a:ln/>
        </p:spPr>
        <p:txBody>
          <a:bodyPr/>
          <a:lstStyle/>
          <a:p>
            <a:endParaRPr lang="ru-KZ"/>
          </a:p>
        </p:txBody>
      </p:sp>
      <p:sp>
        <p:nvSpPr>
          <p:cNvPr id="34" name="Shape 28"/>
          <p:cNvSpPr/>
          <p:nvPr/>
        </p:nvSpPr>
        <p:spPr>
          <a:xfrm>
            <a:off x="3488522" y="4572000"/>
            <a:ext cx="21431" cy="571500"/>
          </a:xfrm>
          <a:prstGeom prst="rect">
            <a:avLst/>
          </a:prstGeom>
          <a:solidFill>
            <a:srgbClr val="7000FF"/>
          </a:solidFill>
          <a:ln/>
        </p:spPr>
        <p:txBody>
          <a:bodyPr/>
          <a:lstStyle/>
          <a:p>
            <a:endParaRPr lang="ru-KZ"/>
          </a:p>
        </p:txBody>
      </p:sp>
      <p:sp>
        <p:nvSpPr>
          <p:cNvPr id="35" name="Text 29"/>
          <p:cNvSpPr/>
          <p:nvPr/>
        </p:nvSpPr>
        <p:spPr>
          <a:xfrm>
            <a:off x="3595678" y="4679156"/>
            <a:ext cx="1952616" cy="116086"/>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7000FF"/>
                </a:solidFill>
              </a:rPr>
              <a:t>Лучший выбор для:</a:t>
            </a:r>
            <a:endParaRPr lang="en-US" sz="584" dirty="0"/>
          </a:p>
        </p:txBody>
      </p:sp>
      <p:sp>
        <p:nvSpPr>
          <p:cNvPr id="36" name="Text 30"/>
          <p:cNvSpPr/>
          <p:nvPr/>
        </p:nvSpPr>
        <p:spPr>
          <a:xfrm>
            <a:off x="3595678" y="4830961"/>
            <a:ext cx="1952616" cy="292894"/>
          </a:xfrm>
          <a:prstGeom prst="rect">
            <a:avLst/>
          </a:prstGeom>
          <a:noFill/>
          <a:ln/>
        </p:spPr>
        <p:txBody>
          <a:bodyPr wrap="square" lIns="0" tIns="0" rIns="0" bIns="0" rtlCol="0" anchor="t">
            <a:spAutoFit/>
          </a:bodyPr>
          <a:lstStyle/>
          <a:p>
            <a:pPr marL="0" indent="0" algn="l">
              <a:lnSpc>
                <a:spcPts val="1000"/>
              </a:lnSpc>
              <a:buNone/>
            </a:pPr>
            <a:r>
              <a:rPr lang="en-US" sz="734" b="1" dirty="0">
                <a:solidFill>
                  <a:srgbClr val="E0E6ED"/>
                </a:solidFill>
              </a:rPr>
              <a:t>Командной работы агентов над творческими и бизнес-задачами.</a:t>
            </a:r>
            <a:endParaRPr lang="en-US" sz="734" dirty="0"/>
          </a:p>
        </p:txBody>
      </p:sp>
      <p:sp>
        <p:nvSpPr>
          <p:cNvPr id="37" name="Shape 31"/>
          <p:cNvSpPr/>
          <p:nvPr/>
        </p:nvSpPr>
        <p:spPr>
          <a:xfrm>
            <a:off x="6048356" y="1251942"/>
            <a:ext cx="2524144" cy="3891558"/>
          </a:xfrm>
          <a:prstGeom prst="rect">
            <a:avLst/>
          </a:prstGeom>
          <a:solidFill>
            <a:srgbClr val="161B22"/>
          </a:solidFill>
          <a:ln/>
        </p:spPr>
        <p:txBody>
          <a:bodyPr/>
          <a:lstStyle/>
          <a:p>
            <a:endParaRPr lang="ru-KZ"/>
          </a:p>
        </p:txBody>
      </p:sp>
      <p:sp>
        <p:nvSpPr>
          <p:cNvPr id="38" name="Shape 32"/>
          <p:cNvSpPr/>
          <p:nvPr/>
        </p:nvSpPr>
        <p:spPr>
          <a:xfrm>
            <a:off x="6048356" y="1251942"/>
            <a:ext cx="2524144" cy="28575"/>
          </a:xfrm>
          <a:prstGeom prst="rect">
            <a:avLst/>
          </a:prstGeom>
          <a:solidFill>
            <a:srgbClr val="7000FF"/>
          </a:solidFill>
          <a:ln/>
        </p:spPr>
        <p:txBody>
          <a:bodyPr/>
          <a:lstStyle/>
          <a:p>
            <a:endParaRPr lang="ru-KZ"/>
          </a:p>
        </p:txBody>
      </p:sp>
      <p:pic>
        <p:nvPicPr>
          <p:cNvPr id="39" name="Image 3" descr="preencoded.png"/>
          <p:cNvPicPr>
            <a:picLocks noChangeAspect="1"/>
          </p:cNvPicPr>
          <p:nvPr/>
        </p:nvPicPr>
        <p:blipFill>
          <a:blip r:embed="rId6"/>
          <a:stretch>
            <a:fillRect/>
          </a:stretch>
        </p:blipFill>
        <p:spPr>
          <a:xfrm>
            <a:off x="6226950" y="1477863"/>
            <a:ext cx="285750" cy="228600"/>
          </a:xfrm>
          <a:prstGeom prst="rect">
            <a:avLst/>
          </a:prstGeom>
        </p:spPr>
      </p:pic>
      <p:sp>
        <p:nvSpPr>
          <p:cNvPr id="40" name="Text 33"/>
          <p:cNvSpPr/>
          <p:nvPr/>
        </p:nvSpPr>
        <p:spPr>
          <a:xfrm>
            <a:off x="6619856" y="1466255"/>
            <a:ext cx="923860" cy="251817"/>
          </a:xfrm>
          <a:prstGeom prst="rect">
            <a:avLst/>
          </a:prstGeom>
          <a:noFill/>
          <a:ln/>
        </p:spPr>
        <p:txBody>
          <a:bodyPr wrap="none" lIns="0" tIns="0" rIns="0" bIns="0" rtlCol="0" anchor="t">
            <a:spAutoFit/>
          </a:bodyPr>
          <a:lstStyle/>
          <a:p>
            <a:pPr marL="0" indent="0" algn="l">
              <a:lnSpc>
                <a:spcPts val="1800"/>
              </a:lnSpc>
              <a:buNone/>
            </a:pPr>
            <a:r>
              <a:rPr lang="en-US" sz="1295" b="1" dirty="0">
                <a:solidFill>
                  <a:srgbClr val="FFFFFF"/>
                </a:solidFill>
              </a:rPr>
              <a:t>AutoGen</a:t>
            </a:r>
            <a:endParaRPr lang="en-US" sz="1295" dirty="0"/>
          </a:p>
        </p:txBody>
      </p:sp>
      <p:sp>
        <p:nvSpPr>
          <p:cNvPr id="41" name="Text 34"/>
          <p:cNvSpPr/>
          <p:nvPr/>
        </p:nvSpPr>
        <p:spPr>
          <a:xfrm>
            <a:off x="6226950" y="1896666"/>
            <a:ext cx="114300" cy="159981"/>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7000FF"/>
                </a:solidFill>
              </a:rPr>
              <a:t>→</a:t>
            </a:r>
            <a:endParaRPr lang="en-US" sz="784" dirty="0"/>
          </a:p>
        </p:txBody>
      </p:sp>
      <p:sp>
        <p:nvSpPr>
          <p:cNvPr id="42" name="Text 35"/>
          <p:cNvSpPr/>
          <p:nvPr/>
        </p:nvSpPr>
        <p:spPr>
          <a:xfrm>
            <a:off x="6405544" y="1898452"/>
            <a:ext cx="1760795" cy="315385"/>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A0AEC0"/>
                </a:solidFill>
              </a:rPr>
              <a:t>Многоагентные диалоги (Multi-agent conversation).</a:t>
            </a:r>
            <a:endParaRPr lang="en-US" sz="834" dirty="0"/>
          </a:p>
        </p:txBody>
      </p:sp>
      <p:sp>
        <p:nvSpPr>
          <p:cNvPr id="43" name="Text 36"/>
          <p:cNvSpPr/>
          <p:nvPr/>
        </p:nvSpPr>
        <p:spPr>
          <a:xfrm>
            <a:off x="6226950" y="2323840"/>
            <a:ext cx="114300" cy="159981"/>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7000FF"/>
                </a:solidFill>
              </a:rPr>
              <a:t>→</a:t>
            </a:r>
            <a:endParaRPr lang="en-US" sz="784" dirty="0"/>
          </a:p>
        </p:txBody>
      </p:sp>
      <p:sp>
        <p:nvSpPr>
          <p:cNvPr id="44" name="Text 37"/>
          <p:cNvSpPr/>
          <p:nvPr/>
        </p:nvSpPr>
        <p:spPr>
          <a:xfrm>
            <a:off x="6405544" y="2325625"/>
            <a:ext cx="1485565" cy="315385"/>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A0AEC0"/>
                </a:solidFill>
              </a:rPr>
              <a:t>Высокая настраиваемость поведения агентов.</a:t>
            </a:r>
            <a:endParaRPr lang="en-US" sz="834" dirty="0"/>
          </a:p>
        </p:txBody>
      </p:sp>
      <p:sp>
        <p:nvSpPr>
          <p:cNvPr id="45" name="Text 38"/>
          <p:cNvSpPr/>
          <p:nvPr/>
        </p:nvSpPr>
        <p:spPr>
          <a:xfrm>
            <a:off x="6226950" y="2751013"/>
            <a:ext cx="114300" cy="159981"/>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7000FF"/>
                </a:solidFill>
              </a:rPr>
              <a:t>→</a:t>
            </a:r>
            <a:endParaRPr lang="en-US" sz="784" dirty="0"/>
          </a:p>
        </p:txBody>
      </p:sp>
      <p:sp>
        <p:nvSpPr>
          <p:cNvPr id="46" name="Text 39"/>
          <p:cNvSpPr/>
          <p:nvPr/>
        </p:nvSpPr>
        <p:spPr>
          <a:xfrm>
            <a:off x="6405544" y="2752799"/>
            <a:ext cx="1927668" cy="315385"/>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A0AEC0"/>
                </a:solidFill>
              </a:rPr>
              <a:t>Нативная поддержка выполнения кода и Docker.</a:t>
            </a:r>
            <a:endParaRPr lang="en-US" sz="834" dirty="0"/>
          </a:p>
        </p:txBody>
      </p:sp>
      <p:sp>
        <p:nvSpPr>
          <p:cNvPr id="47" name="Text 40"/>
          <p:cNvSpPr/>
          <p:nvPr/>
        </p:nvSpPr>
        <p:spPr>
          <a:xfrm>
            <a:off x="6226950" y="3178187"/>
            <a:ext cx="114300" cy="159981"/>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7000FF"/>
                </a:solidFill>
              </a:rPr>
              <a:t>→</a:t>
            </a:r>
            <a:endParaRPr lang="en-US" sz="784" dirty="0"/>
          </a:p>
        </p:txBody>
      </p:sp>
      <p:sp>
        <p:nvSpPr>
          <p:cNvPr id="48" name="Text 41"/>
          <p:cNvSpPr/>
          <p:nvPr/>
        </p:nvSpPr>
        <p:spPr>
          <a:xfrm>
            <a:off x="6405544" y="3179973"/>
            <a:ext cx="1904367" cy="315385"/>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A0AEC0"/>
                </a:solidFill>
              </a:rPr>
              <a:t>Оптимизация под модели OpenAI и Azure.</a:t>
            </a:r>
            <a:endParaRPr lang="en-US" sz="834" dirty="0"/>
          </a:p>
        </p:txBody>
      </p:sp>
      <p:sp>
        <p:nvSpPr>
          <p:cNvPr id="49" name="Shape 42"/>
          <p:cNvSpPr/>
          <p:nvPr/>
        </p:nvSpPr>
        <p:spPr>
          <a:xfrm>
            <a:off x="6226950" y="4572000"/>
            <a:ext cx="2166956" cy="571500"/>
          </a:xfrm>
          <a:prstGeom prst="rect">
            <a:avLst/>
          </a:prstGeom>
          <a:solidFill>
            <a:srgbClr val="0A0E14"/>
          </a:solidFill>
          <a:ln/>
        </p:spPr>
        <p:txBody>
          <a:bodyPr/>
          <a:lstStyle/>
          <a:p>
            <a:endParaRPr lang="ru-KZ"/>
          </a:p>
        </p:txBody>
      </p:sp>
      <p:sp>
        <p:nvSpPr>
          <p:cNvPr id="50" name="Shape 43"/>
          <p:cNvSpPr/>
          <p:nvPr/>
        </p:nvSpPr>
        <p:spPr>
          <a:xfrm>
            <a:off x="6226950" y="4572000"/>
            <a:ext cx="21431" cy="571500"/>
          </a:xfrm>
          <a:prstGeom prst="rect">
            <a:avLst/>
          </a:prstGeom>
          <a:solidFill>
            <a:srgbClr val="7000FF"/>
          </a:solidFill>
          <a:ln/>
        </p:spPr>
        <p:txBody>
          <a:bodyPr/>
          <a:lstStyle/>
          <a:p>
            <a:endParaRPr lang="ru-KZ"/>
          </a:p>
        </p:txBody>
      </p:sp>
      <p:sp>
        <p:nvSpPr>
          <p:cNvPr id="51" name="Text 44"/>
          <p:cNvSpPr/>
          <p:nvPr/>
        </p:nvSpPr>
        <p:spPr>
          <a:xfrm>
            <a:off x="6334106" y="4679156"/>
            <a:ext cx="1952644" cy="116086"/>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7000FF"/>
                </a:solidFill>
              </a:rPr>
              <a:t>Лучший выбор для:</a:t>
            </a:r>
            <a:endParaRPr lang="en-US" sz="584" dirty="0"/>
          </a:p>
        </p:txBody>
      </p:sp>
      <p:sp>
        <p:nvSpPr>
          <p:cNvPr id="52" name="Text 45"/>
          <p:cNvSpPr/>
          <p:nvPr/>
        </p:nvSpPr>
        <p:spPr>
          <a:xfrm>
            <a:off x="6334106" y="4830961"/>
            <a:ext cx="1952644" cy="292894"/>
          </a:xfrm>
          <a:prstGeom prst="rect">
            <a:avLst/>
          </a:prstGeom>
          <a:noFill/>
          <a:ln/>
        </p:spPr>
        <p:txBody>
          <a:bodyPr wrap="square" lIns="0" tIns="0" rIns="0" bIns="0" rtlCol="0" anchor="t">
            <a:spAutoFit/>
          </a:bodyPr>
          <a:lstStyle/>
          <a:p>
            <a:pPr marL="0" indent="0" algn="l">
              <a:lnSpc>
                <a:spcPts val="1000"/>
              </a:lnSpc>
              <a:buNone/>
            </a:pPr>
            <a:r>
              <a:rPr lang="en-US" sz="734" b="1" dirty="0">
                <a:solidFill>
                  <a:srgbClr val="E0E6ED"/>
                </a:solidFill>
              </a:rPr>
              <a:t>Исследовательских задач и автоматизации кодинга.</a:t>
            </a:r>
            <a:endParaRPr lang="en-US" sz="734"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428625"/>
            <a:ext cx="8572500" cy="466130"/>
          </a:xfrm>
          <a:prstGeom prst="rect">
            <a:avLst/>
          </a:prstGeom>
          <a:noFill/>
          <a:ln/>
        </p:spPr>
        <p:txBody>
          <a:bodyPr wrap="none" lIns="0" tIns="0" rIns="0" bIns="0" rtlCol="0" anchor="t">
            <a:spAutoFit/>
          </a:bodyPr>
          <a:lstStyle/>
          <a:p>
            <a:pPr marL="0" indent="0" algn="l">
              <a:lnSpc>
                <a:spcPts val="3200"/>
              </a:lnSpc>
              <a:buNone/>
            </a:pPr>
            <a:r>
              <a:rPr lang="en-US" sz="2436" b="1" kern="0" spc="-1" dirty="0">
                <a:solidFill>
                  <a:srgbClr val="00F0FF"/>
                </a:solidFill>
              </a:rPr>
              <a:t>Примеры применения в индустрии</a:t>
            </a:r>
            <a:endParaRPr lang="en-US" sz="2436" dirty="0"/>
          </a:p>
        </p:txBody>
      </p:sp>
      <p:sp>
        <p:nvSpPr>
          <p:cNvPr id="5" name="Shape 1"/>
          <p:cNvSpPr/>
          <p:nvPr/>
        </p:nvSpPr>
        <p:spPr>
          <a:xfrm>
            <a:off x="571500" y="1251942"/>
            <a:ext cx="2476481" cy="3891558"/>
          </a:xfrm>
          <a:prstGeom prst="rect">
            <a:avLst/>
          </a:prstGeom>
          <a:solidFill>
            <a:srgbClr val="161B22"/>
          </a:solidFill>
          <a:ln/>
        </p:spPr>
        <p:txBody>
          <a:bodyPr/>
          <a:lstStyle/>
          <a:p>
            <a:endParaRPr lang="ru-KZ"/>
          </a:p>
        </p:txBody>
      </p:sp>
      <p:sp>
        <p:nvSpPr>
          <p:cNvPr id="6" name="Shape 2"/>
          <p:cNvSpPr/>
          <p:nvPr/>
        </p:nvSpPr>
        <p:spPr>
          <a:xfrm>
            <a:off x="571500" y="1251942"/>
            <a:ext cx="2476481" cy="28575"/>
          </a:xfrm>
          <a:prstGeom prst="rect">
            <a:avLst/>
          </a:prstGeom>
          <a:solidFill>
            <a:srgbClr val="7000FF"/>
          </a:solidFill>
          <a:ln/>
        </p:spPr>
        <p:txBody>
          <a:bodyPr/>
          <a:lstStyle/>
          <a:p>
            <a:endParaRPr lang="ru-KZ"/>
          </a:p>
        </p:txBody>
      </p:sp>
      <p:pic>
        <p:nvPicPr>
          <p:cNvPr id="7" name="Image 1" descr="preencoded.png"/>
          <p:cNvPicPr>
            <a:picLocks noChangeAspect="1"/>
          </p:cNvPicPr>
          <p:nvPr/>
        </p:nvPicPr>
        <p:blipFill>
          <a:blip r:embed="rId4"/>
          <a:stretch>
            <a:fillRect/>
          </a:stretch>
        </p:blipFill>
        <p:spPr>
          <a:xfrm>
            <a:off x="1631147" y="1607344"/>
            <a:ext cx="357188" cy="357188"/>
          </a:xfrm>
          <a:prstGeom prst="rect">
            <a:avLst/>
          </a:prstGeom>
        </p:spPr>
      </p:pic>
      <p:sp>
        <p:nvSpPr>
          <p:cNvPr id="8" name="Text 3"/>
          <p:cNvSpPr/>
          <p:nvPr/>
        </p:nvSpPr>
        <p:spPr>
          <a:xfrm>
            <a:off x="785813" y="2239566"/>
            <a:ext cx="2047856" cy="467916"/>
          </a:xfrm>
          <a:prstGeom prst="rect">
            <a:avLst/>
          </a:prstGeom>
          <a:noFill/>
          <a:ln/>
        </p:spPr>
        <p:txBody>
          <a:bodyPr wrap="square" lIns="0" tIns="0" rIns="0" bIns="0" rtlCol="0" anchor="t">
            <a:spAutoFit/>
          </a:bodyPr>
          <a:lstStyle/>
          <a:p>
            <a:pPr marL="0" indent="0" algn="ctr">
              <a:lnSpc>
                <a:spcPts val="1600"/>
              </a:lnSpc>
              <a:buNone/>
            </a:pPr>
            <a:r>
              <a:rPr lang="en-US" sz="1193" b="1" kern="0" spc="1" dirty="0">
                <a:solidFill>
                  <a:srgbClr val="FFFFFF"/>
                </a:solidFill>
              </a:rPr>
              <a:t>Market Intelligence</a:t>
            </a:r>
            <a:endParaRPr lang="en-US" sz="1193" dirty="0"/>
          </a:p>
        </p:txBody>
      </p:sp>
      <p:sp>
        <p:nvSpPr>
          <p:cNvPr id="9" name="Text 4"/>
          <p:cNvSpPr/>
          <p:nvPr/>
        </p:nvSpPr>
        <p:spPr>
          <a:xfrm>
            <a:off x="785813" y="2850356"/>
            <a:ext cx="2047856" cy="914316"/>
          </a:xfrm>
          <a:prstGeom prst="rect">
            <a:avLst/>
          </a:prstGeom>
          <a:noFill/>
          <a:ln/>
        </p:spPr>
        <p:txBody>
          <a:bodyPr wrap="square" lIns="0" tIns="0" rIns="0" bIns="0" rtlCol="0" anchor="t">
            <a:spAutoFit/>
          </a:bodyPr>
          <a:lstStyle/>
          <a:p>
            <a:pPr marL="0" indent="0" algn="ctr">
              <a:lnSpc>
                <a:spcPts val="1400"/>
              </a:lnSpc>
              <a:buNone/>
            </a:pPr>
            <a:r>
              <a:rPr lang="en-US" sz="834" dirty="0">
                <a:solidFill>
                  <a:srgbClr val="A0AEC0"/>
                </a:solidFill>
              </a:rPr>
              <a:t>Автономные агенты-исследователи, которые круглосуточно мониторят новости, анализируют отчеты конкурентов и формируют краткие сводки для принятия решений.</a:t>
            </a:r>
            <a:endParaRPr lang="en-US" sz="834" dirty="0"/>
          </a:p>
        </p:txBody>
      </p:sp>
      <p:sp>
        <p:nvSpPr>
          <p:cNvPr id="10" name="Shape 5"/>
          <p:cNvSpPr/>
          <p:nvPr/>
        </p:nvSpPr>
        <p:spPr>
          <a:xfrm>
            <a:off x="1160245" y="4727377"/>
            <a:ext cx="1298963" cy="201811"/>
          </a:xfrm>
          <a:prstGeom prst="rect">
            <a:avLst/>
          </a:prstGeom>
          <a:solidFill>
            <a:srgbClr val="2D3748"/>
          </a:solidFill>
          <a:ln/>
        </p:spPr>
        <p:txBody>
          <a:bodyPr/>
          <a:lstStyle/>
          <a:p>
            <a:endParaRPr lang="ru-KZ"/>
          </a:p>
        </p:txBody>
      </p:sp>
      <p:sp>
        <p:nvSpPr>
          <p:cNvPr id="11" name="Text 6"/>
          <p:cNvSpPr/>
          <p:nvPr/>
        </p:nvSpPr>
        <p:spPr>
          <a:xfrm>
            <a:off x="1160245" y="4727377"/>
            <a:ext cx="1298963" cy="201811"/>
          </a:xfrm>
          <a:prstGeom prst="rect">
            <a:avLst/>
          </a:prstGeom>
          <a:noFill/>
          <a:ln/>
        </p:spPr>
        <p:txBody>
          <a:bodyPr wrap="square" lIns="102108" tIns="51054" rIns="102108" bIns="51054" rtlCol="0" anchor="t">
            <a:spAutoFit/>
          </a:bodyPr>
          <a:lstStyle/>
          <a:p>
            <a:pPr marL="0" indent="0" algn="ctr">
              <a:lnSpc>
                <a:spcPts val="800"/>
              </a:lnSpc>
              <a:buNone/>
            </a:pPr>
            <a:r>
              <a:rPr lang="en-US" sz="584" b="1" kern="0" spc="1" dirty="0">
                <a:solidFill>
                  <a:srgbClr val="00F0FF"/>
                </a:solidFill>
              </a:rPr>
              <a:t>Автономный поиск</a:t>
            </a:r>
            <a:endParaRPr lang="en-US" sz="584" dirty="0"/>
          </a:p>
        </p:txBody>
      </p:sp>
      <p:sp>
        <p:nvSpPr>
          <p:cNvPr id="12" name="Shape 7"/>
          <p:cNvSpPr/>
          <p:nvPr/>
        </p:nvSpPr>
        <p:spPr>
          <a:xfrm>
            <a:off x="3333731" y="1251942"/>
            <a:ext cx="2476509" cy="3891558"/>
          </a:xfrm>
          <a:prstGeom prst="rect">
            <a:avLst/>
          </a:prstGeom>
          <a:solidFill>
            <a:srgbClr val="1C2128"/>
          </a:solidFill>
          <a:ln/>
        </p:spPr>
        <p:txBody>
          <a:bodyPr/>
          <a:lstStyle/>
          <a:p>
            <a:endParaRPr lang="ru-KZ"/>
          </a:p>
        </p:txBody>
      </p:sp>
      <p:sp>
        <p:nvSpPr>
          <p:cNvPr id="13" name="Shape 8"/>
          <p:cNvSpPr/>
          <p:nvPr/>
        </p:nvSpPr>
        <p:spPr>
          <a:xfrm>
            <a:off x="3333731" y="1251942"/>
            <a:ext cx="2476509" cy="28575"/>
          </a:xfrm>
          <a:prstGeom prst="rect">
            <a:avLst/>
          </a:prstGeom>
          <a:solidFill>
            <a:srgbClr val="00F0FF"/>
          </a:solidFill>
          <a:ln/>
        </p:spPr>
        <p:txBody>
          <a:bodyPr/>
          <a:lstStyle/>
          <a:p>
            <a:endParaRPr lang="ru-KZ"/>
          </a:p>
        </p:txBody>
      </p:sp>
      <p:pic>
        <p:nvPicPr>
          <p:cNvPr id="14" name="Image 2" descr="preencoded.png"/>
          <p:cNvPicPr>
            <a:picLocks noChangeAspect="1"/>
          </p:cNvPicPr>
          <p:nvPr/>
        </p:nvPicPr>
        <p:blipFill>
          <a:blip r:embed="rId5"/>
          <a:stretch>
            <a:fillRect/>
          </a:stretch>
        </p:blipFill>
        <p:spPr>
          <a:xfrm>
            <a:off x="4348730" y="1607344"/>
            <a:ext cx="446484" cy="357188"/>
          </a:xfrm>
          <a:prstGeom prst="rect">
            <a:avLst/>
          </a:prstGeom>
        </p:spPr>
      </p:pic>
      <p:sp>
        <p:nvSpPr>
          <p:cNvPr id="15" name="Text 9"/>
          <p:cNvSpPr/>
          <p:nvPr/>
        </p:nvSpPr>
        <p:spPr>
          <a:xfrm>
            <a:off x="3706909" y="2239566"/>
            <a:ext cx="1730127" cy="233958"/>
          </a:xfrm>
          <a:prstGeom prst="rect">
            <a:avLst/>
          </a:prstGeom>
          <a:noFill/>
          <a:ln/>
        </p:spPr>
        <p:txBody>
          <a:bodyPr wrap="none" lIns="0" tIns="0" rIns="0" bIns="0" rtlCol="0" anchor="t">
            <a:spAutoFit/>
          </a:bodyPr>
          <a:lstStyle/>
          <a:p>
            <a:pPr marL="0" indent="0" algn="ctr">
              <a:lnSpc>
                <a:spcPts val="1600"/>
              </a:lnSpc>
              <a:buNone/>
            </a:pPr>
            <a:r>
              <a:rPr lang="en-US" sz="1193" b="1" kern="0" spc="1" dirty="0">
                <a:solidFill>
                  <a:srgbClr val="FFFFFF"/>
                </a:solidFill>
              </a:rPr>
              <a:t>DevOps &amp; Coding</a:t>
            </a:r>
            <a:endParaRPr lang="en-US" sz="1193" dirty="0"/>
          </a:p>
        </p:txBody>
      </p:sp>
      <p:sp>
        <p:nvSpPr>
          <p:cNvPr id="16" name="Text 10"/>
          <p:cNvSpPr/>
          <p:nvPr/>
        </p:nvSpPr>
        <p:spPr>
          <a:xfrm>
            <a:off x="3548044" y="2616398"/>
            <a:ext cx="2047884" cy="914316"/>
          </a:xfrm>
          <a:prstGeom prst="rect">
            <a:avLst/>
          </a:prstGeom>
          <a:noFill/>
          <a:ln/>
        </p:spPr>
        <p:txBody>
          <a:bodyPr wrap="square" lIns="0" tIns="0" rIns="0" bIns="0" rtlCol="0" anchor="t">
            <a:spAutoFit/>
          </a:bodyPr>
          <a:lstStyle/>
          <a:p>
            <a:pPr marL="0" indent="0" algn="ctr">
              <a:lnSpc>
                <a:spcPts val="1400"/>
              </a:lnSpc>
              <a:buNone/>
            </a:pPr>
            <a:r>
              <a:rPr lang="en-US" sz="834" dirty="0">
                <a:solidFill>
                  <a:srgbClr val="A0AEC0"/>
                </a:solidFill>
              </a:rPr>
              <a:t>Агенты, способные не только писать код, но и самостоятельно запускать тесты, исправлять баги в CI/CD пайплайнах и проводить аудит безопасности.</a:t>
            </a:r>
            <a:endParaRPr lang="en-US" sz="834" dirty="0"/>
          </a:p>
        </p:txBody>
      </p:sp>
      <p:sp>
        <p:nvSpPr>
          <p:cNvPr id="17" name="Shape 11"/>
          <p:cNvSpPr/>
          <p:nvPr/>
        </p:nvSpPr>
        <p:spPr>
          <a:xfrm>
            <a:off x="3989561" y="4727377"/>
            <a:ext cx="1164822" cy="201811"/>
          </a:xfrm>
          <a:prstGeom prst="rect">
            <a:avLst/>
          </a:prstGeom>
          <a:solidFill>
            <a:srgbClr val="2D3748"/>
          </a:solidFill>
          <a:ln/>
        </p:spPr>
        <p:txBody>
          <a:bodyPr/>
          <a:lstStyle/>
          <a:p>
            <a:endParaRPr lang="ru-KZ"/>
          </a:p>
        </p:txBody>
      </p:sp>
      <p:sp>
        <p:nvSpPr>
          <p:cNvPr id="18" name="Text 12"/>
          <p:cNvSpPr/>
          <p:nvPr/>
        </p:nvSpPr>
        <p:spPr>
          <a:xfrm>
            <a:off x="3989561" y="4727377"/>
            <a:ext cx="1164822" cy="201811"/>
          </a:xfrm>
          <a:prstGeom prst="rect">
            <a:avLst/>
          </a:prstGeom>
          <a:noFill/>
          <a:ln/>
        </p:spPr>
        <p:txBody>
          <a:bodyPr wrap="square" lIns="102108" tIns="51054" rIns="102108" bIns="51054" rtlCol="0" anchor="t">
            <a:spAutoFit/>
          </a:bodyPr>
          <a:lstStyle/>
          <a:p>
            <a:pPr marL="0" indent="0" algn="ctr">
              <a:lnSpc>
                <a:spcPts val="800"/>
              </a:lnSpc>
              <a:buNone/>
            </a:pPr>
            <a:r>
              <a:rPr lang="en-US" sz="584" b="1" kern="0" spc="1" dirty="0">
                <a:solidFill>
                  <a:srgbClr val="00F0FF"/>
                </a:solidFill>
              </a:rPr>
              <a:t>Self-Healing Code</a:t>
            </a:r>
            <a:endParaRPr lang="en-US" sz="584" dirty="0"/>
          </a:p>
        </p:txBody>
      </p:sp>
      <p:sp>
        <p:nvSpPr>
          <p:cNvPr id="19" name="Shape 13"/>
          <p:cNvSpPr/>
          <p:nvPr/>
        </p:nvSpPr>
        <p:spPr>
          <a:xfrm>
            <a:off x="6095991" y="1251942"/>
            <a:ext cx="2476481" cy="3891558"/>
          </a:xfrm>
          <a:prstGeom prst="rect">
            <a:avLst/>
          </a:prstGeom>
          <a:solidFill>
            <a:srgbClr val="161B22"/>
          </a:solidFill>
          <a:ln/>
        </p:spPr>
        <p:txBody>
          <a:bodyPr/>
          <a:lstStyle/>
          <a:p>
            <a:endParaRPr lang="ru-KZ"/>
          </a:p>
        </p:txBody>
      </p:sp>
      <p:sp>
        <p:nvSpPr>
          <p:cNvPr id="20" name="Shape 14"/>
          <p:cNvSpPr/>
          <p:nvPr/>
        </p:nvSpPr>
        <p:spPr>
          <a:xfrm>
            <a:off x="6095991" y="1251942"/>
            <a:ext cx="2476481" cy="28575"/>
          </a:xfrm>
          <a:prstGeom prst="rect">
            <a:avLst/>
          </a:prstGeom>
          <a:solidFill>
            <a:srgbClr val="7000FF"/>
          </a:solidFill>
          <a:ln/>
        </p:spPr>
        <p:txBody>
          <a:bodyPr/>
          <a:lstStyle/>
          <a:p>
            <a:endParaRPr lang="ru-KZ"/>
          </a:p>
        </p:txBody>
      </p:sp>
      <p:pic>
        <p:nvPicPr>
          <p:cNvPr id="21" name="Image 3" descr="preencoded.png"/>
          <p:cNvPicPr>
            <a:picLocks noChangeAspect="1"/>
          </p:cNvPicPr>
          <p:nvPr/>
        </p:nvPicPr>
        <p:blipFill>
          <a:blip r:embed="rId6"/>
          <a:stretch>
            <a:fillRect/>
          </a:stretch>
        </p:blipFill>
        <p:spPr>
          <a:xfrm>
            <a:off x="7155638" y="1607344"/>
            <a:ext cx="357188" cy="357188"/>
          </a:xfrm>
          <a:prstGeom prst="rect">
            <a:avLst/>
          </a:prstGeom>
        </p:spPr>
      </p:pic>
      <p:sp>
        <p:nvSpPr>
          <p:cNvPr id="22" name="Text 15"/>
          <p:cNvSpPr/>
          <p:nvPr/>
        </p:nvSpPr>
        <p:spPr>
          <a:xfrm>
            <a:off x="6310303" y="2239566"/>
            <a:ext cx="2047856" cy="467916"/>
          </a:xfrm>
          <a:prstGeom prst="rect">
            <a:avLst/>
          </a:prstGeom>
          <a:noFill/>
          <a:ln/>
        </p:spPr>
        <p:txBody>
          <a:bodyPr wrap="square" lIns="0" tIns="0" rIns="0" bIns="0" rtlCol="0" anchor="t">
            <a:spAutoFit/>
          </a:bodyPr>
          <a:lstStyle/>
          <a:p>
            <a:pPr marL="0" indent="0" algn="ctr">
              <a:lnSpc>
                <a:spcPts val="1600"/>
              </a:lnSpc>
              <a:buNone/>
            </a:pPr>
            <a:r>
              <a:rPr lang="en-US" sz="1193" b="1" kern="0" spc="1" dirty="0">
                <a:solidFill>
                  <a:srgbClr val="FFFFFF"/>
                </a:solidFill>
              </a:rPr>
              <a:t>Business Operations</a:t>
            </a:r>
            <a:endParaRPr lang="en-US" sz="1193" dirty="0"/>
          </a:p>
        </p:txBody>
      </p:sp>
      <p:sp>
        <p:nvSpPr>
          <p:cNvPr id="23" name="Text 16"/>
          <p:cNvSpPr/>
          <p:nvPr/>
        </p:nvSpPr>
        <p:spPr>
          <a:xfrm>
            <a:off x="6310303" y="2850356"/>
            <a:ext cx="2047856" cy="914316"/>
          </a:xfrm>
          <a:prstGeom prst="rect">
            <a:avLst/>
          </a:prstGeom>
          <a:noFill/>
          <a:ln/>
        </p:spPr>
        <p:txBody>
          <a:bodyPr wrap="square" lIns="0" tIns="0" rIns="0" bIns="0" rtlCol="0" anchor="t">
            <a:spAutoFit/>
          </a:bodyPr>
          <a:lstStyle/>
          <a:p>
            <a:pPr marL="0" indent="0" algn="ctr">
              <a:lnSpc>
                <a:spcPts val="1400"/>
              </a:lnSpc>
              <a:buNone/>
            </a:pPr>
            <a:r>
              <a:rPr lang="en-US" sz="834" dirty="0">
                <a:solidFill>
                  <a:srgbClr val="A0AEC0"/>
                </a:solidFill>
              </a:rPr>
              <a:t>Автоматизация сложных процессов: от обработки входящих счетов и сверки данных до управления календарями и координации встреч между командами.</a:t>
            </a:r>
            <a:endParaRPr lang="en-US" sz="834" dirty="0"/>
          </a:p>
        </p:txBody>
      </p:sp>
      <p:sp>
        <p:nvSpPr>
          <p:cNvPr id="24" name="Shape 17"/>
          <p:cNvSpPr/>
          <p:nvPr/>
        </p:nvSpPr>
        <p:spPr>
          <a:xfrm>
            <a:off x="6527909" y="4727377"/>
            <a:ext cx="1612618" cy="201811"/>
          </a:xfrm>
          <a:prstGeom prst="rect">
            <a:avLst/>
          </a:prstGeom>
          <a:solidFill>
            <a:srgbClr val="2D3748"/>
          </a:solidFill>
          <a:ln/>
        </p:spPr>
        <p:txBody>
          <a:bodyPr/>
          <a:lstStyle/>
          <a:p>
            <a:endParaRPr lang="ru-KZ"/>
          </a:p>
        </p:txBody>
      </p:sp>
      <p:sp>
        <p:nvSpPr>
          <p:cNvPr id="25" name="Text 18"/>
          <p:cNvSpPr/>
          <p:nvPr/>
        </p:nvSpPr>
        <p:spPr>
          <a:xfrm>
            <a:off x="6527909" y="4727377"/>
            <a:ext cx="1612618" cy="201811"/>
          </a:xfrm>
          <a:prstGeom prst="rect">
            <a:avLst/>
          </a:prstGeom>
          <a:noFill/>
          <a:ln/>
        </p:spPr>
        <p:txBody>
          <a:bodyPr wrap="square" lIns="102108" tIns="51054" rIns="102108" bIns="51054" rtlCol="0" anchor="t">
            <a:spAutoFit/>
          </a:bodyPr>
          <a:lstStyle/>
          <a:p>
            <a:pPr marL="0" indent="0" algn="ctr">
              <a:lnSpc>
                <a:spcPts val="800"/>
              </a:lnSpc>
              <a:buNone/>
            </a:pPr>
            <a:r>
              <a:rPr lang="en-US" sz="584" b="1" kern="0" spc="1" dirty="0">
                <a:solidFill>
                  <a:srgbClr val="00F0FF"/>
                </a:solidFill>
              </a:rPr>
              <a:t>Workflow Orchestration</a:t>
            </a:r>
            <a:endParaRPr lang="en-US" sz="584"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428625"/>
            <a:ext cx="8572500" cy="466130"/>
          </a:xfrm>
          <a:prstGeom prst="rect">
            <a:avLst/>
          </a:prstGeom>
          <a:noFill/>
          <a:ln/>
        </p:spPr>
        <p:txBody>
          <a:bodyPr wrap="none" lIns="0" tIns="0" rIns="0" bIns="0" rtlCol="0" anchor="t">
            <a:spAutoFit/>
          </a:bodyPr>
          <a:lstStyle/>
          <a:p>
            <a:pPr marL="0" indent="0" algn="l">
              <a:lnSpc>
                <a:spcPts val="3200"/>
              </a:lnSpc>
              <a:buNone/>
            </a:pPr>
            <a:r>
              <a:rPr lang="en-US" sz="2436" b="1" kern="0" spc="-1" dirty="0">
                <a:solidFill>
                  <a:srgbClr val="00F0FF"/>
                </a:solidFill>
              </a:rPr>
              <a:t>Итоги и Будущее</a:t>
            </a:r>
            <a:endParaRPr lang="en-US" sz="2436" dirty="0"/>
          </a:p>
        </p:txBody>
      </p:sp>
      <p:sp>
        <p:nvSpPr>
          <p:cNvPr id="5" name="Shape 1"/>
          <p:cNvSpPr/>
          <p:nvPr/>
        </p:nvSpPr>
        <p:spPr>
          <a:xfrm>
            <a:off x="571500" y="1323380"/>
            <a:ext cx="2476481" cy="2000250"/>
          </a:xfrm>
          <a:prstGeom prst="rect">
            <a:avLst/>
          </a:prstGeom>
          <a:solidFill>
            <a:srgbClr val="161B22"/>
          </a:solidFill>
          <a:ln/>
        </p:spPr>
        <p:txBody>
          <a:bodyPr/>
          <a:lstStyle/>
          <a:p>
            <a:endParaRPr lang="ru-KZ"/>
          </a:p>
        </p:txBody>
      </p:sp>
      <p:sp>
        <p:nvSpPr>
          <p:cNvPr id="6" name="Shape 2"/>
          <p:cNvSpPr/>
          <p:nvPr/>
        </p:nvSpPr>
        <p:spPr>
          <a:xfrm>
            <a:off x="571500" y="1323380"/>
            <a:ext cx="2476481" cy="28575"/>
          </a:xfrm>
          <a:prstGeom prst="rect">
            <a:avLst/>
          </a:prstGeom>
          <a:solidFill>
            <a:srgbClr val="7000FF"/>
          </a:solidFill>
          <a:ln/>
        </p:spPr>
        <p:txBody>
          <a:bodyPr/>
          <a:lstStyle/>
          <a:p>
            <a:endParaRPr lang="ru-KZ"/>
          </a:p>
        </p:txBody>
      </p:sp>
      <p:sp>
        <p:nvSpPr>
          <p:cNvPr id="7" name="Text 3"/>
          <p:cNvSpPr/>
          <p:nvPr/>
        </p:nvSpPr>
        <p:spPr>
          <a:xfrm>
            <a:off x="750094" y="1537692"/>
            <a:ext cx="2119294"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00F0FF"/>
                </a:solidFill>
              </a:rPr>
              <a:t>Ключевые выводы</a:t>
            </a:r>
            <a:endParaRPr lang="en-US" sz="1090" dirty="0"/>
          </a:p>
        </p:txBody>
      </p:sp>
      <p:sp>
        <p:nvSpPr>
          <p:cNvPr id="8" name="Text 4"/>
          <p:cNvSpPr/>
          <p:nvPr/>
        </p:nvSpPr>
        <p:spPr>
          <a:xfrm>
            <a:off x="750094" y="1894880"/>
            <a:ext cx="2119294" cy="109718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A0AEC0"/>
                </a:solidFill>
              </a:rPr>
              <a:t>Агенты — это не просто чат-боты. Это системы, использующие LLM как движок рассуждений для автономного планирования, использования инструментов и управления памятью.</a:t>
            </a:r>
            <a:endParaRPr lang="en-US" sz="834" dirty="0"/>
          </a:p>
        </p:txBody>
      </p:sp>
      <p:sp>
        <p:nvSpPr>
          <p:cNvPr id="9" name="Shape 5"/>
          <p:cNvSpPr/>
          <p:nvPr/>
        </p:nvSpPr>
        <p:spPr>
          <a:xfrm>
            <a:off x="3333731" y="1323380"/>
            <a:ext cx="2476509" cy="2000250"/>
          </a:xfrm>
          <a:prstGeom prst="rect">
            <a:avLst/>
          </a:prstGeom>
          <a:solidFill>
            <a:srgbClr val="161B22"/>
          </a:solidFill>
          <a:ln/>
        </p:spPr>
        <p:txBody>
          <a:bodyPr/>
          <a:lstStyle/>
          <a:p>
            <a:endParaRPr lang="ru-KZ"/>
          </a:p>
        </p:txBody>
      </p:sp>
      <p:sp>
        <p:nvSpPr>
          <p:cNvPr id="10" name="Shape 6"/>
          <p:cNvSpPr/>
          <p:nvPr/>
        </p:nvSpPr>
        <p:spPr>
          <a:xfrm>
            <a:off x="3333731" y="1323380"/>
            <a:ext cx="2476509" cy="28575"/>
          </a:xfrm>
          <a:prstGeom prst="rect">
            <a:avLst/>
          </a:prstGeom>
          <a:solidFill>
            <a:srgbClr val="00F0FF"/>
          </a:solidFill>
          <a:ln/>
        </p:spPr>
        <p:txBody>
          <a:bodyPr/>
          <a:lstStyle/>
          <a:p>
            <a:endParaRPr lang="ru-KZ"/>
          </a:p>
        </p:txBody>
      </p:sp>
      <p:sp>
        <p:nvSpPr>
          <p:cNvPr id="11" name="Text 7"/>
          <p:cNvSpPr/>
          <p:nvPr/>
        </p:nvSpPr>
        <p:spPr>
          <a:xfrm>
            <a:off x="3512325" y="1537692"/>
            <a:ext cx="2119322"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00F0FF"/>
                </a:solidFill>
              </a:rPr>
              <a:t>Этика и Безопасность</a:t>
            </a:r>
            <a:endParaRPr lang="en-US" sz="1090" dirty="0"/>
          </a:p>
        </p:txBody>
      </p:sp>
      <p:sp>
        <p:nvSpPr>
          <p:cNvPr id="12" name="Text 8"/>
          <p:cNvSpPr/>
          <p:nvPr/>
        </p:nvSpPr>
        <p:spPr>
          <a:xfrm>
            <a:off x="3512325" y="1894880"/>
            <a:ext cx="2119322" cy="109718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A0AEC0"/>
                </a:solidFill>
              </a:rPr>
              <a:t>С ростом автономности критически важными становятся вопросы безопасности (Safety), согласованности целей (Alignment) и обязательного участия человека (Human-in-the-loop).</a:t>
            </a:r>
            <a:endParaRPr lang="en-US" sz="834" dirty="0"/>
          </a:p>
        </p:txBody>
      </p:sp>
      <p:sp>
        <p:nvSpPr>
          <p:cNvPr id="13" name="Shape 9"/>
          <p:cNvSpPr/>
          <p:nvPr/>
        </p:nvSpPr>
        <p:spPr>
          <a:xfrm>
            <a:off x="6095991" y="1323380"/>
            <a:ext cx="2476481" cy="2000250"/>
          </a:xfrm>
          <a:prstGeom prst="rect">
            <a:avLst/>
          </a:prstGeom>
          <a:solidFill>
            <a:srgbClr val="161B22"/>
          </a:solidFill>
          <a:ln/>
        </p:spPr>
        <p:txBody>
          <a:bodyPr/>
          <a:lstStyle/>
          <a:p>
            <a:endParaRPr lang="ru-KZ"/>
          </a:p>
        </p:txBody>
      </p:sp>
      <p:sp>
        <p:nvSpPr>
          <p:cNvPr id="14" name="Shape 10"/>
          <p:cNvSpPr/>
          <p:nvPr/>
        </p:nvSpPr>
        <p:spPr>
          <a:xfrm>
            <a:off x="6095991" y="1323380"/>
            <a:ext cx="2476481" cy="28575"/>
          </a:xfrm>
          <a:prstGeom prst="rect">
            <a:avLst/>
          </a:prstGeom>
          <a:solidFill>
            <a:srgbClr val="7000FF"/>
          </a:solidFill>
          <a:ln/>
        </p:spPr>
        <p:txBody>
          <a:bodyPr/>
          <a:lstStyle/>
          <a:p>
            <a:endParaRPr lang="ru-KZ"/>
          </a:p>
        </p:txBody>
      </p:sp>
      <p:sp>
        <p:nvSpPr>
          <p:cNvPr id="15" name="Text 11"/>
          <p:cNvSpPr/>
          <p:nvPr/>
        </p:nvSpPr>
        <p:spPr>
          <a:xfrm>
            <a:off x="6274584" y="1537692"/>
            <a:ext cx="2119294"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00F0FF"/>
                </a:solidFill>
              </a:rPr>
              <a:t>Вектор развития</a:t>
            </a:r>
            <a:endParaRPr lang="en-US" sz="1090" dirty="0"/>
          </a:p>
        </p:txBody>
      </p:sp>
      <p:sp>
        <p:nvSpPr>
          <p:cNvPr id="16" name="Text 12"/>
          <p:cNvSpPr/>
          <p:nvPr/>
        </p:nvSpPr>
        <p:spPr>
          <a:xfrm>
            <a:off x="6274584" y="1894880"/>
            <a:ext cx="2119294" cy="914316"/>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A0AEC0"/>
                </a:solidFill>
              </a:rPr>
              <a:t>Будущее за мультиагентными системами, способными решать комплексные задачи в реальном мире, от научных исследований до полной автоматизации бизнеса.</a:t>
            </a:r>
            <a:endParaRPr lang="en-US" sz="834" dirty="0"/>
          </a:p>
        </p:txBody>
      </p:sp>
      <p:sp>
        <p:nvSpPr>
          <p:cNvPr id="17" name="Shape 13"/>
          <p:cNvSpPr/>
          <p:nvPr/>
        </p:nvSpPr>
        <p:spPr>
          <a:xfrm>
            <a:off x="0" y="3857625"/>
            <a:ext cx="9144000" cy="1285875"/>
          </a:xfrm>
          <a:prstGeom prst="rect">
            <a:avLst/>
          </a:prstGeom>
          <a:solidFill>
            <a:srgbClr val="1C2128"/>
          </a:solidFill>
          <a:ln/>
        </p:spPr>
        <p:txBody>
          <a:bodyPr/>
          <a:lstStyle/>
          <a:p>
            <a:endParaRPr lang="ru-KZ"/>
          </a:p>
        </p:txBody>
      </p:sp>
      <p:sp>
        <p:nvSpPr>
          <p:cNvPr id="18" name="Shape 14"/>
          <p:cNvSpPr/>
          <p:nvPr/>
        </p:nvSpPr>
        <p:spPr>
          <a:xfrm>
            <a:off x="0" y="3857625"/>
            <a:ext cx="9144000" cy="7144"/>
          </a:xfrm>
          <a:prstGeom prst="rect">
            <a:avLst/>
          </a:prstGeom>
          <a:solidFill>
            <a:srgbClr val="2D3748"/>
          </a:solidFill>
          <a:ln/>
        </p:spPr>
        <p:txBody>
          <a:bodyPr/>
          <a:lstStyle/>
          <a:p>
            <a:endParaRPr lang="ru-KZ"/>
          </a:p>
        </p:txBody>
      </p:sp>
      <p:sp>
        <p:nvSpPr>
          <p:cNvPr id="21" name="Text 17"/>
          <p:cNvSpPr/>
          <p:nvPr/>
        </p:nvSpPr>
        <p:spPr>
          <a:xfrm>
            <a:off x="1520916" y="4164806"/>
            <a:ext cx="5593116" cy="194284"/>
          </a:xfrm>
          <a:prstGeom prst="rect">
            <a:avLst/>
          </a:prstGeom>
          <a:noFill/>
          <a:ln/>
        </p:spPr>
        <p:txBody>
          <a:bodyPr wrap="square" lIns="0" tIns="0" rIns="0" bIns="0" rtlCol="0" anchor="t">
            <a:spAutoFit/>
          </a:bodyPr>
          <a:lstStyle/>
          <a:p>
            <a:pPr marL="0" indent="0" algn="ctr">
              <a:lnSpc>
                <a:spcPts val="1600"/>
              </a:lnSpc>
              <a:buNone/>
            </a:pPr>
            <a:r>
              <a:rPr lang="en-US" sz="1193" b="1" kern="0" spc="1" dirty="0">
                <a:solidFill>
                  <a:srgbClr val="00F0FF"/>
                </a:solidFill>
              </a:rPr>
              <a:t>Спасибо за внимание!</a:t>
            </a:r>
            <a:endParaRPr lang="en-US" sz="1193"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TotalTime>
  <Words>1975</Words>
  <Application>Microsoft Macintosh PowerPoint</Application>
  <PresentationFormat>Экран (16:9)</PresentationFormat>
  <Paragraphs>144</Paragraphs>
  <Slides>25</Slides>
  <Notes>9</Notes>
  <HiddenSlides>0</HiddenSlides>
  <MMClips>0</MMClips>
  <ScaleCrop>false</ScaleCrop>
  <HeadingPairs>
    <vt:vector size="6" baseType="variant">
      <vt:variant>
        <vt:lpstr>Использованные шрифты</vt:lpstr>
      </vt:variant>
      <vt:variant>
        <vt:i4>1</vt:i4>
      </vt:variant>
      <vt:variant>
        <vt:lpstr>Тема</vt:lpstr>
      </vt:variant>
      <vt:variant>
        <vt:i4>1</vt:i4>
      </vt:variant>
      <vt:variant>
        <vt:lpstr>Заголовки слайдов</vt:lpstr>
      </vt:variant>
      <vt:variant>
        <vt:i4>25</vt:i4>
      </vt:variant>
    </vt:vector>
  </HeadingPairs>
  <TitlesOfParts>
    <vt:vector size="27" baseType="lpstr">
      <vt:lpstr>Arial</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Қалжанов Нұрлыхан Ерланұлы</cp:lastModifiedBy>
  <cp:revision>5</cp:revision>
  <dcterms:created xsi:type="dcterms:W3CDTF">2026-01-16T06:32:11Z</dcterms:created>
  <dcterms:modified xsi:type="dcterms:W3CDTF">2026-01-16T12:51:17Z</dcterms:modified>
</cp:coreProperties>
</file>