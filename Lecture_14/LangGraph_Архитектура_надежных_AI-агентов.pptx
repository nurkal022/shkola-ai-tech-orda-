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99" d="100"/>
          <a:sy n="199" d="100"/>
        </p:scale>
        <p:origin x="176" y="4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873445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3" Type="http://schemas.openxmlformats.org/officeDocument/2006/relationships/image" Target="../media/image2.png"/><Relationship Id="rId7" Type="http://schemas.openxmlformats.org/officeDocument/2006/relationships/image" Target="../media/image6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59.png"/><Relationship Id="rId9" Type="http://schemas.openxmlformats.org/officeDocument/2006/relationships/image" Target="../media/image6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8.png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1.png"/><Relationship Id="rId4" Type="http://schemas.openxmlformats.org/officeDocument/2006/relationships/image" Target="../media/image7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7" Type="http://schemas.openxmlformats.org/officeDocument/2006/relationships/image" Target="../media/image7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5.png"/><Relationship Id="rId5" Type="http://schemas.openxmlformats.org/officeDocument/2006/relationships/image" Target="../media/image74.png"/><Relationship Id="rId4" Type="http://schemas.openxmlformats.org/officeDocument/2006/relationships/image" Target="../media/image73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png"/><Relationship Id="rId3" Type="http://schemas.openxmlformats.org/officeDocument/2006/relationships/image" Target="../media/image2.png"/><Relationship Id="rId7" Type="http://schemas.openxmlformats.org/officeDocument/2006/relationships/image" Target="../media/image8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9.png"/><Relationship Id="rId5" Type="http://schemas.openxmlformats.org/officeDocument/2006/relationships/image" Target="../media/image78.png"/><Relationship Id="rId4" Type="http://schemas.openxmlformats.org/officeDocument/2006/relationships/image" Target="../media/image7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7" Type="http://schemas.openxmlformats.org/officeDocument/2006/relationships/image" Target="../media/image8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5.png"/><Relationship Id="rId5" Type="http://schemas.openxmlformats.org/officeDocument/2006/relationships/image" Target="../media/image84.png"/><Relationship Id="rId4" Type="http://schemas.openxmlformats.org/officeDocument/2006/relationships/image" Target="../media/image8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9.png"/><Relationship Id="rId4" Type="http://schemas.openxmlformats.org/officeDocument/2006/relationships/image" Target="../media/image8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2.png"/><Relationship Id="rId4" Type="http://schemas.openxmlformats.org/officeDocument/2006/relationships/image" Target="../media/image9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5.png"/><Relationship Id="rId4" Type="http://schemas.openxmlformats.org/officeDocument/2006/relationships/image" Target="../media/image9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9.png"/><Relationship Id="rId5" Type="http://schemas.openxmlformats.org/officeDocument/2006/relationships/image" Target="../media/image98.png"/><Relationship Id="rId4" Type="http://schemas.openxmlformats.org/officeDocument/2006/relationships/image" Target="../media/image9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3.png"/><Relationship Id="rId5" Type="http://schemas.openxmlformats.org/officeDocument/2006/relationships/image" Target="../media/image102.png"/><Relationship Id="rId4" Type="http://schemas.openxmlformats.org/officeDocument/2006/relationships/image" Target="../media/image10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6.png"/><Relationship Id="rId4" Type="http://schemas.openxmlformats.org/officeDocument/2006/relationships/image" Target="../media/image10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9.png"/><Relationship Id="rId4" Type="http://schemas.openxmlformats.org/officeDocument/2006/relationships/image" Target="../media/image10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2.png"/><Relationship Id="rId4" Type="http://schemas.openxmlformats.org/officeDocument/2006/relationships/image" Target="../media/image11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6.png"/><Relationship Id="rId5" Type="http://schemas.openxmlformats.org/officeDocument/2006/relationships/image" Target="../media/image115.png"/><Relationship Id="rId4" Type="http://schemas.openxmlformats.org/officeDocument/2006/relationships/image" Target="../media/image11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9.png"/><Relationship Id="rId4" Type="http://schemas.openxmlformats.org/officeDocument/2006/relationships/image" Target="../media/image118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2.png"/><Relationship Id="rId4" Type="http://schemas.openxmlformats.org/officeDocument/2006/relationships/image" Target="../media/image12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4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6.png"/><Relationship Id="rId4" Type="http://schemas.openxmlformats.org/officeDocument/2006/relationships/image" Target="../media/image125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7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9.png"/><Relationship Id="rId4" Type="http://schemas.openxmlformats.org/officeDocument/2006/relationships/image" Target="../media/image128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5.png"/><Relationship Id="rId3" Type="http://schemas.openxmlformats.org/officeDocument/2006/relationships/image" Target="../media/image130.png"/><Relationship Id="rId7" Type="http://schemas.openxmlformats.org/officeDocument/2006/relationships/image" Target="../media/image134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3.png"/><Relationship Id="rId11" Type="http://schemas.openxmlformats.org/officeDocument/2006/relationships/image" Target="../media/image138.png"/><Relationship Id="rId5" Type="http://schemas.openxmlformats.org/officeDocument/2006/relationships/image" Target="../media/image132.png"/><Relationship Id="rId10" Type="http://schemas.openxmlformats.org/officeDocument/2006/relationships/image" Target="../media/image137.png"/><Relationship Id="rId4" Type="http://schemas.openxmlformats.org/officeDocument/2006/relationships/image" Target="../media/image131.png"/><Relationship Id="rId9" Type="http://schemas.openxmlformats.org/officeDocument/2006/relationships/image" Target="../media/image136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9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2.png"/><Relationship Id="rId5" Type="http://schemas.openxmlformats.org/officeDocument/2006/relationships/image" Target="../media/image141.png"/><Relationship Id="rId4" Type="http://schemas.openxmlformats.org/officeDocument/2006/relationships/image" Target="../media/image14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1285875"/>
            <a:ext cx="5715000" cy="7715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6100"/>
              </a:lnSpc>
              <a:buNone/>
            </a:pPr>
            <a:r>
              <a:rPr lang="en-US" sz="6218" b="1" kern="0" spc="-3" dirty="0">
                <a:solidFill>
                  <a:srgbClr val="1A1A1A"/>
                </a:solidFill>
              </a:rPr>
              <a:t>LangGraph</a:t>
            </a:r>
            <a:endParaRPr lang="en-US" sz="6218" dirty="0"/>
          </a:p>
        </p:txBody>
      </p:sp>
      <p:sp>
        <p:nvSpPr>
          <p:cNvPr id="4" name="Text 1"/>
          <p:cNvSpPr/>
          <p:nvPr/>
        </p:nvSpPr>
        <p:spPr>
          <a:xfrm>
            <a:off x="571500" y="2200275"/>
            <a:ext cx="5715000" cy="7543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36" b="1" kern="0" spc="-1" dirty="0">
                <a:solidFill>
                  <a:srgbClr val="333333"/>
                </a:solidFill>
              </a:rPr>
              <a:t>Архитектура надежных
AI-агентов</a:t>
            </a:r>
            <a:endParaRPr lang="en-US" sz="2436" dirty="0"/>
          </a:p>
        </p:txBody>
      </p:sp>
      <p:sp>
        <p:nvSpPr>
          <p:cNvPr id="5" name="Text 2"/>
          <p:cNvSpPr/>
          <p:nvPr/>
        </p:nvSpPr>
        <p:spPr>
          <a:xfrm>
            <a:off x="571500" y="3240360"/>
            <a:ext cx="4286250" cy="480027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dirty="0">
                <a:solidFill>
                  <a:srgbClr val="555555"/>
                </a:solidFill>
              </a:rPr>
              <a:t>От линейных цепочек к циклическим графам
и логике SMAG</a:t>
            </a:r>
            <a:endParaRPr lang="en-US" sz="1269" dirty="0"/>
          </a:p>
        </p:txBody>
      </p:sp>
      <p:sp>
        <p:nvSpPr>
          <p:cNvPr id="6" name="Text 3"/>
          <p:cNvSpPr/>
          <p:nvPr/>
        </p:nvSpPr>
        <p:spPr>
          <a:xfrm>
            <a:off x="571500" y="4559498"/>
            <a:ext cx="378973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kern="0" spc="1" dirty="0">
                <a:solidFill>
                  <a:srgbClr val="888888"/>
                </a:solidFill>
              </a:rPr>
              <a:t>Техническое руководство 2026 • LangChain Ecosystem</a:t>
            </a:r>
            <a:endParaRPr lang="en-US" sz="784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572500" cy="660797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4" name="Shape 1"/>
          <p:cNvSpPr/>
          <p:nvPr/>
        </p:nvSpPr>
        <p:spPr>
          <a:xfrm>
            <a:off x="571500" y="428625"/>
            <a:ext cx="57150" cy="660797"/>
          </a:xfrm>
          <a:prstGeom prst="rect">
            <a:avLst/>
          </a:prstGeom>
          <a:solidFill>
            <a:srgbClr val="FF4500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5" name="Text 2"/>
          <p:cNvSpPr/>
          <p:nvPr/>
        </p:nvSpPr>
        <p:spPr>
          <a:xfrm>
            <a:off x="742950" y="428625"/>
            <a:ext cx="8401050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1A1A1A"/>
                </a:solidFill>
              </a:rPr>
              <a:t>Эволюция контроля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742950" y="894755"/>
            <a:ext cx="840105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555555"/>
                </a:solidFill>
              </a:rPr>
              <a:t>От линейных цепочек к циклическим графам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71500" y="1375172"/>
            <a:ext cx="3786188" cy="319683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1A1A"/>
                </a:solidFill>
              </a:rPr>
              <a:t>LangChain (Цепочки)</a:t>
            </a:r>
            <a:endParaRPr lang="en-US" sz="1193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880592"/>
            <a:ext cx="87511" cy="10001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44736" y="1837730"/>
            <a:ext cx="72590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Структура:</a:t>
            </a:r>
            <a:endParaRPr lang="en-US" sz="885" dirty="0"/>
          </a:p>
        </p:txBody>
      </p:sp>
      <p:sp>
        <p:nvSpPr>
          <p:cNvPr id="10" name="Text 6"/>
          <p:cNvSpPr/>
          <p:nvPr/>
        </p:nvSpPr>
        <p:spPr>
          <a:xfrm>
            <a:off x="1470636" y="1837730"/>
            <a:ext cx="2616008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1A1A1A"/>
                </a:solidFill>
              </a:rPr>
              <a:t>DAG (Направленный ациклический граф)</a:t>
            </a:r>
            <a:endParaRPr lang="en-US" sz="942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187773"/>
            <a:ext cx="100013" cy="10001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57238" y="2144911"/>
            <a:ext cx="869779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Исполнение:</a:t>
            </a:r>
            <a:endParaRPr lang="en-US" sz="885" dirty="0"/>
          </a:p>
        </p:txBody>
      </p:sp>
      <p:sp>
        <p:nvSpPr>
          <p:cNvPr id="13" name="Text 8"/>
          <p:cNvSpPr/>
          <p:nvPr/>
        </p:nvSpPr>
        <p:spPr>
          <a:xfrm>
            <a:off x="1627017" y="2144911"/>
            <a:ext cx="2117452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1A1A1A"/>
                </a:solidFill>
              </a:rPr>
              <a:t>Строго последовательное (A → B)</a:t>
            </a:r>
            <a:endParaRPr lang="en-US" sz="942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2494955"/>
            <a:ext cx="100013" cy="100013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57238" y="2452092"/>
            <a:ext cx="718561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Проблема:</a:t>
            </a:r>
            <a:endParaRPr lang="en-US" sz="885" dirty="0"/>
          </a:p>
        </p:txBody>
      </p:sp>
      <p:sp>
        <p:nvSpPr>
          <p:cNvPr id="16" name="Text 10"/>
          <p:cNvSpPr/>
          <p:nvPr/>
        </p:nvSpPr>
        <p:spPr>
          <a:xfrm>
            <a:off x="1475798" y="2452092"/>
            <a:ext cx="2193717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1A1A1A"/>
                </a:solidFill>
              </a:rPr>
              <a:t>Stateless. Ошибка ломает цепочку.</a:t>
            </a:r>
            <a:endParaRPr lang="en-US" sz="942" dirty="0"/>
          </a:p>
        </p:txBody>
      </p:sp>
      <p:sp>
        <p:nvSpPr>
          <p:cNvPr id="17" name="Shape 11"/>
          <p:cNvSpPr/>
          <p:nvPr/>
        </p:nvSpPr>
        <p:spPr>
          <a:xfrm>
            <a:off x="571500" y="2902148"/>
            <a:ext cx="3786188" cy="1285875"/>
          </a:xfrm>
          <a:prstGeom prst="rect">
            <a:avLst/>
          </a:prstGeom>
          <a:solidFill>
            <a:srgbClr val="FFFFFF"/>
          </a:solidFill>
          <a:ln w="9144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1048" y="2902148"/>
            <a:ext cx="2707091" cy="1285847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4786313" y="1375172"/>
            <a:ext cx="3786188" cy="319683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4500"/>
                </a:solidFill>
              </a:rPr>
              <a:t>LangGraph (Циклы)</a:t>
            </a:r>
            <a:endParaRPr lang="en-US" sz="1193" dirty="0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86313" y="1880592"/>
            <a:ext cx="100013" cy="100013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4972050" y="1837730"/>
            <a:ext cx="72590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Структура:</a:t>
            </a:r>
            <a:endParaRPr lang="en-US" sz="885" dirty="0"/>
          </a:p>
        </p:txBody>
      </p:sp>
      <p:sp>
        <p:nvSpPr>
          <p:cNvPr id="22" name="Text 14"/>
          <p:cNvSpPr/>
          <p:nvPr/>
        </p:nvSpPr>
        <p:spPr>
          <a:xfrm>
            <a:off x="5697950" y="1837730"/>
            <a:ext cx="1843311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1A1A1A"/>
                </a:solidFill>
              </a:rPr>
              <a:t>Поддерживает циклы (Loops)</a:t>
            </a:r>
            <a:endParaRPr lang="en-US" sz="942" dirty="0"/>
          </a:p>
        </p:txBody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86313" y="2187773"/>
            <a:ext cx="87511" cy="100013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4959548" y="2144911"/>
            <a:ext cx="1064475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Преимущество:</a:t>
            </a:r>
            <a:endParaRPr lang="en-US" sz="885" dirty="0"/>
          </a:p>
        </p:txBody>
      </p:sp>
      <p:sp>
        <p:nvSpPr>
          <p:cNvPr id="25" name="Text 16"/>
          <p:cNvSpPr/>
          <p:nvPr/>
        </p:nvSpPr>
        <p:spPr>
          <a:xfrm>
            <a:off x="6024023" y="2144911"/>
            <a:ext cx="1505015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1A1A1A"/>
                </a:solidFill>
              </a:rPr>
              <a:t>Персистентность (State)</a:t>
            </a:r>
            <a:endParaRPr lang="en-US" sz="942" dirty="0"/>
          </a:p>
        </p:txBody>
      </p:sp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86313" y="2494955"/>
            <a:ext cx="100013" cy="100013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4972050" y="2452092"/>
            <a:ext cx="523363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Логика:</a:t>
            </a:r>
            <a:endParaRPr lang="en-US" sz="885" dirty="0"/>
          </a:p>
        </p:txBody>
      </p:sp>
      <p:sp>
        <p:nvSpPr>
          <p:cNvPr id="28" name="Text 18"/>
          <p:cNvSpPr/>
          <p:nvPr/>
        </p:nvSpPr>
        <p:spPr>
          <a:xfrm>
            <a:off x="5495413" y="2452092"/>
            <a:ext cx="2208507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1A1A1A"/>
                </a:solidFill>
              </a:rPr>
              <a:t>Агент выбирает путь динамически</a:t>
            </a:r>
            <a:endParaRPr lang="en-US" sz="942" dirty="0"/>
          </a:p>
        </p:txBody>
      </p:sp>
      <p:sp>
        <p:nvSpPr>
          <p:cNvPr id="29" name="Text 19"/>
          <p:cNvSpPr/>
          <p:nvPr/>
        </p:nvSpPr>
        <p:spPr>
          <a:xfrm>
            <a:off x="4786313" y="3918347"/>
            <a:ext cx="378618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i="1" dirty="0">
                <a:solidFill>
                  <a:srgbClr val="555555"/>
                </a:solidFill>
              </a:rPr>
              <a:t>Циклы позволяют агенту исправлять ошибки и уточнять результаты.</a:t>
            </a:r>
            <a:endParaRPr lang="en-US" sz="834" dirty="0"/>
          </a:p>
        </p:txBody>
      </p:sp>
      <p:sp>
        <p:nvSpPr>
          <p:cNvPr id="30" name="Shape 20"/>
          <p:cNvSpPr/>
          <p:nvPr/>
        </p:nvSpPr>
        <p:spPr>
          <a:xfrm>
            <a:off x="571500" y="4154816"/>
            <a:ext cx="8001000" cy="702934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31" name="Text 21"/>
          <p:cNvSpPr/>
          <p:nvPr/>
        </p:nvSpPr>
        <p:spPr>
          <a:xfrm>
            <a:off x="800100" y="4418772"/>
            <a:ext cx="81243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4500"/>
                </a:solidFill>
              </a:rPr>
              <a:t>KEY INSIGHT</a:t>
            </a:r>
            <a:endParaRPr lang="en-US" sz="885" dirty="0"/>
          </a:p>
        </p:txBody>
      </p:sp>
      <p:sp>
        <p:nvSpPr>
          <p:cNvPr id="32" name="Text 22"/>
          <p:cNvSpPr/>
          <p:nvPr/>
        </p:nvSpPr>
        <p:spPr>
          <a:xfrm>
            <a:off x="1726834" y="4326266"/>
            <a:ext cx="6617066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FFFFFF"/>
                </a:solidFill>
              </a:rPr>
              <a:t>Реальная агентность требует циклов. Агент должен уметь повторять, исправлять и уточнять свои действия, а не просто следовать заранее заданному пути.</a:t>
            </a:r>
            <a:endParaRPr lang="en-US" sz="942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572500" cy="660797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4" name="Shape 1"/>
          <p:cNvSpPr/>
          <p:nvPr/>
        </p:nvSpPr>
        <p:spPr>
          <a:xfrm>
            <a:off x="571500" y="428625"/>
            <a:ext cx="57150" cy="660797"/>
          </a:xfrm>
          <a:prstGeom prst="rect">
            <a:avLst/>
          </a:prstGeom>
          <a:solidFill>
            <a:srgbClr val="FF4500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5" name="Text 2"/>
          <p:cNvSpPr/>
          <p:nvPr/>
        </p:nvSpPr>
        <p:spPr>
          <a:xfrm>
            <a:off x="742950" y="428625"/>
            <a:ext cx="8401050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1A1A1A"/>
                </a:solidFill>
              </a:rPr>
              <a:t>Анатомия агента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742950" y="894755"/>
            <a:ext cx="840105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555555"/>
                </a:solidFill>
              </a:rPr>
              <a:t>Три кирпича, из которых строится любой граф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71500" y="1303734"/>
            <a:ext cx="4629150" cy="2286000"/>
          </a:xfrm>
          <a:prstGeom prst="rect">
            <a:avLst/>
          </a:prstGeom>
          <a:solidFill>
            <a:srgbClr val="FFFFFF"/>
          </a:solidFill>
          <a:ln w="9144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223" y="1662485"/>
            <a:ext cx="4397676" cy="15685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5486400" y="1303734"/>
            <a:ext cx="3086100" cy="228600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0" name="Shape 6"/>
          <p:cNvSpPr/>
          <p:nvPr/>
        </p:nvSpPr>
        <p:spPr>
          <a:xfrm>
            <a:off x="5486400" y="1303734"/>
            <a:ext cx="28575" cy="2286000"/>
          </a:xfrm>
          <a:prstGeom prst="rect">
            <a:avLst/>
          </a:prstGeom>
          <a:solidFill>
            <a:srgbClr val="FF4500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1" name="Text 7"/>
          <p:cNvSpPr/>
          <p:nvPr/>
        </p:nvSpPr>
        <p:spPr>
          <a:xfrm>
            <a:off x="5657850" y="1715281"/>
            <a:ext cx="2381380" cy="14629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E0E0E0"/>
                </a:solidFill>
              </a:rPr>
              <a:t>workflow = </a:t>
            </a:r>
            <a:r>
              <a:rPr lang="en-US" sz="834" dirty="0">
                <a:solidFill>
                  <a:srgbClr val="8BE9FD"/>
                </a:solidFill>
              </a:rPr>
              <a:t>StateGraph</a:t>
            </a:r>
            <a:r>
              <a:rPr lang="en-US" sz="834" dirty="0">
                <a:solidFill>
                  <a:srgbClr val="E0E0E0"/>
                </a:solidFill>
              </a:rPr>
              <a:t>(AgentState)
</a:t>
            </a:r>
            <a:r>
              <a:rPr lang="en-US" sz="834" dirty="0">
                <a:solidFill>
                  <a:srgbClr val="FF79C6"/>
                </a:solidFill>
              </a:rPr>
              <a:t># Определение узлов</a:t>
            </a:r>
            <a:r>
              <a:rPr lang="en-US" sz="834" dirty="0">
                <a:solidFill>
                  <a:srgbClr val="E0E0E0"/>
                </a:solidFill>
              </a:rPr>
              <a:t>
workflow.</a:t>
            </a:r>
            <a:r>
              <a:rPr lang="en-US" sz="834" dirty="0">
                <a:solidFill>
                  <a:srgbClr val="8BE9FD"/>
                </a:solidFill>
              </a:rPr>
              <a:t>add_node</a:t>
            </a:r>
            <a:r>
              <a:rPr lang="en-US" sz="834" dirty="0">
                <a:solidFill>
                  <a:srgbClr val="E0E0E0"/>
                </a:solidFill>
              </a:rPr>
              <a:t>(</a:t>
            </a:r>
            <a:r>
              <a:rPr lang="en-US" sz="834" dirty="0">
                <a:solidFill>
                  <a:srgbClr val="F1FA8C"/>
                </a:solidFill>
              </a:rPr>
              <a:t>"agent"</a:t>
            </a:r>
            <a:r>
              <a:rPr lang="en-US" sz="834" dirty="0">
                <a:solidFill>
                  <a:srgbClr val="E0E0E0"/>
                </a:solidFill>
              </a:rPr>
              <a:t>, call_model)
workflow.</a:t>
            </a:r>
            <a:r>
              <a:rPr lang="en-US" sz="834" dirty="0">
                <a:solidFill>
                  <a:srgbClr val="8BE9FD"/>
                </a:solidFill>
              </a:rPr>
              <a:t>add_node</a:t>
            </a:r>
            <a:r>
              <a:rPr lang="en-US" sz="834" dirty="0">
                <a:solidFill>
                  <a:srgbClr val="E0E0E0"/>
                </a:solidFill>
              </a:rPr>
              <a:t>(</a:t>
            </a:r>
            <a:r>
              <a:rPr lang="en-US" sz="834" dirty="0">
                <a:solidFill>
                  <a:srgbClr val="F1FA8C"/>
                </a:solidFill>
              </a:rPr>
              <a:t>"tools"</a:t>
            </a:r>
            <a:r>
              <a:rPr lang="en-US" sz="834" dirty="0">
                <a:solidFill>
                  <a:srgbClr val="E0E0E0"/>
                </a:solidFill>
              </a:rPr>
              <a:t>, ToolNode(tools))
</a:t>
            </a:r>
            <a:r>
              <a:rPr lang="en-US" sz="834" dirty="0">
                <a:solidFill>
                  <a:srgbClr val="FF79C6"/>
                </a:solidFill>
              </a:rPr>
              <a:t># Определение ребер</a:t>
            </a:r>
            <a:r>
              <a:rPr lang="en-US" sz="834" dirty="0">
                <a:solidFill>
                  <a:srgbClr val="E0E0E0"/>
                </a:solidFill>
              </a:rPr>
              <a:t>
workflow.</a:t>
            </a:r>
            <a:r>
              <a:rPr lang="en-US" sz="834" dirty="0">
                <a:solidFill>
                  <a:srgbClr val="8BE9FD"/>
                </a:solidFill>
              </a:rPr>
              <a:t>add_edge</a:t>
            </a:r>
            <a:r>
              <a:rPr lang="en-US" sz="834" dirty="0">
                <a:solidFill>
                  <a:srgbClr val="E0E0E0"/>
                </a:solidFill>
              </a:rPr>
              <a:t>(</a:t>
            </a:r>
            <a:r>
              <a:rPr lang="en-US" sz="834" dirty="0">
                <a:solidFill>
                  <a:srgbClr val="F1FA8C"/>
                </a:solidFill>
              </a:rPr>
              <a:t>"agent"</a:t>
            </a:r>
            <a:r>
              <a:rPr lang="en-US" sz="834" dirty="0">
                <a:solidFill>
                  <a:srgbClr val="E0E0E0"/>
                </a:solidFill>
              </a:rPr>
              <a:t>, </a:t>
            </a:r>
            <a:r>
              <a:rPr lang="en-US" sz="834" dirty="0">
                <a:solidFill>
                  <a:srgbClr val="F1FA8C"/>
                </a:solidFill>
              </a:rPr>
              <a:t>"tools"</a:t>
            </a:r>
            <a:r>
              <a:rPr lang="en-US" sz="834" dirty="0">
                <a:solidFill>
                  <a:srgbClr val="E0E0E0"/>
                </a:solidFill>
              </a:rPr>
              <a:t>)</a:t>
            </a:r>
            <a:endParaRPr lang="en-US" sz="834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078188"/>
            <a:ext cx="142875" cy="14287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00100" y="4032647"/>
            <a:ext cx="1166552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333333"/>
                </a:solidFill>
              </a:rPr>
              <a:t>Узлы (Nodes)</a:t>
            </a:r>
            <a:endParaRPr lang="en-US" sz="1193" dirty="0"/>
          </a:p>
        </p:txBody>
      </p:sp>
      <p:sp>
        <p:nvSpPr>
          <p:cNvPr id="14" name="Text 9"/>
          <p:cNvSpPr/>
          <p:nvPr/>
        </p:nvSpPr>
        <p:spPr>
          <a:xfrm>
            <a:off x="571500" y="4352330"/>
            <a:ext cx="247648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555555"/>
                </a:solidFill>
              </a:rPr>
              <a:t>Функции или агенты, выполняющие работу. Каждый узел получает состояние на входе и возвращает обновление (update) на выходе.</a:t>
            </a:r>
            <a:endParaRPr lang="en-US" sz="834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33731" y="4078188"/>
            <a:ext cx="160734" cy="142875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3580191" y="4032647"/>
            <a:ext cx="1188151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333333"/>
                </a:solidFill>
              </a:rPr>
              <a:t>Рёбра (Edges)</a:t>
            </a:r>
            <a:endParaRPr lang="en-US" sz="1193" dirty="0"/>
          </a:p>
        </p:txBody>
      </p:sp>
      <p:sp>
        <p:nvSpPr>
          <p:cNvPr id="17" name="Text 11"/>
          <p:cNvSpPr/>
          <p:nvPr/>
        </p:nvSpPr>
        <p:spPr>
          <a:xfrm>
            <a:off x="3333731" y="4352330"/>
            <a:ext cx="2476509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555555"/>
                </a:solidFill>
              </a:rPr>
              <a:t>Связи между узлами. </a:t>
            </a:r>
            <a:r>
              <a:rPr lang="en-US" sz="784" b="1" dirty="0">
                <a:solidFill>
                  <a:srgbClr val="555555"/>
                </a:solidFill>
              </a:rPr>
              <a:t>Normal edges</a:t>
            </a:r>
            <a:r>
              <a:rPr lang="en-US" sz="834" dirty="0">
                <a:solidFill>
                  <a:srgbClr val="555555"/>
                </a:solidFill>
              </a:rPr>
              <a:t> передают управление, </a:t>
            </a:r>
            <a:r>
              <a:rPr lang="en-US" sz="784" b="1" dirty="0">
                <a:solidFill>
                  <a:srgbClr val="555555"/>
                </a:solidFill>
              </a:rPr>
              <a:t>Conditional edges</a:t>
            </a:r>
            <a:r>
              <a:rPr lang="en-US" sz="834" dirty="0">
                <a:solidFill>
                  <a:srgbClr val="555555"/>
                </a:solidFill>
              </a:rPr>
              <a:t> выбирают путь на основе логики.</a:t>
            </a:r>
            <a:endParaRPr lang="en-US" sz="834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5991" y="4078188"/>
            <a:ext cx="160734" cy="142875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342450" y="4032647"/>
            <a:ext cx="1551645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333333"/>
                </a:solidFill>
              </a:rPr>
              <a:t>Состояние (State)</a:t>
            </a:r>
            <a:endParaRPr lang="en-US" sz="1193" dirty="0"/>
          </a:p>
        </p:txBody>
      </p:sp>
      <p:sp>
        <p:nvSpPr>
          <p:cNvPr id="20" name="Text 13"/>
          <p:cNvSpPr/>
          <p:nvPr/>
        </p:nvSpPr>
        <p:spPr>
          <a:xfrm>
            <a:off x="6095991" y="4352330"/>
            <a:ext cx="2476481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555555"/>
                </a:solidFill>
              </a:rPr>
              <a:t>Типизированный словарь (TypedDict) или Pydantic-схема. Единый объект памяти, доступный всем узлам графа.</a:t>
            </a:r>
            <a:endParaRPr lang="en-US" sz="834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572500" cy="660797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4" name="Shape 1"/>
          <p:cNvSpPr/>
          <p:nvPr/>
        </p:nvSpPr>
        <p:spPr>
          <a:xfrm>
            <a:off x="571500" y="428625"/>
            <a:ext cx="57150" cy="660797"/>
          </a:xfrm>
          <a:prstGeom prst="rect">
            <a:avLst/>
          </a:prstGeom>
          <a:solidFill>
            <a:srgbClr val="FF4500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5" name="Text 2"/>
          <p:cNvSpPr/>
          <p:nvPr/>
        </p:nvSpPr>
        <p:spPr>
          <a:xfrm>
            <a:off x="742950" y="428625"/>
            <a:ext cx="8401050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1A1A1A"/>
                </a:solidFill>
              </a:rPr>
              <a:t>Управление состоянием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742950" y="894755"/>
            <a:ext cx="840105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555555"/>
                </a:solidFill>
              </a:rPr>
              <a:t>Единый источник правды для всех узлов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71500" y="1534902"/>
            <a:ext cx="3857625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FF4500"/>
                </a:solidFill>
              </a:rPr>
              <a:t>State (Состояние)</a:t>
            </a:r>
            <a:r>
              <a:rPr lang="en-US" sz="1050" dirty="0">
                <a:solidFill>
                  <a:srgbClr val="1A1A1A"/>
                </a:solidFill>
              </a:rPr>
              <a:t> — это типизированный словарь (TypedDict) или Pydantic-схема. Это память, доступная всем узлам графа.</a:t>
            </a:r>
            <a:endParaRPr lang="en-US" sz="987" dirty="0"/>
          </a:p>
        </p:txBody>
      </p:sp>
      <p:sp>
        <p:nvSpPr>
          <p:cNvPr id="8" name="Text 5"/>
          <p:cNvSpPr/>
          <p:nvPr/>
        </p:nvSpPr>
        <p:spPr>
          <a:xfrm>
            <a:off x="571500" y="2320714"/>
            <a:ext cx="38576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666666"/>
                </a:solidFill>
              </a:rPr>
              <a:t>Состояние определяет, что помнит ваш агент. Правильная схема — залог надежности.</a:t>
            </a:r>
            <a:endParaRPr lang="en-US" sz="834" dirty="0"/>
          </a:p>
        </p:txBody>
      </p:sp>
      <p:sp>
        <p:nvSpPr>
          <p:cNvPr id="9" name="Shape 6"/>
          <p:cNvSpPr/>
          <p:nvPr/>
        </p:nvSpPr>
        <p:spPr>
          <a:xfrm>
            <a:off x="4714875" y="1303734"/>
            <a:ext cx="3857625" cy="1591075"/>
          </a:xfrm>
          <a:prstGeom prst="rect">
            <a:avLst/>
          </a:prstGeom>
          <a:solidFill>
            <a:srgbClr val="FFFFFF"/>
          </a:solidFill>
          <a:ln w="9144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6313" y="1375172"/>
            <a:ext cx="3714750" cy="1439466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571500" y="3089672"/>
            <a:ext cx="6673881" cy="1543050"/>
          </a:xfrm>
          <a:prstGeom prst="rect">
            <a:avLst/>
          </a:prstGeom>
          <a:solidFill>
            <a:srgbClr val="FFFFFF"/>
          </a:solidFill>
          <a:ln w="9144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2" name="Shape 8"/>
          <p:cNvSpPr/>
          <p:nvPr/>
        </p:nvSpPr>
        <p:spPr>
          <a:xfrm>
            <a:off x="785813" y="3371850"/>
            <a:ext cx="2592874" cy="964406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3" name="Shape 9"/>
          <p:cNvSpPr/>
          <p:nvPr/>
        </p:nvSpPr>
        <p:spPr>
          <a:xfrm>
            <a:off x="857250" y="3286125"/>
            <a:ext cx="678154" cy="144661"/>
          </a:xfrm>
          <a:prstGeom prst="rect">
            <a:avLst/>
          </a:prstGeom>
          <a:solidFill>
            <a:srgbClr val="FF4500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4" name="Text 10"/>
          <p:cNvSpPr/>
          <p:nvPr/>
        </p:nvSpPr>
        <p:spPr>
          <a:xfrm>
            <a:off x="857250" y="3286125"/>
            <a:ext cx="678154" cy="144661"/>
          </a:xfrm>
          <a:prstGeom prst="rect">
            <a:avLst/>
          </a:prstGeom>
          <a:noFill/>
          <a:ln/>
        </p:spPr>
        <p:txBody>
          <a:bodyPr wrap="none" lIns="85090" tIns="17018" rIns="85090" bIns="17018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Input State</a:t>
            </a:r>
            <a:endParaRPr lang="en-US" sz="584" dirty="0"/>
          </a:p>
        </p:txBody>
      </p:sp>
      <p:sp>
        <p:nvSpPr>
          <p:cNvPr id="15" name="Text 11"/>
          <p:cNvSpPr/>
          <p:nvPr/>
        </p:nvSpPr>
        <p:spPr>
          <a:xfrm>
            <a:off x="928688" y="3514725"/>
            <a:ext cx="38007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E0E0E0"/>
                </a:solidFill>
              </a:rPr>
              <a:t>{</a:t>
            </a:r>
            <a:endParaRPr lang="en-US" sz="727" dirty="0"/>
          </a:p>
        </p:txBody>
      </p:sp>
      <p:sp>
        <p:nvSpPr>
          <p:cNvPr id="16" name="Text 12"/>
          <p:cNvSpPr/>
          <p:nvPr/>
        </p:nvSpPr>
        <p:spPr>
          <a:xfrm>
            <a:off x="928688" y="3650456"/>
            <a:ext cx="5462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FF79C6"/>
                </a:solidFill>
              </a:rPr>
              <a:t>"messages"</a:t>
            </a:r>
            <a:endParaRPr lang="en-US" sz="727" dirty="0"/>
          </a:p>
        </p:txBody>
      </p:sp>
      <p:sp>
        <p:nvSpPr>
          <p:cNvPr id="17" name="Text 13"/>
          <p:cNvSpPr/>
          <p:nvPr/>
        </p:nvSpPr>
        <p:spPr>
          <a:xfrm>
            <a:off x="1474961" y="3650456"/>
            <a:ext cx="8572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E0E0E0"/>
                </a:solidFill>
              </a:rPr>
              <a:t>: [</a:t>
            </a:r>
            <a:endParaRPr lang="en-US" sz="727" dirty="0"/>
          </a:p>
        </p:txBody>
      </p:sp>
      <p:sp>
        <p:nvSpPr>
          <p:cNvPr id="18" name="Text 14"/>
          <p:cNvSpPr/>
          <p:nvPr/>
        </p:nvSpPr>
        <p:spPr>
          <a:xfrm>
            <a:off x="928688" y="3786188"/>
            <a:ext cx="58168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F1FA8C"/>
                </a:solidFill>
              </a:rPr>
              <a:t>Human: "Hi"</a:t>
            </a:r>
            <a:endParaRPr lang="en-US" sz="727" dirty="0"/>
          </a:p>
        </p:txBody>
      </p:sp>
      <p:sp>
        <p:nvSpPr>
          <p:cNvPr id="19" name="Text 15"/>
          <p:cNvSpPr/>
          <p:nvPr/>
        </p:nvSpPr>
        <p:spPr>
          <a:xfrm>
            <a:off x="928688" y="3921919"/>
            <a:ext cx="3292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E0E0E0"/>
                </a:solidFill>
              </a:rPr>
              <a:t>]</a:t>
            </a:r>
            <a:endParaRPr lang="en-US" sz="727" dirty="0"/>
          </a:p>
        </p:txBody>
      </p:sp>
      <p:sp>
        <p:nvSpPr>
          <p:cNvPr id="20" name="Text 16"/>
          <p:cNvSpPr/>
          <p:nvPr/>
        </p:nvSpPr>
        <p:spPr>
          <a:xfrm>
            <a:off x="928688" y="4057650"/>
            <a:ext cx="38007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E0E0E0"/>
                </a:solidFill>
              </a:rPr>
              <a:t>}</a:t>
            </a:r>
            <a:endParaRPr lang="en-US" sz="727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43173" y="3614738"/>
            <a:ext cx="171450" cy="17145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3378687" y="3821906"/>
            <a:ext cx="700422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555555"/>
                </a:solidFill>
              </a:rPr>
              <a:t>Node Execution</a:t>
            </a:r>
            <a:endParaRPr lang="en-US" sz="727" dirty="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76471" y="3682603"/>
            <a:ext cx="150019" cy="17145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4079109" y="3889772"/>
            <a:ext cx="34477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555555"/>
                </a:solidFill>
              </a:rPr>
              <a:t>Update</a:t>
            </a:r>
            <a:endParaRPr lang="en-US" sz="727" dirty="0"/>
          </a:p>
        </p:txBody>
      </p:sp>
      <p:sp>
        <p:nvSpPr>
          <p:cNvPr id="25" name="Shape 19"/>
          <p:cNvSpPr/>
          <p:nvPr/>
        </p:nvSpPr>
        <p:spPr>
          <a:xfrm>
            <a:off x="4423879" y="3303984"/>
            <a:ext cx="2592874" cy="1100138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6" name="Shape 20"/>
          <p:cNvSpPr/>
          <p:nvPr/>
        </p:nvSpPr>
        <p:spPr>
          <a:xfrm>
            <a:off x="4495316" y="3218259"/>
            <a:ext cx="757796" cy="144661"/>
          </a:xfrm>
          <a:prstGeom prst="rect">
            <a:avLst/>
          </a:prstGeom>
          <a:solidFill>
            <a:srgbClr val="FF4500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7" name="Text 21"/>
          <p:cNvSpPr/>
          <p:nvPr/>
        </p:nvSpPr>
        <p:spPr>
          <a:xfrm>
            <a:off x="4495316" y="3218259"/>
            <a:ext cx="757796" cy="144661"/>
          </a:xfrm>
          <a:prstGeom prst="rect">
            <a:avLst/>
          </a:prstGeom>
          <a:noFill/>
          <a:ln/>
        </p:spPr>
        <p:txBody>
          <a:bodyPr wrap="none" lIns="85090" tIns="17018" rIns="85090" bIns="17018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Output State</a:t>
            </a:r>
            <a:endParaRPr lang="en-US" sz="584" dirty="0"/>
          </a:p>
        </p:txBody>
      </p:sp>
      <p:sp>
        <p:nvSpPr>
          <p:cNvPr id="28" name="Text 22"/>
          <p:cNvSpPr/>
          <p:nvPr/>
        </p:nvSpPr>
        <p:spPr>
          <a:xfrm>
            <a:off x="4566754" y="3446859"/>
            <a:ext cx="38007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E0E0E0"/>
                </a:solidFill>
              </a:rPr>
              <a:t>{</a:t>
            </a:r>
            <a:endParaRPr lang="en-US" sz="727" dirty="0"/>
          </a:p>
        </p:txBody>
      </p:sp>
      <p:sp>
        <p:nvSpPr>
          <p:cNvPr id="29" name="Text 23"/>
          <p:cNvSpPr/>
          <p:nvPr/>
        </p:nvSpPr>
        <p:spPr>
          <a:xfrm>
            <a:off x="4566754" y="3582591"/>
            <a:ext cx="5462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FF79C6"/>
                </a:solidFill>
              </a:rPr>
              <a:t>"messages"</a:t>
            </a:r>
            <a:endParaRPr lang="en-US" sz="727" dirty="0"/>
          </a:p>
        </p:txBody>
      </p:sp>
      <p:sp>
        <p:nvSpPr>
          <p:cNvPr id="30" name="Text 24"/>
          <p:cNvSpPr/>
          <p:nvPr/>
        </p:nvSpPr>
        <p:spPr>
          <a:xfrm>
            <a:off x="5113027" y="3582591"/>
            <a:ext cx="8572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E0E0E0"/>
                </a:solidFill>
              </a:rPr>
              <a:t>: [</a:t>
            </a:r>
            <a:endParaRPr lang="en-US" sz="727" dirty="0"/>
          </a:p>
        </p:txBody>
      </p:sp>
      <p:sp>
        <p:nvSpPr>
          <p:cNvPr id="31" name="Text 25"/>
          <p:cNvSpPr/>
          <p:nvPr/>
        </p:nvSpPr>
        <p:spPr>
          <a:xfrm>
            <a:off x="4566754" y="3718322"/>
            <a:ext cx="58168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F1FA8C"/>
                </a:solidFill>
              </a:rPr>
              <a:t>Human: "Hi"</a:t>
            </a:r>
            <a:endParaRPr lang="en-US" sz="727" dirty="0"/>
          </a:p>
        </p:txBody>
      </p:sp>
      <p:sp>
        <p:nvSpPr>
          <p:cNvPr id="32" name="Text 26"/>
          <p:cNvSpPr/>
          <p:nvPr/>
        </p:nvSpPr>
        <p:spPr>
          <a:xfrm>
            <a:off x="5148439" y="3718322"/>
            <a:ext cx="26817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E0E0E0"/>
                </a:solidFill>
              </a:rPr>
              <a:t>,</a:t>
            </a:r>
            <a:endParaRPr lang="en-US" sz="727" dirty="0"/>
          </a:p>
        </p:txBody>
      </p:sp>
      <p:sp>
        <p:nvSpPr>
          <p:cNvPr id="33" name="Text 27"/>
          <p:cNvSpPr/>
          <p:nvPr/>
        </p:nvSpPr>
        <p:spPr>
          <a:xfrm>
            <a:off x="4566754" y="3854053"/>
            <a:ext cx="47385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F1FA8C"/>
                </a:solidFill>
              </a:rPr>
              <a:t>AI: "Hello"</a:t>
            </a:r>
            <a:endParaRPr lang="en-US" sz="727" dirty="0"/>
          </a:p>
        </p:txBody>
      </p:sp>
      <p:sp>
        <p:nvSpPr>
          <p:cNvPr id="34" name="Text 28"/>
          <p:cNvSpPr/>
          <p:nvPr/>
        </p:nvSpPr>
        <p:spPr>
          <a:xfrm>
            <a:off x="4566754" y="3989784"/>
            <a:ext cx="3292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E0E0E0"/>
                </a:solidFill>
              </a:rPr>
              <a:t>]</a:t>
            </a:r>
            <a:endParaRPr lang="en-US" sz="727" dirty="0"/>
          </a:p>
        </p:txBody>
      </p:sp>
      <p:sp>
        <p:nvSpPr>
          <p:cNvPr id="35" name="Text 29"/>
          <p:cNvSpPr/>
          <p:nvPr/>
        </p:nvSpPr>
        <p:spPr>
          <a:xfrm>
            <a:off x="4566754" y="4125516"/>
            <a:ext cx="38007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E0E0E0"/>
                </a:solidFill>
              </a:rPr>
              <a:t>}</a:t>
            </a:r>
            <a:endParaRPr lang="en-US" sz="727" dirty="0"/>
          </a:p>
        </p:txBody>
      </p:sp>
      <p:sp>
        <p:nvSpPr>
          <p:cNvPr id="36" name="Shape 30"/>
          <p:cNvSpPr/>
          <p:nvPr/>
        </p:nvSpPr>
        <p:spPr>
          <a:xfrm>
            <a:off x="7516844" y="3089672"/>
            <a:ext cx="3000375" cy="1866305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ru-KZ"/>
          </a:p>
        </p:txBody>
      </p:sp>
      <p:pic>
        <p:nvPicPr>
          <p:cNvPr id="3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31156" y="3300413"/>
            <a:ext cx="150019" cy="171450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8024050" y="3232547"/>
            <a:ext cx="2278856" cy="3500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kern="0" spc="1" dirty="0">
                <a:solidFill>
                  <a:srgbClr val="1A1A1A"/>
                </a:solidFill>
              </a:rPr>
              <a:t>Technical Detail: Reducers (Annotated)</a:t>
            </a:r>
            <a:endParaRPr lang="en-US" sz="885" dirty="0"/>
          </a:p>
        </p:txBody>
      </p:sp>
      <p:sp>
        <p:nvSpPr>
          <p:cNvPr id="39" name="Text 32"/>
          <p:cNvSpPr/>
          <p:nvPr/>
        </p:nvSpPr>
        <p:spPr>
          <a:xfrm>
            <a:off x="7959812" y="3731716"/>
            <a:ext cx="740801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1A1A"/>
                </a:solidFill>
              </a:rPr>
              <a:t>По умолчанию:</a:t>
            </a:r>
            <a:endParaRPr lang="en-US" sz="784" dirty="0"/>
          </a:p>
        </p:txBody>
      </p:sp>
      <p:sp>
        <p:nvSpPr>
          <p:cNvPr id="40" name="Text 33"/>
          <p:cNvSpPr/>
          <p:nvPr/>
        </p:nvSpPr>
        <p:spPr>
          <a:xfrm>
            <a:off x="8700613" y="3654028"/>
            <a:ext cx="1602293" cy="466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1A1A1A"/>
                </a:solidFill>
              </a:rPr>
              <a:t>Перезапись ключа (Overwrite). Новое значение заменяет старое.</a:t>
            </a:r>
            <a:endParaRPr lang="en-US" sz="834" dirty="0"/>
          </a:p>
        </p:txBody>
      </p:sp>
      <p:sp>
        <p:nvSpPr>
          <p:cNvPr id="41" name="Text 34"/>
          <p:cNvSpPr/>
          <p:nvPr/>
        </p:nvSpPr>
        <p:spPr>
          <a:xfrm>
            <a:off x="7952752" y="4311253"/>
            <a:ext cx="890290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1A1A"/>
                </a:solidFill>
              </a:rPr>
              <a:t>Annotated[list, add_messages]:</a:t>
            </a:r>
            <a:endParaRPr lang="en-US" sz="784" dirty="0"/>
          </a:p>
        </p:txBody>
      </p:sp>
      <p:sp>
        <p:nvSpPr>
          <p:cNvPr id="42" name="Text 35"/>
          <p:cNvSpPr/>
          <p:nvPr/>
        </p:nvSpPr>
        <p:spPr>
          <a:xfrm>
            <a:off x="8843042" y="4155877"/>
            <a:ext cx="1459864" cy="621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1A1A1A"/>
                </a:solidFill>
              </a:rPr>
              <a:t>Добавление в список (Append). Новые сообщения добавляются к существующим.</a:t>
            </a:r>
            <a:endParaRPr lang="en-US" sz="834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61359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572500" cy="660797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4" name="Shape 1"/>
          <p:cNvSpPr/>
          <p:nvPr/>
        </p:nvSpPr>
        <p:spPr>
          <a:xfrm>
            <a:off x="571500" y="428625"/>
            <a:ext cx="57150" cy="660797"/>
          </a:xfrm>
          <a:prstGeom prst="rect">
            <a:avLst/>
          </a:prstGeom>
          <a:solidFill>
            <a:srgbClr val="FF4500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5" name="Text 2"/>
          <p:cNvSpPr/>
          <p:nvPr/>
        </p:nvSpPr>
        <p:spPr>
          <a:xfrm>
            <a:off x="742950" y="428625"/>
            <a:ext cx="8401050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1A1A1A"/>
                </a:solidFill>
              </a:rPr>
              <a:t>Проблема структурированного вывода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742950" y="894755"/>
            <a:ext cx="840105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555555"/>
                </a:solidFill>
              </a:rPr>
              <a:t>LLM по природе "разговорчивы", а системы требуют порядка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71500" y="1303734"/>
            <a:ext cx="8001000" cy="2000250"/>
          </a:xfrm>
          <a:prstGeom prst="rect">
            <a:avLst/>
          </a:prstGeom>
          <a:solidFill>
            <a:srgbClr val="FFFFFF"/>
          </a:solidFill>
          <a:ln w="9144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5938" y="1446609"/>
            <a:ext cx="5572125" cy="17145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571500" y="3589734"/>
            <a:ext cx="2476481" cy="157162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0" name="Shape 6"/>
          <p:cNvSpPr/>
          <p:nvPr/>
        </p:nvSpPr>
        <p:spPr>
          <a:xfrm>
            <a:off x="571500" y="3589734"/>
            <a:ext cx="2476481" cy="28575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KZ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950" y="3794224"/>
            <a:ext cx="160734" cy="12858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89409" y="3761184"/>
            <a:ext cx="757824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1A1A"/>
                </a:solidFill>
              </a:rPr>
              <a:t>Конфликт</a:t>
            </a:r>
            <a:endParaRPr lang="en-US" sz="987" dirty="0"/>
          </a:p>
        </p:txBody>
      </p:sp>
      <p:sp>
        <p:nvSpPr>
          <p:cNvPr id="13" name="Text 8"/>
          <p:cNvSpPr/>
          <p:nvPr/>
        </p:nvSpPr>
        <p:spPr>
          <a:xfrm>
            <a:off x="742950" y="4070152"/>
            <a:ext cx="213358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555555"/>
                </a:solidFill>
              </a:rPr>
              <a:t>LLM недетерминированы и склонны к генерации свободного текста ("разговорчивы"). Их вывод сложно предсказать и парсить программно.</a:t>
            </a:r>
            <a:endParaRPr lang="en-US" sz="834" dirty="0"/>
          </a:p>
        </p:txBody>
      </p:sp>
      <p:sp>
        <p:nvSpPr>
          <p:cNvPr id="14" name="Shape 9"/>
          <p:cNvSpPr/>
          <p:nvPr/>
        </p:nvSpPr>
        <p:spPr>
          <a:xfrm>
            <a:off x="3333731" y="3589734"/>
            <a:ext cx="2476509" cy="157162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5" name="Shape 10"/>
          <p:cNvSpPr/>
          <p:nvPr/>
        </p:nvSpPr>
        <p:spPr>
          <a:xfrm>
            <a:off x="3333731" y="3589734"/>
            <a:ext cx="2476509" cy="28575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KZ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05181" y="3794224"/>
            <a:ext cx="112514" cy="12858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703420" y="3761184"/>
            <a:ext cx="375912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1A1A"/>
                </a:solidFill>
              </a:rPr>
              <a:t>Цель</a:t>
            </a:r>
            <a:endParaRPr lang="en-US" sz="987" dirty="0"/>
          </a:p>
        </p:txBody>
      </p:sp>
      <p:sp>
        <p:nvSpPr>
          <p:cNvPr id="18" name="Text 12"/>
          <p:cNvSpPr/>
          <p:nvPr/>
        </p:nvSpPr>
        <p:spPr>
          <a:xfrm>
            <a:off x="3505181" y="4070152"/>
            <a:ext cx="213360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555555"/>
                </a:solidFill>
              </a:rPr>
              <a:t>Внешние API и базы данных требуют строгого формата (JSON, XML). Любое отклонение от схемы приводит к ошибкам выполнения.</a:t>
            </a:r>
            <a:endParaRPr lang="en-US" sz="834" dirty="0"/>
          </a:p>
        </p:txBody>
      </p:sp>
      <p:sp>
        <p:nvSpPr>
          <p:cNvPr id="19" name="Shape 13"/>
          <p:cNvSpPr/>
          <p:nvPr/>
        </p:nvSpPr>
        <p:spPr>
          <a:xfrm>
            <a:off x="6095991" y="3589734"/>
            <a:ext cx="2476481" cy="1571625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0" name="Shape 14"/>
          <p:cNvSpPr/>
          <p:nvPr/>
        </p:nvSpPr>
        <p:spPr>
          <a:xfrm>
            <a:off x="6095991" y="3589734"/>
            <a:ext cx="2476481" cy="28575"/>
          </a:xfrm>
          <a:prstGeom prst="rect">
            <a:avLst/>
          </a:prstGeom>
          <a:solidFill>
            <a:srgbClr val="FF4500"/>
          </a:solidFill>
          <a:ln/>
        </p:spPr>
        <p:txBody>
          <a:bodyPr/>
          <a:lstStyle/>
          <a:p>
            <a:endParaRPr lang="ru-KZ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67441" y="3794224"/>
            <a:ext cx="128588" cy="12858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481753" y="3761184"/>
            <a:ext cx="678963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4500"/>
                </a:solidFill>
              </a:rPr>
              <a:t>Решение</a:t>
            </a:r>
            <a:endParaRPr lang="en-US" sz="987" dirty="0"/>
          </a:p>
        </p:txBody>
      </p:sp>
      <p:sp>
        <p:nvSpPr>
          <p:cNvPr id="23" name="Text 16"/>
          <p:cNvSpPr/>
          <p:nvPr/>
        </p:nvSpPr>
        <p:spPr>
          <a:xfrm>
            <a:off x="6267441" y="4070152"/>
            <a:ext cx="2133581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CCCCCC"/>
                </a:solidFill>
              </a:rPr>
              <a:t>Две стратегии принуждения:
 1. </a:t>
            </a:r>
            <a:r>
              <a:rPr lang="en-US" sz="784" b="1" dirty="0">
                <a:solidFill>
                  <a:srgbClr val="FFFFFF"/>
                </a:solidFill>
              </a:rPr>
              <a:t>Tool Binding</a:t>
            </a:r>
            <a:r>
              <a:rPr lang="en-US" sz="834" dirty="0">
                <a:solidFill>
                  <a:srgbClr val="CCCCCC"/>
                </a:solidFill>
              </a:rPr>
              <a:t>: LLM выбирает функцию.
 2. </a:t>
            </a:r>
            <a:r>
              <a:rPr lang="en-US" sz="784" b="1" dirty="0">
                <a:solidFill>
                  <a:srgbClr val="FFFFFF"/>
                </a:solidFill>
              </a:rPr>
              <a:t>Formatter LLM</a:t>
            </a:r>
            <a:r>
              <a:rPr lang="en-US" sz="834" dirty="0">
                <a:solidFill>
                  <a:srgbClr val="CCCCCC"/>
                </a:solidFill>
              </a:rPr>
              <a:t>: Отдельный шаг очистки.</a:t>
            </a:r>
            <a:endParaRPr lang="en-US" sz="834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572500" cy="660797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4" name="Shape 1"/>
          <p:cNvSpPr/>
          <p:nvPr/>
        </p:nvSpPr>
        <p:spPr>
          <a:xfrm>
            <a:off x="571500" y="428625"/>
            <a:ext cx="57150" cy="660797"/>
          </a:xfrm>
          <a:prstGeom prst="rect">
            <a:avLst/>
          </a:prstGeom>
          <a:solidFill>
            <a:srgbClr val="FF4500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5" name="Text 2"/>
          <p:cNvSpPr/>
          <p:nvPr/>
        </p:nvSpPr>
        <p:spPr>
          <a:xfrm>
            <a:off x="742950" y="428625"/>
            <a:ext cx="8401050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1A1A1A"/>
                </a:solidFill>
              </a:rPr>
              <a:t>StateGraph: Фундамент агента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742950" y="894755"/>
            <a:ext cx="840105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555555"/>
                </a:solidFill>
              </a:rPr>
              <a:t>Контейнер, управляющий жизненным циклом и состоянием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71500" y="1375172"/>
            <a:ext cx="4543425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333333"/>
                </a:solidFill>
              </a:rPr>
              <a:t>StateGraph</a:t>
            </a:r>
            <a:r>
              <a:rPr lang="en-US" sz="1050" dirty="0">
                <a:solidFill>
                  <a:srgbClr val="333333"/>
                </a:solidFill>
              </a:rPr>
              <a:t> — это класс, который определяет структуру графа, отслеживает узлы, рёбра и управляет состоянием между итерациями.</a:t>
            </a:r>
            <a:endParaRPr lang="en-US" sz="987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275284"/>
            <a:ext cx="128588" cy="12858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71525" y="2232422"/>
            <a:ext cx="162224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A1A1A"/>
                </a:solidFill>
              </a:rPr>
              <a:t>Почему это основа?</a:t>
            </a:r>
            <a:endParaRPr lang="en-US" sz="109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938" y="2560141"/>
            <a:ext cx="100013" cy="10001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14388" y="2532459"/>
            <a:ext cx="219798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1A1A1A"/>
                </a:solidFill>
              </a:rPr>
              <a:t>Управление состоянием между узлами</a:t>
            </a:r>
            <a:endParaRPr lang="en-US" sz="834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938" y="2772668"/>
            <a:ext cx="100013" cy="10001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14388" y="2744986"/>
            <a:ext cx="238785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1A1A1A"/>
                </a:solidFill>
              </a:rPr>
              <a:t>Выполнение узлов в правильном порядке</a:t>
            </a:r>
            <a:endParaRPr lang="en-US" sz="834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2938" y="2985195"/>
            <a:ext cx="100013" cy="100013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814388" y="2957513"/>
            <a:ext cx="180276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1A1A1A"/>
                </a:solidFill>
              </a:rPr>
              <a:t>Обработка условных переходов</a:t>
            </a:r>
            <a:endParaRPr lang="en-US" sz="834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3327202"/>
            <a:ext cx="128588" cy="128588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771525" y="3284339"/>
            <a:ext cx="146114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A1A1A"/>
                </a:solidFill>
              </a:rPr>
              <a:t>Жизненный цикл</a:t>
            </a:r>
            <a:endParaRPr lang="en-US" sz="1090" dirty="0"/>
          </a:p>
        </p:txBody>
      </p:sp>
      <p:sp>
        <p:nvSpPr>
          <p:cNvPr id="18" name="Shape 10"/>
          <p:cNvSpPr/>
          <p:nvPr/>
        </p:nvSpPr>
        <p:spPr>
          <a:xfrm>
            <a:off x="571500" y="3584377"/>
            <a:ext cx="200025" cy="200025"/>
          </a:xfrm>
          <a:prstGeom prst="ellipse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9" name="Text 11"/>
          <p:cNvSpPr/>
          <p:nvPr/>
        </p:nvSpPr>
        <p:spPr>
          <a:xfrm>
            <a:off x="571500" y="3584377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counter(step-counter)</a:t>
            </a:r>
            <a:endParaRPr lang="en-US" sz="683" dirty="0"/>
          </a:p>
        </p:txBody>
      </p:sp>
      <p:sp>
        <p:nvSpPr>
          <p:cNvPr id="20" name="Text 12"/>
          <p:cNvSpPr/>
          <p:nvPr/>
        </p:nvSpPr>
        <p:spPr>
          <a:xfrm>
            <a:off x="857250" y="3584377"/>
            <a:ext cx="66919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Создание:</a:t>
            </a:r>
            <a:endParaRPr lang="en-US" sz="885" dirty="0"/>
          </a:p>
        </p:txBody>
      </p:sp>
      <p:sp>
        <p:nvSpPr>
          <p:cNvPr id="21" name="Text 13"/>
          <p:cNvSpPr/>
          <p:nvPr/>
        </p:nvSpPr>
        <p:spPr>
          <a:xfrm>
            <a:off x="1526446" y="3584377"/>
            <a:ext cx="238185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444444"/>
                </a:solidFill>
              </a:rPr>
              <a:t>Инициализация с классом состояния</a:t>
            </a:r>
            <a:endParaRPr lang="en-US" sz="942" dirty="0"/>
          </a:p>
        </p:txBody>
      </p:sp>
      <p:sp>
        <p:nvSpPr>
          <p:cNvPr id="22" name="Shape 14"/>
          <p:cNvSpPr/>
          <p:nvPr/>
        </p:nvSpPr>
        <p:spPr>
          <a:xfrm>
            <a:off x="571500" y="3845123"/>
            <a:ext cx="200025" cy="200025"/>
          </a:xfrm>
          <a:prstGeom prst="ellipse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3" name="Text 15"/>
          <p:cNvSpPr/>
          <p:nvPr/>
        </p:nvSpPr>
        <p:spPr>
          <a:xfrm>
            <a:off x="571500" y="3845123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counter(step-counter)</a:t>
            </a:r>
            <a:endParaRPr lang="en-US" sz="683" dirty="0"/>
          </a:p>
        </p:txBody>
      </p:sp>
      <p:sp>
        <p:nvSpPr>
          <p:cNvPr id="24" name="Text 16"/>
          <p:cNvSpPr/>
          <p:nvPr/>
        </p:nvSpPr>
        <p:spPr>
          <a:xfrm>
            <a:off x="857250" y="3845123"/>
            <a:ext cx="37292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Узлы:</a:t>
            </a:r>
            <a:endParaRPr lang="en-US" sz="885" dirty="0"/>
          </a:p>
        </p:txBody>
      </p:sp>
      <p:sp>
        <p:nvSpPr>
          <p:cNvPr id="25" name="Text 17"/>
          <p:cNvSpPr/>
          <p:nvPr/>
        </p:nvSpPr>
        <p:spPr>
          <a:xfrm>
            <a:off x="1230176" y="3845123"/>
            <a:ext cx="233581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444444"/>
                </a:solidFill>
              </a:rPr>
              <a:t>Добавление функций-обработчиков</a:t>
            </a:r>
            <a:endParaRPr lang="en-US" sz="942" dirty="0"/>
          </a:p>
        </p:txBody>
      </p:sp>
      <p:sp>
        <p:nvSpPr>
          <p:cNvPr id="26" name="Shape 18"/>
          <p:cNvSpPr/>
          <p:nvPr/>
        </p:nvSpPr>
        <p:spPr>
          <a:xfrm>
            <a:off x="571500" y="4105870"/>
            <a:ext cx="200025" cy="200025"/>
          </a:xfrm>
          <a:prstGeom prst="ellipse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7" name="Text 19"/>
          <p:cNvSpPr/>
          <p:nvPr/>
        </p:nvSpPr>
        <p:spPr>
          <a:xfrm>
            <a:off x="571500" y="4105870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counter(step-counter)</a:t>
            </a:r>
            <a:endParaRPr lang="en-US" sz="683" dirty="0"/>
          </a:p>
        </p:txBody>
      </p:sp>
      <p:sp>
        <p:nvSpPr>
          <p:cNvPr id="28" name="Text 20"/>
          <p:cNvSpPr/>
          <p:nvPr/>
        </p:nvSpPr>
        <p:spPr>
          <a:xfrm>
            <a:off x="857250" y="4105870"/>
            <a:ext cx="425137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Рёбра:</a:t>
            </a:r>
            <a:endParaRPr lang="en-US" sz="885" dirty="0"/>
          </a:p>
        </p:txBody>
      </p:sp>
      <p:sp>
        <p:nvSpPr>
          <p:cNvPr id="29" name="Text 21"/>
          <p:cNvSpPr/>
          <p:nvPr/>
        </p:nvSpPr>
        <p:spPr>
          <a:xfrm>
            <a:off x="1282387" y="4105870"/>
            <a:ext cx="265842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444444"/>
                </a:solidFill>
              </a:rPr>
              <a:t>Определение связей и логики переходов</a:t>
            </a:r>
            <a:endParaRPr lang="en-US" sz="942" dirty="0"/>
          </a:p>
        </p:txBody>
      </p:sp>
      <p:sp>
        <p:nvSpPr>
          <p:cNvPr id="30" name="Shape 22"/>
          <p:cNvSpPr/>
          <p:nvPr/>
        </p:nvSpPr>
        <p:spPr>
          <a:xfrm>
            <a:off x="571500" y="4366617"/>
            <a:ext cx="200025" cy="200025"/>
          </a:xfrm>
          <a:prstGeom prst="ellipse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31" name="Text 23"/>
          <p:cNvSpPr/>
          <p:nvPr/>
        </p:nvSpPr>
        <p:spPr>
          <a:xfrm>
            <a:off x="571500" y="4366617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counter(step-counter)</a:t>
            </a:r>
            <a:endParaRPr lang="en-US" sz="683" dirty="0"/>
          </a:p>
        </p:txBody>
      </p:sp>
      <p:sp>
        <p:nvSpPr>
          <p:cNvPr id="32" name="Text 24"/>
          <p:cNvSpPr/>
          <p:nvPr/>
        </p:nvSpPr>
        <p:spPr>
          <a:xfrm>
            <a:off x="857250" y="4366617"/>
            <a:ext cx="138206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Точки входа/выхода:</a:t>
            </a:r>
            <a:endParaRPr lang="en-US" sz="885" dirty="0"/>
          </a:p>
        </p:txBody>
      </p:sp>
      <p:sp>
        <p:nvSpPr>
          <p:cNvPr id="33" name="Text 25"/>
          <p:cNvSpPr/>
          <p:nvPr/>
        </p:nvSpPr>
        <p:spPr>
          <a:xfrm>
            <a:off x="2239314" y="4366617"/>
            <a:ext cx="70170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444444"/>
                </a:solidFill>
              </a:rPr>
              <a:t>Start и End</a:t>
            </a:r>
            <a:endParaRPr lang="en-US" sz="942" dirty="0"/>
          </a:p>
        </p:txBody>
      </p:sp>
      <p:sp>
        <p:nvSpPr>
          <p:cNvPr id="34" name="Shape 26"/>
          <p:cNvSpPr/>
          <p:nvPr/>
        </p:nvSpPr>
        <p:spPr>
          <a:xfrm>
            <a:off x="571500" y="4627364"/>
            <a:ext cx="200025" cy="200025"/>
          </a:xfrm>
          <a:prstGeom prst="ellipse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35" name="Text 27"/>
          <p:cNvSpPr/>
          <p:nvPr/>
        </p:nvSpPr>
        <p:spPr>
          <a:xfrm>
            <a:off x="571500" y="4627364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counter(step-counter)</a:t>
            </a:r>
            <a:endParaRPr lang="en-US" sz="683" dirty="0"/>
          </a:p>
        </p:txBody>
      </p:sp>
      <p:sp>
        <p:nvSpPr>
          <p:cNvPr id="36" name="Text 28"/>
          <p:cNvSpPr/>
          <p:nvPr/>
        </p:nvSpPr>
        <p:spPr>
          <a:xfrm>
            <a:off x="857250" y="4627364"/>
            <a:ext cx="87723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Компиляция:</a:t>
            </a:r>
            <a:endParaRPr lang="en-US" sz="885" dirty="0"/>
          </a:p>
        </p:txBody>
      </p:sp>
      <p:sp>
        <p:nvSpPr>
          <p:cNvPr id="37" name="Text 29"/>
          <p:cNvSpPr/>
          <p:nvPr/>
        </p:nvSpPr>
        <p:spPr>
          <a:xfrm>
            <a:off x="1734480" y="4627364"/>
            <a:ext cx="164671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444444"/>
                </a:solidFill>
              </a:rPr>
              <a:t>Превращение в Runnable</a:t>
            </a:r>
            <a:endParaRPr lang="en-US" sz="942" dirty="0"/>
          </a:p>
        </p:txBody>
      </p:sp>
      <p:sp>
        <p:nvSpPr>
          <p:cNvPr id="38" name="Shape 30"/>
          <p:cNvSpPr/>
          <p:nvPr/>
        </p:nvSpPr>
        <p:spPr>
          <a:xfrm>
            <a:off x="5543550" y="1375172"/>
            <a:ext cx="3028950" cy="1285875"/>
          </a:xfrm>
          <a:prstGeom prst="rect">
            <a:avLst/>
          </a:prstGeom>
          <a:solidFill>
            <a:srgbClr val="FFFFFF"/>
          </a:solidFill>
          <a:ln w="9144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39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95455" y="1518047"/>
            <a:ext cx="1125141" cy="1000125"/>
          </a:xfrm>
          <a:prstGeom prst="rect">
            <a:avLst/>
          </a:prstGeom>
        </p:spPr>
      </p:pic>
      <p:sp>
        <p:nvSpPr>
          <p:cNvPr id="40" name="Shape 31"/>
          <p:cNvSpPr/>
          <p:nvPr/>
        </p:nvSpPr>
        <p:spPr>
          <a:xfrm>
            <a:off x="5543550" y="2875359"/>
            <a:ext cx="3028950" cy="1521619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41" name="Shape 32"/>
          <p:cNvSpPr/>
          <p:nvPr/>
        </p:nvSpPr>
        <p:spPr>
          <a:xfrm>
            <a:off x="5543550" y="2875359"/>
            <a:ext cx="28575" cy="1521619"/>
          </a:xfrm>
          <a:prstGeom prst="rect">
            <a:avLst/>
          </a:prstGeom>
          <a:solidFill>
            <a:srgbClr val="FF4500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42" name="Text 33"/>
          <p:cNvSpPr/>
          <p:nvPr/>
        </p:nvSpPr>
        <p:spPr>
          <a:xfrm>
            <a:off x="5629275" y="2961084"/>
            <a:ext cx="2857500" cy="1350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E0E0E0"/>
                </a:solidFill>
              </a:rPr>
              <a:t># 1. Создание</a:t>
            </a:r>
            <a:endParaRPr lang="en-US" sz="727" dirty="0"/>
          </a:p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E0E0E0"/>
                </a:solidFill>
              </a:rPr>
              <a:t>graph = StateGraph(AgentState)</a:t>
            </a:r>
            <a:endParaRPr lang="en-US" sz="727" dirty="0"/>
          </a:p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E0E0E0"/>
                </a:solidFill>
              </a:rPr>
              <a:t># 2. Добавление узлов</a:t>
            </a:r>
            <a:endParaRPr lang="en-US" sz="727" dirty="0"/>
          </a:p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E0E0E0"/>
                </a:solidFill>
              </a:rPr>
              <a:t>graph.add_node("agent", agent_node)</a:t>
            </a:r>
            <a:endParaRPr lang="en-US" sz="727" dirty="0"/>
          </a:p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E0E0E0"/>
                </a:solidFill>
              </a:rPr>
              <a:t># 3. Добавление рёбер</a:t>
            </a:r>
            <a:endParaRPr lang="en-US" sz="727" dirty="0"/>
          </a:p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E0E0E0"/>
                </a:solidFill>
              </a:rPr>
              <a:t>graph.add_edge("agent", "tools")</a:t>
            </a:r>
            <a:endParaRPr lang="en-US" sz="727" dirty="0"/>
          </a:p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E0E0E0"/>
                </a:solidFill>
              </a:rPr>
              <a:t># 4. Точка входа и компиляция</a:t>
            </a:r>
            <a:endParaRPr lang="en-US" sz="727" dirty="0"/>
          </a:p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E0E0E0"/>
                </a:solidFill>
              </a:rPr>
              <a:t>graph.set_entry_point("agent")</a:t>
            </a:r>
            <a:endParaRPr lang="en-US" sz="727" dirty="0"/>
          </a:p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E0E0E0"/>
                </a:solidFill>
              </a:rPr>
              <a:t>app = graph.compile()</a:t>
            </a:r>
            <a:endParaRPr lang="en-US" sz="727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572500" cy="660797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4" name="Shape 1"/>
          <p:cNvSpPr/>
          <p:nvPr/>
        </p:nvSpPr>
        <p:spPr>
          <a:xfrm>
            <a:off x="571500" y="428625"/>
            <a:ext cx="57150" cy="660797"/>
          </a:xfrm>
          <a:prstGeom prst="rect">
            <a:avLst/>
          </a:prstGeom>
          <a:solidFill>
            <a:srgbClr val="FF4500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5" name="Text 2"/>
          <p:cNvSpPr/>
          <p:nvPr/>
        </p:nvSpPr>
        <p:spPr>
          <a:xfrm>
            <a:off x="742950" y="428625"/>
            <a:ext cx="8401050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1A1A1A"/>
                </a:solidFill>
              </a:rPr>
              <a:t>Узлы (Nodes)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742950" y="894755"/>
            <a:ext cx="840105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555555"/>
                </a:solidFill>
              </a:rPr>
              <a:t>Функции, которые выполняют работу и обновляют состояние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71500" y="1451967"/>
            <a:ext cx="3779044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Узлы — это основные исполнительные блоки графа. Они могут быть простыми Python-функциями, вызовами LLM или инструментами.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71500" y="2237780"/>
            <a:ext cx="2275815" cy="346472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9" name="Shape 6"/>
          <p:cNvSpPr/>
          <p:nvPr/>
        </p:nvSpPr>
        <p:spPr>
          <a:xfrm>
            <a:off x="571500" y="2237780"/>
            <a:ext cx="28575" cy="346472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0" name="Text 7"/>
          <p:cNvSpPr/>
          <p:nvPr/>
        </p:nvSpPr>
        <p:spPr>
          <a:xfrm>
            <a:off x="571500" y="2237780"/>
            <a:ext cx="2275815" cy="346472"/>
          </a:xfrm>
          <a:prstGeom prst="rect">
            <a:avLst/>
          </a:prstGeom>
          <a:noFill/>
          <a:ln/>
        </p:spPr>
        <p:txBody>
          <a:bodyPr wrap="square" lIns="170053" tIns="102108" rIns="170053" bIns="102108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(state: AgentState) -&gt; AgentState</a:t>
            </a:r>
            <a:endParaRPr lang="en-US" sz="942" dirty="0"/>
          </a:p>
        </p:txBody>
      </p:sp>
      <p:sp>
        <p:nvSpPr>
          <p:cNvPr id="11" name="Shape 8"/>
          <p:cNvSpPr/>
          <p:nvPr/>
        </p:nvSpPr>
        <p:spPr>
          <a:xfrm>
            <a:off x="4779169" y="1303734"/>
            <a:ext cx="3793331" cy="1428750"/>
          </a:xfrm>
          <a:prstGeom prst="rect">
            <a:avLst/>
          </a:prstGeom>
          <a:solidFill>
            <a:srgbClr val="FFFFFF"/>
          </a:solidFill>
          <a:ln w="9144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1775" y="1339453"/>
            <a:ext cx="2635262" cy="1357285"/>
          </a:xfrm>
          <a:prstGeom prst="rect">
            <a:avLst/>
          </a:prstGeom>
        </p:spPr>
      </p:pic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041452"/>
            <a:ext cx="160734" cy="12858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03672" y="3018234"/>
            <a:ext cx="124705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33333"/>
                </a:solidFill>
              </a:rPr>
              <a:t>Обычная функция</a:t>
            </a:r>
            <a:endParaRPr lang="en-US" sz="885" dirty="0"/>
          </a:p>
        </p:txBody>
      </p:sp>
      <p:sp>
        <p:nvSpPr>
          <p:cNvPr id="15" name="Shape 10"/>
          <p:cNvSpPr/>
          <p:nvPr/>
        </p:nvSpPr>
        <p:spPr>
          <a:xfrm>
            <a:off x="571500" y="3278981"/>
            <a:ext cx="2524116" cy="1571625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6" name="Shape 11"/>
          <p:cNvSpPr/>
          <p:nvPr/>
        </p:nvSpPr>
        <p:spPr>
          <a:xfrm>
            <a:off x="571500" y="3278981"/>
            <a:ext cx="2524116" cy="28575"/>
          </a:xfrm>
          <a:prstGeom prst="rect">
            <a:avLst/>
          </a:prstGeom>
          <a:solidFill>
            <a:srgbClr val="FF4500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7" name="Text 12"/>
          <p:cNvSpPr/>
          <p:nvPr/>
        </p:nvSpPr>
        <p:spPr>
          <a:xfrm>
            <a:off x="714375" y="3421856"/>
            <a:ext cx="2238366" cy="10501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FF79C6"/>
                </a:solidFill>
              </a:rPr>
              <a:t>def</a:t>
            </a:r>
            <a:r>
              <a:rPr lang="en-US" sz="727" dirty="0">
                <a:solidFill>
                  <a:srgbClr val="8BE9FD"/>
                </a:solidFill>
              </a:rPr>
              <a:t>process_node</a:t>
            </a:r>
            <a:r>
              <a:rPr lang="en-US" sz="727" dirty="0">
                <a:solidFill>
                  <a:srgbClr val="E0E0E0"/>
                </a:solidFill>
              </a:rPr>
              <a:t>(state):
    </a:t>
            </a:r>
            <a:r>
              <a:rPr lang="en-US" sz="727" dirty="0">
                <a:solidFill>
                  <a:srgbClr val="6272A4"/>
                </a:solidFill>
              </a:rPr>
              <a:t># Логика обработки</a:t>
            </a:r>
            <a:r>
              <a:rPr lang="en-US" sz="727" dirty="0">
                <a:solidFill>
                  <a:srgbClr val="E0E0E0"/>
                </a:solidFill>
              </a:rPr>
              <a:t>
    data = state[</a:t>
            </a:r>
            <a:r>
              <a:rPr lang="en-US" sz="727" dirty="0">
                <a:solidFill>
                  <a:srgbClr val="F1FA8C"/>
                </a:solidFill>
              </a:rPr>
              <a:t>"data"</a:t>
            </a:r>
            <a:r>
              <a:rPr lang="en-US" sz="727" dirty="0">
                <a:solidFill>
                  <a:srgbClr val="E0E0E0"/>
                </a:solidFill>
              </a:rPr>
              <a:t>]
    result = do_work(data)
    </a:t>
            </a:r>
            <a:r>
              <a:rPr lang="en-US" sz="727" dirty="0">
                <a:solidFill>
                  <a:srgbClr val="6272A4"/>
                </a:solidFill>
              </a:rPr>
              <a:t># Возврат обновления</a:t>
            </a:r>
            <a:r>
              <a:rPr lang="en-US" sz="727" dirty="0">
                <a:solidFill>
                  <a:srgbClr val="FF79C6"/>
                </a:solidFill>
              </a:rPr>
              <a:t>return</a:t>
            </a:r>
            <a:r>
              <a:rPr lang="en-US" sz="727" dirty="0">
                <a:solidFill>
                  <a:srgbClr val="E0E0E0"/>
                </a:solidFill>
              </a:rPr>
              <a:t> {</a:t>
            </a:r>
            <a:r>
              <a:rPr lang="en-US" sz="727" dirty="0">
                <a:solidFill>
                  <a:srgbClr val="F1FA8C"/>
                </a:solidFill>
              </a:rPr>
              <a:t>"result"</a:t>
            </a:r>
            <a:r>
              <a:rPr lang="en-US" sz="727" dirty="0">
                <a:solidFill>
                  <a:srgbClr val="E0E0E0"/>
                </a:solidFill>
              </a:rPr>
              <a:t>: result}</a:t>
            </a:r>
            <a:endParaRPr lang="en-US" sz="727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09928" y="3041452"/>
            <a:ext cx="160734" cy="12858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3542100" y="3018234"/>
            <a:ext cx="61556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33333"/>
                </a:solidFill>
              </a:rPr>
              <a:t>LLM Узел</a:t>
            </a:r>
            <a:endParaRPr lang="en-US" sz="885" dirty="0"/>
          </a:p>
        </p:txBody>
      </p:sp>
      <p:sp>
        <p:nvSpPr>
          <p:cNvPr id="20" name="Shape 14"/>
          <p:cNvSpPr/>
          <p:nvPr/>
        </p:nvSpPr>
        <p:spPr>
          <a:xfrm>
            <a:off x="3309928" y="3278981"/>
            <a:ext cx="2524116" cy="1571625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1" name="Shape 15"/>
          <p:cNvSpPr/>
          <p:nvPr/>
        </p:nvSpPr>
        <p:spPr>
          <a:xfrm>
            <a:off x="3309928" y="3278981"/>
            <a:ext cx="2524116" cy="28575"/>
          </a:xfrm>
          <a:prstGeom prst="rect">
            <a:avLst/>
          </a:prstGeom>
          <a:solidFill>
            <a:srgbClr val="FF4500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2" name="Text 16"/>
          <p:cNvSpPr/>
          <p:nvPr/>
        </p:nvSpPr>
        <p:spPr>
          <a:xfrm>
            <a:off x="3452803" y="3421856"/>
            <a:ext cx="2238366" cy="9001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FF79C6"/>
                </a:solidFill>
              </a:rPr>
              <a:t>def</a:t>
            </a:r>
            <a:r>
              <a:rPr lang="en-US" sz="727" dirty="0">
                <a:solidFill>
                  <a:srgbClr val="8BE9FD"/>
                </a:solidFill>
              </a:rPr>
              <a:t>call_model</a:t>
            </a:r>
            <a:r>
              <a:rPr lang="en-US" sz="727" dirty="0">
                <a:solidFill>
                  <a:srgbClr val="E0E0E0"/>
                </a:solidFill>
              </a:rPr>
              <a:t>(state):
    messages = state[</a:t>
            </a:r>
            <a:r>
              <a:rPr lang="en-US" sz="727" dirty="0">
                <a:solidFill>
                  <a:srgbClr val="F1FA8C"/>
                </a:solidFill>
              </a:rPr>
              <a:t>"messages"</a:t>
            </a:r>
            <a:r>
              <a:rPr lang="en-US" sz="727" dirty="0">
                <a:solidFill>
                  <a:srgbClr val="E0E0E0"/>
                </a:solidFill>
              </a:rPr>
              <a:t>]
    response = model.invoke(messages)
    </a:t>
            </a:r>
            <a:r>
              <a:rPr lang="en-US" sz="727" dirty="0">
                <a:solidFill>
                  <a:srgbClr val="6272A4"/>
                </a:solidFill>
              </a:rPr>
              <a:t># Добавление ответа</a:t>
            </a:r>
            <a:r>
              <a:rPr lang="en-US" sz="727" dirty="0">
                <a:solidFill>
                  <a:srgbClr val="FF79C6"/>
                </a:solidFill>
              </a:rPr>
              <a:t>return</a:t>
            </a:r>
            <a:r>
              <a:rPr lang="en-US" sz="727" dirty="0">
                <a:solidFill>
                  <a:srgbClr val="E0E0E0"/>
                </a:solidFill>
              </a:rPr>
              <a:t> {</a:t>
            </a:r>
            <a:r>
              <a:rPr lang="en-US" sz="727" dirty="0">
                <a:solidFill>
                  <a:srgbClr val="F1FA8C"/>
                </a:solidFill>
              </a:rPr>
              <a:t>"messages"</a:t>
            </a:r>
            <a:r>
              <a:rPr lang="en-US" sz="727" dirty="0">
                <a:solidFill>
                  <a:srgbClr val="E0E0E0"/>
                </a:solidFill>
              </a:rPr>
              <a:t>: [response]}</a:t>
            </a:r>
            <a:endParaRPr lang="en-US" sz="727" dirty="0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48356" y="3041452"/>
            <a:ext cx="128588" cy="12858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248381" y="3018234"/>
            <a:ext cx="168567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33333"/>
                </a:solidFill>
              </a:rPr>
              <a:t>Инструментальный узел</a:t>
            </a:r>
            <a:endParaRPr lang="en-US" sz="885" dirty="0"/>
          </a:p>
        </p:txBody>
      </p:sp>
      <p:sp>
        <p:nvSpPr>
          <p:cNvPr id="25" name="Shape 18"/>
          <p:cNvSpPr/>
          <p:nvPr/>
        </p:nvSpPr>
        <p:spPr>
          <a:xfrm>
            <a:off x="6048356" y="3278981"/>
            <a:ext cx="2524144" cy="1571625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6" name="Shape 19"/>
          <p:cNvSpPr/>
          <p:nvPr/>
        </p:nvSpPr>
        <p:spPr>
          <a:xfrm>
            <a:off x="6048356" y="3278981"/>
            <a:ext cx="2524144" cy="28575"/>
          </a:xfrm>
          <a:prstGeom prst="rect">
            <a:avLst/>
          </a:prstGeom>
          <a:solidFill>
            <a:srgbClr val="FF4500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7" name="Text 20"/>
          <p:cNvSpPr/>
          <p:nvPr/>
        </p:nvSpPr>
        <p:spPr>
          <a:xfrm>
            <a:off x="6191231" y="3421856"/>
            <a:ext cx="2238394" cy="1200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FF79C6"/>
                </a:solidFill>
              </a:rPr>
              <a:t>def</a:t>
            </a:r>
            <a:r>
              <a:rPr lang="en-US" sz="727" dirty="0">
                <a:solidFill>
                  <a:srgbClr val="8BE9FD"/>
                </a:solidFill>
              </a:rPr>
              <a:t>tool_node</a:t>
            </a:r>
            <a:r>
              <a:rPr lang="en-US" sz="727" dirty="0">
                <a:solidFill>
                  <a:srgbClr val="E0E0E0"/>
                </a:solidFill>
              </a:rPr>
              <a:t>(state):
    calls = state[</a:t>
            </a:r>
            <a:r>
              <a:rPr lang="en-US" sz="727" dirty="0">
                <a:solidFill>
                  <a:srgbClr val="F1FA8C"/>
                </a:solidFill>
              </a:rPr>
              <a:t>"tool_calls"</a:t>
            </a:r>
            <a:r>
              <a:rPr lang="en-US" sz="727" dirty="0">
                <a:solidFill>
                  <a:srgbClr val="E0E0E0"/>
                </a:solidFill>
              </a:rPr>
              <a:t>]
    results = []
    </a:t>
            </a:r>
            <a:r>
              <a:rPr lang="en-US" sz="727" dirty="0">
                <a:solidFill>
                  <a:srgbClr val="FF79C6"/>
                </a:solidFill>
              </a:rPr>
              <a:t>for</a:t>
            </a:r>
            <a:r>
              <a:rPr lang="en-US" sz="727" dirty="0">
                <a:solidFill>
                  <a:srgbClr val="E0E0E0"/>
                </a:solidFill>
              </a:rPr>
              <a:t> call </a:t>
            </a:r>
            <a:r>
              <a:rPr lang="en-US" sz="727" dirty="0">
                <a:solidFill>
                  <a:srgbClr val="FF79C6"/>
                </a:solidFill>
              </a:rPr>
              <a:t>in</a:t>
            </a:r>
            <a:r>
              <a:rPr lang="en-US" sz="727" dirty="0">
                <a:solidFill>
                  <a:srgbClr val="E0E0E0"/>
                </a:solidFill>
              </a:rPr>
              <a:t> calls:
        res = execute(call)
        results.append(res)
    </a:t>
            </a:r>
            <a:r>
              <a:rPr lang="en-US" sz="727" dirty="0">
                <a:solidFill>
                  <a:srgbClr val="FF79C6"/>
                </a:solidFill>
              </a:rPr>
              <a:t>return</a:t>
            </a:r>
            <a:r>
              <a:rPr lang="en-US" sz="727" dirty="0">
                <a:solidFill>
                  <a:srgbClr val="E0E0E0"/>
                </a:solidFill>
              </a:rPr>
              <a:t> {</a:t>
            </a:r>
            <a:r>
              <a:rPr lang="en-US" sz="727" dirty="0">
                <a:solidFill>
                  <a:srgbClr val="F1FA8C"/>
                </a:solidFill>
              </a:rPr>
              <a:t>"tool_results"</a:t>
            </a:r>
            <a:r>
              <a:rPr lang="en-US" sz="727" dirty="0">
                <a:solidFill>
                  <a:srgbClr val="E0E0E0"/>
                </a:solidFill>
              </a:rPr>
              <a:t>: results}</a:t>
            </a:r>
            <a:endParaRPr lang="en-US" sz="727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345311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572500" cy="660797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4" name="Shape 1"/>
          <p:cNvSpPr/>
          <p:nvPr/>
        </p:nvSpPr>
        <p:spPr>
          <a:xfrm>
            <a:off x="571500" y="428625"/>
            <a:ext cx="57150" cy="660797"/>
          </a:xfrm>
          <a:prstGeom prst="rect">
            <a:avLst/>
          </a:prstGeom>
          <a:solidFill>
            <a:srgbClr val="FF4500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5" name="Text 2"/>
          <p:cNvSpPr/>
          <p:nvPr/>
        </p:nvSpPr>
        <p:spPr>
          <a:xfrm>
            <a:off x="742950" y="428625"/>
            <a:ext cx="8401050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1A1A1A"/>
                </a:solidFill>
              </a:rPr>
              <a:t>Рёбра (Edges)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742950" y="894755"/>
            <a:ext cx="840105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555555"/>
                </a:solidFill>
              </a:rPr>
              <a:t>Управление потоком выполнения графа</a:t>
            </a:r>
            <a:endParaRPr lang="en-US" sz="10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420713"/>
            <a:ext cx="171450" cy="14287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28675" y="1375172"/>
            <a:ext cx="1191751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1A1A"/>
                </a:solidFill>
              </a:rPr>
              <a:t>Normal Edges</a:t>
            </a:r>
            <a:endParaRPr lang="en-US" sz="1193" dirty="0"/>
          </a:p>
        </p:txBody>
      </p:sp>
      <p:sp>
        <p:nvSpPr>
          <p:cNvPr id="9" name="Text 5"/>
          <p:cNvSpPr/>
          <p:nvPr/>
        </p:nvSpPr>
        <p:spPr>
          <a:xfrm>
            <a:off x="571500" y="1680567"/>
            <a:ext cx="28575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555555"/>
                </a:solidFill>
              </a:rPr>
              <a:t>Обычные переходы. Просто передают управление от одного узла к другому без условий. Это основа линейных участков графа.</a:t>
            </a:r>
            <a:endParaRPr lang="en-US" sz="834" dirty="0"/>
          </a:p>
        </p:txBody>
      </p:sp>
      <p:sp>
        <p:nvSpPr>
          <p:cNvPr id="10" name="Shape 6"/>
          <p:cNvSpPr/>
          <p:nvPr/>
        </p:nvSpPr>
        <p:spPr>
          <a:xfrm>
            <a:off x="3714750" y="1506438"/>
            <a:ext cx="4857750" cy="557213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1" name="Shape 7"/>
          <p:cNvSpPr/>
          <p:nvPr/>
        </p:nvSpPr>
        <p:spPr>
          <a:xfrm>
            <a:off x="3714750" y="1506438"/>
            <a:ext cx="28575" cy="557213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2" name="Text 8"/>
          <p:cNvSpPr/>
          <p:nvPr/>
        </p:nvSpPr>
        <p:spPr>
          <a:xfrm>
            <a:off x="3857625" y="1649313"/>
            <a:ext cx="4572000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6272A4"/>
                </a:solidFill>
              </a:rPr>
              <a:t># Прямой переход от node_a к node_b</a:t>
            </a:r>
            <a:r>
              <a:rPr lang="en-US" sz="727" dirty="0">
                <a:solidFill>
                  <a:srgbClr val="E0E0E0"/>
                </a:solidFill>
              </a:rPr>
              <a:t>
graph.</a:t>
            </a:r>
            <a:r>
              <a:rPr lang="en-US" sz="727" dirty="0">
                <a:solidFill>
                  <a:srgbClr val="8BE9FD"/>
                </a:solidFill>
              </a:rPr>
              <a:t>add_edge</a:t>
            </a:r>
            <a:r>
              <a:rPr lang="en-US" sz="727" dirty="0">
                <a:solidFill>
                  <a:srgbClr val="E0E0E0"/>
                </a:solidFill>
              </a:rPr>
              <a:t>(</a:t>
            </a:r>
            <a:r>
              <a:rPr lang="en-US" sz="727" dirty="0">
                <a:solidFill>
                  <a:srgbClr val="F1FA8C"/>
                </a:solidFill>
              </a:rPr>
              <a:t>"node_a"</a:t>
            </a:r>
            <a:r>
              <a:rPr lang="en-US" sz="727" dirty="0">
                <a:solidFill>
                  <a:srgbClr val="E0E0E0"/>
                </a:solidFill>
              </a:rPr>
              <a:t>, </a:t>
            </a:r>
            <a:r>
              <a:rPr lang="en-US" sz="727" dirty="0">
                <a:solidFill>
                  <a:srgbClr val="F1FA8C"/>
                </a:solidFill>
              </a:rPr>
              <a:t>"node_b"</a:t>
            </a:r>
            <a:r>
              <a:rPr lang="en-US" sz="727" dirty="0">
                <a:solidFill>
                  <a:srgbClr val="E0E0E0"/>
                </a:solidFill>
              </a:rPr>
              <a:t>)</a:t>
            </a:r>
            <a:endParaRPr lang="en-US" sz="727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816423"/>
            <a:ext cx="171450" cy="14287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28675" y="2770882"/>
            <a:ext cx="1534316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1A1A"/>
                </a:solidFill>
              </a:rPr>
              <a:t>Conditional Edges</a:t>
            </a:r>
            <a:endParaRPr lang="en-US" sz="1193" dirty="0"/>
          </a:p>
        </p:txBody>
      </p:sp>
      <p:sp>
        <p:nvSpPr>
          <p:cNvPr id="15" name="Text 10"/>
          <p:cNvSpPr/>
          <p:nvPr/>
        </p:nvSpPr>
        <p:spPr>
          <a:xfrm>
            <a:off x="571500" y="3076277"/>
            <a:ext cx="28575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555555"/>
                </a:solidFill>
              </a:rPr>
              <a:t>Условные переходы. Функция-маршрутизатор анализирует состояние и решает, куда идти дальше. Это "мозг" агента.</a:t>
            </a:r>
            <a:endParaRPr lang="en-US" sz="834" dirty="0"/>
          </a:p>
        </p:txBody>
      </p:sp>
      <p:sp>
        <p:nvSpPr>
          <p:cNvPr id="16" name="Shape 11"/>
          <p:cNvSpPr/>
          <p:nvPr/>
        </p:nvSpPr>
        <p:spPr>
          <a:xfrm>
            <a:off x="3714750" y="2630686"/>
            <a:ext cx="4857750" cy="1100138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7" name="Shape 12"/>
          <p:cNvSpPr/>
          <p:nvPr/>
        </p:nvSpPr>
        <p:spPr>
          <a:xfrm>
            <a:off x="3714750" y="2630686"/>
            <a:ext cx="28575" cy="1100138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8" name="Text 13"/>
          <p:cNvSpPr/>
          <p:nvPr/>
        </p:nvSpPr>
        <p:spPr>
          <a:xfrm>
            <a:off x="3857625" y="2773561"/>
            <a:ext cx="4572000" cy="8143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FF79C6"/>
                </a:solidFill>
              </a:rPr>
              <a:t>def</a:t>
            </a:r>
            <a:r>
              <a:rPr lang="en-US" sz="727" dirty="0">
                <a:solidFill>
                  <a:srgbClr val="8BE9FD"/>
                </a:solidFill>
              </a:rPr>
              <a:t>route_decision</a:t>
            </a:r>
            <a:r>
              <a:rPr lang="en-US" sz="727" dirty="0">
                <a:solidFill>
                  <a:srgbClr val="E0E0E0"/>
                </a:solidFill>
              </a:rPr>
              <a:t>(state):
    </a:t>
            </a:r>
            <a:r>
              <a:rPr lang="en-US" sz="727" dirty="0">
                <a:solidFill>
                  <a:srgbClr val="FF79C6"/>
                </a:solidFill>
              </a:rPr>
              <a:t>if</a:t>
            </a:r>
            <a:r>
              <a:rPr lang="en-US" sz="727" dirty="0">
                <a:solidFill>
                  <a:srgbClr val="E0E0E0"/>
                </a:solidFill>
              </a:rPr>
              <a:t> state[</a:t>
            </a:r>
            <a:r>
              <a:rPr lang="en-US" sz="727" dirty="0">
                <a:solidFill>
                  <a:srgbClr val="F1FA8C"/>
                </a:solidFill>
              </a:rPr>
              <a:t>"is_finished"</a:t>
            </a:r>
            <a:r>
              <a:rPr lang="en-US" sz="727" dirty="0">
                <a:solidFill>
                  <a:srgbClr val="E0E0E0"/>
                </a:solidFill>
              </a:rPr>
              <a:t>]:
        </a:t>
            </a:r>
            <a:r>
              <a:rPr lang="en-US" sz="727" dirty="0">
                <a:solidFill>
                  <a:srgbClr val="FF79C6"/>
                </a:solidFill>
              </a:rPr>
              <a:t>return</a:t>
            </a:r>
            <a:r>
              <a:rPr lang="en-US" sz="727" dirty="0">
                <a:solidFill>
                  <a:srgbClr val="F1FA8C"/>
                </a:solidFill>
              </a:rPr>
              <a:t>"end_node"</a:t>
            </a:r>
            <a:r>
              <a:rPr lang="en-US" sz="727" dirty="0">
                <a:solidFill>
                  <a:srgbClr val="FF79C6"/>
                </a:solidFill>
              </a:rPr>
              <a:t>return</a:t>
            </a:r>
            <a:r>
              <a:rPr lang="en-US" sz="727" dirty="0">
                <a:solidFill>
                  <a:srgbClr val="F1FA8C"/>
                </a:solidFill>
              </a:rPr>
              <a:t>"continue_node"</a:t>
            </a:r>
            <a:r>
              <a:rPr lang="en-US" sz="727" dirty="0">
                <a:solidFill>
                  <a:srgbClr val="E0E0E0"/>
                </a:solidFill>
              </a:rPr>
              <a:t>
graph.</a:t>
            </a:r>
            <a:r>
              <a:rPr lang="en-US" sz="727" dirty="0">
                <a:solidFill>
                  <a:srgbClr val="8BE9FD"/>
                </a:solidFill>
              </a:rPr>
              <a:t>add_conditional_edges</a:t>
            </a:r>
            <a:r>
              <a:rPr lang="en-US" sz="727" dirty="0">
                <a:solidFill>
                  <a:srgbClr val="E0E0E0"/>
                </a:solidFill>
              </a:rPr>
              <a:t>(</a:t>
            </a:r>
            <a:r>
              <a:rPr lang="en-US" sz="727" dirty="0">
                <a:solidFill>
                  <a:srgbClr val="F1FA8C"/>
                </a:solidFill>
              </a:rPr>
              <a:t>"decision_node"</a:t>
            </a:r>
            <a:r>
              <a:rPr lang="en-US" sz="727" dirty="0">
                <a:solidFill>
                  <a:srgbClr val="E0E0E0"/>
                </a:solidFill>
              </a:rPr>
              <a:t>, route_decision)</a:t>
            </a:r>
            <a:endParaRPr lang="en-US" sz="727" dirty="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284464"/>
            <a:ext cx="171450" cy="142875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28675" y="4238923"/>
            <a:ext cx="1293605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1A1A"/>
                </a:solidFill>
              </a:rPr>
              <a:t>Dynamic Edges</a:t>
            </a:r>
            <a:endParaRPr lang="en-US" sz="1193" dirty="0"/>
          </a:p>
        </p:txBody>
      </p:sp>
      <p:sp>
        <p:nvSpPr>
          <p:cNvPr id="21" name="Text 15"/>
          <p:cNvSpPr/>
          <p:nvPr/>
        </p:nvSpPr>
        <p:spPr>
          <a:xfrm>
            <a:off x="571500" y="4544318"/>
            <a:ext cx="28575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555555"/>
                </a:solidFill>
              </a:rPr>
              <a:t>Динамические маршруты. Позволяют вернуть список узлов для параллельного выполнения (Map-Reduce паттерн).</a:t>
            </a:r>
            <a:endParaRPr lang="en-US" sz="834" dirty="0"/>
          </a:p>
        </p:txBody>
      </p:sp>
      <p:sp>
        <p:nvSpPr>
          <p:cNvPr id="22" name="Shape 16"/>
          <p:cNvSpPr/>
          <p:nvPr/>
        </p:nvSpPr>
        <p:spPr>
          <a:xfrm>
            <a:off x="3714750" y="4166592"/>
            <a:ext cx="4857750" cy="964406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3" name="Shape 17"/>
          <p:cNvSpPr/>
          <p:nvPr/>
        </p:nvSpPr>
        <p:spPr>
          <a:xfrm>
            <a:off x="3714750" y="4166592"/>
            <a:ext cx="28575" cy="964406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4" name="Text 18"/>
          <p:cNvSpPr/>
          <p:nvPr/>
        </p:nvSpPr>
        <p:spPr>
          <a:xfrm>
            <a:off x="3857625" y="4309467"/>
            <a:ext cx="4572000" cy="678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FF79C6"/>
                </a:solidFill>
              </a:rPr>
              <a:t>def</a:t>
            </a:r>
            <a:r>
              <a:rPr lang="en-US" sz="727" dirty="0">
                <a:solidFill>
                  <a:srgbClr val="8BE9FD"/>
                </a:solidFill>
              </a:rPr>
              <a:t>dynamic_route</a:t>
            </a:r>
            <a:r>
              <a:rPr lang="en-US" sz="727" dirty="0">
                <a:solidFill>
                  <a:srgbClr val="E0E0E0"/>
                </a:solidFill>
              </a:rPr>
              <a:t>(state):
    </a:t>
            </a:r>
            <a:r>
              <a:rPr lang="en-US" sz="727" dirty="0">
                <a:solidFill>
                  <a:srgbClr val="6272A4"/>
                </a:solidFill>
              </a:rPr>
              <a:t># Возвращает список задач для параллельного запуска</a:t>
            </a:r>
            <a:r>
              <a:rPr lang="en-US" sz="727" dirty="0">
                <a:solidFill>
                  <a:srgbClr val="FF79C6"/>
                </a:solidFill>
              </a:rPr>
              <a:t>return</a:t>
            </a:r>
            <a:r>
              <a:rPr lang="en-US" sz="727" dirty="0">
                <a:solidFill>
                  <a:srgbClr val="E0E0E0"/>
                </a:solidFill>
              </a:rPr>
              <a:t> [</a:t>
            </a:r>
            <a:r>
              <a:rPr lang="en-US" sz="727" dirty="0">
                <a:solidFill>
                  <a:srgbClr val="F1FA8C"/>
                </a:solidFill>
              </a:rPr>
              <a:t>f"task_{i}"</a:t>
            </a:r>
            <a:r>
              <a:rPr lang="en-US" sz="727" dirty="0">
                <a:solidFill>
                  <a:srgbClr val="FF79C6"/>
                </a:solidFill>
              </a:rPr>
              <a:t>for</a:t>
            </a:r>
            <a:r>
              <a:rPr lang="en-US" sz="727" dirty="0">
                <a:solidFill>
                  <a:srgbClr val="E0E0E0"/>
                </a:solidFill>
              </a:rPr>
              <a:t> i </a:t>
            </a:r>
            <a:r>
              <a:rPr lang="en-US" sz="727" dirty="0">
                <a:solidFill>
                  <a:srgbClr val="FF79C6"/>
                </a:solidFill>
              </a:rPr>
              <a:t>in</a:t>
            </a:r>
            <a:r>
              <a:rPr lang="en-US" sz="727" dirty="0">
                <a:solidFill>
                  <a:srgbClr val="E0E0E0"/>
                </a:solidFill>
              </a:rPr>
              <a:t> state[</a:t>
            </a:r>
            <a:r>
              <a:rPr lang="en-US" sz="727" dirty="0">
                <a:solidFill>
                  <a:srgbClr val="F1FA8C"/>
                </a:solidFill>
              </a:rPr>
              <a:t>"task_ids"</a:t>
            </a:r>
            <a:r>
              <a:rPr lang="en-US" sz="727" dirty="0">
                <a:solidFill>
                  <a:srgbClr val="E0E0E0"/>
                </a:solidFill>
              </a:rPr>
              <a:t>]]
graph.</a:t>
            </a:r>
            <a:r>
              <a:rPr lang="en-US" sz="727" dirty="0">
                <a:solidFill>
                  <a:srgbClr val="8BE9FD"/>
                </a:solidFill>
              </a:rPr>
              <a:t>add_conditional_edges</a:t>
            </a:r>
            <a:r>
              <a:rPr lang="en-US" sz="727" dirty="0">
                <a:solidFill>
                  <a:srgbClr val="E0E0E0"/>
                </a:solidFill>
              </a:rPr>
              <a:t>(</a:t>
            </a:r>
            <a:r>
              <a:rPr lang="en-US" sz="727" dirty="0">
                <a:solidFill>
                  <a:srgbClr val="F1FA8C"/>
                </a:solidFill>
              </a:rPr>
              <a:t>"dispatcher"</a:t>
            </a:r>
            <a:r>
              <a:rPr lang="en-US" sz="727" dirty="0">
                <a:solidFill>
                  <a:srgbClr val="E0E0E0"/>
                </a:solidFill>
              </a:rPr>
              <a:t>, dynamic_route)</a:t>
            </a:r>
            <a:endParaRPr lang="en-US" sz="727" dirty="0"/>
          </a:p>
        </p:txBody>
      </p:sp>
      <p:sp>
        <p:nvSpPr>
          <p:cNvPr id="25" name="Shape 19"/>
          <p:cNvSpPr/>
          <p:nvPr/>
        </p:nvSpPr>
        <p:spPr>
          <a:xfrm>
            <a:off x="4222012" y="4689872"/>
            <a:ext cx="4350488" cy="369689"/>
          </a:xfrm>
          <a:prstGeom prst="rect">
            <a:avLst/>
          </a:prstGeom>
          <a:solidFill>
            <a:srgbClr val="FF4500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6" name="Text 20"/>
          <p:cNvSpPr/>
          <p:nvPr/>
        </p:nvSpPr>
        <p:spPr>
          <a:xfrm>
            <a:off x="4222012" y="4689872"/>
            <a:ext cx="4350488" cy="369689"/>
          </a:xfrm>
          <a:prstGeom prst="rect">
            <a:avLst/>
          </a:prstGeom>
          <a:noFill/>
          <a:ln/>
        </p:spPr>
        <p:txBody>
          <a:bodyPr wrap="square" lIns="212598" tIns="127508" rIns="212598" bIns="127508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Условные рёбра — сердце интеллектуального маршрутизирования</a:t>
            </a:r>
            <a:endParaRPr lang="en-US" sz="784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75591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572500" cy="660797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4" name="Shape 1"/>
          <p:cNvSpPr/>
          <p:nvPr/>
        </p:nvSpPr>
        <p:spPr>
          <a:xfrm>
            <a:off x="571500" y="428625"/>
            <a:ext cx="57150" cy="660797"/>
          </a:xfrm>
          <a:prstGeom prst="rect">
            <a:avLst/>
          </a:prstGeom>
          <a:solidFill>
            <a:srgbClr val="FF4500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5" name="Text 2"/>
          <p:cNvSpPr/>
          <p:nvPr/>
        </p:nvSpPr>
        <p:spPr>
          <a:xfrm>
            <a:off x="742950" y="428625"/>
            <a:ext cx="8401050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1A1A1A"/>
                </a:solidFill>
              </a:rPr>
              <a:t>Состояние (State)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742950" y="894755"/>
            <a:ext cx="840105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555555"/>
                </a:solidFill>
              </a:rPr>
              <a:t>Правильный дизайн памяти — залог надежности агента</a:t>
            </a:r>
            <a:endParaRPr lang="en-US" sz="10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420713"/>
            <a:ext cx="178594" cy="14287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35819" y="1375172"/>
            <a:ext cx="1870184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1A1A"/>
                </a:solidFill>
              </a:rPr>
              <a:t>TypedDict vs Pydantic</a:t>
            </a:r>
            <a:endParaRPr lang="en-US" sz="1193" dirty="0"/>
          </a:p>
        </p:txBody>
      </p:sp>
      <p:sp>
        <p:nvSpPr>
          <p:cNvPr id="9" name="Text 5"/>
          <p:cNvSpPr/>
          <p:nvPr/>
        </p:nvSpPr>
        <p:spPr>
          <a:xfrm>
            <a:off x="728663" y="1752005"/>
            <a:ext cx="362902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333333"/>
                </a:solidFill>
              </a:rPr>
              <a:t>TypedDict</a:t>
            </a:r>
            <a:endParaRPr lang="en-US" sz="987" dirty="0"/>
          </a:p>
        </p:txBody>
      </p:sp>
      <p:sp>
        <p:nvSpPr>
          <p:cNvPr id="10" name="Text 6"/>
          <p:cNvSpPr/>
          <p:nvPr/>
        </p:nvSpPr>
        <p:spPr>
          <a:xfrm>
            <a:off x="728663" y="2003822"/>
            <a:ext cx="36290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555555"/>
                </a:solidFill>
              </a:rPr>
              <a:t>Легковесный, встроен в Python. Идеален для простых агентов, где не требуется сложная валидация данных при каждом шаге.</a:t>
            </a:r>
            <a:endParaRPr lang="en-US" sz="834" dirty="0"/>
          </a:p>
        </p:txBody>
      </p:sp>
      <p:sp>
        <p:nvSpPr>
          <p:cNvPr id="11" name="Text 7"/>
          <p:cNvSpPr/>
          <p:nvPr/>
        </p:nvSpPr>
        <p:spPr>
          <a:xfrm>
            <a:off x="728663" y="2518172"/>
            <a:ext cx="362902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333333"/>
                </a:solidFill>
              </a:rPr>
              <a:t>Pydantic</a:t>
            </a:r>
            <a:endParaRPr lang="en-US" sz="987" dirty="0"/>
          </a:p>
        </p:txBody>
      </p:sp>
      <p:sp>
        <p:nvSpPr>
          <p:cNvPr id="12" name="Text 8"/>
          <p:cNvSpPr/>
          <p:nvPr/>
        </p:nvSpPr>
        <p:spPr>
          <a:xfrm>
            <a:off x="728663" y="2769989"/>
            <a:ext cx="3629025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555555"/>
                </a:solidFill>
              </a:rPr>
              <a:t>Мощная валидация и сериализация. Подходит для сложных схем, где важно гарантировать типы данных на входе и выходе каждого узла.</a:t>
            </a:r>
            <a:endParaRPr lang="en-US" sz="834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787080"/>
            <a:ext cx="142875" cy="14287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00100" y="3741539"/>
            <a:ext cx="119588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1A1A"/>
                </a:solidFill>
              </a:rPr>
              <a:t>Best Practices</a:t>
            </a:r>
            <a:endParaRPr lang="en-US" sz="1193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146947"/>
            <a:ext cx="62508" cy="100013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719733" y="4118372"/>
            <a:ext cx="3637955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1A1A1A"/>
                </a:solidFill>
              </a:rPr>
              <a:t>Включайте только необходимые данные для минимизации контекста.</a:t>
            </a:r>
            <a:endParaRPr lang="en-US" sz="834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4552690"/>
            <a:ext cx="62508" cy="100013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719733" y="4524115"/>
            <a:ext cx="722607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1A1A1A"/>
                </a:solidFill>
              </a:rPr>
              <a:t>Используйте</a:t>
            </a:r>
            <a:endParaRPr lang="en-US" sz="834" dirty="0"/>
          </a:p>
        </p:txBody>
      </p:sp>
      <p:sp>
        <p:nvSpPr>
          <p:cNvPr id="19" name="Text 12"/>
          <p:cNvSpPr/>
          <p:nvPr/>
        </p:nvSpPr>
        <p:spPr>
          <a:xfrm>
            <a:off x="1442340" y="4524115"/>
            <a:ext cx="607972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1A1A1A"/>
                </a:solidFill>
              </a:rPr>
              <a:t>Annotated</a:t>
            </a:r>
            <a:endParaRPr lang="en-US" sz="784" dirty="0"/>
          </a:p>
        </p:txBody>
      </p:sp>
      <p:sp>
        <p:nvSpPr>
          <p:cNvPr id="20" name="Text 13"/>
          <p:cNvSpPr/>
          <p:nvPr/>
        </p:nvSpPr>
        <p:spPr>
          <a:xfrm>
            <a:off x="2050312" y="4524115"/>
            <a:ext cx="2307375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1A1A1A"/>
                </a:solidFill>
              </a:rPr>
              <a:t>для явного определения логики обновления (Reducers).</a:t>
            </a:r>
            <a:endParaRPr lang="en-US" sz="834" dirty="0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4958432"/>
            <a:ext cx="62508" cy="100013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719733" y="4929857"/>
            <a:ext cx="3211255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1A1A1A"/>
                </a:solidFill>
              </a:rPr>
              <a:t>Избегайте глубокой вложенности и циклических ссылок.</a:t>
            </a:r>
            <a:endParaRPr lang="en-US" sz="834" dirty="0"/>
          </a:p>
        </p:txBody>
      </p:sp>
      <p:sp>
        <p:nvSpPr>
          <p:cNvPr id="23" name="Text 15"/>
          <p:cNvSpPr/>
          <p:nvPr/>
        </p:nvSpPr>
        <p:spPr>
          <a:xfrm>
            <a:off x="4786313" y="1375172"/>
            <a:ext cx="378618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kern="0" spc="1" dirty="0">
                <a:solidFill>
                  <a:srgbClr val="888888"/>
                </a:solidFill>
              </a:rPr>
              <a:t>Определение состояния (TypedDict)</a:t>
            </a:r>
            <a:endParaRPr lang="en-US" sz="683" dirty="0"/>
          </a:p>
        </p:txBody>
      </p:sp>
      <p:sp>
        <p:nvSpPr>
          <p:cNvPr id="24" name="Shape 16"/>
          <p:cNvSpPr/>
          <p:nvPr/>
        </p:nvSpPr>
        <p:spPr>
          <a:xfrm>
            <a:off x="4786313" y="1582341"/>
            <a:ext cx="3786188" cy="205740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5" name="Shape 17"/>
          <p:cNvSpPr/>
          <p:nvPr/>
        </p:nvSpPr>
        <p:spPr>
          <a:xfrm>
            <a:off x="4786313" y="1582341"/>
            <a:ext cx="28575" cy="2057400"/>
          </a:xfrm>
          <a:prstGeom prst="rect">
            <a:avLst/>
          </a:prstGeom>
          <a:solidFill>
            <a:srgbClr val="FF4500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6" name="Text 18"/>
          <p:cNvSpPr/>
          <p:nvPr/>
        </p:nvSpPr>
        <p:spPr>
          <a:xfrm>
            <a:off x="4957763" y="1753791"/>
            <a:ext cx="344328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0" dirty="0">
                <a:solidFill>
                  <a:srgbClr val="FF79C6"/>
                </a:solidFill>
              </a:rPr>
              <a:t>from</a:t>
            </a:r>
            <a:r>
              <a:rPr lang="en-US" sz="780" dirty="0">
                <a:solidFill>
                  <a:srgbClr val="E0E0E0"/>
                </a:solidFill>
              </a:rPr>
              <a:t> typing </a:t>
            </a:r>
            <a:r>
              <a:rPr lang="en-US" sz="780" dirty="0">
                <a:solidFill>
                  <a:srgbClr val="FF79C6"/>
                </a:solidFill>
              </a:rPr>
              <a:t>import</a:t>
            </a:r>
            <a:r>
              <a:rPr lang="en-US" sz="780" dirty="0">
                <a:solidFill>
                  <a:srgbClr val="E0E0E0"/>
                </a:solidFill>
              </a:rPr>
              <a:t> TypedDict, Annotated
</a:t>
            </a:r>
            <a:r>
              <a:rPr lang="en-US" sz="780" dirty="0">
                <a:solidFill>
                  <a:srgbClr val="FF79C6"/>
                </a:solidFill>
              </a:rPr>
              <a:t>from</a:t>
            </a:r>
            <a:r>
              <a:rPr lang="en-US" sz="780" dirty="0">
                <a:solidFill>
                  <a:srgbClr val="E0E0E0"/>
                </a:solidFill>
              </a:rPr>
              <a:t> langgraph.graph </a:t>
            </a:r>
            <a:r>
              <a:rPr lang="en-US" sz="780" dirty="0">
                <a:solidFill>
                  <a:srgbClr val="FF79C6"/>
                </a:solidFill>
              </a:rPr>
              <a:t>import</a:t>
            </a:r>
            <a:r>
              <a:rPr lang="en-US" sz="780" dirty="0">
                <a:solidFill>
                  <a:srgbClr val="E0E0E0"/>
                </a:solidFill>
              </a:rPr>
              <a:t> add_messages
</a:t>
            </a:r>
            <a:r>
              <a:rPr lang="en-US" sz="780" dirty="0">
                <a:solidFill>
                  <a:srgbClr val="FF79C6"/>
                </a:solidFill>
              </a:rPr>
              <a:t>class</a:t>
            </a:r>
            <a:r>
              <a:rPr lang="en-US" sz="780" dirty="0">
                <a:solidFill>
                  <a:srgbClr val="50FA7B"/>
                </a:solidFill>
              </a:rPr>
              <a:t>AgentState</a:t>
            </a:r>
            <a:r>
              <a:rPr lang="en-US" sz="780" dirty="0">
                <a:solidFill>
                  <a:srgbClr val="E0E0E0"/>
                </a:solidFill>
              </a:rPr>
              <a:t>(TypedDict):
    </a:t>
            </a:r>
            <a:r>
              <a:rPr lang="en-US" sz="780" dirty="0">
                <a:solidFill>
                  <a:srgbClr val="6272A4"/>
                </a:solidFill>
              </a:rPr>
              <a:t># Reducer: добавляет новые сообщения в список</a:t>
            </a:r>
            <a:r>
              <a:rPr lang="en-US" sz="780" dirty="0">
                <a:solidFill>
                  <a:srgbClr val="E0E0E0"/>
                </a:solidFill>
              </a:rPr>
              <a:t>
    messages: Annotated[list, add_messages]
    </a:t>
            </a:r>
            <a:r>
              <a:rPr lang="en-US" sz="780" dirty="0">
                <a:solidFill>
                  <a:srgbClr val="6272A4"/>
                </a:solidFill>
              </a:rPr>
              <a:t># Default: перезаписывает значение</a:t>
            </a:r>
            <a:r>
              <a:rPr lang="en-US" sz="780" dirty="0">
                <a:solidFill>
                  <a:srgbClr val="E0E0E0"/>
                </a:solidFill>
              </a:rPr>
              <a:t>
    current_task: str
    steps_count: int</a:t>
            </a:r>
            <a:endParaRPr lang="en-US" sz="7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572500" cy="660797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4" name="Shape 1"/>
          <p:cNvSpPr/>
          <p:nvPr/>
        </p:nvSpPr>
        <p:spPr>
          <a:xfrm>
            <a:off x="571500" y="428625"/>
            <a:ext cx="57150" cy="660797"/>
          </a:xfrm>
          <a:prstGeom prst="rect">
            <a:avLst/>
          </a:prstGeom>
          <a:solidFill>
            <a:srgbClr val="FF4500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5" name="Text 2"/>
          <p:cNvSpPr/>
          <p:nvPr/>
        </p:nvSpPr>
        <p:spPr>
          <a:xfrm>
            <a:off x="742950" y="428625"/>
            <a:ext cx="8401050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1A1A1A"/>
                </a:solidFill>
              </a:rPr>
              <a:t>Компиляция и запуск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742950" y="894755"/>
            <a:ext cx="840105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555555"/>
                </a:solidFill>
              </a:rPr>
              <a:t>Превращение определения графа в исполняемый Runnable</a:t>
            </a:r>
            <a:endParaRPr lang="en-US" sz="10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420713"/>
            <a:ext cx="178594" cy="14287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35819" y="1375172"/>
            <a:ext cx="1948374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1A1A"/>
                </a:solidFill>
              </a:rPr>
              <a:t>Процесс компиляции</a:t>
            </a:r>
            <a:endParaRPr lang="en-US" sz="1193" dirty="0"/>
          </a:p>
        </p:txBody>
      </p:sp>
      <p:sp>
        <p:nvSpPr>
          <p:cNvPr id="9" name="Text 5"/>
          <p:cNvSpPr/>
          <p:nvPr/>
        </p:nvSpPr>
        <p:spPr>
          <a:xfrm>
            <a:off x="642938" y="1752005"/>
            <a:ext cx="4833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4500"/>
                </a:solidFill>
              </a:rPr>
              <a:t>•</a:t>
            </a:r>
            <a:endParaRPr lang="en-US" sz="885" dirty="0"/>
          </a:p>
        </p:txBody>
      </p:sp>
      <p:sp>
        <p:nvSpPr>
          <p:cNvPr id="10" name="Text 6"/>
          <p:cNvSpPr/>
          <p:nvPr/>
        </p:nvSpPr>
        <p:spPr>
          <a:xfrm>
            <a:off x="785813" y="1752005"/>
            <a:ext cx="79661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Валидация:</a:t>
            </a:r>
            <a:endParaRPr lang="en-US" sz="885" dirty="0"/>
          </a:p>
        </p:txBody>
      </p:sp>
      <p:sp>
        <p:nvSpPr>
          <p:cNvPr id="11" name="Text 7"/>
          <p:cNvSpPr/>
          <p:nvPr/>
        </p:nvSpPr>
        <p:spPr>
          <a:xfrm>
            <a:off x="1582424" y="1752005"/>
            <a:ext cx="224143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1A1A1A"/>
                </a:solidFill>
              </a:rPr>
              <a:t>Проверка связности узлов и рёбер</a:t>
            </a:r>
            <a:endParaRPr lang="en-US" sz="942" dirty="0"/>
          </a:p>
        </p:txBody>
      </p:sp>
      <p:sp>
        <p:nvSpPr>
          <p:cNvPr id="12" name="Text 8"/>
          <p:cNvSpPr/>
          <p:nvPr/>
        </p:nvSpPr>
        <p:spPr>
          <a:xfrm>
            <a:off x="642938" y="2012752"/>
            <a:ext cx="4833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4500"/>
                </a:solidFill>
              </a:rPr>
              <a:t>•</a:t>
            </a:r>
            <a:endParaRPr lang="en-US" sz="885" dirty="0"/>
          </a:p>
        </p:txBody>
      </p:sp>
      <p:sp>
        <p:nvSpPr>
          <p:cNvPr id="13" name="Text 9"/>
          <p:cNvSpPr/>
          <p:nvPr/>
        </p:nvSpPr>
        <p:spPr>
          <a:xfrm>
            <a:off x="785813" y="2012752"/>
            <a:ext cx="99398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Оптимизация:</a:t>
            </a:r>
            <a:endParaRPr lang="en-US" sz="885" dirty="0"/>
          </a:p>
        </p:txBody>
      </p:sp>
      <p:sp>
        <p:nvSpPr>
          <p:cNvPr id="14" name="Text 10"/>
          <p:cNvSpPr/>
          <p:nvPr/>
        </p:nvSpPr>
        <p:spPr>
          <a:xfrm>
            <a:off x="785813" y="2012752"/>
            <a:ext cx="3136664" cy="3500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1A1A1A"/>
                </a:solidFill>
              </a:rPr>
              <a:t>Построение эффективного плана выполнения</a:t>
            </a:r>
            <a:endParaRPr lang="en-US" sz="942" dirty="0"/>
          </a:p>
        </p:txBody>
      </p:sp>
      <p:sp>
        <p:nvSpPr>
          <p:cNvPr id="15" name="Text 11"/>
          <p:cNvSpPr/>
          <p:nvPr/>
        </p:nvSpPr>
        <p:spPr>
          <a:xfrm>
            <a:off x="642938" y="2448520"/>
            <a:ext cx="4833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4500"/>
                </a:solidFill>
              </a:rPr>
              <a:t>•</a:t>
            </a:r>
            <a:endParaRPr lang="en-US" sz="885" dirty="0"/>
          </a:p>
        </p:txBody>
      </p:sp>
      <p:sp>
        <p:nvSpPr>
          <p:cNvPr id="16" name="Text 12"/>
          <p:cNvSpPr/>
          <p:nvPr/>
        </p:nvSpPr>
        <p:spPr>
          <a:xfrm>
            <a:off x="785813" y="2448520"/>
            <a:ext cx="82348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Подготовка:</a:t>
            </a:r>
            <a:endParaRPr lang="en-US" sz="885" dirty="0"/>
          </a:p>
        </p:txBody>
      </p:sp>
      <p:sp>
        <p:nvSpPr>
          <p:cNvPr id="17" name="Text 13"/>
          <p:cNvSpPr/>
          <p:nvPr/>
        </p:nvSpPr>
        <p:spPr>
          <a:xfrm>
            <a:off x="1609297" y="2448520"/>
            <a:ext cx="179986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1A1A1A"/>
                </a:solidFill>
              </a:rPr>
              <a:t>Создание Runnable объекта</a:t>
            </a:r>
            <a:endParaRPr lang="en-US" sz="942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040559"/>
            <a:ext cx="142875" cy="142875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00100" y="2995017"/>
            <a:ext cx="1523014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1A1A"/>
                </a:solidFill>
              </a:rPr>
              <a:t>Режимы запуска</a:t>
            </a:r>
            <a:endParaRPr lang="en-US" sz="1193" dirty="0"/>
          </a:p>
        </p:txBody>
      </p:sp>
      <p:sp>
        <p:nvSpPr>
          <p:cNvPr id="20" name="Shape 15"/>
          <p:cNvSpPr/>
          <p:nvPr/>
        </p:nvSpPr>
        <p:spPr>
          <a:xfrm>
            <a:off x="571500" y="3371850"/>
            <a:ext cx="3786188" cy="567928"/>
          </a:xfrm>
          <a:prstGeom prst="rect">
            <a:avLst/>
          </a:prstGeom>
          <a:solidFill>
            <a:srgbClr val="FFFFFF"/>
          </a:solidFill>
          <a:ln w="9144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1" name="Shape 16"/>
          <p:cNvSpPr/>
          <p:nvPr/>
        </p:nvSpPr>
        <p:spPr>
          <a:xfrm>
            <a:off x="714375" y="3505795"/>
            <a:ext cx="285750" cy="28575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ru-KZ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030" y="3584377"/>
            <a:ext cx="96441" cy="12858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107281" y="3479006"/>
            <a:ext cx="273745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Invoke</a:t>
            </a:r>
            <a:endParaRPr lang="en-US" sz="885" dirty="0"/>
          </a:p>
        </p:txBody>
      </p:sp>
      <p:sp>
        <p:nvSpPr>
          <p:cNvPr id="24" name="Text 18"/>
          <p:cNvSpPr/>
          <p:nvPr/>
        </p:nvSpPr>
        <p:spPr>
          <a:xfrm>
            <a:off x="1107281" y="3682603"/>
            <a:ext cx="273745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555555"/>
                </a:solidFill>
              </a:rPr>
              <a:t>Синхронный запуск, возвращает финальное состояние</a:t>
            </a:r>
            <a:endParaRPr lang="en-US" sz="727" dirty="0"/>
          </a:p>
        </p:txBody>
      </p:sp>
      <p:sp>
        <p:nvSpPr>
          <p:cNvPr id="25" name="Shape 19"/>
          <p:cNvSpPr/>
          <p:nvPr/>
        </p:nvSpPr>
        <p:spPr>
          <a:xfrm>
            <a:off x="571500" y="4068366"/>
            <a:ext cx="3786188" cy="567928"/>
          </a:xfrm>
          <a:prstGeom prst="rect">
            <a:avLst/>
          </a:prstGeom>
          <a:solidFill>
            <a:srgbClr val="FFFFFF"/>
          </a:solidFill>
          <a:ln w="9144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6" name="Shape 20"/>
          <p:cNvSpPr/>
          <p:nvPr/>
        </p:nvSpPr>
        <p:spPr>
          <a:xfrm>
            <a:off x="714375" y="4202311"/>
            <a:ext cx="285750" cy="28575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ru-KZ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2956" y="4280892"/>
            <a:ext cx="128588" cy="12858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107281" y="4175522"/>
            <a:ext cx="235679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Stream</a:t>
            </a:r>
            <a:endParaRPr lang="en-US" sz="885" dirty="0"/>
          </a:p>
        </p:txBody>
      </p:sp>
      <p:sp>
        <p:nvSpPr>
          <p:cNvPr id="29" name="Text 22"/>
          <p:cNvSpPr/>
          <p:nvPr/>
        </p:nvSpPr>
        <p:spPr>
          <a:xfrm>
            <a:off x="1107281" y="4379119"/>
            <a:ext cx="235679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555555"/>
                </a:solidFill>
              </a:rPr>
              <a:t>Потоковая передача событий (идеально для UI)</a:t>
            </a:r>
            <a:endParaRPr lang="en-US" sz="727" dirty="0"/>
          </a:p>
        </p:txBody>
      </p:sp>
      <p:sp>
        <p:nvSpPr>
          <p:cNvPr id="30" name="Shape 23"/>
          <p:cNvSpPr/>
          <p:nvPr/>
        </p:nvSpPr>
        <p:spPr>
          <a:xfrm>
            <a:off x="571500" y="4764881"/>
            <a:ext cx="3786188" cy="567928"/>
          </a:xfrm>
          <a:prstGeom prst="rect">
            <a:avLst/>
          </a:prstGeom>
          <a:solidFill>
            <a:srgbClr val="FFFFFF"/>
          </a:solidFill>
          <a:ln w="9144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1" name="Shape 24"/>
          <p:cNvSpPr/>
          <p:nvPr/>
        </p:nvSpPr>
        <p:spPr>
          <a:xfrm>
            <a:off x="714375" y="4898827"/>
            <a:ext cx="285750" cy="28575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ru-KZ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2956" y="4977408"/>
            <a:ext cx="128588" cy="128588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1107281" y="4872038"/>
            <a:ext cx="245552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Batch</a:t>
            </a:r>
            <a:endParaRPr lang="en-US" sz="885" dirty="0"/>
          </a:p>
        </p:txBody>
      </p:sp>
      <p:sp>
        <p:nvSpPr>
          <p:cNvPr id="34" name="Text 26"/>
          <p:cNvSpPr/>
          <p:nvPr/>
        </p:nvSpPr>
        <p:spPr>
          <a:xfrm>
            <a:off x="1107281" y="5075634"/>
            <a:ext cx="245552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555555"/>
                </a:solidFill>
              </a:rPr>
              <a:t>Параллельная обработка списка входных данных</a:t>
            </a:r>
            <a:endParaRPr lang="en-US" sz="727" dirty="0"/>
          </a:p>
        </p:txBody>
      </p:sp>
      <p:sp>
        <p:nvSpPr>
          <p:cNvPr id="35" name="Shape 27"/>
          <p:cNvSpPr/>
          <p:nvPr/>
        </p:nvSpPr>
        <p:spPr>
          <a:xfrm>
            <a:off x="4786313" y="1375172"/>
            <a:ext cx="3786188" cy="394335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36" name="Shape 28"/>
          <p:cNvSpPr/>
          <p:nvPr/>
        </p:nvSpPr>
        <p:spPr>
          <a:xfrm>
            <a:off x="4786313" y="1375172"/>
            <a:ext cx="28575" cy="3943350"/>
          </a:xfrm>
          <a:prstGeom prst="rect">
            <a:avLst/>
          </a:prstGeom>
          <a:solidFill>
            <a:srgbClr val="FF4500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37" name="Text 29"/>
          <p:cNvSpPr/>
          <p:nvPr/>
        </p:nvSpPr>
        <p:spPr>
          <a:xfrm>
            <a:off x="5000625" y="1889522"/>
            <a:ext cx="3357563" cy="2914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0" dirty="0">
                <a:solidFill>
                  <a:srgbClr val="6272A4"/>
                </a:solidFill>
              </a:rPr>
              <a:t># 1. Компиляция графа</a:t>
            </a:r>
            <a:r>
              <a:rPr lang="en-US" sz="780" dirty="0">
                <a:solidFill>
                  <a:srgbClr val="E0E0E0"/>
                </a:solidFill>
              </a:rPr>
              <a:t>
app = workflow.</a:t>
            </a:r>
            <a:r>
              <a:rPr lang="en-US" sz="780" dirty="0">
                <a:solidFill>
                  <a:srgbClr val="8BE9FD"/>
                </a:solidFill>
              </a:rPr>
              <a:t>compile</a:t>
            </a:r>
            <a:r>
              <a:rPr lang="en-US" sz="780" dirty="0">
                <a:solidFill>
                  <a:srgbClr val="E0E0E0"/>
                </a:solidFill>
              </a:rPr>
              <a:t>()
</a:t>
            </a:r>
            <a:r>
              <a:rPr lang="en-US" sz="780" dirty="0">
                <a:solidFill>
                  <a:srgbClr val="6272A4"/>
                </a:solidFill>
              </a:rPr>
              <a:t># 2. Invoke - Финальный результат</a:t>
            </a:r>
            <a:r>
              <a:rPr lang="en-US" sz="780" dirty="0">
                <a:solidFill>
                  <a:srgbClr val="E0E0E0"/>
                </a:solidFill>
              </a:rPr>
              <a:t>
result = app.</a:t>
            </a:r>
            <a:r>
              <a:rPr lang="en-US" sz="780" dirty="0">
                <a:solidFill>
                  <a:srgbClr val="8BE9FD"/>
                </a:solidFill>
              </a:rPr>
              <a:t>invoke</a:t>
            </a:r>
            <a:r>
              <a:rPr lang="en-US" sz="780" dirty="0">
                <a:solidFill>
                  <a:srgbClr val="E0E0E0"/>
                </a:solidFill>
              </a:rPr>
              <a:t>({
    </a:t>
            </a:r>
            <a:r>
              <a:rPr lang="en-US" sz="780" dirty="0">
                <a:solidFill>
                  <a:srgbClr val="F1FA8C"/>
                </a:solidFill>
              </a:rPr>
              <a:t>"messages"</a:t>
            </a:r>
            <a:r>
              <a:rPr lang="en-US" sz="780" dirty="0">
                <a:solidFill>
                  <a:srgbClr val="E0E0E0"/>
                </a:solidFill>
              </a:rPr>
              <a:t>: [HumanMessage(</a:t>
            </a:r>
            <a:r>
              <a:rPr lang="en-US" sz="780" dirty="0">
                <a:solidFill>
                  <a:srgbClr val="F1FA8C"/>
                </a:solidFill>
              </a:rPr>
              <a:t>"Hi"</a:t>
            </a:r>
            <a:r>
              <a:rPr lang="en-US" sz="780" dirty="0">
                <a:solidFill>
                  <a:srgbClr val="E0E0E0"/>
                </a:solidFill>
              </a:rPr>
              <a:t>)]
})
</a:t>
            </a:r>
            <a:r>
              <a:rPr lang="en-US" sz="780" dirty="0">
                <a:solidFill>
                  <a:srgbClr val="6272A4"/>
                </a:solidFill>
              </a:rPr>
              <a:t># 3. Stream - События в реальном времени</a:t>
            </a:r>
            <a:r>
              <a:rPr lang="en-US" sz="780" dirty="0">
                <a:solidFill>
                  <a:srgbClr val="FF79C6"/>
                </a:solidFill>
              </a:rPr>
              <a:t>for</a:t>
            </a:r>
            <a:r>
              <a:rPr lang="en-US" sz="780" dirty="0">
                <a:solidFill>
                  <a:srgbClr val="E0E0E0"/>
                </a:solidFill>
              </a:rPr>
              <a:t> event </a:t>
            </a:r>
            <a:r>
              <a:rPr lang="en-US" sz="780" dirty="0">
                <a:solidFill>
                  <a:srgbClr val="FF79C6"/>
                </a:solidFill>
              </a:rPr>
              <a:t>in</a:t>
            </a:r>
            <a:r>
              <a:rPr lang="en-US" sz="780" dirty="0">
                <a:solidFill>
                  <a:srgbClr val="E0E0E0"/>
                </a:solidFill>
              </a:rPr>
              <a:t> app.</a:t>
            </a:r>
            <a:r>
              <a:rPr lang="en-US" sz="780" dirty="0">
                <a:solidFill>
                  <a:srgbClr val="8BE9FD"/>
                </a:solidFill>
              </a:rPr>
              <a:t>stream</a:t>
            </a:r>
            <a:r>
              <a:rPr lang="en-US" sz="780" dirty="0">
                <a:solidFill>
                  <a:srgbClr val="E0E0E0"/>
                </a:solidFill>
              </a:rPr>
              <a:t>(inputs):
    </a:t>
            </a:r>
            <a:r>
              <a:rPr lang="en-US" sz="780" dirty="0">
                <a:solidFill>
                  <a:srgbClr val="8BE9FD"/>
                </a:solidFill>
              </a:rPr>
              <a:t>print</a:t>
            </a:r>
            <a:r>
              <a:rPr lang="en-US" sz="780" dirty="0">
                <a:solidFill>
                  <a:srgbClr val="E0E0E0"/>
                </a:solidFill>
              </a:rPr>
              <a:t>(</a:t>
            </a:r>
            <a:r>
              <a:rPr lang="en-US" sz="780" dirty="0">
                <a:solidFill>
                  <a:srgbClr val="F1FA8C"/>
                </a:solidFill>
              </a:rPr>
              <a:t>f"Node: {event}"</a:t>
            </a:r>
            <a:r>
              <a:rPr lang="en-US" sz="780" dirty="0">
                <a:solidFill>
                  <a:srgbClr val="E0E0E0"/>
                </a:solidFill>
              </a:rPr>
              <a:t>)
</a:t>
            </a:r>
            <a:r>
              <a:rPr lang="en-US" sz="780" dirty="0">
                <a:solidFill>
                  <a:srgbClr val="6272A4"/>
                </a:solidFill>
              </a:rPr>
              <a:t># 4. Batch - Параллельная обработка</a:t>
            </a:r>
            <a:r>
              <a:rPr lang="en-US" sz="780" dirty="0">
                <a:solidFill>
                  <a:srgbClr val="E0E0E0"/>
                </a:solidFill>
              </a:rPr>
              <a:t>
results = app.</a:t>
            </a:r>
            <a:r>
              <a:rPr lang="en-US" sz="780" dirty="0">
                <a:solidFill>
                  <a:srgbClr val="8BE9FD"/>
                </a:solidFill>
              </a:rPr>
              <a:t>batch</a:t>
            </a:r>
            <a:r>
              <a:rPr lang="en-US" sz="780" dirty="0">
                <a:solidFill>
                  <a:srgbClr val="E0E0E0"/>
                </a:solidFill>
              </a:rPr>
              <a:t>([
    {</a:t>
            </a:r>
            <a:r>
              <a:rPr lang="en-US" sz="780" dirty="0">
                <a:solidFill>
                  <a:srgbClr val="F1FA8C"/>
                </a:solidFill>
              </a:rPr>
              <a:t>"query"</a:t>
            </a:r>
            <a:r>
              <a:rPr lang="en-US" sz="780" dirty="0">
                <a:solidFill>
                  <a:srgbClr val="E0E0E0"/>
                </a:solidFill>
              </a:rPr>
              <a:t>: </a:t>
            </a:r>
            <a:r>
              <a:rPr lang="en-US" sz="780" dirty="0">
                <a:solidFill>
                  <a:srgbClr val="F1FA8C"/>
                </a:solidFill>
              </a:rPr>
              <a:t>"What is AI?"</a:t>
            </a:r>
            <a:r>
              <a:rPr lang="en-US" sz="780" dirty="0">
                <a:solidFill>
                  <a:srgbClr val="E0E0E0"/>
                </a:solidFill>
              </a:rPr>
              <a:t>},
    {</a:t>
            </a:r>
            <a:r>
              <a:rPr lang="en-US" sz="780" dirty="0">
                <a:solidFill>
                  <a:srgbClr val="F1FA8C"/>
                </a:solidFill>
              </a:rPr>
              <a:t>"query"</a:t>
            </a:r>
            <a:r>
              <a:rPr lang="en-US" sz="780" dirty="0">
                <a:solidFill>
                  <a:srgbClr val="E0E0E0"/>
                </a:solidFill>
              </a:rPr>
              <a:t>: </a:t>
            </a:r>
            <a:r>
              <a:rPr lang="en-US" sz="780" dirty="0">
                <a:solidFill>
                  <a:srgbClr val="F1FA8C"/>
                </a:solidFill>
              </a:rPr>
              <a:t>"What is LangGraph?"</a:t>
            </a:r>
            <a:r>
              <a:rPr lang="en-US" sz="780" dirty="0">
                <a:solidFill>
                  <a:srgbClr val="E0E0E0"/>
                </a:solidFill>
              </a:rPr>
              <a:t>}
])</a:t>
            </a:r>
            <a:endParaRPr lang="en-US" sz="7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572500" cy="67329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4" name="Shape 1"/>
          <p:cNvSpPr/>
          <p:nvPr/>
        </p:nvSpPr>
        <p:spPr>
          <a:xfrm>
            <a:off x="571500" y="428625"/>
            <a:ext cx="57150" cy="673298"/>
          </a:xfrm>
          <a:prstGeom prst="rect">
            <a:avLst/>
          </a:prstGeom>
          <a:solidFill>
            <a:srgbClr val="FF4500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5" name="Text 2"/>
          <p:cNvSpPr/>
          <p:nvPr/>
        </p:nvSpPr>
        <p:spPr>
          <a:xfrm>
            <a:off x="742950" y="428625"/>
            <a:ext cx="8401050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1A1A1A"/>
                </a:solidFill>
              </a:rPr>
              <a:t>Паттерн 1: Простой агент (Tool Use)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742950" y="894755"/>
            <a:ext cx="840105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555555"/>
                </a:solidFill>
              </a:rPr>
              <a:t>Базовый цикл: LLM → Tools → Loop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71500" y="1316236"/>
            <a:ext cx="3786188" cy="2143125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8" name="Shape 5"/>
          <p:cNvSpPr/>
          <p:nvPr/>
        </p:nvSpPr>
        <p:spPr>
          <a:xfrm>
            <a:off x="571500" y="1316236"/>
            <a:ext cx="28575" cy="2143125"/>
          </a:xfrm>
          <a:prstGeom prst="rect">
            <a:avLst/>
          </a:prstGeom>
          <a:solidFill>
            <a:srgbClr val="FF4500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9" name="Text 6"/>
          <p:cNvSpPr/>
          <p:nvPr/>
        </p:nvSpPr>
        <p:spPr>
          <a:xfrm>
            <a:off x="714375" y="1459111"/>
            <a:ext cx="3500438" cy="1800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FF79C6"/>
                </a:solidFill>
              </a:rPr>
              <a:t>def</a:t>
            </a:r>
            <a:r>
              <a:rPr lang="en-US" sz="727" dirty="0">
                <a:solidFill>
                  <a:srgbClr val="8BE9FD"/>
                </a:solidFill>
              </a:rPr>
              <a:t>calculator</a:t>
            </a:r>
            <a:r>
              <a:rPr lang="en-US" sz="727" dirty="0">
                <a:solidFill>
                  <a:srgbClr val="E0E0E0"/>
                </a:solidFill>
              </a:rPr>
              <a:t>(expression):
    </a:t>
            </a:r>
            <a:r>
              <a:rPr lang="en-US" sz="727" dirty="0">
                <a:solidFill>
                  <a:srgbClr val="FF79C6"/>
                </a:solidFill>
              </a:rPr>
              <a:t>return</a:t>
            </a:r>
            <a:r>
              <a:rPr lang="en-US" sz="727" dirty="0">
                <a:solidFill>
                  <a:srgbClr val="E0E0E0"/>
                </a:solidFill>
              </a:rPr>
              <a:t> eval(expression)
</a:t>
            </a:r>
            <a:r>
              <a:rPr lang="en-US" sz="727" dirty="0">
                <a:solidFill>
                  <a:srgbClr val="FF79C6"/>
                </a:solidFill>
              </a:rPr>
              <a:t>def</a:t>
            </a:r>
            <a:r>
              <a:rPr lang="en-US" sz="727" dirty="0">
                <a:solidFill>
                  <a:srgbClr val="8BE9FD"/>
                </a:solidFill>
              </a:rPr>
              <a:t>search</a:t>
            </a:r>
            <a:r>
              <a:rPr lang="en-US" sz="727" dirty="0">
                <a:solidFill>
                  <a:srgbClr val="E0E0E0"/>
                </a:solidFill>
              </a:rPr>
              <a:t>(query):
    </a:t>
            </a:r>
            <a:r>
              <a:rPr lang="en-US" sz="727" dirty="0">
                <a:solidFill>
                  <a:srgbClr val="FF79C6"/>
                </a:solidFill>
              </a:rPr>
              <a:t>return</a:t>
            </a:r>
            <a:r>
              <a:rPr lang="en-US" sz="727" dirty="0">
                <a:solidFill>
                  <a:srgbClr val="E0E0E0"/>
                </a:solidFill>
              </a:rPr>
              <a:t> search_api(query)
tools = [calculator, search]
</a:t>
            </a:r>
            <a:r>
              <a:rPr lang="en-US" sz="727" dirty="0">
                <a:solidFill>
                  <a:srgbClr val="6272A4"/>
                </a:solidFill>
              </a:rPr>
              <a:t># Архитектура графа:# 1. LLM решает, нужен ли инструмент# 2. Если да -&gt; ToolNode -&gt; LLM# 3. Если нет -&gt; End</a:t>
            </a:r>
            <a:endParaRPr lang="en-US" sz="727" dirty="0"/>
          </a:p>
        </p:txBody>
      </p:sp>
      <p:sp>
        <p:nvSpPr>
          <p:cNvPr id="10" name="Shape 7"/>
          <p:cNvSpPr/>
          <p:nvPr/>
        </p:nvSpPr>
        <p:spPr>
          <a:xfrm>
            <a:off x="4786313" y="1330523"/>
            <a:ext cx="171450" cy="171450"/>
          </a:xfrm>
          <a:prstGeom prst="ellipse">
            <a:avLst/>
          </a:prstGeom>
          <a:solidFill>
            <a:srgbClr val="FF4500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1" name="Text 8"/>
          <p:cNvSpPr/>
          <p:nvPr/>
        </p:nvSpPr>
        <p:spPr>
          <a:xfrm>
            <a:off x="4786313" y="1330523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1</a:t>
            </a:r>
            <a:endParaRPr lang="en-US" sz="683" dirty="0"/>
          </a:p>
        </p:txBody>
      </p:sp>
      <p:sp>
        <p:nvSpPr>
          <p:cNvPr id="12" name="Text 9"/>
          <p:cNvSpPr/>
          <p:nvPr/>
        </p:nvSpPr>
        <p:spPr>
          <a:xfrm>
            <a:off x="5064919" y="1316236"/>
            <a:ext cx="346801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Анализ:</a:t>
            </a:r>
            <a:r>
              <a:rPr lang="en-US" sz="942" dirty="0">
                <a:solidFill>
                  <a:srgbClr val="1A1A1A"/>
                </a:solidFill>
              </a:rPr>
              <a:t> LLM получает задачу и выбирает инструмент.</a:t>
            </a:r>
            <a:endParaRPr lang="en-US" sz="885" dirty="0"/>
          </a:p>
        </p:txBody>
      </p:sp>
      <p:sp>
        <p:nvSpPr>
          <p:cNvPr id="13" name="Shape 10"/>
          <p:cNvSpPr/>
          <p:nvPr/>
        </p:nvSpPr>
        <p:spPr>
          <a:xfrm>
            <a:off x="4786313" y="1623417"/>
            <a:ext cx="171450" cy="171450"/>
          </a:xfrm>
          <a:prstGeom prst="ellipse">
            <a:avLst/>
          </a:prstGeom>
          <a:solidFill>
            <a:srgbClr val="FF4500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4" name="Text 11"/>
          <p:cNvSpPr/>
          <p:nvPr/>
        </p:nvSpPr>
        <p:spPr>
          <a:xfrm>
            <a:off x="4786313" y="1623417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2</a:t>
            </a:r>
            <a:endParaRPr lang="en-US" sz="683" dirty="0"/>
          </a:p>
        </p:txBody>
      </p:sp>
      <p:sp>
        <p:nvSpPr>
          <p:cNvPr id="15" name="Text 12"/>
          <p:cNvSpPr/>
          <p:nvPr/>
        </p:nvSpPr>
        <p:spPr>
          <a:xfrm>
            <a:off x="5064919" y="1609130"/>
            <a:ext cx="288387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Исполнение:</a:t>
            </a:r>
            <a:r>
              <a:rPr lang="en-US" sz="942" dirty="0">
                <a:solidFill>
                  <a:srgbClr val="1A1A1A"/>
                </a:solidFill>
              </a:rPr>
              <a:t> Система вызывает инструмент.</a:t>
            </a:r>
            <a:endParaRPr lang="en-US" sz="885" dirty="0"/>
          </a:p>
        </p:txBody>
      </p:sp>
      <p:sp>
        <p:nvSpPr>
          <p:cNvPr id="16" name="Shape 13"/>
          <p:cNvSpPr/>
          <p:nvPr/>
        </p:nvSpPr>
        <p:spPr>
          <a:xfrm>
            <a:off x="4786313" y="1916311"/>
            <a:ext cx="171450" cy="171450"/>
          </a:xfrm>
          <a:prstGeom prst="ellipse">
            <a:avLst/>
          </a:prstGeom>
          <a:solidFill>
            <a:srgbClr val="FF4500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7" name="Text 14"/>
          <p:cNvSpPr/>
          <p:nvPr/>
        </p:nvSpPr>
        <p:spPr>
          <a:xfrm>
            <a:off x="4786313" y="1916311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3</a:t>
            </a:r>
            <a:endParaRPr lang="en-US" sz="683" dirty="0"/>
          </a:p>
        </p:txBody>
      </p:sp>
      <p:sp>
        <p:nvSpPr>
          <p:cNvPr id="18" name="Text 15"/>
          <p:cNvSpPr/>
          <p:nvPr/>
        </p:nvSpPr>
        <p:spPr>
          <a:xfrm>
            <a:off x="5064919" y="1902023"/>
            <a:ext cx="310270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Обратная связь:</a:t>
            </a:r>
            <a:r>
              <a:rPr lang="en-US" sz="942" dirty="0">
                <a:solidFill>
                  <a:srgbClr val="1A1A1A"/>
                </a:solidFill>
              </a:rPr>
              <a:t> Результат возвращается в LLM.</a:t>
            </a:r>
            <a:endParaRPr lang="en-US" sz="885" dirty="0"/>
          </a:p>
        </p:txBody>
      </p:sp>
      <p:sp>
        <p:nvSpPr>
          <p:cNvPr id="19" name="Shape 16"/>
          <p:cNvSpPr/>
          <p:nvPr/>
        </p:nvSpPr>
        <p:spPr>
          <a:xfrm>
            <a:off x="4786313" y="2209205"/>
            <a:ext cx="171450" cy="171450"/>
          </a:xfrm>
          <a:prstGeom prst="ellipse">
            <a:avLst/>
          </a:prstGeom>
          <a:solidFill>
            <a:srgbClr val="FF4500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0" name="Text 17"/>
          <p:cNvSpPr/>
          <p:nvPr/>
        </p:nvSpPr>
        <p:spPr>
          <a:xfrm>
            <a:off x="4786313" y="2209205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4</a:t>
            </a:r>
            <a:endParaRPr lang="en-US" sz="683" dirty="0"/>
          </a:p>
        </p:txBody>
      </p:sp>
      <p:sp>
        <p:nvSpPr>
          <p:cNvPr id="21" name="Text 18"/>
          <p:cNvSpPr/>
          <p:nvPr/>
        </p:nvSpPr>
        <p:spPr>
          <a:xfrm>
            <a:off x="5064919" y="2194917"/>
            <a:ext cx="2504777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Цикл:</a:t>
            </a:r>
            <a:r>
              <a:rPr lang="en-US" sz="942" dirty="0">
                <a:solidFill>
                  <a:srgbClr val="1A1A1A"/>
                </a:solidFill>
              </a:rPr>
              <a:t> Повторение до решения задачи.</a:t>
            </a:r>
            <a:endParaRPr lang="en-US" sz="885" dirty="0"/>
          </a:p>
        </p:txBody>
      </p:sp>
      <p:sp>
        <p:nvSpPr>
          <p:cNvPr id="22" name="Shape 19"/>
          <p:cNvSpPr/>
          <p:nvPr/>
        </p:nvSpPr>
        <p:spPr>
          <a:xfrm>
            <a:off x="4786313" y="2514600"/>
            <a:ext cx="3786188" cy="944761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3" name="Shape 20"/>
          <p:cNvSpPr/>
          <p:nvPr/>
        </p:nvSpPr>
        <p:spPr>
          <a:xfrm>
            <a:off x="4786313" y="2514600"/>
            <a:ext cx="28575" cy="944761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4" name="Text 21"/>
          <p:cNvSpPr/>
          <p:nvPr/>
        </p:nvSpPr>
        <p:spPr>
          <a:xfrm>
            <a:off x="4929188" y="2657475"/>
            <a:ext cx="350043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kern="0" spc="1" dirty="0">
                <a:solidFill>
                  <a:srgbClr val="1A1A1A"/>
                </a:solidFill>
              </a:rPr>
              <a:t>Когда использовать</a:t>
            </a:r>
            <a:endParaRPr lang="en-US" sz="683" dirty="0"/>
          </a:p>
        </p:txBody>
      </p:sp>
      <p:sp>
        <p:nvSpPr>
          <p:cNvPr id="25" name="Text 22"/>
          <p:cNvSpPr/>
          <p:nvPr/>
        </p:nvSpPr>
        <p:spPr>
          <a:xfrm>
            <a:off x="4929188" y="2850356"/>
            <a:ext cx="3500438" cy="466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1A1A1A"/>
                </a:solidFill>
              </a:rPr>
              <a:t>Когда агенту нужно выполнять конкретные действия: поиск информации, математические расчеты, вызовы внешних API.</a:t>
            </a:r>
            <a:endParaRPr lang="en-US" sz="834" dirty="0"/>
          </a:p>
        </p:txBody>
      </p:sp>
      <p:sp>
        <p:nvSpPr>
          <p:cNvPr id="26" name="Shape 23"/>
          <p:cNvSpPr/>
          <p:nvPr/>
        </p:nvSpPr>
        <p:spPr>
          <a:xfrm>
            <a:off x="571500" y="3673673"/>
            <a:ext cx="8001000" cy="1428750"/>
          </a:xfrm>
          <a:prstGeom prst="rect">
            <a:avLst/>
          </a:prstGeom>
          <a:solidFill>
            <a:srgbClr val="FFFFFF"/>
          </a:solidFill>
          <a:ln w="9144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2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7269" y="3745111"/>
            <a:ext cx="3469435" cy="128584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572500" cy="660797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4" name="Shape 1"/>
          <p:cNvSpPr/>
          <p:nvPr/>
        </p:nvSpPr>
        <p:spPr>
          <a:xfrm>
            <a:off x="571500" y="428625"/>
            <a:ext cx="57150" cy="660797"/>
          </a:xfrm>
          <a:prstGeom prst="rect">
            <a:avLst/>
          </a:prstGeom>
          <a:solidFill>
            <a:srgbClr val="FF4500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5" name="Text 2"/>
          <p:cNvSpPr/>
          <p:nvPr/>
        </p:nvSpPr>
        <p:spPr>
          <a:xfrm>
            <a:off x="742950" y="428625"/>
            <a:ext cx="8401050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1A1A1A"/>
                </a:solidFill>
              </a:rPr>
              <a:t>Паттерн 2: Агент с памятью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742950" y="894755"/>
            <a:ext cx="840105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555555"/>
                </a:solidFill>
              </a:rPr>
              <a:t>Сохранение контекста и управление историей сообщений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728663" y="1375172"/>
            <a:ext cx="362902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kern="0" spc="1" dirty="0">
                <a:solidFill>
                  <a:srgbClr val="333333"/>
                </a:solidFill>
              </a:rPr>
              <a:t>Проблема</a:t>
            </a:r>
            <a:endParaRPr lang="en-US" sz="885" dirty="0"/>
          </a:p>
        </p:txBody>
      </p:sp>
      <p:sp>
        <p:nvSpPr>
          <p:cNvPr id="8" name="Text 5"/>
          <p:cNvSpPr/>
          <p:nvPr/>
        </p:nvSpPr>
        <p:spPr>
          <a:xfrm>
            <a:off x="728663" y="1607344"/>
            <a:ext cx="3629025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LLM по умолчанию stateless. Агент должен помнить предыдущие действия, результаты инструментов и контекст разговора.</a:t>
            </a:r>
            <a:endParaRPr lang="en-US" sz="942" dirty="0"/>
          </a:p>
        </p:txBody>
      </p:sp>
      <p:sp>
        <p:nvSpPr>
          <p:cNvPr id="9" name="Text 6"/>
          <p:cNvSpPr/>
          <p:nvPr/>
        </p:nvSpPr>
        <p:spPr>
          <a:xfrm>
            <a:off x="728663" y="2400300"/>
            <a:ext cx="362902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kern="0" spc="1" dirty="0">
                <a:solidFill>
                  <a:srgbClr val="333333"/>
                </a:solidFill>
              </a:rPr>
              <a:t>Решение</a:t>
            </a:r>
            <a:endParaRPr lang="en-US" sz="885" dirty="0"/>
          </a:p>
        </p:txBody>
      </p:sp>
      <p:sp>
        <p:nvSpPr>
          <p:cNvPr id="10" name="Text 7"/>
          <p:cNvSpPr/>
          <p:nvPr/>
        </p:nvSpPr>
        <p:spPr>
          <a:xfrm>
            <a:off x="728663" y="2632472"/>
            <a:ext cx="3629025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Хранить всю историю в </a:t>
            </a:r>
            <a:r>
              <a:rPr lang="en-US" sz="885" b="1" dirty="0">
                <a:solidFill>
                  <a:srgbClr val="FF4500"/>
                </a:solidFill>
              </a:rPr>
              <a:t>State["messages"]</a:t>
            </a:r>
            <a:r>
              <a:rPr lang="en-US" sz="942" dirty="0">
                <a:solidFill>
                  <a:srgbClr val="555555"/>
                </a:solidFill>
              </a:rPr>
              <a:t>. Каждое новое сообщение добавляется (append) к списку.</a:t>
            </a:r>
            <a:endParaRPr lang="en-US" sz="942" dirty="0"/>
          </a:p>
        </p:txBody>
      </p:sp>
      <p:sp>
        <p:nvSpPr>
          <p:cNvPr id="11" name="Shape 8"/>
          <p:cNvSpPr/>
          <p:nvPr/>
        </p:nvSpPr>
        <p:spPr>
          <a:xfrm>
            <a:off x="571500" y="3375422"/>
            <a:ext cx="3786188" cy="1098352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ru-KZ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" y="3567410"/>
            <a:ext cx="114300" cy="1143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928688" y="3546872"/>
            <a:ext cx="176126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1A1A"/>
                </a:solidFill>
              </a:rPr>
              <a:t>Управление длиной истории</a:t>
            </a:r>
            <a:endParaRPr lang="en-US" sz="784" dirty="0"/>
          </a:p>
        </p:txBody>
      </p:sp>
      <p:sp>
        <p:nvSpPr>
          <p:cNvPr id="14" name="Text 10"/>
          <p:cNvSpPr/>
          <p:nvPr/>
        </p:nvSpPr>
        <p:spPr>
          <a:xfrm>
            <a:off x="742950" y="3787973"/>
            <a:ext cx="3443288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555555"/>
                </a:solidFill>
              </a:rPr>
              <a:t>Бесконечная история замедляет работу и превышает лимиты токенов. Необходимо периодически обрезать старые сообщения, сохраняя системный промпт.</a:t>
            </a:r>
            <a:endParaRPr lang="en-US" sz="834" dirty="0"/>
          </a:p>
        </p:txBody>
      </p:sp>
      <p:sp>
        <p:nvSpPr>
          <p:cNvPr id="15" name="Shape 11"/>
          <p:cNvSpPr/>
          <p:nvPr/>
        </p:nvSpPr>
        <p:spPr>
          <a:xfrm>
            <a:off x="4786313" y="1375172"/>
            <a:ext cx="3786188" cy="3098602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6" name="Shape 12"/>
          <p:cNvSpPr/>
          <p:nvPr/>
        </p:nvSpPr>
        <p:spPr>
          <a:xfrm>
            <a:off x="4786313" y="1375172"/>
            <a:ext cx="28575" cy="3098602"/>
          </a:xfrm>
          <a:prstGeom prst="rect">
            <a:avLst/>
          </a:prstGeom>
          <a:solidFill>
            <a:srgbClr val="FF4500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7" name="Text 13"/>
          <p:cNvSpPr/>
          <p:nvPr/>
        </p:nvSpPr>
        <p:spPr>
          <a:xfrm>
            <a:off x="5000625" y="1724323"/>
            <a:ext cx="3357563" cy="2400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0" dirty="0">
                <a:solidFill>
                  <a:srgbClr val="FF79C6"/>
                </a:solidFill>
              </a:rPr>
              <a:t>def</a:t>
            </a:r>
            <a:r>
              <a:rPr lang="en-US" sz="780" dirty="0">
                <a:solidFill>
                  <a:srgbClr val="8BE9FD"/>
                </a:solidFill>
              </a:rPr>
              <a:t>trim_messages</a:t>
            </a:r>
            <a:r>
              <a:rPr lang="en-US" sz="780" dirty="0">
                <a:solidFill>
                  <a:srgbClr val="E0E0E0"/>
                </a:solidFill>
              </a:rPr>
              <a:t>(state):
    messages = state[</a:t>
            </a:r>
            <a:r>
              <a:rPr lang="en-US" sz="780" dirty="0">
                <a:solidFill>
                  <a:srgbClr val="F1FA8C"/>
                </a:solidFill>
              </a:rPr>
              <a:t>"messages"</a:t>
            </a:r>
            <a:r>
              <a:rPr lang="en-US" sz="780" dirty="0">
                <a:solidFill>
                  <a:srgbClr val="E0E0E0"/>
                </a:solidFill>
              </a:rPr>
              <a:t>]
    </a:t>
            </a:r>
            <a:r>
              <a:rPr lang="en-US" sz="780" dirty="0">
                <a:solidFill>
                  <a:srgbClr val="6272A4"/>
                </a:solidFill>
              </a:rPr>
              <a:t># Оставляем только последние N сообщений</a:t>
            </a:r>
            <a:r>
              <a:rPr lang="en-US" sz="780" dirty="0">
                <a:solidFill>
                  <a:srgbClr val="FF79C6"/>
                </a:solidFill>
              </a:rPr>
              <a:t>if</a:t>
            </a:r>
            <a:r>
              <a:rPr lang="en-US" sz="780" dirty="0">
                <a:solidFill>
                  <a:srgbClr val="8BE9FD"/>
                </a:solidFill>
              </a:rPr>
              <a:t>len</a:t>
            </a:r>
            <a:r>
              <a:rPr lang="en-US" sz="780" dirty="0">
                <a:solidFill>
                  <a:srgbClr val="E0E0E0"/>
                </a:solidFill>
              </a:rPr>
              <a:t>(messages) &gt; MAX_MESSAGES:
        </a:t>
            </a:r>
            <a:r>
              <a:rPr lang="en-US" sz="780" dirty="0">
                <a:solidFill>
                  <a:srgbClr val="6272A4"/>
                </a:solidFill>
              </a:rPr>
              <a:t># Сохраняем SystemMessage (обычно [0])# и последние N-1</a:t>
            </a:r>
            <a:r>
              <a:rPr lang="en-US" sz="780" dirty="0">
                <a:solidFill>
                  <a:srgbClr val="E0E0E0"/>
                </a:solidFill>
              </a:rPr>
              <a:t>
        messages = [messages[0]] + messages[-(MAX_MESSAGES-1):]
    </a:t>
            </a:r>
            <a:r>
              <a:rPr lang="en-US" sz="780" dirty="0">
                <a:solidFill>
                  <a:srgbClr val="FF79C6"/>
                </a:solidFill>
              </a:rPr>
              <a:t>return</a:t>
            </a:r>
            <a:r>
              <a:rPr lang="en-US" sz="780" dirty="0">
                <a:solidFill>
                  <a:srgbClr val="E0E0E0"/>
                </a:solidFill>
              </a:rPr>
              <a:t> {</a:t>
            </a:r>
            <a:r>
              <a:rPr lang="en-US" sz="780" dirty="0">
                <a:solidFill>
                  <a:srgbClr val="F1FA8C"/>
                </a:solidFill>
              </a:rPr>
              <a:t>"messages"</a:t>
            </a:r>
            <a:r>
              <a:rPr lang="en-US" sz="780" dirty="0">
                <a:solidFill>
                  <a:srgbClr val="E0E0E0"/>
                </a:solidFill>
              </a:rPr>
              <a:t>: messages}
</a:t>
            </a:r>
            <a:r>
              <a:rPr lang="en-US" sz="780" dirty="0">
                <a:solidFill>
                  <a:srgbClr val="6272A4"/>
                </a:solidFill>
              </a:rPr>
              <a:t># Добавляем узел очистки в граф</a:t>
            </a:r>
            <a:r>
              <a:rPr lang="en-US" sz="780" dirty="0">
                <a:solidFill>
                  <a:srgbClr val="E0E0E0"/>
                </a:solidFill>
              </a:rPr>
              <a:t>
workflow.</a:t>
            </a:r>
            <a:r>
              <a:rPr lang="en-US" sz="780" dirty="0">
                <a:solidFill>
                  <a:srgbClr val="8BE9FD"/>
                </a:solidFill>
              </a:rPr>
              <a:t>add_node</a:t>
            </a:r>
            <a:r>
              <a:rPr lang="en-US" sz="780" dirty="0">
                <a:solidFill>
                  <a:srgbClr val="E0E0E0"/>
                </a:solidFill>
              </a:rPr>
              <a:t>(</a:t>
            </a:r>
            <a:r>
              <a:rPr lang="en-US" sz="780" dirty="0">
                <a:solidFill>
                  <a:srgbClr val="F1FA8C"/>
                </a:solidFill>
              </a:rPr>
              <a:t>"trimmer"</a:t>
            </a:r>
            <a:r>
              <a:rPr lang="en-US" sz="780" dirty="0">
                <a:solidFill>
                  <a:srgbClr val="E0E0E0"/>
                </a:solidFill>
              </a:rPr>
              <a:t>, trim_messages)
workflow.</a:t>
            </a:r>
            <a:r>
              <a:rPr lang="en-US" sz="780" dirty="0">
                <a:solidFill>
                  <a:srgbClr val="8BE9FD"/>
                </a:solidFill>
              </a:rPr>
              <a:t>add_edge</a:t>
            </a:r>
            <a:r>
              <a:rPr lang="en-US" sz="780" dirty="0">
                <a:solidFill>
                  <a:srgbClr val="E0E0E0"/>
                </a:solidFill>
              </a:rPr>
              <a:t>(</a:t>
            </a:r>
            <a:r>
              <a:rPr lang="en-US" sz="780" dirty="0">
                <a:solidFill>
                  <a:srgbClr val="F1FA8C"/>
                </a:solidFill>
              </a:rPr>
              <a:t>"agent"</a:t>
            </a:r>
            <a:r>
              <a:rPr lang="en-US" sz="780" dirty="0">
                <a:solidFill>
                  <a:srgbClr val="E0E0E0"/>
                </a:solidFill>
              </a:rPr>
              <a:t>, </a:t>
            </a:r>
            <a:r>
              <a:rPr lang="en-US" sz="780" dirty="0">
                <a:solidFill>
                  <a:srgbClr val="F1FA8C"/>
                </a:solidFill>
              </a:rPr>
              <a:t>"trimmer"</a:t>
            </a:r>
            <a:r>
              <a:rPr lang="en-US" sz="780" dirty="0">
                <a:solidFill>
                  <a:srgbClr val="E0E0E0"/>
                </a:solidFill>
              </a:rPr>
              <a:t>)</a:t>
            </a:r>
            <a:endParaRPr lang="en-US" sz="78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572500" cy="660797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4" name="Shape 1"/>
          <p:cNvSpPr/>
          <p:nvPr/>
        </p:nvSpPr>
        <p:spPr>
          <a:xfrm>
            <a:off x="571500" y="428625"/>
            <a:ext cx="57150" cy="660797"/>
          </a:xfrm>
          <a:prstGeom prst="rect">
            <a:avLst/>
          </a:prstGeom>
          <a:solidFill>
            <a:srgbClr val="FF4500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5" name="Text 2"/>
          <p:cNvSpPr/>
          <p:nvPr/>
        </p:nvSpPr>
        <p:spPr>
          <a:xfrm>
            <a:off x="742950" y="428625"/>
            <a:ext cx="8401050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1A1A1A"/>
                </a:solidFill>
              </a:rPr>
              <a:t>Паттерн 3: Мультиагентные системы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742950" y="894755"/>
            <a:ext cx="840105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555555"/>
                </a:solidFill>
              </a:rPr>
              <a:t>Координация специализированных агентов</a:t>
            </a:r>
            <a:endParaRPr lang="en-US" sz="10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358205"/>
            <a:ext cx="178594" cy="14287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21531" y="1332309"/>
            <a:ext cx="959132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1A1A"/>
                </a:solidFill>
              </a:rPr>
              <a:t>Архитектура</a:t>
            </a:r>
            <a:endParaRPr lang="en-US" sz="987" dirty="0"/>
          </a:p>
        </p:txBody>
      </p:sp>
      <p:sp>
        <p:nvSpPr>
          <p:cNvPr id="9" name="Text 5"/>
          <p:cNvSpPr/>
          <p:nvPr/>
        </p:nvSpPr>
        <p:spPr>
          <a:xfrm>
            <a:off x="571500" y="1591270"/>
            <a:ext cx="286207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444444"/>
                </a:solidFill>
              </a:rPr>
              <a:t>Вместо одного "супер-агента" используется группа</a:t>
            </a:r>
            <a:endParaRPr lang="en-US" sz="834" dirty="0"/>
          </a:p>
        </p:txBody>
      </p:sp>
      <p:sp>
        <p:nvSpPr>
          <p:cNvPr id="10" name="Text 6"/>
          <p:cNvSpPr/>
          <p:nvPr/>
        </p:nvSpPr>
        <p:spPr>
          <a:xfrm>
            <a:off x="571500" y="1762720"/>
            <a:ext cx="197396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444444"/>
                </a:solidFill>
              </a:rPr>
              <a:t>узкоспециализированных агентов.</a:t>
            </a:r>
            <a:endParaRPr lang="en-US" sz="834" dirty="0"/>
          </a:p>
        </p:txBody>
      </p:sp>
      <p:sp>
        <p:nvSpPr>
          <p:cNvPr id="11" name="Text 7"/>
          <p:cNvSpPr/>
          <p:nvPr/>
        </p:nvSpPr>
        <p:spPr>
          <a:xfrm>
            <a:off x="685940" y="1984177"/>
            <a:ext cx="151012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444444"/>
                </a:solidFill>
              </a:rPr>
              <a:t>Разделение ответственности:</a:t>
            </a:r>
            <a:endParaRPr lang="en-US" sz="784" dirty="0"/>
          </a:p>
        </p:txBody>
      </p:sp>
      <p:sp>
        <p:nvSpPr>
          <p:cNvPr id="12" name="Text 8"/>
          <p:cNvSpPr/>
          <p:nvPr/>
        </p:nvSpPr>
        <p:spPr>
          <a:xfrm>
            <a:off x="2196061" y="1984177"/>
            <a:ext cx="19473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444444"/>
                </a:solidFill>
              </a:rPr>
              <a:t>Каждый агент делает одну вещь хорошо.</a:t>
            </a:r>
            <a:endParaRPr lang="en-US" sz="834" dirty="0"/>
          </a:p>
        </p:txBody>
      </p:sp>
      <p:sp>
        <p:nvSpPr>
          <p:cNvPr id="13" name="Text 9"/>
          <p:cNvSpPr/>
          <p:nvPr/>
        </p:nvSpPr>
        <p:spPr>
          <a:xfrm>
            <a:off x="685940" y="2369939"/>
            <a:ext cx="83221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444444"/>
                </a:solidFill>
              </a:rPr>
              <a:t>Модульность:</a:t>
            </a:r>
            <a:endParaRPr lang="en-US" sz="784" dirty="0"/>
          </a:p>
        </p:txBody>
      </p:sp>
      <p:sp>
        <p:nvSpPr>
          <p:cNvPr id="14" name="Text 10"/>
          <p:cNvSpPr/>
          <p:nvPr/>
        </p:nvSpPr>
        <p:spPr>
          <a:xfrm>
            <a:off x="1518158" y="2369939"/>
            <a:ext cx="166845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444444"/>
                </a:solidFill>
              </a:rPr>
              <a:t>Легко добавлять новые роли.</a:t>
            </a:r>
            <a:endParaRPr lang="en-US" sz="834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838748"/>
            <a:ext cx="160734" cy="14287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03672" y="2812852"/>
            <a:ext cx="146578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1A1A"/>
                </a:solidFill>
              </a:rPr>
              <a:t>Типы координации</a:t>
            </a:r>
            <a:endParaRPr lang="en-US" sz="987" dirty="0"/>
          </a:p>
        </p:txBody>
      </p:sp>
      <p:sp>
        <p:nvSpPr>
          <p:cNvPr id="17" name="Text 12"/>
          <p:cNvSpPr/>
          <p:nvPr/>
        </p:nvSpPr>
        <p:spPr>
          <a:xfrm>
            <a:off x="685940" y="3064669"/>
            <a:ext cx="96287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444444"/>
                </a:solidFill>
              </a:rPr>
              <a:t>Иерархическая:</a:t>
            </a:r>
            <a:endParaRPr lang="en-US" sz="784" dirty="0"/>
          </a:p>
        </p:txBody>
      </p:sp>
      <p:sp>
        <p:nvSpPr>
          <p:cNvPr id="18" name="Text 13"/>
          <p:cNvSpPr/>
          <p:nvPr/>
        </p:nvSpPr>
        <p:spPr>
          <a:xfrm>
            <a:off x="1648811" y="3064669"/>
            <a:ext cx="183337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444444"/>
                </a:solidFill>
              </a:rPr>
              <a:t>Supervisor распределяет задачи.</a:t>
            </a:r>
            <a:endParaRPr lang="en-US" sz="834" dirty="0"/>
          </a:p>
        </p:txBody>
      </p:sp>
      <p:sp>
        <p:nvSpPr>
          <p:cNvPr id="19" name="Text 14"/>
          <p:cNvSpPr/>
          <p:nvPr/>
        </p:nvSpPr>
        <p:spPr>
          <a:xfrm>
            <a:off x="685940" y="3278981"/>
            <a:ext cx="113719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444444"/>
                </a:solidFill>
              </a:rPr>
              <a:t>Плоская (Network):</a:t>
            </a:r>
            <a:endParaRPr lang="en-US" sz="784" dirty="0"/>
          </a:p>
        </p:txBody>
      </p:sp>
      <p:sp>
        <p:nvSpPr>
          <p:cNvPr id="20" name="Text 15"/>
          <p:cNvSpPr/>
          <p:nvPr/>
        </p:nvSpPr>
        <p:spPr>
          <a:xfrm>
            <a:off x="1823135" y="3278981"/>
            <a:ext cx="231298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444444"/>
                </a:solidFill>
              </a:rPr>
              <a:t>Агенты передают управление друг другу.</a:t>
            </a:r>
            <a:endParaRPr lang="en-US" sz="834" dirty="0"/>
          </a:p>
        </p:txBody>
      </p:sp>
      <p:sp>
        <p:nvSpPr>
          <p:cNvPr id="21" name="Shape 16"/>
          <p:cNvSpPr/>
          <p:nvPr/>
        </p:nvSpPr>
        <p:spPr>
          <a:xfrm>
            <a:off x="571500" y="3707606"/>
            <a:ext cx="3571875" cy="1007269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2" name="Shape 17"/>
          <p:cNvSpPr/>
          <p:nvPr/>
        </p:nvSpPr>
        <p:spPr>
          <a:xfrm>
            <a:off x="571500" y="3707606"/>
            <a:ext cx="28575" cy="1007269"/>
          </a:xfrm>
          <a:prstGeom prst="rect">
            <a:avLst/>
          </a:prstGeom>
          <a:solidFill>
            <a:srgbClr val="FF4500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3" name="Text 18"/>
          <p:cNvSpPr/>
          <p:nvPr/>
        </p:nvSpPr>
        <p:spPr>
          <a:xfrm>
            <a:off x="657225" y="3793331"/>
            <a:ext cx="3400425" cy="8358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6272A4"/>
                </a:solidFill>
              </a:rPr>
              <a:t># Supervisor Agent Logic</a:t>
            </a:r>
            <a:r>
              <a:rPr lang="en-US" sz="674" dirty="0">
                <a:solidFill>
                  <a:srgbClr val="FF79C6"/>
                </a:solidFill>
              </a:rPr>
              <a:t>def</a:t>
            </a:r>
            <a:r>
              <a:rPr lang="en-US" sz="674" dirty="0">
                <a:solidFill>
                  <a:srgbClr val="8BE9FD"/>
                </a:solidFill>
              </a:rPr>
              <a:t>supervisor_node</a:t>
            </a:r>
            <a:r>
              <a:rPr lang="en-US" sz="674" dirty="0">
                <a:solidFill>
                  <a:srgbClr val="E0E0E0"/>
                </a:solidFill>
              </a:rPr>
              <a:t>(state):
    next_agent = llm.invoke(</a:t>
            </a:r>
            <a:r>
              <a:rPr lang="en-US" sz="674" dirty="0">
                <a:solidFill>
                  <a:srgbClr val="F1FA8C"/>
                </a:solidFill>
              </a:rPr>
              <a:t>"Who should act next?"</a:t>
            </a:r>
            <a:r>
              <a:rPr lang="en-US" sz="674" dirty="0">
                <a:solidFill>
                  <a:srgbClr val="E0E0E0"/>
                </a:solidFill>
              </a:rPr>
              <a:t>, options=[</a:t>
            </a:r>
            <a:r>
              <a:rPr lang="en-US" sz="674" dirty="0">
                <a:solidFill>
                  <a:srgbClr val="F1FA8C"/>
                </a:solidFill>
              </a:rPr>
              <a:t>"researcher"</a:t>
            </a:r>
            <a:r>
              <a:rPr lang="en-US" sz="674" dirty="0">
                <a:solidFill>
                  <a:srgbClr val="E0E0E0"/>
                </a:solidFill>
              </a:rPr>
              <a:t>, </a:t>
            </a:r>
            <a:r>
              <a:rPr lang="en-US" sz="674" dirty="0">
                <a:solidFill>
                  <a:srgbClr val="F1FA8C"/>
                </a:solidFill>
              </a:rPr>
              <a:t>"writer"</a:t>
            </a:r>
            <a:r>
              <a:rPr lang="en-US" sz="674" dirty="0">
                <a:solidFill>
                  <a:srgbClr val="E0E0E0"/>
                </a:solidFill>
              </a:rPr>
              <a:t>])
    </a:t>
            </a:r>
            <a:r>
              <a:rPr lang="en-US" sz="674" dirty="0">
                <a:solidFill>
                  <a:srgbClr val="FF79C6"/>
                </a:solidFill>
              </a:rPr>
              <a:t>if</a:t>
            </a:r>
            <a:r>
              <a:rPr lang="en-US" sz="674" dirty="0">
                <a:solidFill>
                  <a:srgbClr val="E0E0E0"/>
                </a:solidFill>
              </a:rPr>
              <a:t> next_agent == </a:t>
            </a:r>
            <a:r>
              <a:rPr lang="en-US" sz="674" dirty="0">
                <a:solidFill>
                  <a:srgbClr val="F1FA8C"/>
                </a:solidFill>
              </a:rPr>
              <a:t>"FINISH"</a:t>
            </a:r>
            <a:r>
              <a:rPr lang="en-US" sz="674" dirty="0">
                <a:solidFill>
                  <a:srgbClr val="E0E0E0"/>
                </a:solidFill>
              </a:rPr>
              <a:t>:
        </a:t>
            </a:r>
            <a:r>
              <a:rPr lang="en-US" sz="674" dirty="0">
                <a:solidFill>
                  <a:srgbClr val="FF79C6"/>
                </a:solidFill>
              </a:rPr>
              <a:t>return</a:t>
            </a:r>
            <a:r>
              <a:rPr lang="en-US" sz="674" dirty="0">
                <a:solidFill>
                  <a:srgbClr val="E0E0E0"/>
                </a:solidFill>
              </a:rPr>
              <a:t> END
    </a:t>
            </a:r>
            <a:r>
              <a:rPr lang="en-US" sz="674" dirty="0">
                <a:solidFill>
                  <a:srgbClr val="FF79C6"/>
                </a:solidFill>
              </a:rPr>
              <a:t>return</a:t>
            </a:r>
            <a:r>
              <a:rPr lang="en-US" sz="674" dirty="0">
                <a:solidFill>
                  <a:srgbClr val="E0E0E0"/>
                </a:solidFill>
              </a:rPr>
              <a:t> next_agent</a:t>
            </a:r>
            <a:endParaRPr lang="en-US" sz="674" dirty="0"/>
          </a:p>
        </p:txBody>
      </p:sp>
      <p:sp>
        <p:nvSpPr>
          <p:cNvPr id="24" name="Shape 19"/>
          <p:cNvSpPr/>
          <p:nvPr/>
        </p:nvSpPr>
        <p:spPr>
          <a:xfrm>
            <a:off x="4343400" y="1232297"/>
            <a:ext cx="4229100" cy="3482578"/>
          </a:xfrm>
          <a:prstGeom prst="rect">
            <a:avLst/>
          </a:prstGeom>
          <a:solidFill>
            <a:srgbClr val="FFFFFF"/>
          </a:solidFill>
          <a:ln w="9144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86275" y="1655843"/>
            <a:ext cx="3943350" cy="263545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572500" cy="660797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4" name="Shape 1"/>
          <p:cNvSpPr/>
          <p:nvPr/>
        </p:nvSpPr>
        <p:spPr>
          <a:xfrm>
            <a:off x="571500" y="428625"/>
            <a:ext cx="57150" cy="660797"/>
          </a:xfrm>
          <a:prstGeom prst="rect">
            <a:avLst/>
          </a:prstGeom>
          <a:solidFill>
            <a:srgbClr val="FF4500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5" name="Text 2"/>
          <p:cNvSpPr/>
          <p:nvPr/>
        </p:nvSpPr>
        <p:spPr>
          <a:xfrm>
            <a:off x="742950" y="428625"/>
            <a:ext cx="8401050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1A1A1A"/>
                </a:solidFill>
              </a:rPr>
              <a:t>Паттерн 4: Циклические процессы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742950" y="894755"/>
            <a:ext cx="840105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555555"/>
                </a:solidFill>
              </a:rPr>
              <a:t>Итеративное улучшение и самокоррекция</a:t>
            </a:r>
            <a:endParaRPr lang="en-US" sz="10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420713"/>
            <a:ext cx="142875" cy="14287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00100" y="1375172"/>
            <a:ext cx="1818252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1A1A"/>
                </a:solidFill>
              </a:rPr>
              <a:t>Когда использовать</a:t>
            </a:r>
            <a:endParaRPr lang="en-US" sz="1193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780580"/>
            <a:ext cx="62508" cy="10001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19733" y="1752005"/>
            <a:ext cx="1322180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Итеративное улучшение:</a:t>
            </a:r>
            <a:endParaRPr lang="en-US" sz="885" dirty="0"/>
          </a:p>
        </p:txBody>
      </p:sp>
      <p:sp>
        <p:nvSpPr>
          <p:cNvPr id="11" name="Text 6"/>
          <p:cNvSpPr/>
          <p:nvPr/>
        </p:nvSpPr>
        <p:spPr>
          <a:xfrm>
            <a:off x="2041913" y="1752005"/>
            <a:ext cx="2315775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1A1A1A"/>
                </a:solidFill>
              </a:rPr>
              <a:t>Генерация черновика -&gt; Критика -&gt; Улучшение.</a:t>
            </a:r>
            <a:endParaRPr lang="en-US" sz="942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2254914"/>
            <a:ext cx="62508" cy="10001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19733" y="2226339"/>
            <a:ext cx="796612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Валидация:</a:t>
            </a:r>
            <a:endParaRPr lang="en-US" sz="885" dirty="0"/>
          </a:p>
        </p:txBody>
      </p:sp>
      <p:sp>
        <p:nvSpPr>
          <p:cNvPr id="14" name="Text 8"/>
          <p:cNvSpPr/>
          <p:nvPr/>
        </p:nvSpPr>
        <p:spPr>
          <a:xfrm>
            <a:off x="1516345" y="2226339"/>
            <a:ext cx="2841343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1A1A1A"/>
                </a:solidFill>
              </a:rPr>
              <a:t>Проверка формата или фактов -&gt; Исправление ошибок.</a:t>
            </a:r>
            <a:endParaRPr lang="en-US" sz="942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2729247"/>
            <a:ext cx="62508" cy="100013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719733" y="2700672"/>
            <a:ext cx="860459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Поиск решения:</a:t>
            </a:r>
            <a:endParaRPr lang="en-US" sz="885" dirty="0"/>
          </a:p>
        </p:txBody>
      </p:sp>
      <p:sp>
        <p:nvSpPr>
          <p:cNvPr id="17" name="Text 10"/>
          <p:cNvSpPr/>
          <p:nvPr/>
        </p:nvSpPr>
        <p:spPr>
          <a:xfrm>
            <a:off x="1580192" y="2700672"/>
            <a:ext cx="2777496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1A1A1A"/>
                </a:solidFill>
              </a:rPr>
              <a:t>Попытка решить задачу разными способами до успеха.</a:t>
            </a:r>
            <a:endParaRPr lang="en-US" sz="942" dirty="0"/>
          </a:p>
        </p:txBody>
      </p:sp>
      <p:sp>
        <p:nvSpPr>
          <p:cNvPr id="18" name="Shape 11"/>
          <p:cNvSpPr/>
          <p:nvPr/>
        </p:nvSpPr>
        <p:spPr>
          <a:xfrm>
            <a:off x="571500" y="3275019"/>
            <a:ext cx="3786188" cy="869752"/>
          </a:xfrm>
          <a:prstGeom prst="rect">
            <a:avLst/>
          </a:prstGeom>
          <a:solidFill>
            <a:srgbClr val="FFFFFF"/>
          </a:solidFill>
          <a:ln w="9144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9" name="Text 12"/>
          <p:cNvSpPr/>
          <p:nvPr/>
        </p:nvSpPr>
        <p:spPr>
          <a:xfrm>
            <a:off x="714375" y="3417894"/>
            <a:ext cx="350043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kern="0" spc="1" dirty="0">
                <a:solidFill>
                  <a:srgbClr val="1A1A1A"/>
                </a:solidFill>
              </a:rPr>
              <a:t>Пример: Self-Correction</a:t>
            </a:r>
            <a:endParaRPr lang="en-US" sz="784" dirty="0"/>
          </a:p>
        </p:txBody>
      </p:sp>
      <p:sp>
        <p:nvSpPr>
          <p:cNvPr id="20" name="Text 13"/>
          <p:cNvSpPr/>
          <p:nvPr/>
        </p:nvSpPr>
        <p:spPr>
          <a:xfrm>
            <a:off x="714375" y="3644708"/>
            <a:ext cx="350043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555555"/>
                </a:solidFill>
              </a:rPr>
              <a:t>Агент пишет код, запускает тесты. Если тесты падают, агент читает ошибку, исправляет код и запускает тесты снова.</a:t>
            </a:r>
            <a:endParaRPr lang="en-US" sz="834" dirty="0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86313" y="1420713"/>
            <a:ext cx="160734" cy="142875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5032772" y="1375172"/>
            <a:ext cx="146539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1A1A"/>
                </a:solidFill>
              </a:rPr>
              <a:t>Условия выхода</a:t>
            </a:r>
            <a:endParaRPr lang="en-US" sz="1193" dirty="0"/>
          </a:p>
        </p:txBody>
      </p:sp>
      <p:sp>
        <p:nvSpPr>
          <p:cNvPr id="23" name="Text 15"/>
          <p:cNvSpPr/>
          <p:nvPr/>
        </p:nvSpPr>
        <p:spPr>
          <a:xfrm>
            <a:off x="4786313" y="1752005"/>
            <a:ext cx="378618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555555"/>
                </a:solidFill>
              </a:rPr>
              <a:t>Критерии, при которых цикл должен прерваться, чтобы избежать бесконечного выполнения.</a:t>
            </a:r>
            <a:endParaRPr lang="en-US" sz="834" dirty="0"/>
          </a:p>
        </p:txBody>
      </p:sp>
      <p:sp>
        <p:nvSpPr>
          <p:cNvPr id="24" name="Shape 16"/>
          <p:cNvSpPr/>
          <p:nvPr/>
        </p:nvSpPr>
        <p:spPr>
          <a:xfrm>
            <a:off x="4786313" y="2237780"/>
            <a:ext cx="3786188" cy="222885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5" name="Shape 17"/>
          <p:cNvSpPr/>
          <p:nvPr/>
        </p:nvSpPr>
        <p:spPr>
          <a:xfrm>
            <a:off x="4786313" y="2237780"/>
            <a:ext cx="28575" cy="2228850"/>
          </a:xfrm>
          <a:prstGeom prst="rect">
            <a:avLst/>
          </a:prstGeom>
          <a:solidFill>
            <a:srgbClr val="FF4500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6" name="Text 18"/>
          <p:cNvSpPr/>
          <p:nvPr/>
        </p:nvSpPr>
        <p:spPr>
          <a:xfrm>
            <a:off x="4957763" y="2409230"/>
            <a:ext cx="3443288" cy="1885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0" dirty="0">
                <a:solidFill>
                  <a:srgbClr val="FF79C6"/>
                </a:solidFill>
              </a:rPr>
              <a:t>def</a:t>
            </a:r>
            <a:r>
              <a:rPr lang="en-US" sz="780" dirty="0">
                <a:solidFill>
                  <a:srgbClr val="8BE9FD"/>
                </a:solidFill>
              </a:rPr>
              <a:t>should_continue</a:t>
            </a:r>
            <a:r>
              <a:rPr lang="en-US" sz="780" dirty="0">
                <a:solidFill>
                  <a:srgbClr val="E0E0E0"/>
                </a:solidFill>
              </a:rPr>
              <a:t>(state):
    </a:t>
            </a:r>
            <a:r>
              <a:rPr lang="en-US" sz="780" dirty="0">
                <a:solidFill>
                  <a:srgbClr val="6272A4"/>
                </a:solidFill>
              </a:rPr>
              <a:t># 1. Лимит итераций (Safety)</a:t>
            </a:r>
            <a:r>
              <a:rPr lang="en-US" sz="780" dirty="0">
                <a:solidFill>
                  <a:srgbClr val="FF79C6"/>
                </a:solidFill>
              </a:rPr>
              <a:t>if</a:t>
            </a:r>
            <a:r>
              <a:rPr lang="en-US" sz="780" dirty="0">
                <a:solidFill>
                  <a:srgbClr val="E0E0E0"/>
                </a:solidFill>
              </a:rPr>
              <a:t> state[</a:t>
            </a:r>
            <a:r>
              <a:rPr lang="en-US" sz="780" dirty="0">
                <a:solidFill>
                  <a:srgbClr val="F1FA8C"/>
                </a:solidFill>
              </a:rPr>
              <a:t>"iterations"</a:t>
            </a:r>
            <a:r>
              <a:rPr lang="en-US" sz="780" dirty="0">
                <a:solidFill>
                  <a:srgbClr val="E0E0E0"/>
                </a:solidFill>
              </a:rPr>
              <a:t>] &gt;= MAX_ITERATIONS:
        </a:t>
            </a:r>
            <a:r>
              <a:rPr lang="en-US" sz="780" dirty="0">
                <a:solidFill>
                  <a:srgbClr val="FF79C6"/>
                </a:solidFill>
              </a:rPr>
              <a:t>return</a:t>
            </a:r>
            <a:r>
              <a:rPr lang="en-US" sz="780" dirty="0">
                <a:solidFill>
                  <a:srgbClr val="F1FA8C"/>
                </a:solidFill>
              </a:rPr>
              <a:t>"end"</a:t>
            </a:r>
            <a:r>
              <a:rPr lang="en-US" sz="780" dirty="0">
                <a:solidFill>
                  <a:srgbClr val="6272A4"/>
                </a:solidFill>
              </a:rPr>
              <a:t># 2. Критерий успеха (Quality)</a:t>
            </a:r>
            <a:r>
              <a:rPr lang="en-US" sz="780" dirty="0">
                <a:solidFill>
                  <a:srgbClr val="FF79C6"/>
                </a:solidFill>
              </a:rPr>
              <a:t>if</a:t>
            </a:r>
            <a:r>
              <a:rPr lang="en-US" sz="780" dirty="0">
                <a:solidFill>
                  <a:srgbClr val="E0E0E0"/>
                </a:solidFill>
              </a:rPr>
              <a:t> state[</a:t>
            </a:r>
            <a:r>
              <a:rPr lang="en-US" sz="780" dirty="0">
                <a:solidFill>
                  <a:srgbClr val="F1FA8C"/>
                </a:solidFill>
              </a:rPr>
              <a:t>"quality_score"</a:t>
            </a:r>
            <a:r>
              <a:rPr lang="en-US" sz="780" dirty="0">
                <a:solidFill>
                  <a:srgbClr val="E0E0E0"/>
                </a:solidFill>
              </a:rPr>
              <a:t>] &gt;= THRESHOLD:
        </a:t>
            </a:r>
            <a:r>
              <a:rPr lang="en-US" sz="780" dirty="0">
                <a:solidFill>
                  <a:srgbClr val="FF79C6"/>
                </a:solidFill>
              </a:rPr>
              <a:t>return</a:t>
            </a:r>
            <a:r>
              <a:rPr lang="en-US" sz="780" dirty="0">
                <a:solidFill>
                  <a:srgbClr val="F1FA8C"/>
                </a:solidFill>
              </a:rPr>
              <a:t>"end"</a:t>
            </a:r>
            <a:r>
              <a:rPr lang="en-US" sz="780" dirty="0">
                <a:solidFill>
                  <a:srgbClr val="6272A4"/>
                </a:solidFill>
              </a:rPr>
              <a:t># 3. Продолжить работу</a:t>
            </a:r>
            <a:r>
              <a:rPr lang="en-US" sz="780" dirty="0">
                <a:solidFill>
                  <a:srgbClr val="FF79C6"/>
                </a:solidFill>
              </a:rPr>
              <a:t>return</a:t>
            </a:r>
            <a:r>
              <a:rPr lang="en-US" sz="780" dirty="0">
                <a:solidFill>
                  <a:srgbClr val="F1FA8C"/>
                </a:solidFill>
              </a:rPr>
              <a:t>"continue"</a:t>
            </a:r>
            <a:endParaRPr lang="en-US" sz="780" dirty="0"/>
          </a:p>
        </p:txBody>
      </p:sp>
      <p:sp>
        <p:nvSpPr>
          <p:cNvPr id="27" name="Shape 19"/>
          <p:cNvSpPr/>
          <p:nvPr/>
        </p:nvSpPr>
        <p:spPr>
          <a:xfrm>
            <a:off x="571500" y="4261247"/>
            <a:ext cx="8001000" cy="596503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KZ"/>
          </a:p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5813" y="4474666"/>
            <a:ext cx="171450" cy="17145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1100138" y="4404122"/>
            <a:ext cx="7258050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FFFFFF"/>
                </a:solidFill>
              </a:rPr>
              <a:t>Опасность: Бесконечные циклы могут быстро исчерпать бюджет токенов. Всегда устанавливайте жесткий лимит итераций (например, 5-10 шагов).</a:t>
            </a:r>
            <a:endParaRPr lang="en-US" sz="834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30423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572500" cy="660797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4" name="Shape 1"/>
          <p:cNvSpPr/>
          <p:nvPr/>
        </p:nvSpPr>
        <p:spPr>
          <a:xfrm>
            <a:off x="571500" y="428625"/>
            <a:ext cx="57150" cy="660797"/>
          </a:xfrm>
          <a:prstGeom prst="rect">
            <a:avLst/>
          </a:prstGeom>
          <a:solidFill>
            <a:srgbClr val="FF4500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5" name="Text 2"/>
          <p:cNvSpPr/>
          <p:nvPr/>
        </p:nvSpPr>
        <p:spPr>
          <a:xfrm>
            <a:off x="742950" y="428625"/>
            <a:ext cx="8401050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1A1A1A"/>
                </a:solidFill>
              </a:rPr>
              <a:t>Паттерн 5: Обработка ошибок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742950" y="894755"/>
            <a:ext cx="840105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555555"/>
                </a:solidFill>
              </a:rPr>
              <a:t>Graceful degradation и стратегии восстановления</a:t>
            </a:r>
            <a:endParaRPr lang="en-US" sz="10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420713"/>
            <a:ext cx="142875" cy="14287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00100" y="1375172"/>
            <a:ext cx="1839683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1A1A"/>
                </a:solidFill>
              </a:rPr>
              <a:t>Graceful Degradation</a:t>
            </a:r>
            <a:endParaRPr lang="en-US" sz="1193" dirty="0"/>
          </a:p>
        </p:txBody>
      </p:sp>
      <p:sp>
        <p:nvSpPr>
          <p:cNvPr id="9" name="Text 5"/>
          <p:cNvSpPr/>
          <p:nvPr/>
        </p:nvSpPr>
        <p:spPr>
          <a:xfrm>
            <a:off x="571500" y="1716286"/>
            <a:ext cx="3786188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Способность системы продолжать работу (возможно, с ограниченной функциональностью), даже если часть компонентов недоступна или произошел сбой.</a:t>
            </a:r>
            <a:endParaRPr lang="en-US" sz="942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697659"/>
            <a:ext cx="142875" cy="14287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00100" y="2652117"/>
            <a:ext cx="1623306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1A1A"/>
                </a:solidFill>
              </a:rPr>
              <a:t>Fallback Strategies</a:t>
            </a:r>
            <a:endParaRPr lang="en-US" sz="1193" dirty="0"/>
          </a:p>
        </p:txBody>
      </p:sp>
      <p:sp>
        <p:nvSpPr>
          <p:cNvPr id="12" name="Text 7"/>
          <p:cNvSpPr/>
          <p:nvPr/>
        </p:nvSpPr>
        <p:spPr>
          <a:xfrm>
            <a:off x="571500" y="2993231"/>
            <a:ext cx="3786188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Определение альтернативных путей выполнения. Если основной инструмент не сработал, агент должен попробовать запасной вариант.</a:t>
            </a:r>
            <a:endParaRPr lang="en-US" sz="942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3974604"/>
            <a:ext cx="142875" cy="14287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00100" y="3929063"/>
            <a:ext cx="119588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1A1A"/>
                </a:solidFill>
              </a:rPr>
              <a:t>Best Practices</a:t>
            </a:r>
            <a:endParaRPr lang="en-US" sz="1193" dirty="0"/>
          </a:p>
        </p:txBody>
      </p:sp>
      <p:sp>
        <p:nvSpPr>
          <p:cNvPr id="15" name="Text 9"/>
          <p:cNvSpPr/>
          <p:nvPr/>
        </p:nvSpPr>
        <p:spPr>
          <a:xfrm>
            <a:off x="571500" y="4270177"/>
            <a:ext cx="53746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87" b="1" dirty="0">
                <a:solidFill>
                  <a:srgbClr val="FF4500"/>
                </a:solidFill>
              </a:rPr>
              <a:t>•</a:t>
            </a:r>
            <a:endParaRPr lang="en-US" sz="987" dirty="0"/>
          </a:p>
        </p:txBody>
      </p:sp>
      <p:sp>
        <p:nvSpPr>
          <p:cNvPr id="16" name="Text 10"/>
          <p:cNvSpPr/>
          <p:nvPr/>
        </p:nvSpPr>
        <p:spPr>
          <a:xfrm>
            <a:off x="714375" y="4270177"/>
            <a:ext cx="227754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555555"/>
                </a:solidFill>
              </a:rPr>
              <a:t>Логируйте все исключения для анализа.</a:t>
            </a:r>
            <a:endParaRPr lang="en-US" sz="834" dirty="0"/>
          </a:p>
        </p:txBody>
      </p:sp>
      <p:sp>
        <p:nvSpPr>
          <p:cNvPr id="17" name="Text 11"/>
          <p:cNvSpPr/>
          <p:nvPr/>
        </p:nvSpPr>
        <p:spPr>
          <a:xfrm>
            <a:off x="571500" y="4511278"/>
            <a:ext cx="53746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87" b="1" dirty="0">
                <a:solidFill>
                  <a:srgbClr val="FF4500"/>
                </a:solidFill>
              </a:rPr>
              <a:t>•</a:t>
            </a:r>
            <a:endParaRPr lang="en-US" sz="987" dirty="0"/>
          </a:p>
        </p:txBody>
      </p:sp>
      <p:sp>
        <p:nvSpPr>
          <p:cNvPr id="18" name="Text 12"/>
          <p:cNvSpPr/>
          <p:nvPr/>
        </p:nvSpPr>
        <p:spPr>
          <a:xfrm>
            <a:off x="714375" y="4511278"/>
            <a:ext cx="3557476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555555"/>
                </a:solidFill>
              </a:rPr>
              <a:t>Предоставляйте пользователю информативные сообщения об ошибках.</a:t>
            </a:r>
            <a:endParaRPr lang="en-US" sz="834" dirty="0"/>
          </a:p>
        </p:txBody>
      </p:sp>
      <p:sp>
        <p:nvSpPr>
          <p:cNvPr id="19" name="Text 13"/>
          <p:cNvSpPr/>
          <p:nvPr/>
        </p:nvSpPr>
        <p:spPr>
          <a:xfrm>
            <a:off x="571500" y="4907756"/>
            <a:ext cx="53746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87" b="1" dirty="0">
                <a:solidFill>
                  <a:srgbClr val="FF4500"/>
                </a:solidFill>
              </a:rPr>
              <a:t>•</a:t>
            </a:r>
            <a:endParaRPr lang="en-US" sz="987" dirty="0"/>
          </a:p>
        </p:txBody>
      </p:sp>
      <p:sp>
        <p:nvSpPr>
          <p:cNvPr id="20" name="Text 14"/>
          <p:cNvSpPr/>
          <p:nvPr/>
        </p:nvSpPr>
        <p:spPr>
          <a:xfrm>
            <a:off x="714375" y="4907756"/>
            <a:ext cx="3534175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555555"/>
                </a:solidFill>
              </a:rPr>
              <a:t>Используйте автоматическое восстановление (self-healing) где возможно.</a:t>
            </a:r>
            <a:endParaRPr lang="en-US" sz="834" dirty="0"/>
          </a:p>
        </p:txBody>
      </p:sp>
      <p:sp>
        <p:nvSpPr>
          <p:cNvPr id="21" name="Text 15"/>
          <p:cNvSpPr/>
          <p:nvPr/>
        </p:nvSpPr>
        <p:spPr>
          <a:xfrm>
            <a:off x="4786313" y="1375172"/>
            <a:ext cx="378618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kern="0" spc="1" dirty="0">
                <a:solidFill>
                  <a:srgbClr val="666666"/>
                </a:solidFill>
              </a:rPr>
              <a:t>Fallback Logic</a:t>
            </a:r>
            <a:endParaRPr lang="en-US" sz="683" dirty="0"/>
          </a:p>
        </p:txBody>
      </p:sp>
      <p:sp>
        <p:nvSpPr>
          <p:cNvPr id="22" name="Shape 16"/>
          <p:cNvSpPr/>
          <p:nvPr/>
        </p:nvSpPr>
        <p:spPr>
          <a:xfrm>
            <a:off x="4786313" y="1568053"/>
            <a:ext cx="3786188" cy="1185863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3" name="Shape 17"/>
          <p:cNvSpPr/>
          <p:nvPr/>
        </p:nvSpPr>
        <p:spPr>
          <a:xfrm>
            <a:off x="4786313" y="1568053"/>
            <a:ext cx="28575" cy="1185863"/>
          </a:xfrm>
          <a:prstGeom prst="rect">
            <a:avLst/>
          </a:prstGeom>
          <a:solidFill>
            <a:srgbClr val="FF4500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4" name="Text 18"/>
          <p:cNvSpPr/>
          <p:nvPr/>
        </p:nvSpPr>
        <p:spPr>
          <a:xfrm>
            <a:off x="4929188" y="1710928"/>
            <a:ext cx="3500438" cy="9001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FF79C6"/>
                </a:solidFill>
              </a:rPr>
              <a:t>def</a:t>
            </a:r>
            <a:r>
              <a:rPr lang="en-US" sz="727" dirty="0">
                <a:solidFill>
                  <a:srgbClr val="8BE9FD"/>
                </a:solidFill>
              </a:rPr>
              <a:t>try_primary_tool</a:t>
            </a:r>
            <a:r>
              <a:rPr lang="en-US" sz="727" dirty="0">
                <a:solidFill>
                  <a:srgbClr val="E0E0E0"/>
                </a:solidFill>
              </a:rPr>
              <a:t>(state):
    </a:t>
            </a:r>
            <a:r>
              <a:rPr lang="en-US" sz="727" dirty="0">
                <a:solidFill>
                  <a:srgbClr val="FF79C6"/>
                </a:solidFill>
              </a:rPr>
              <a:t>try</a:t>
            </a:r>
            <a:r>
              <a:rPr lang="en-US" sz="727" dirty="0">
                <a:solidFill>
                  <a:srgbClr val="E0E0E0"/>
                </a:solidFill>
              </a:rPr>
              <a:t>:
        </a:t>
            </a:r>
            <a:r>
              <a:rPr lang="en-US" sz="727" dirty="0">
                <a:solidFill>
                  <a:srgbClr val="FF79C6"/>
                </a:solidFill>
              </a:rPr>
              <a:t>return</a:t>
            </a:r>
            <a:r>
              <a:rPr lang="en-US" sz="727" dirty="0">
                <a:solidFill>
                  <a:srgbClr val="E0E0E0"/>
                </a:solidFill>
              </a:rPr>
              <a:t> primary_tool(state[</a:t>
            </a:r>
            <a:r>
              <a:rPr lang="en-US" sz="727" dirty="0">
                <a:solidFill>
                  <a:srgbClr val="F1FA8C"/>
                </a:solidFill>
              </a:rPr>
              <a:t>"input"</a:t>
            </a:r>
            <a:r>
              <a:rPr lang="en-US" sz="727" dirty="0">
                <a:solidFill>
                  <a:srgbClr val="E0E0E0"/>
                </a:solidFill>
              </a:rPr>
              <a:t>])
    </a:t>
            </a:r>
            <a:r>
              <a:rPr lang="en-US" sz="727" dirty="0">
                <a:solidFill>
                  <a:srgbClr val="FF79C6"/>
                </a:solidFill>
              </a:rPr>
              <a:t>except</a:t>
            </a:r>
            <a:r>
              <a:rPr lang="en-US" sz="727" dirty="0">
                <a:solidFill>
                  <a:srgbClr val="FF5555"/>
                </a:solidFill>
              </a:rPr>
              <a:t>Exception</a:t>
            </a:r>
            <a:r>
              <a:rPr lang="en-US" sz="727" dirty="0">
                <a:solidFill>
                  <a:srgbClr val="E0E0E0"/>
                </a:solidFill>
              </a:rPr>
              <a:t>:
        </a:t>
            </a:r>
            <a:r>
              <a:rPr lang="en-US" sz="727" dirty="0">
                <a:solidFill>
                  <a:srgbClr val="6272A4"/>
                </a:solidFill>
              </a:rPr>
              <a:t># Переключение на запасной инструмент</a:t>
            </a:r>
            <a:r>
              <a:rPr lang="en-US" sz="727" dirty="0">
                <a:solidFill>
                  <a:srgbClr val="FF79C6"/>
                </a:solidFill>
              </a:rPr>
              <a:t>return</a:t>
            </a:r>
            <a:r>
              <a:rPr lang="en-US" sz="727" dirty="0">
                <a:solidFill>
                  <a:srgbClr val="E0E0E0"/>
                </a:solidFill>
              </a:rPr>
              <a:t> fallback_tool(state[</a:t>
            </a:r>
            <a:r>
              <a:rPr lang="en-US" sz="727" dirty="0">
                <a:solidFill>
                  <a:srgbClr val="F1FA8C"/>
                </a:solidFill>
              </a:rPr>
              <a:t>"input"</a:t>
            </a:r>
            <a:r>
              <a:rPr lang="en-US" sz="727" dirty="0">
                <a:solidFill>
                  <a:srgbClr val="E0E0E0"/>
                </a:solidFill>
              </a:rPr>
              <a:t>])</a:t>
            </a:r>
            <a:endParaRPr lang="en-US" sz="727" dirty="0"/>
          </a:p>
        </p:txBody>
      </p:sp>
      <p:sp>
        <p:nvSpPr>
          <p:cNvPr id="25" name="Text 19"/>
          <p:cNvSpPr/>
          <p:nvPr/>
        </p:nvSpPr>
        <p:spPr>
          <a:xfrm>
            <a:off x="4786313" y="2968228"/>
            <a:ext cx="378618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kern="0" spc="1" dirty="0">
                <a:solidFill>
                  <a:srgbClr val="666666"/>
                </a:solidFill>
              </a:rPr>
              <a:t>Retry Logic</a:t>
            </a:r>
            <a:endParaRPr lang="en-US" sz="683" dirty="0"/>
          </a:p>
        </p:txBody>
      </p:sp>
      <p:sp>
        <p:nvSpPr>
          <p:cNvPr id="26" name="Shape 20"/>
          <p:cNvSpPr/>
          <p:nvPr/>
        </p:nvSpPr>
        <p:spPr>
          <a:xfrm>
            <a:off x="4786313" y="3161109"/>
            <a:ext cx="3786188" cy="1785938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7" name="Shape 21"/>
          <p:cNvSpPr/>
          <p:nvPr/>
        </p:nvSpPr>
        <p:spPr>
          <a:xfrm>
            <a:off x="4786313" y="3161109"/>
            <a:ext cx="28575" cy="1785938"/>
          </a:xfrm>
          <a:prstGeom prst="rect">
            <a:avLst/>
          </a:prstGeom>
          <a:solidFill>
            <a:srgbClr val="FF4500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8" name="Text 22"/>
          <p:cNvSpPr/>
          <p:nvPr/>
        </p:nvSpPr>
        <p:spPr>
          <a:xfrm>
            <a:off x="4929188" y="3303984"/>
            <a:ext cx="3500438" cy="1500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FF79C6"/>
                </a:solidFill>
              </a:rPr>
              <a:t>def</a:t>
            </a:r>
            <a:r>
              <a:rPr lang="en-US" sz="727" dirty="0">
                <a:solidFill>
                  <a:srgbClr val="8BE9FD"/>
                </a:solidFill>
              </a:rPr>
              <a:t>retry_node</a:t>
            </a:r>
            <a:r>
              <a:rPr lang="en-US" sz="727" dirty="0">
                <a:solidFill>
                  <a:srgbClr val="E0E0E0"/>
                </a:solidFill>
              </a:rPr>
              <a:t>(state):
    </a:t>
            </a:r>
            <a:r>
              <a:rPr lang="en-US" sz="727" dirty="0">
                <a:solidFill>
                  <a:srgbClr val="FF79C6"/>
                </a:solidFill>
              </a:rPr>
              <a:t>for</a:t>
            </a:r>
            <a:r>
              <a:rPr lang="en-US" sz="727" dirty="0">
                <a:solidFill>
                  <a:srgbClr val="E0E0E0"/>
                </a:solidFill>
              </a:rPr>
              <a:t> attempt </a:t>
            </a:r>
            <a:r>
              <a:rPr lang="en-US" sz="727" dirty="0">
                <a:solidFill>
                  <a:srgbClr val="FF79C6"/>
                </a:solidFill>
              </a:rPr>
              <a:t>in</a:t>
            </a:r>
            <a:r>
              <a:rPr lang="en-US" sz="727" dirty="0">
                <a:solidFill>
                  <a:srgbClr val="8BE9FD"/>
                </a:solidFill>
              </a:rPr>
              <a:t>range</a:t>
            </a:r>
            <a:r>
              <a:rPr lang="en-US" sz="727" dirty="0">
                <a:solidFill>
                  <a:srgbClr val="E0E0E0"/>
                </a:solidFill>
              </a:rPr>
              <a:t>(MAX_RETRIES):
        </a:t>
            </a:r>
            <a:r>
              <a:rPr lang="en-US" sz="727" dirty="0">
                <a:solidFill>
                  <a:srgbClr val="FF79C6"/>
                </a:solidFill>
              </a:rPr>
              <a:t>try</a:t>
            </a:r>
            <a:r>
              <a:rPr lang="en-US" sz="727" dirty="0">
                <a:solidFill>
                  <a:srgbClr val="E0E0E0"/>
                </a:solidFill>
              </a:rPr>
              <a:t>:
            </a:t>
            </a:r>
            <a:r>
              <a:rPr lang="en-US" sz="727" dirty="0">
                <a:solidFill>
                  <a:srgbClr val="FF79C6"/>
                </a:solidFill>
              </a:rPr>
              <a:t>return</a:t>
            </a:r>
            <a:r>
              <a:rPr lang="en-US" sz="727" dirty="0">
                <a:solidFill>
                  <a:srgbClr val="E0E0E0"/>
                </a:solidFill>
              </a:rPr>
              <a:t> execute_operation(state)
        </a:t>
            </a:r>
            <a:r>
              <a:rPr lang="en-US" sz="727" dirty="0">
                <a:solidFill>
                  <a:srgbClr val="FF79C6"/>
                </a:solidFill>
              </a:rPr>
              <a:t>except</a:t>
            </a:r>
            <a:r>
              <a:rPr lang="en-US" sz="727" dirty="0">
                <a:solidFill>
                  <a:srgbClr val="FF5555"/>
                </a:solidFill>
              </a:rPr>
              <a:t>Exception</a:t>
            </a:r>
            <a:r>
              <a:rPr lang="en-US" sz="727" dirty="0">
                <a:solidFill>
                  <a:srgbClr val="FF79C6"/>
                </a:solidFill>
              </a:rPr>
              <a:t>as</a:t>
            </a:r>
            <a:r>
              <a:rPr lang="en-US" sz="727" dirty="0">
                <a:solidFill>
                  <a:srgbClr val="E0E0E0"/>
                </a:solidFill>
              </a:rPr>
              <a:t> e:
            </a:t>
            </a:r>
            <a:r>
              <a:rPr lang="en-US" sz="727" dirty="0">
                <a:solidFill>
                  <a:srgbClr val="FF79C6"/>
                </a:solidFill>
              </a:rPr>
              <a:t>if</a:t>
            </a:r>
            <a:r>
              <a:rPr lang="en-US" sz="727" dirty="0">
                <a:solidFill>
                  <a:srgbClr val="E0E0E0"/>
                </a:solidFill>
              </a:rPr>
              <a:t> attempt == MAX_RETRIES - 1:
                </a:t>
            </a:r>
            <a:r>
              <a:rPr lang="en-US" sz="727" dirty="0">
                <a:solidFill>
                  <a:srgbClr val="FF79C6"/>
                </a:solidFill>
              </a:rPr>
              <a:t>raise</a:t>
            </a:r>
            <a:r>
              <a:rPr lang="en-US" sz="727" dirty="0">
                <a:solidFill>
                  <a:srgbClr val="E0E0E0"/>
                </a:solidFill>
              </a:rPr>
              <a:t> e
            </a:t>
            </a:r>
            <a:r>
              <a:rPr lang="en-US" sz="727" dirty="0">
                <a:solidFill>
                  <a:srgbClr val="6272A4"/>
                </a:solidFill>
              </a:rPr>
              <a:t># Пауза перед повтором</a:t>
            </a:r>
            <a:r>
              <a:rPr lang="en-US" sz="727" dirty="0">
                <a:solidFill>
                  <a:srgbClr val="E0E0E0"/>
                </a:solidFill>
              </a:rPr>
              <a:t>
            time.sleep(1)
            </a:t>
            </a:r>
            <a:r>
              <a:rPr lang="en-US" sz="727" dirty="0">
                <a:solidFill>
                  <a:srgbClr val="FF79C6"/>
                </a:solidFill>
              </a:rPr>
              <a:t>continue</a:t>
            </a:r>
            <a:endParaRPr lang="en-US" sz="727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572500" cy="660797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4" name="Shape 1"/>
          <p:cNvSpPr/>
          <p:nvPr/>
        </p:nvSpPr>
        <p:spPr>
          <a:xfrm>
            <a:off x="571500" y="428625"/>
            <a:ext cx="57150" cy="660797"/>
          </a:xfrm>
          <a:prstGeom prst="rect">
            <a:avLst/>
          </a:prstGeom>
          <a:solidFill>
            <a:srgbClr val="FF4500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5" name="Text 2"/>
          <p:cNvSpPr/>
          <p:nvPr/>
        </p:nvSpPr>
        <p:spPr>
          <a:xfrm>
            <a:off x="742950" y="428625"/>
            <a:ext cx="8401050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1A1A1A"/>
                </a:solidFill>
              </a:rPr>
              <a:t>Tool Binding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742950" y="894755"/>
            <a:ext cx="840105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555555"/>
                </a:solidFill>
              </a:rPr>
              <a:t>Привязка инструментов к LLM</a:t>
            </a:r>
            <a:endParaRPr lang="en-US" sz="10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568053"/>
            <a:ext cx="178594" cy="14287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35819" y="1532334"/>
            <a:ext cx="151316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A1A1A"/>
                </a:solidFill>
              </a:rPr>
              <a:t>Механизм работы</a:t>
            </a:r>
            <a:endParaRPr lang="en-US" sz="1090" dirty="0"/>
          </a:p>
        </p:txBody>
      </p:sp>
      <p:sp>
        <p:nvSpPr>
          <p:cNvPr id="9" name="Text 5"/>
          <p:cNvSpPr/>
          <p:nvPr/>
        </p:nvSpPr>
        <p:spPr>
          <a:xfrm>
            <a:off x="571500" y="1832372"/>
            <a:ext cx="3786188" cy="11572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444444"/>
                </a:solidFill>
              </a:rPr>
              <a:t>LLM не "вызывает" функции напрямую. Она генерирует структурированный JSON, который соответствует схеме инструмента. 
</a:t>
            </a:r>
            <a:r>
              <a:rPr lang="en-US" sz="885" b="1" dirty="0">
                <a:solidFill>
                  <a:srgbClr val="444444"/>
                </a:solidFill>
              </a:rPr>
              <a:t>Bind Tools</a:t>
            </a:r>
            <a:r>
              <a:rPr lang="en-US" sz="942" dirty="0">
                <a:solidFill>
                  <a:srgbClr val="444444"/>
                </a:solidFill>
              </a:rPr>
              <a:t> — это процесс конвертации Python-функций в JSON Schema (OpenAI format) и передача их модели.</a:t>
            </a:r>
            <a:endParaRPr lang="en-US" sz="942" dirty="0"/>
          </a:p>
        </p:txBody>
      </p:sp>
      <p:sp>
        <p:nvSpPr>
          <p:cNvPr id="10" name="Shape 6"/>
          <p:cNvSpPr/>
          <p:nvPr/>
        </p:nvSpPr>
        <p:spPr>
          <a:xfrm>
            <a:off x="571500" y="3346847"/>
            <a:ext cx="3786188" cy="1428750"/>
          </a:xfrm>
          <a:prstGeom prst="rect">
            <a:avLst/>
          </a:prstGeom>
          <a:solidFill>
            <a:srgbClr val="FFFFFF"/>
          </a:solidFill>
          <a:ln w="9144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8777" y="3418284"/>
            <a:ext cx="2351633" cy="1285847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4786313" y="1375172"/>
            <a:ext cx="3786188" cy="3514725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3" name="Shape 8"/>
          <p:cNvSpPr/>
          <p:nvPr/>
        </p:nvSpPr>
        <p:spPr>
          <a:xfrm>
            <a:off x="4786313" y="1375172"/>
            <a:ext cx="28575" cy="3514725"/>
          </a:xfrm>
          <a:prstGeom prst="rect">
            <a:avLst/>
          </a:prstGeom>
          <a:solidFill>
            <a:srgbClr val="FF4500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4" name="Text 9"/>
          <p:cNvSpPr/>
          <p:nvPr/>
        </p:nvSpPr>
        <p:spPr>
          <a:xfrm>
            <a:off x="5000625" y="1589484"/>
            <a:ext cx="3357563" cy="3086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0" dirty="0">
                <a:solidFill>
                  <a:srgbClr val="FF79C6"/>
                </a:solidFill>
              </a:rPr>
              <a:t>from</a:t>
            </a:r>
            <a:r>
              <a:rPr lang="en-US" sz="780" dirty="0">
                <a:solidFill>
                  <a:srgbClr val="E0E0E0"/>
                </a:solidFill>
              </a:rPr>
              <a:t> langchain_core.tools </a:t>
            </a:r>
            <a:r>
              <a:rPr lang="en-US" sz="780" dirty="0">
                <a:solidFill>
                  <a:srgbClr val="FF79C6"/>
                </a:solidFill>
              </a:rPr>
              <a:t>import</a:t>
            </a:r>
            <a:r>
              <a:rPr lang="en-US" sz="780" dirty="0">
                <a:solidFill>
                  <a:srgbClr val="E0E0E0"/>
                </a:solidFill>
              </a:rPr>
              <a:t> tool
</a:t>
            </a:r>
            <a:r>
              <a:rPr lang="en-US" sz="780" dirty="0">
                <a:solidFill>
                  <a:srgbClr val="FFB86C"/>
                </a:solidFill>
              </a:rPr>
              <a:t>@tool</a:t>
            </a:r>
            <a:r>
              <a:rPr lang="en-US" sz="780" dirty="0">
                <a:solidFill>
                  <a:srgbClr val="FF79C6"/>
                </a:solidFill>
              </a:rPr>
              <a:t>def</a:t>
            </a:r>
            <a:r>
              <a:rPr lang="en-US" sz="780" dirty="0">
                <a:solidFill>
                  <a:srgbClr val="8BE9FD"/>
                </a:solidFill>
              </a:rPr>
              <a:t>search</a:t>
            </a:r>
            <a:r>
              <a:rPr lang="en-US" sz="780" dirty="0">
                <a:solidFill>
                  <a:srgbClr val="E0E0E0"/>
                </a:solidFill>
              </a:rPr>
              <a:t>(query: </a:t>
            </a:r>
            <a:r>
              <a:rPr lang="en-US" sz="780" dirty="0">
                <a:solidFill>
                  <a:srgbClr val="FF79C6"/>
                </a:solidFill>
              </a:rPr>
              <a:t>str</a:t>
            </a:r>
            <a:r>
              <a:rPr lang="en-US" sz="780" dirty="0">
                <a:solidFill>
                  <a:srgbClr val="E0E0E0"/>
                </a:solidFill>
              </a:rPr>
              <a:t>):
    </a:t>
            </a:r>
            <a:r>
              <a:rPr lang="en-US" sz="780" dirty="0">
                <a:solidFill>
                  <a:srgbClr val="F1FA8C"/>
                </a:solidFill>
              </a:rPr>
              <a:t>"""Search the web for information."""</a:t>
            </a:r>
            <a:r>
              <a:rPr lang="en-US" sz="780" dirty="0">
                <a:solidFill>
                  <a:srgbClr val="FF79C6"/>
                </a:solidFill>
              </a:rPr>
              <a:t>return</a:t>
            </a:r>
            <a:r>
              <a:rPr lang="en-US" sz="780" dirty="0">
                <a:solidFill>
                  <a:srgbClr val="E0E0E0"/>
                </a:solidFill>
              </a:rPr>
              <a:t> search_api(query)
</a:t>
            </a:r>
            <a:r>
              <a:rPr lang="en-US" sz="780" dirty="0">
                <a:solidFill>
                  <a:srgbClr val="FF79C6"/>
                </a:solidFill>
              </a:rPr>
              <a:t>def</a:t>
            </a:r>
            <a:r>
              <a:rPr lang="en-US" sz="780" dirty="0">
                <a:solidFill>
                  <a:srgbClr val="8BE9FD"/>
                </a:solidFill>
              </a:rPr>
              <a:t>multiply</a:t>
            </a:r>
            <a:r>
              <a:rPr lang="en-US" sz="780" dirty="0">
                <a:solidFill>
                  <a:srgbClr val="E0E0E0"/>
                </a:solidFill>
              </a:rPr>
              <a:t>(a: </a:t>
            </a:r>
            <a:r>
              <a:rPr lang="en-US" sz="780" dirty="0">
                <a:solidFill>
                  <a:srgbClr val="FF79C6"/>
                </a:solidFill>
              </a:rPr>
              <a:t>int</a:t>
            </a:r>
            <a:r>
              <a:rPr lang="en-US" sz="780" dirty="0">
                <a:solidFill>
                  <a:srgbClr val="E0E0E0"/>
                </a:solidFill>
              </a:rPr>
              <a:t>, b: </a:t>
            </a:r>
            <a:r>
              <a:rPr lang="en-US" sz="780" dirty="0">
                <a:solidFill>
                  <a:srgbClr val="FF79C6"/>
                </a:solidFill>
              </a:rPr>
              <a:t>int</a:t>
            </a:r>
            <a:r>
              <a:rPr lang="en-US" sz="780" dirty="0">
                <a:solidFill>
                  <a:srgbClr val="E0E0E0"/>
                </a:solidFill>
              </a:rPr>
              <a:t>):
    </a:t>
            </a:r>
            <a:r>
              <a:rPr lang="en-US" sz="780" dirty="0">
                <a:solidFill>
                  <a:srgbClr val="F1FA8C"/>
                </a:solidFill>
              </a:rPr>
              <a:t>"""Multiply two numbers."""</a:t>
            </a:r>
            <a:r>
              <a:rPr lang="en-US" sz="780" dirty="0">
                <a:solidFill>
                  <a:srgbClr val="FF79C6"/>
                </a:solidFill>
              </a:rPr>
              <a:t>return</a:t>
            </a:r>
            <a:r>
              <a:rPr lang="en-US" sz="780" dirty="0">
                <a:solidFill>
                  <a:srgbClr val="E0E0E0"/>
                </a:solidFill>
              </a:rPr>
              <a:t> a * b
tools = [search, multiply]
</a:t>
            </a:r>
            <a:r>
              <a:rPr lang="en-US" sz="780" dirty="0">
                <a:solidFill>
                  <a:srgbClr val="6272A4"/>
                </a:solidFill>
              </a:rPr>
              <a:t># Привязка инструментов к модели</a:t>
            </a:r>
            <a:r>
              <a:rPr lang="en-US" sz="780" dirty="0">
                <a:solidFill>
                  <a:srgbClr val="E0E0E0"/>
                </a:solidFill>
              </a:rPr>
              <a:t>
llm_with_tools = llm.</a:t>
            </a:r>
            <a:r>
              <a:rPr lang="en-US" sz="780" dirty="0">
                <a:solidFill>
                  <a:srgbClr val="8BE9FD"/>
                </a:solidFill>
              </a:rPr>
              <a:t>bind_tools</a:t>
            </a:r>
            <a:r>
              <a:rPr lang="en-US" sz="780" dirty="0">
                <a:solidFill>
                  <a:srgbClr val="E0E0E0"/>
                </a:solidFill>
              </a:rPr>
              <a:t>(tools)
</a:t>
            </a:r>
            <a:r>
              <a:rPr lang="en-US" sz="780" dirty="0">
                <a:solidFill>
                  <a:srgbClr val="6272A4"/>
                </a:solidFill>
              </a:rPr>
              <a:t># Теперь модель знает о search и multiply</a:t>
            </a:r>
            <a:r>
              <a:rPr lang="en-US" sz="780" dirty="0">
                <a:solidFill>
                  <a:srgbClr val="E0E0E0"/>
                </a:solidFill>
              </a:rPr>
              <a:t>
response = llm_with_tools.</a:t>
            </a:r>
            <a:r>
              <a:rPr lang="en-US" sz="780" dirty="0">
                <a:solidFill>
                  <a:srgbClr val="8BE9FD"/>
                </a:solidFill>
              </a:rPr>
              <a:t>invoke</a:t>
            </a:r>
            <a:r>
              <a:rPr lang="en-US" sz="780" dirty="0">
                <a:solidFill>
                  <a:srgbClr val="E0E0E0"/>
                </a:solidFill>
              </a:rPr>
              <a:t>(</a:t>
            </a:r>
            <a:r>
              <a:rPr lang="en-US" sz="780" dirty="0">
                <a:solidFill>
                  <a:srgbClr val="F1FA8C"/>
                </a:solidFill>
              </a:rPr>
              <a:t>"2 * 5"</a:t>
            </a:r>
            <a:r>
              <a:rPr lang="en-US" sz="780" dirty="0">
                <a:solidFill>
                  <a:srgbClr val="E0E0E0"/>
                </a:solidFill>
              </a:rPr>
              <a:t>)</a:t>
            </a:r>
            <a:endParaRPr lang="en-US" sz="78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572500" cy="660797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4" name="Shape 1"/>
          <p:cNvSpPr/>
          <p:nvPr/>
        </p:nvSpPr>
        <p:spPr>
          <a:xfrm>
            <a:off x="571500" y="428625"/>
            <a:ext cx="57150" cy="660797"/>
          </a:xfrm>
          <a:prstGeom prst="rect">
            <a:avLst/>
          </a:prstGeom>
          <a:solidFill>
            <a:srgbClr val="FF4500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5" name="Text 2"/>
          <p:cNvSpPr/>
          <p:nvPr/>
        </p:nvSpPr>
        <p:spPr>
          <a:xfrm>
            <a:off x="742950" y="428625"/>
            <a:ext cx="8401050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1A1A1A"/>
                </a:solidFill>
              </a:rPr>
              <a:t>Formatter LLM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742950" y="894755"/>
            <a:ext cx="840105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555555"/>
                </a:solidFill>
              </a:rPr>
              <a:t>Разделение генерации и структурирования данных</a:t>
            </a:r>
            <a:endParaRPr lang="en-US" sz="10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375" y="1322487"/>
            <a:ext cx="128588" cy="12858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28688" y="1289447"/>
            <a:ext cx="757684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1A1A"/>
                </a:solidFill>
              </a:rPr>
              <a:t>Проблема</a:t>
            </a:r>
            <a:endParaRPr lang="en-US" sz="987" dirty="0"/>
          </a:p>
        </p:txBody>
      </p:sp>
      <p:sp>
        <p:nvSpPr>
          <p:cNvPr id="9" name="Text 5"/>
          <p:cNvSpPr/>
          <p:nvPr/>
        </p:nvSpPr>
        <p:spPr>
          <a:xfrm>
            <a:off x="714375" y="1541264"/>
            <a:ext cx="3538138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555555"/>
                </a:solidFill>
              </a:rPr>
              <a:t>Некоторые модели (особенно небольшие) плохо справляются с одновременным рассуждением (Reasoning) и соблюдением сложного JSON-формата.</a:t>
            </a:r>
            <a:endParaRPr lang="en-US" sz="834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375" y="2217241"/>
            <a:ext cx="128588" cy="12858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28688" y="2184202"/>
            <a:ext cx="2407611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1A1A"/>
                </a:solidFill>
              </a:rPr>
              <a:t>Решение: Двухэтапный процесс</a:t>
            </a:r>
            <a:endParaRPr lang="en-US" sz="987" dirty="0"/>
          </a:p>
        </p:txBody>
      </p:sp>
      <p:sp>
        <p:nvSpPr>
          <p:cNvPr id="12" name="Text 7"/>
          <p:cNvSpPr/>
          <p:nvPr/>
        </p:nvSpPr>
        <p:spPr>
          <a:xfrm>
            <a:off x="714375" y="2436019"/>
            <a:ext cx="1347769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333333"/>
                </a:solidFill>
              </a:rPr>
              <a:t>1. Agent</a:t>
            </a:r>
            <a:r>
              <a:rPr lang="en-US" sz="834" dirty="0">
                <a:solidFill>
                  <a:srgbClr val="333333"/>
                </a:solidFill>
              </a:rPr>
              <a:t>
</a:t>
            </a:r>
            <a:r>
              <a:rPr lang="en-US" sz="691" dirty="0">
                <a:solidFill>
                  <a:srgbClr val="333333"/>
                </a:solidFill>
              </a:rPr>
              <a:t>Генерирует свободный текст</a:t>
            </a:r>
            <a:endParaRPr lang="en-US" sz="784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33581" y="2534245"/>
            <a:ext cx="100013" cy="1143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2305031" y="2436019"/>
            <a:ext cx="713008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333333"/>
                </a:solidFill>
              </a:rPr>
              <a:t>2. Formatter</a:t>
            </a:r>
            <a:r>
              <a:rPr lang="en-US" sz="834" dirty="0">
                <a:solidFill>
                  <a:srgbClr val="333333"/>
                </a:solidFill>
              </a:rPr>
              <a:t>
</a:t>
            </a:r>
            <a:r>
              <a:rPr lang="en-US" sz="691" dirty="0">
                <a:solidFill>
                  <a:srgbClr val="333333"/>
                </a:solidFill>
              </a:rPr>
              <a:t>Парсит в JSON</a:t>
            </a:r>
            <a:endParaRPr lang="en-US" sz="784" dirty="0"/>
          </a:p>
        </p:txBody>
      </p:sp>
      <p:sp>
        <p:nvSpPr>
          <p:cNvPr id="15" name="Text 9"/>
          <p:cNvSpPr/>
          <p:nvPr/>
        </p:nvSpPr>
        <p:spPr>
          <a:xfrm>
            <a:off x="571500" y="2989659"/>
            <a:ext cx="179763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50FA7B"/>
                </a:solidFill>
              </a:rPr>
              <a:t>Преимущества</a:t>
            </a:r>
            <a:endParaRPr lang="en-US" sz="683" dirty="0"/>
          </a:p>
        </p:txBody>
      </p:sp>
      <p:sp>
        <p:nvSpPr>
          <p:cNvPr id="16" name="Text 10"/>
          <p:cNvSpPr/>
          <p:nvPr/>
        </p:nvSpPr>
        <p:spPr>
          <a:xfrm>
            <a:off x="571500" y="3182541"/>
            <a:ext cx="3758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2E7D32"/>
                </a:solidFill>
              </a:rPr>
              <a:t>•</a:t>
            </a:r>
            <a:endParaRPr lang="en-US" sz="683" dirty="0"/>
          </a:p>
        </p:txBody>
      </p:sp>
      <p:sp>
        <p:nvSpPr>
          <p:cNvPr id="17" name="Text 11"/>
          <p:cNvSpPr/>
          <p:nvPr/>
        </p:nvSpPr>
        <p:spPr>
          <a:xfrm>
            <a:off x="678656" y="3182541"/>
            <a:ext cx="148578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2E7D32"/>
                </a:solidFill>
              </a:rPr>
              <a:t>Высокая надежность формата</a:t>
            </a:r>
            <a:endParaRPr lang="en-US" sz="727" dirty="0"/>
          </a:p>
        </p:txBody>
      </p:sp>
      <p:sp>
        <p:nvSpPr>
          <p:cNvPr id="18" name="Text 12"/>
          <p:cNvSpPr/>
          <p:nvPr/>
        </p:nvSpPr>
        <p:spPr>
          <a:xfrm>
            <a:off x="571500" y="3353991"/>
            <a:ext cx="3758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2E7D32"/>
                </a:solidFill>
              </a:rPr>
              <a:t>•</a:t>
            </a:r>
            <a:endParaRPr lang="en-US" sz="683" dirty="0"/>
          </a:p>
        </p:txBody>
      </p:sp>
      <p:sp>
        <p:nvSpPr>
          <p:cNvPr id="19" name="Text 13"/>
          <p:cNvSpPr/>
          <p:nvPr/>
        </p:nvSpPr>
        <p:spPr>
          <a:xfrm>
            <a:off x="678656" y="3353991"/>
            <a:ext cx="1535711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2E7D32"/>
                </a:solidFill>
              </a:rPr>
              <a:t>Можно использовать дешевые модели</a:t>
            </a:r>
            <a:endParaRPr lang="en-US" sz="727" dirty="0"/>
          </a:p>
        </p:txBody>
      </p:sp>
      <p:sp>
        <p:nvSpPr>
          <p:cNvPr id="20" name="Text 14"/>
          <p:cNvSpPr/>
          <p:nvPr/>
        </p:nvSpPr>
        <p:spPr>
          <a:xfrm>
            <a:off x="2454855" y="2989659"/>
            <a:ext cx="179765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5555"/>
                </a:solidFill>
              </a:rPr>
              <a:t>Недостатки</a:t>
            </a:r>
            <a:endParaRPr lang="en-US" sz="683" dirty="0"/>
          </a:p>
        </p:txBody>
      </p:sp>
      <p:sp>
        <p:nvSpPr>
          <p:cNvPr id="21" name="Text 15"/>
          <p:cNvSpPr/>
          <p:nvPr/>
        </p:nvSpPr>
        <p:spPr>
          <a:xfrm>
            <a:off x="2454855" y="3182541"/>
            <a:ext cx="3758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C62828"/>
                </a:solidFill>
              </a:rPr>
              <a:t>•</a:t>
            </a:r>
            <a:endParaRPr lang="en-US" sz="683" dirty="0"/>
          </a:p>
        </p:txBody>
      </p:sp>
      <p:sp>
        <p:nvSpPr>
          <p:cNvPr id="22" name="Text 16"/>
          <p:cNvSpPr/>
          <p:nvPr/>
        </p:nvSpPr>
        <p:spPr>
          <a:xfrm>
            <a:off x="2562011" y="3182541"/>
            <a:ext cx="162592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C62828"/>
                </a:solidFill>
              </a:rPr>
              <a:t>Увеличение задержки (2 вызова)</a:t>
            </a:r>
            <a:endParaRPr lang="en-US" sz="727" dirty="0"/>
          </a:p>
        </p:txBody>
      </p:sp>
      <p:sp>
        <p:nvSpPr>
          <p:cNvPr id="23" name="Text 17"/>
          <p:cNvSpPr/>
          <p:nvPr/>
        </p:nvSpPr>
        <p:spPr>
          <a:xfrm>
            <a:off x="2454855" y="3353991"/>
            <a:ext cx="3758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C62828"/>
                </a:solidFill>
              </a:rPr>
              <a:t>•</a:t>
            </a:r>
            <a:endParaRPr lang="en-US" sz="683" dirty="0"/>
          </a:p>
        </p:txBody>
      </p:sp>
      <p:sp>
        <p:nvSpPr>
          <p:cNvPr id="24" name="Text 18"/>
          <p:cNvSpPr/>
          <p:nvPr/>
        </p:nvSpPr>
        <p:spPr>
          <a:xfrm>
            <a:off x="2562011" y="3353991"/>
            <a:ext cx="12954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C62828"/>
                </a:solidFill>
              </a:rPr>
              <a:t>Дополнительные расходы</a:t>
            </a:r>
            <a:endParaRPr lang="en-US" sz="727" dirty="0"/>
          </a:p>
        </p:txBody>
      </p:sp>
      <p:sp>
        <p:nvSpPr>
          <p:cNvPr id="25" name="Shape 19"/>
          <p:cNvSpPr/>
          <p:nvPr/>
        </p:nvSpPr>
        <p:spPr>
          <a:xfrm>
            <a:off x="4538263" y="1289447"/>
            <a:ext cx="4034237" cy="1285875"/>
          </a:xfrm>
          <a:prstGeom prst="rect">
            <a:avLst/>
          </a:prstGeom>
          <a:solidFill>
            <a:srgbClr val="FFFFFF"/>
          </a:solidFill>
          <a:ln w="9144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14305" y="1346597"/>
            <a:ext cx="2082124" cy="1171547"/>
          </a:xfrm>
          <a:prstGeom prst="rect">
            <a:avLst/>
          </a:prstGeom>
        </p:spPr>
      </p:pic>
      <p:sp>
        <p:nvSpPr>
          <p:cNvPr id="27" name="Shape 20"/>
          <p:cNvSpPr/>
          <p:nvPr/>
        </p:nvSpPr>
        <p:spPr>
          <a:xfrm>
            <a:off x="4538263" y="2703909"/>
            <a:ext cx="4034237" cy="1843088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8" name="Shape 21"/>
          <p:cNvSpPr/>
          <p:nvPr/>
        </p:nvSpPr>
        <p:spPr>
          <a:xfrm>
            <a:off x="4538263" y="2703909"/>
            <a:ext cx="28575" cy="1843088"/>
          </a:xfrm>
          <a:prstGeom prst="rect">
            <a:avLst/>
          </a:prstGeom>
          <a:solidFill>
            <a:srgbClr val="FF4500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9" name="Text 22"/>
          <p:cNvSpPr/>
          <p:nvPr/>
        </p:nvSpPr>
        <p:spPr>
          <a:xfrm>
            <a:off x="4652563" y="2789634"/>
            <a:ext cx="3834212" cy="16716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FF79C6"/>
                </a:solidFill>
              </a:rPr>
              <a:t>class</a:t>
            </a:r>
            <a:r>
              <a:rPr lang="en-US" sz="674" dirty="0">
                <a:solidFill>
                  <a:srgbClr val="50FA7B"/>
                </a:solidFill>
              </a:rPr>
              <a:t>Response</a:t>
            </a:r>
            <a:r>
              <a:rPr lang="en-US" sz="674" dirty="0">
                <a:solidFill>
                  <a:srgbClr val="E0E0E0"/>
                </a:solidFill>
              </a:rPr>
              <a:t>(BaseModel):
    answer: str
    sources: list[str]
parser = PydanticOutputParser(pydantic_object=Response)
</a:t>
            </a:r>
            <a:r>
              <a:rPr lang="en-US" sz="674" dirty="0">
                <a:solidFill>
                  <a:srgbClr val="6272A4"/>
                </a:solidFill>
              </a:rPr>
              <a:t># Промпт для форматирования</a:t>
            </a:r>
            <a:r>
              <a:rPr lang="en-US" sz="674" dirty="0">
                <a:solidFill>
                  <a:srgbClr val="E0E0E0"/>
                </a:solidFill>
              </a:rPr>
              <a:t>
prompt = PromptTemplate(template=</a:t>
            </a:r>
            <a:r>
              <a:rPr lang="en-US" sz="674" dirty="0">
                <a:solidFill>
                  <a:srgbClr val="F1FA8C"/>
                </a:solidFill>
              </a:rPr>
              <a:t>"Extract info from:\n{text}\n{format_instructions}"</a:t>
            </a:r>
            <a:r>
              <a:rPr lang="en-US" sz="674" dirty="0">
                <a:solidFill>
                  <a:srgbClr val="E0E0E0"/>
                </a:solidFill>
              </a:rPr>
              <a:t>,
                        partial_variables={</a:t>
            </a:r>
            <a:r>
              <a:rPr lang="en-US" sz="674" dirty="0">
                <a:solidFill>
                  <a:srgbClr val="F1FA8C"/>
                </a:solidFill>
              </a:rPr>
              <a:t>"format_instructions"</a:t>
            </a:r>
            <a:r>
              <a:rPr lang="en-US" sz="674" dirty="0">
                <a:solidFill>
                  <a:srgbClr val="E0E0E0"/>
                </a:solidFill>
              </a:rPr>
              <a:t>: parser.get_format_instructions()})
</a:t>
            </a:r>
            <a:r>
              <a:rPr lang="en-US" sz="674" dirty="0">
                <a:solidFill>
                  <a:srgbClr val="6272A4"/>
                </a:solidFill>
              </a:rPr>
              <a:t># Цепочка</a:t>
            </a:r>
            <a:r>
              <a:rPr lang="en-US" sz="674" dirty="0">
                <a:solidFill>
                  <a:srgbClr val="E0E0E0"/>
                </a:solidFill>
              </a:rPr>
              <a:t>
chain = prompt | llm | parser</a:t>
            </a:r>
            <a:endParaRPr lang="en-US" sz="674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572500" cy="660797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4" name="Shape 1"/>
          <p:cNvSpPr/>
          <p:nvPr/>
        </p:nvSpPr>
        <p:spPr>
          <a:xfrm>
            <a:off x="571500" y="428625"/>
            <a:ext cx="57150" cy="660797"/>
          </a:xfrm>
          <a:prstGeom prst="rect">
            <a:avLst/>
          </a:prstGeom>
          <a:solidFill>
            <a:srgbClr val="FF4500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5" name="Text 2"/>
          <p:cNvSpPr/>
          <p:nvPr/>
        </p:nvSpPr>
        <p:spPr>
          <a:xfrm>
            <a:off x="742950" y="428625"/>
            <a:ext cx="8401050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1A1A1A"/>
                </a:solidFill>
              </a:rPr>
              <a:t>Интеграция с внешними API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742950" y="894755"/>
            <a:ext cx="840105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555555"/>
                </a:solidFill>
              </a:rPr>
              <a:t>Расширение возможностей агента через HTTP запросы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71500" y="1175147"/>
            <a:ext cx="5057496" cy="2411574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8" name="Shape 5"/>
          <p:cNvSpPr/>
          <p:nvPr/>
        </p:nvSpPr>
        <p:spPr>
          <a:xfrm>
            <a:off x="571500" y="1175147"/>
            <a:ext cx="28575" cy="2411574"/>
          </a:xfrm>
          <a:prstGeom prst="rect">
            <a:avLst/>
          </a:prstGeom>
          <a:solidFill>
            <a:srgbClr val="FF4500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9" name="Text 6"/>
          <p:cNvSpPr/>
          <p:nvPr/>
        </p:nvSpPr>
        <p:spPr>
          <a:xfrm>
            <a:off x="657225" y="1260872"/>
            <a:ext cx="4857471" cy="22401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27" dirty="0">
                <a:solidFill>
                  <a:srgbClr val="FF79C6"/>
                </a:solidFill>
              </a:rPr>
              <a:t>import</a:t>
            </a:r>
            <a:r>
              <a:rPr lang="en-US" sz="727" dirty="0">
                <a:solidFill>
                  <a:srgbClr val="E0E0E0"/>
                </a:solidFill>
              </a:rPr>
              <a:t> httpx
</a:t>
            </a:r>
            <a:r>
              <a:rPr lang="en-US" sz="727" dirty="0">
                <a:solidFill>
                  <a:srgbClr val="FF79C6"/>
                </a:solidFill>
              </a:rPr>
              <a:t>import</a:t>
            </a:r>
            <a:r>
              <a:rPr lang="en-US" sz="727" dirty="0">
                <a:solidFill>
                  <a:srgbClr val="E0E0E0"/>
                </a:solidFill>
              </a:rPr>
              <a:t> os
</a:t>
            </a:r>
            <a:r>
              <a:rPr lang="en-US" sz="727" dirty="0">
                <a:solidFill>
                  <a:srgbClr val="FF79C6"/>
                </a:solidFill>
              </a:rPr>
              <a:t>async def</a:t>
            </a:r>
            <a:r>
              <a:rPr lang="en-US" sz="727" dirty="0">
                <a:solidFill>
                  <a:srgbClr val="8BE9FD"/>
                </a:solidFill>
              </a:rPr>
              <a:t>call_weather_api</a:t>
            </a:r>
            <a:r>
              <a:rPr lang="en-US" sz="727" dirty="0">
                <a:solidFill>
                  <a:srgbClr val="E0E0E0"/>
                </a:solidFill>
              </a:rPr>
              <a:t>(state):
    city = state[</a:t>
            </a:r>
            <a:r>
              <a:rPr lang="en-US" sz="727" dirty="0">
                <a:solidFill>
                  <a:srgbClr val="F1FA8C"/>
                </a:solidFill>
              </a:rPr>
              <a:t>"city"</a:t>
            </a:r>
            <a:r>
              <a:rPr lang="en-US" sz="727" dirty="0">
                <a:solidFill>
                  <a:srgbClr val="E0E0E0"/>
                </a:solidFill>
              </a:rPr>
              <a:t>]
    api_key = os.getenv(</a:t>
            </a:r>
            <a:r>
              <a:rPr lang="en-US" sz="727" dirty="0">
                <a:solidFill>
                  <a:srgbClr val="F1FA8C"/>
                </a:solidFill>
              </a:rPr>
              <a:t>"WEATHER_API_KEY"</a:t>
            </a:r>
            <a:r>
              <a:rPr lang="en-US" sz="727" dirty="0">
                <a:solidFill>
                  <a:srgbClr val="E0E0E0"/>
                </a:solidFill>
              </a:rPr>
              <a:t>)
    </a:t>
            </a:r>
            <a:r>
              <a:rPr lang="en-US" sz="727" dirty="0">
                <a:solidFill>
                  <a:srgbClr val="FF79C6"/>
                </a:solidFill>
              </a:rPr>
              <a:t>async with</a:t>
            </a:r>
            <a:r>
              <a:rPr lang="en-US" sz="727" dirty="0">
                <a:solidFill>
                  <a:srgbClr val="E0E0E0"/>
                </a:solidFill>
              </a:rPr>
              <a:t> httpx.AsyncClient() </a:t>
            </a:r>
            <a:r>
              <a:rPr lang="en-US" sz="727" dirty="0">
                <a:solidFill>
                  <a:srgbClr val="FF79C6"/>
                </a:solidFill>
              </a:rPr>
              <a:t>as</a:t>
            </a:r>
            <a:r>
              <a:rPr lang="en-US" sz="727" dirty="0">
                <a:solidFill>
                  <a:srgbClr val="E0E0E0"/>
                </a:solidFill>
              </a:rPr>
              <a:t> client:
        response = </a:t>
            </a:r>
            <a:r>
              <a:rPr lang="en-US" sz="727" dirty="0">
                <a:solidFill>
                  <a:srgbClr val="FF79C6"/>
                </a:solidFill>
              </a:rPr>
              <a:t>await</a:t>
            </a:r>
            <a:r>
              <a:rPr lang="en-US" sz="727" dirty="0">
                <a:solidFill>
                  <a:srgbClr val="E0E0E0"/>
                </a:solidFill>
              </a:rPr>
              <a:t> client.get(</a:t>
            </a:r>
            <a:r>
              <a:rPr lang="en-US" sz="727" dirty="0">
                <a:solidFill>
                  <a:srgbClr val="F1FA8C"/>
                </a:solidFill>
              </a:rPr>
              <a:t>f"https://api.weather.com/v1/{city}"</a:t>
            </a:r>
            <a:r>
              <a:rPr lang="en-US" sz="727" dirty="0">
                <a:solidFill>
                  <a:srgbClr val="E0E0E0"/>
                </a:solidFill>
              </a:rPr>
              <a:t>, headers={</a:t>
            </a:r>
            <a:r>
              <a:rPr lang="en-US" sz="727" dirty="0">
                <a:solidFill>
                  <a:srgbClr val="F1FA8C"/>
                </a:solidFill>
              </a:rPr>
              <a:t>"Authorization"</a:t>
            </a:r>
            <a:r>
              <a:rPr lang="en-US" sz="727" dirty="0">
                <a:solidFill>
                  <a:srgbClr val="E0E0E0"/>
                </a:solidFill>
              </a:rPr>
              <a:t>: api_key})
    </a:t>
            </a:r>
            <a:r>
              <a:rPr lang="en-US" sz="727" dirty="0">
                <a:solidFill>
                  <a:srgbClr val="FF79C6"/>
                </a:solidFill>
              </a:rPr>
              <a:t>if</a:t>
            </a:r>
            <a:r>
              <a:rPr lang="en-US" sz="727" dirty="0">
                <a:solidFill>
                  <a:srgbClr val="E0E0E0"/>
                </a:solidFill>
              </a:rPr>
              <a:t> response.status_code == 200:
        </a:t>
            </a:r>
            <a:r>
              <a:rPr lang="en-US" sz="727" dirty="0">
                <a:solidFill>
                  <a:srgbClr val="FF79C6"/>
                </a:solidFill>
              </a:rPr>
              <a:t>return</a:t>
            </a:r>
            <a:r>
              <a:rPr lang="en-US" sz="727" dirty="0">
                <a:solidFill>
                  <a:srgbClr val="E0E0E0"/>
                </a:solidFill>
              </a:rPr>
              <a:t> {</a:t>
            </a:r>
            <a:r>
              <a:rPr lang="en-US" sz="727" dirty="0">
                <a:solidFill>
                  <a:srgbClr val="F1FA8C"/>
                </a:solidFill>
              </a:rPr>
              <a:t>"weather"</a:t>
            </a:r>
            <a:r>
              <a:rPr lang="en-US" sz="727" dirty="0">
                <a:solidFill>
                  <a:srgbClr val="E0E0E0"/>
                </a:solidFill>
              </a:rPr>
              <a:t>: response.json()}
    </a:t>
            </a:r>
            <a:r>
              <a:rPr lang="en-US" sz="727" dirty="0">
                <a:solidFill>
                  <a:srgbClr val="FF79C6"/>
                </a:solidFill>
              </a:rPr>
              <a:t>else</a:t>
            </a:r>
            <a:r>
              <a:rPr lang="en-US" sz="727" dirty="0">
                <a:solidFill>
                  <a:srgbClr val="E0E0E0"/>
                </a:solidFill>
              </a:rPr>
              <a:t>:
        </a:t>
            </a:r>
            <a:r>
              <a:rPr lang="en-US" sz="727" dirty="0">
                <a:solidFill>
                  <a:srgbClr val="FF79C6"/>
                </a:solidFill>
              </a:rPr>
              <a:t>return</a:t>
            </a:r>
            <a:r>
              <a:rPr lang="en-US" sz="727" dirty="0">
                <a:solidFill>
                  <a:srgbClr val="E0E0E0"/>
                </a:solidFill>
              </a:rPr>
              <a:t> {</a:t>
            </a:r>
            <a:r>
              <a:rPr lang="en-US" sz="727" dirty="0">
                <a:solidFill>
                  <a:srgbClr val="F1FA8C"/>
                </a:solidFill>
              </a:rPr>
              <a:t>"error"</a:t>
            </a:r>
            <a:r>
              <a:rPr lang="en-US" sz="727" dirty="0">
                <a:solidFill>
                  <a:srgbClr val="E0E0E0"/>
                </a:solidFill>
              </a:rPr>
              <a:t>: </a:t>
            </a:r>
            <a:r>
              <a:rPr lang="en-US" sz="727" dirty="0">
                <a:solidFill>
                  <a:srgbClr val="F1FA8C"/>
                </a:solidFill>
              </a:rPr>
              <a:t>"API unavailable"</a:t>
            </a:r>
            <a:r>
              <a:rPr lang="en-US" sz="727" dirty="0">
                <a:solidFill>
                  <a:srgbClr val="E0E0E0"/>
                </a:solidFill>
              </a:rPr>
              <a:t>}</a:t>
            </a:r>
            <a:endParaRPr lang="en-US" sz="727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9046" y="1218009"/>
            <a:ext cx="160734" cy="12858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275505" y="1175147"/>
            <a:ext cx="178191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A1A1A"/>
                </a:solidFill>
              </a:rPr>
              <a:t>Ключевые принципы</a:t>
            </a:r>
            <a:endParaRPr lang="en-US" sz="109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29046" y="1475184"/>
            <a:ext cx="75009" cy="10001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189780" y="1446609"/>
            <a:ext cx="951570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444444"/>
                </a:solidFill>
              </a:rPr>
              <a:t>Асинхронность:</a:t>
            </a:r>
            <a:endParaRPr lang="en-US" sz="784" dirty="0"/>
          </a:p>
        </p:txBody>
      </p:sp>
      <p:sp>
        <p:nvSpPr>
          <p:cNvPr id="14" name="Text 9"/>
          <p:cNvSpPr/>
          <p:nvPr/>
        </p:nvSpPr>
        <p:spPr>
          <a:xfrm>
            <a:off x="7141350" y="1446609"/>
            <a:ext cx="1417002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444444"/>
                </a:solidFill>
              </a:rPr>
              <a:t>Используйте async/await.</a:t>
            </a:r>
            <a:endParaRPr lang="en-US" sz="834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29046" y="1678056"/>
            <a:ext cx="100013" cy="100013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214783" y="1649481"/>
            <a:ext cx="848125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444444"/>
                </a:solidFill>
              </a:rPr>
              <a:t>Безопасность:</a:t>
            </a:r>
            <a:endParaRPr lang="en-US" sz="784" dirty="0"/>
          </a:p>
        </p:txBody>
      </p:sp>
      <p:sp>
        <p:nvSpPr>
          <p:cNvPr id="17" name="Text 11"/>
          <p:cNvSpPr/>
          <p:nvPr/>
        </p:nvSpPr>
        <p:spPr>
          <a:xfrm>
            <a:off x="7062908" y="1649481"/>
            <a:ext cx="1238687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444444"/>
                </a:solidFill>
              </a:rPr>
              <a:t>Не хардкодьте ключи.</a:t>
            </a:r>
            <a:endParaRPr lang="en-US" sz="834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29046" y="1880927"/>
            <a:ext cx="100013" cy="100013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214783" y="1852352"/>
            <a:ext cx="767200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444444"/>
                </a:solidFill>
              </a:rPr>
              <a:t>Библиотеки:</a:t>
            </a:r>
            <a:endParaRPr lang="en-US" sz="784" dirty="0"/>
          </a:p>
        </p:txBody>
      </p:sp>
      <p:sp>
        <p:nvSpPr>
          <p:cNvPr id="20" name="Text 13"/>
          <p:cNvSpPr/>
          <p:nvPr/>
        </p:nvSpPr>
        <p:spPr>
          <a:xfrm>
            <a:off x="6981983" y="1852352"/>
            <a:ext cx="1050327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444444"/>
                </a:solidFill>
              </a:rPr>
              <a:t>requests или httpx.</a:t>
            </a:r>
            <a:endParaRPr lang="en-US" sz="834" dirty="0"/>
          </a:p>
        </p:txBody>
      </p:sp>
      <p:sp>
        <p:nvSpPr>
          <p:cNvPr id="21" name="Shape 14"/>
          <p:cNvSpPr/>
          <p:nvPr/>
        </p:nvSpPr>
        <p:spPr>
          <a:xfrm>
            <a:off x="6029046" y="2112373"/>
            <a:ext cx="2543454" cy="771525"/>
          </a:xfrm>
          <a:prstGeom prst="rect">
            <a:avLst/>
          </a:prstGeom>
          <a:solidFill>
            <a:srgbClr val="FFFFFF"/>
          </a:solidFill>
          <a:ln w="9144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01312" y="2198098"/>
            <a:ext cx="1198922" cy="600047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2013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572500" cy="660797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4" name="Shape 1"/>
          <p:cNvSpPr/>
          <p:nvPr/>
        </p:nvSpPr>
        <p:spPr>
          <a:xfrm>
            <a:off x="571500" y="428625"/>
            <a:ext cx="57150" cy="660797"/>
          </a:xfrm>
          <a:prstGeom prst="rect">
            <a:avLst/>
          </a:prstGeom>
          <a:solidFill>
            <a:srgbClr val="FF4500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5" name="Text 2"/>
          <p:cNvSpPr/>
          <p:nvPr/>
        </p:nvSpPr>
        <p:spPr>
          <a:xfrm>
            <a:off x="742950" y="428625"/>
            <a:ext cx="8401050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1A1A1A"/>
                </a:solidFill>
              </a:rPr>
              <a:t>Работа с LLM провайдерами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742950" y="894755"/>
            <a:ext cx="840105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555555"/>
                </a:solidFill>
              </a:rPr>
              <a:t>Абстракция и унификация через LangChain</a:t>
            </a:r>
            <a:endParaRPr lang="en-US" sz="10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468041"/>
            <a:ext cx="214313" cy="1714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92969" y="1446609"/>
            <a:ext cx="609172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A1A1A"/>
                </a:solidFill>
              </a:rPr>
              <a:t>OpenAI</a:t>
            </a:r>
            <a:endParaRPr lang="en-US" sz="1090" dirty="0"/>
          </a:p>
        </p:txBody>
      </p:sp>
      <p:sp>
        <p:nvSpPr>
          <p:cNvPr id="9" name="Text 5"/>
          <p:cNvSpPr/>
          <p:nvPr/>
        </p:nvSpPr>
        <p:spPr>
          <a:xfrm>
            <a:off x="571500" y="1925241"/>
            <a:ext cx="2476481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444444"/>
                </a:solidFill>
              </a:rPr>
              <a:t>Золотой стандарт для Tool Calling.</a:t>
            </a:r>
            <a:endParaRPr lang="en-US" sz="834" dirty="0"/>
          </a:p>
        </p:txBody>
      </p:sp>
      <p:sp>
        <p:nvSpPr>
          <p:cNvPr id="10" name="Text 6"/>
          <p:cNvSpPr/>
          <p:nvPr/>
        </p:nvSpPr>
        <p:spPr>
          <a:xfrm>
            <a:off x="571500" y="2156687"/>
            <a:ext cx="2476481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444444"/>
                </a:solidFill>
              </a:rPr>
              <a:t>Высокая надежность следования инструкциям.</a:t>
            </a:r>
            <a:endParaRPr lang="en-US" sz="834" dirty="0"/>
          </a:p>
        </p:txBody>
      </p:sp>
      <p:sp>
        <p:nvSpPr>
          <p:cNvPr id="11" name="Text 7"/>
          <p:cNvSpPr/>
          <p:nvPr/>
        </p:nvSpPr>
        <p:spPr>
          <a:xfrm>
            <a:off x="571500" y="2548142"/>
            <a:ext cx="2476481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444444"/>
                </a:solidFill>
              </a:rPr>
              <a:t>Поддержка JSON Mode.</a:t>
            </a:r>
            <a:endParaRPr lang="en-US" sz="834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3731" y="1468041"/>
            <a:ext cx="171450" cy="17145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612338" y="1446609"/>
            <a:ext cx="936222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A1A1A"/>
                </a:solidFill>
              </a:rPr>
              <a:t>Anthropic</a:t>
            </a:r>
            <a:endParaRPr lang="en-US" sz="1090" dirty="0"/>
          </a:p>
        </p:txBody>
      </p:sp>
      <p:sp>
        <p:nvSpPr>
          <p:cNvPr id="14" name="Text 9"/>
          <p:cNvSpPr/>
          <p:nvPr/>
        </p:nvSpPr>
        <p:spPr>
          <a:xfrm>
            <a:off x="3333731" y="1925241"/>
            <a:ext cx="2476509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444444"/>
                </a:solidFill>
              </a:rPr>
              <a:t>Отличные способности к рассуждению (Claude 3.5).</a:t>
            </a:r>
            <a:endParaRPr lang="en-US" sz="834" dirty="0"/>
          </a:p>
        </p:txBody>
      </p:sp>
      <p:sp>
        <p:nvSpPr>
          <p:cNvPr id="15" name="Text 10"/>
          <p:cNvSpPr/>
          <p:nvPr/>
        </p:nvSpPr>
        <p:spPr>
          <a:xfrm>
            <a:off x="3333731" y="2316696"/>
            <a:ext cx="2476509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444444"/>
                </a:solidFill>
              </a:rPr>
              <a:t>Огромное контекстное окно.</a:t>
            </a:r>
            <a:endParaRPr lang="en-US" sz="834" dirty="0"/>
          </a:p>
        </p:txBody>
      </p:sp>
      <p:sp>
        <p:nvSpPr>
          <p:cNvPr id="16" name="Text 11"/>
          <p:cNvSpPr/>
          <p:nvPr/>
        </p:nvSpPr>
        <p:spPr>
          <a:xfrm>
            <a:off x="3333731" y="2548142"/>
            <a:ext cx="2476509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444444"/>
                </a:solidFill>
              </a:rPr>
              <a:t>Меньше "галлюцинаций".</a:t>
            </a:r>
            <a:endParaRPr lang="en-US" sz="834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5991" y="1468041"/>
            <a:ext cx="171450" cy="17145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374597" y="1446609"/>
            <a:ext cx="132332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A1A1A"/>
                </a:solidFill>
              </a:rPr>
              <a:t>Local (Ollama)</a:t>
            </a:r>
            <a:endParaRPr lang="en-US" sz="1090" dirty="0"/>
          </a:p>
        </p:txBody>
      </p:sp>
      <p:sp>
        <p:nvSpPr>
          <p:cNvPr id="19" name="Text 13"/>
          <p:cNvSpPr/>
          <p:nvPr/>
        </p:nvSpPr>
        <p:spPr>
          <a:xfrm>
            <a:off x="6095991" y="1925241"/>
            <a:ext cx="2476481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444444"/>
                </a:solidFill>
              </a:rPr>
              <a:t>Полная приватность данных.</a:t>
            </a:r>
            <a:endParaRPr lang="en-US" sz="834" dirty="0"/>
          </a:p>
        </p:txBody>
      </p:sp>
      <p:sp>
        <p:nvSpPr>
          <p:cNvPr id="20" name="Text 14"/>
          <p:cNvSpPr/>
          <p:nvPr/>
        </p:nvSpPr>
        <p:spPr>
          <a:xfrm>
            <a:off x="6095991" y="2156687"/>
            <a:ext cx="2476481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444444"/>
                </a:solidFill>
              </a:rPr>
              <a:t>Отсутствие затрат на API.</a:t>
            </a:r>
            <a:endParaRPr lang="en-US" sz="834" dirty="0"/>
          </a:p>
        </p:txBody>
      </p:sp>
      <p:sp>
        <p:nvSpPr>
          <p:cNvPr id="21" name="Text 15"/>
          <p:cNvSpPr/>
          <p:nvPr/>
        </p:nvSpPr>
        <p:spPr>
          <a:xfrm>
            <a:off x="6095991" y="2388133"/>
            <a:ext cx="2476481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444444"/>
                </a:solidFill>
              </a:rPr>
              <a:t>Требует мощного железа для инференса.</a:t>
            </a:r>
            <a:endParaRPr lang="en-US" sz="834" dirty="0"/>
          </a:p>
        </p:txBody>
      </p:sp>
      <p:sp>
        <p:nvSpPr>
          <p:cNvPr id="22" name="Shape 16"/>
          <p:cNvSpPr/>
          <p:nvPr/>
        </p:nvSpPr>
        <p:spPr>
          <a:xfrm>
            <a:off x="571500" y="3136776"/>
            <a:ext cx="8001000" cy="2064544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ru-KZ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5813" y="3740423"/>
            <a:ext cx="214313" cy="17145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085850" y="3709169"/>
            <a:ext cx="1752926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1A1A"/>
                </a:solidFill>
              </a:rPr>
              <a:t>Единый интерфейс</a:t>
            </a:r>
            <a:endParaRPr lang="en-US" sz="1193" dirty="0"/>
          </a:p>
        </p:txBody>
      </p:sp>
      <p:sp>
        <p:nvSpPr>
          <p:cNvPr id="25" name="Text 18"/>
          <p:cNvSpPr/>
          <p:nvPr/>
        </p:nvSpPr>
        <p:spPr>
          <a:xfrm>
            <a:off x="785813" y="4050283"/>
            <a:ext cx="3571875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LangGraph использует стандартный интерфейс Runnable, что позволяет менять модели одной строкой кода без переписывания логики графа.</a:t>
            </a:r>
            <a:endParaRPr lang="en-US" sz="942" dirty="0"/>
          </a:p>
        </p:txBody>
      </p:sp>
      <p:sp>
        <p:nvSpPr>
          <p:cNvPr id="26" name="Shape 19"/>
          <p:cNvSpPr/>
          <p:nvPr/>
        </p:nvSpPr>
        <p:spPr>
          <a:xfrm>
            <a:off x="4786313" y="3351088"/>
            <a:ext cx="3571875" cy="1635919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7" name="Shape 20"/>
          <p:cNvSpPr/>
          <p:nvPr/>
        </p:nvSpPr>
        <p:spPr>
          <a:xfrm>
            <a:off x="4786313" y="3351088"/>
            <a:ext cx="28575" cy="1635919"/>
          </a:xfrm>
          <a:prstGeom prst="rect">
            <a:avLst/>
          </a:prstGeom>
          <a:solidFill>
            <a:srgbClr val="FF4500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8" name="Text 21"/>
          <p:cNvSpPr/>
          <p:nvPr/>
        </p:nvSpPr>
        <p:spPr>
          <a:xfrm>
            <a:off x="4929188" y="3493963"/>
            <a:ext cx="3286125" cy="1350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FF79C6"/>
                </a:solidFill>
              </a:rPr>
              <a:t>from</a:t>
            </a:r>
            <a:r>
              <a:rPr lang="en-US" sz="727" dirty="0">
                <a:solidFill>
                  <a:srgbClr val="E0E0E0"/>
                </a:solidFill>
              </a:rPr>
              <a:t> langchain_openai </a:t>
            </a:r>
            <a:r>
              <a:rPr lang="en-US" sz="727" dirty="0">
                <a:solidFill>
                  <a:srgbClr val="FF79C6"/>
                </a:solidFill>
              </a:rPr>
              <a:t>import</a:t>
            </a:r>
            <a:r>
              <a:rPr lang="en-US" sz="727" dirty="0">
                <a:solidFill>
                  <a:srgbClr val="E0E0E0"/>
                </a:solidFill>
              </a:rPr>
              <a:t> ChatOpenAI
</a:t>
            </a:r>
            <a:r>
              <a:rPr lang="en-US" sz="727" dirty="0">
                <a:solidFill>
                  <a:srgbClr val="FF79C6"/>
                </a:solidFill>
              </a:rPr>
              <a:t>from</a:t>
            </a:r>
            <a:r>
              <a:rPr lang="en-US" sz="727" dirty="0">
                <a:solidFill>
                  <a:srgbClr val="E0E0E0"/>
                </a:solidFill>
              </a:rPr>
              <a:t> langchain_anthropic </a:t>
            </a:r>
            <a:r>
              <a:rPr lang="en-US" sz="727" dirty="0">
                <a:solidFill>
                  <a:srgbClr val="FF79C6"/>
                </a:solidFill>
              </a:rPr>
              <a:t>import</a:t>
            </a:r>
            <a:r>
              <a:rPr lang="en-US" sz="727" dirty="0">
                <a:solidFill>
                  <a:srgbClr val="E0E0E0"/>
                </a:solidFill>
              </a:rPr>
              <a:t> ChatAnthropic
</a:t>
            </a:r>
            <a:r>
              <a:rPr lang="en-US" sz="727" dirty="0">
                <a:solidFill>
                  <a:srgbClr val="6272A4"/>
                </a:solidFill>
              </a:rPr>
              <a:t># Легкое переключение провайдеров# model = ChatOpenAI(model="gpt-4o")</a:t>
            </a:r>
            <a:r>
              <a:rPr lang="en-US" sz="727" dirty="0">
                <a:solidFill>
                  <a:srgbClr val="E0E0E0"/>
                </a:solidFill>
              </a:rPr>
              <a:t>
model = ChatAnthropic(model=</a:t>
            </a:r>
            <a:r>
              <a:rPr lang="en-US" sz="727" dirty="0">
                <a:solidFill>
                  <a:srgbClr val="F1FA8C"/>
                </a:solidFill>
              </a:rPr>
              <a:t>"claude-3-5-sonnet"</a:t>
            </a:r>
            <a:r>
              <a:rPr lang="en-US" sz="727" dirty="0">
                <a:solidFill>
                  <a:srgbClr val="E0E0E0"/>
                </a:solidFill>
              </a:rPr>
              <a:t>)
</a:t>
            </a:r>
            <a:r>
              <a:rPr lang="en-US" sz="727" dirty="0">
                <a:solidFill>
                  <a:srgbClr val="6272A4"/>
                </a:solidFill>
              </a:rPr>
              <a:t># Логика графа остается неизменной</a:t>
            </a:r>
            <a:r>
              <a:rPr lang="en-US" sz="727" dirty="0">
                <a:solidFill>
                  <a:srgbClr val="E0E0E0"/>
                </a:solidFill>
              </a:rPr>
              <a:t>
graph.add_node(</a:t>
            </a:r>
            <a:r>
              <a:rPr lang="en-US" sz="727" dirty="0">
                <a:solidFill>
                  <a:srgbClr val="F1FA8C"/>
                </a:solidFill>
              </a:rPr>
              <a:t>"agent"</a:t>
            </a:r>
            <a:r>
              <a:rPr lang="en-US" sz="727" dirty="0">
                <a:solidFill>
                  <a:srgbClr val="E0E0E0"/>
                </a:solidFill>
              </a:rPr>
              <a:t>, model)</a:t>
            </a:r>
            <a:endParaRPr lang="en-US" sz="727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572500" cy="660797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4" name="Shape 1"/>
          <p:cNvSpPr/>
          <p:nvPr/>
        </p:nvSpPr>
        <p:spPr>
          <a:xfrm>
            <a:off x="571500" y="428625"/>
            <a:ext cx="57150" cy="660797"/>
          </a:xfrm>
          <a:prstGeom prst="rect">
            <a:avLst/>
          </a:prstGeom>
          <a:solidFill>
            <a:srgbClr val="FF4500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5" name="Text 2"/>
          <p:cNvSpPr/>
          <p:nvPr/>
        </p:nvSpPr>
        <p:spPr>
          <a:xfrm>
            <a:off x="742950" y="428625"/>
            <a:ext cx="8401050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1A1A1A"/>
                </a:solidFill>
              </a:rPr>
              <a:t>Логирование и отладка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742950" y="894755"/>
            <a:ext cx="840105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555555"/>
                </a:solidFill>
              </a:rPr>
              <a:t>Инструменты для прозрачности выполнения агента</a:t>
            </a:r>
            <a:endParaRPr lang="en-US" sz="10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420713"/>
            <a:ext cx="142875" cy="14287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00100" y="1375172"/>
            <a:ext cx="1598609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1A1A"/>
                </a:solidFill>
              </a:rPr>
              <a:t>LangSmith Tracing</a:t>
            </a:r>
            <a:endParaRPr lang="en-US" sz="1193" dirty="0"/>
          </a:p>
        </p:txBody>
      </p:sp>
      <p:sp>
        <p:nvSpPr>
          <p:cNvPr id="9" name="Text 5"/>
          <p:cNvSpPr/>
          <p:nvPr/>
        </p:nvSpPr>
        <p:spPr>
          <a:xfrm>
            <a:off x="571500" y="1716286"/>
            <a:ext cx="3786188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Основной инструмент для отладки LangGraph. Позволяет видеть каждый шаг выполнения, входные и выходные данные узлов, задержки и ошибки.</a:t>
            </a:r>
            <a:endParaRPr lang="en-US" sz="942" dirty="0"/>
          </a:p>
        </p:txBody>
      </p:sp>
      <p:sp>
        <p:nvSpPr>
          <p:cNvPr id="10" name="Text 6"/>
          <p:cNvSpPr/>
          <p:nvPr/>
        </p:nvSpPr>
        <p:spPr>
          <a:xfrm>
            <a:off x="571500" y="2366367"/>
            <a:ext cx="4297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4500"/>
                </a:solidFill>
              </a:rPr>
              <a:t>•</a:t>
            </a:r>
            <a:endParaRPr lang="en-US" sz="784" dirty="0"/>
          </a:p>
        </p:txBody>
      </p:sp>
      <p:sp>
        <p:nvSpPr>
          <p:cNvPr id="11" name="Text 7"/>
          <p:cNvSpPr/>
          <p:nvPr/>
        </p:nvSpPr>
        <p:spPr>
          <a:xfrm>
            <a:off x="714375" y="2366367"/>
            <a:ext cx="206141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555555"/>
                </a:solidFill>
              </a:rPr>
              <a:t>Полная история выполнения (Trace).</a:t>
            </a:r>
            <a:endParaRPr lang="en-US" sz="834" dirty="0"/>
          </a:p>
        </p:txBody>
      </p:sp>
      <p:sp>
        <p:nvSpPr>
          <p:cNvPr id="12" name="Text 8"/>
          <p:cNvSpPr/>
          <p:nvPr/>
        </p:nvSpPr>
        <p:spPr>
          <a:xfrm>
            <a:off x="571500" y="2578894"/>
            <a:ext cx="4297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4500"/>
                </a:solidFill>
              </a:rPr>
              <a:t>•</a:t>
            </a:r>
            <a:endParaRPr lang="en-US" sz="784" dirty="0"/>
          </a:p>
        </p:txBody>
      </p:sp>
      <p:sp>
        <p:nvSpPr>
          <p:cNvPr id="13" name="Text 9"/>
          <p:cNvSpPr/>
          <p:nvPr/>
        </p:nvSpPr>
        <p:spPr>
          <a:xfrm>
            <a:off x="714375" y="2578894"/>
            <a:ext cx="184640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555555"/>
                </a:solidFill>
              </a:rPr>
              <a:t>Визуализация цепочки вызовов.</a:t>
            </a:r>
            <a:endParaRPr lang="en-US" sz="834" dirty="0"/>
          </a:p>
        </p:txBody>
      </p:sp>
      <p:sp>
        <p:nvSpPr>
          <p:cNvPr id="14" name="Text 10"/>
          <p:cNvSpPr/>
          <p:nvPr/>
        </p:nvSpPr>
        <p:spPr>
          <a:xfrm>
            <a:off x="571500" y="2791420"/>
            <a:ext cx="4297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4500"/>
                </a:solidFill>
              </a:rPr>
              <a:t>•</a:t>
            </a:r>
            <a:endParaRPr lang="en-US" sz="784" dirty="0"/>
          </a:p>
        </p:txBody>
      </p:sp>
      <p:sp>
        <p:nvSpPr>
          <p:cNvPr id="15" name="Text 11"/>
          <p:cNvSpPr/>
          <p:nvPr/>
        </p:nvSpPr>
        <p:spPr>
          <a:xfrm>
            <a:off x="714375" y="2791420"/>
            <a:ext cx="166868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555555"/>
                </a:solidFill>
              </a:rPr>
              <a:t>Сравнение версий промптов.</a:t>
            </a:r>
            <a:endParaRPr lang="en-US" sz="834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335238"/>
            <a:ext cx="160734" cy="14287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17959" y="3289697"/>
            <a:ext cx="189248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1A1A"/>
                </a:solidFill>
              </a:rPr>
              <a:t>Визуализация графа</a:t>
            </a:r>
            <a:endParaRPr lang="en-US" sz="1193" dirty="0"/>
          </a:p>
        </p:txBody>
      </p:sp>
      <p:sp>
        <p:nvSpPr>
          <p:cNvPr id="18" name="Text 13"/>
          <p:cNvSpPr/>
          <p:nvPr/>
        </p:nvSpPr>
        <p:spPr>
          <a:xfrm>
            <a:off x="571500" y="3630811"/>
            <a:ext cx="3786188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LangGraph имеет встроенные методы для генерации диаграмм структуры графа. Это помогает проверить правильность связей и логики переходов.</a:t>
            </a:r>
            <a:endParaRPr lang="en-US" sz="942" dirty="0"/>
          </a:p>
        </p:txBody>
      </p:sp>
      <p:sp>
        <p:nvSpPr>
          <p:cNvPr id="19" name="Text 14"/>
          <p:cNvSpPr/>
          <p:nvPr/>
        </p:nvSpPr>
        <p:spPr>
          <a:xfrm>
            <a:off x="4786313" y="1375172"/>
            <a:ext cx="378618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kern="0" spc="1" dirty="0">
                <a:solidFill>
                  <a:srgbClr val="666666"/>
                </a:solidFill>
              </a:rPr>
              <a:t>Настройка LangSmith</a:t>
            </a:r>
            <a:endParaRPr lang="en-US" sz="683" dirty="0"/>
          </a:p>
        </p:txBody>
      </p:sp>
      <p:sp>
        <p:nvSpPr>
          <p:cNvPr id="20" name="Shape 15"/>
          <p:cNvSpPr/>
          <p:nvPr/>
        </p:nvSpPr>
        <p:spPr>
          <a:xfrm>
            <a:off x="4786313" y="1568053"/>
            <a:ext cx="3786188" cy="1243013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1" name="Shape 16"/>
          <p:cNvSpPr/>
          <p:nvPr/>
        </p:nvSpPr>
        <p:spPr>
          <a:xfrm>
            <a:off x="4786313" y="1568053"/>
            <a:ext cx="28575" cy="1243013"/>
          </a:xfrm>
          <a:prstGeom prst="rect">
            <a:avLst/>
          </a:prstGeom>
          <a:solidFill>
            <a:srgbClr val="FF4500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2" name="Text 17"/>
          <p:cNvSpPr/>
          <p:nvPr/>
        </p:nvSpPr>
        <p:spPr>
          <a:xfrm>
            <a:off x="4957763" y="1739503"/>
            <a:ext cx="3443288" cy="9001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FF79C6"/>
                </a:solidFill>
              </a:rPr>
              <a:t>import</a:t>
            </a:r>
            <a:r>
              <a:rPr lang="en-US" sz="727" dirty="0">
                <a:solidFill>
                  <a:srgbClr val="E0E0E0"/>
                </a:solidFill>
              </a:rPr>
              <a:t> os
</a:t>
            </a:r>
            <a:r>
              <a:rPr lang="en-US" sz="727" dirty="0">
                <a:solidFill>
                  <a:srgbClr val="6272A4"/>
                </a:solidFill>
              </a:rPr>
              <a:t># Включение трейсинга</a:t>
            </a:r>
            <a:r>
              <a:rPr lang="en-US" sz="727" dirty="0">
                <a:solidFill>
                  <a:srgbClr val="E0E0E0"/>
                </a:solidFill>
              </a:rPr>
              <a:t>
os.environ[</a:t>
            </a:r>
            <a:r>
              <a:rPr lang="en-US" sz="727" dirty="0">
                <a:solidFill>
                  <a:srgbClr val="F1FA8C"/>
                </a:solidFill>
              </a:rPr>
              <a:t>"LANGCHAIN_TRACING_V2"</a:t>
            </a:r>
            <a:r>
              <a:rPr lang="en-US" sz="727" dirty="0">
                <a:solidFill>
                  <a:srgbClr val="E0E0E0"/>
                </a:solidFill>
              </a:rPr>
              <a:t>] = </a:t>
            </a:r>
            <a:r>
              <a:rPr lang="en-US" sz="727" dirty="0">
                <a:solidFill>
                  <a:srgbClr val="F1FA8C"/>
                </a:solidFill>
              </a:rPr>
              <a:t>"true"</a:t>
            </a:r>
            <a:r>
              <a:rPr lang="en-US" sz="727" dirty="0">
                <a:solidFill>
                  <a:srgbClr val="E0E0E0"/>
                </a:solidFill>
              </a:rPr>
              <a:t>
os.environ[</a:t>
            </a:r>
            <a:r>
              <a:rPr lang="en-US" sz="727" dirty="0">
                <a:solidFill>
                  <a:srgbClr val="F1FA8C"/>
                </a:solidFill>
              </a:rPr>
              <a:t>"LANGCHAIN_API_KEY"</a:t>
            </a:r>
            <a:r>
              <a:rPr lang="en-US" sz="727" dirty="0">
                <a:solidFill>
                  <a:srgbClr val="E0E0E0"/>
                </a:solidFill>
              </a:rPr>
              <a:t>] = </a:t>
            </a:r>
            <a:r>
              <a:rPr lang="en-US" sz="727" dirty="0">
                <a:solidFill>
                  <a:srgbClr val="F1FA8C"/>
                </a:solidFill>
              </a:rPr>
              <a:t>"ls__..."</a:t>
            </a:r>
            <a:r>
              <a:rPr lang="en-US" sz="727" dirty="0">
                <a:solidFill>
                  <a:srgbClr val="E0E0E0"/>
                </a:solidFill>
              </a:rPr>
              <a:t>
os.environ[</a:t>
            </a:r>
            <a:r>
              <a:rPr lang="en-US" sz="727" dirty="0">
                <a:solidFill>
                  <a:srgbClr val="F1FA8C"/>
                </a:solidFill>
              </a:rPr>
              <a:t>"LANGCHAIN_PROJECT"</a:t>
            </a:r>
            <a:r>
              <a:rPr lang="en-US" sz="727" dirty="0">
                <a:solidFill>
                  <a:srgbClr val="E0E0E0"/>
                </a:solidFill>
              </a:rPr>
              <a:t>] = </a:t>
            </a:r>
            <a:r>
              <a:rPr lang="en-US" sz="727" dirty="0">
                <a:solidFill>
                  <a:srgbClr val="F1FA8C"/>
                </a:solidFill>
              </a:rPr>
              <a:t>"my-agent"</a:t>
            </a:r>
            <a:endParaRPr lang="en-US" sz="727" dirty="0"/>
          </a:p>
        </p:txBody>
      </p:sp>
      <p:sp>
        <p:nvSpPr>
          <p:cNvPr id="23" name="Text 18"/>
          <p:cNvSpPr/>
          <p:nvPr/>
        </p:nvSpPr>
        <p:spPr>
          <a:xfrm>
            <a:off x="4786313" y="3025378"/>
            <a:ext cx="378618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kern="0" spc="1" dirty="0">
                <a:solidFill>
                  <a:srgbClr val="666666"/>
                </a:solidFill>
              </a:rPr>
              <a:t>Генерация диаграммы</a:t>
            </a:r>
            <a:endParaRPr lang="en-US" sz="683" dirty="0"/>
          </a:p>
        </p:txBody>
      </p:sp>
      <p:sp>
        <p:nvSpPr>
          <p:cNvPr id="24" name="Shape 19"/>
          <p:cNvSpPr/>
          <p:nvPr/>
        </p:nvSpPr>
        <p:spPr>
          <a:xfrm>
            <a:off x="4786313" y="3218259"/>
            <a:ext cx="3786188" cy="154305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5" name="Shape 20"/>
          <p:cNvSpPr/>
          <p:nvPr/>
        </p:nvSpPr>
        <p:spPr>
          <a:xfrm>
            <a:off x="4786313" y="3218259"/>
            <a:ext cx="28575" cy="1543050"/>
          </a:xfrm>
          <a:prstGeom prst="rect">
            <a:avLst/>
          </a:prstGeom>
          <a:solidFill>
            <a:srgbClr val="FF4500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6" name="Text 21"/>
          <p:cNvSpPr/>
          <p:nvPr/>
        </p:nvSpPr>
        <p:spPr>
          <a:xfrm>
            <a:off x="4957763" y="3389709"/>
            <a:ext cx="3443288" cy="1200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FF79C6"/>
                </a:solidFill>
              </a:rPr>
              <a:t>from</a:t>
            </a:r>
            <a:r>
              <a:rPr lang="en-US" sz="727" dirty="0">
                <a:solidFill>
                  <a:srgbClr val="E0E0E0"/>
                </a:solidFill>
              </a:rPr>
              <a:t> IPython.display </a:t>
            </a:r>
            <a:r>
              <a:rPr lang="en-US" sz="727" dirty="0">
                <a:solidFill>
                  <a:srgbClr val="FF79C6"/>
                </a:solidFill>
              </a:rPr>
              <a:t>import</a:t>
            </a:r>
            <a:r>
              <a:rPr lang="en-US" sz="727" dirty="0">
                <a:solidFill>
                  <a:srgbClr val="E0E0E0"/>
                </a:solidFill>
              </a:rPr>
              <a:t> Image, display
</a:t>
            </a:r>
            <a:r>
              <a:rPr lang="en-US" sz="727" dirty="0">
                <a:solidFill>
                  <a:srgbClr val="6272A4"/>
                </a:solidFill>
              </a:rPr>
              <a:t># Получение изображения графа</a:t>
            </a:r>
            <a:r>
              <a:rPr lang="en-US" sz="727" dirty="0">
                <a:solidFill>
                  <a:srgbClr val="E0E0E0"/>
                </a:solidFill>
              </a:rPr>
              <a:t>
png_bytes = app.get_graph().draw_mermaid_png()
</a:t>
            </a:r>
            <a:r>
              <a:rPr lang="en-US" sz="727" dirty="0">
                <a:solidFill>
                  <a:srgbClr val="6272A4"/>
                </a:solidFill>
              </a:rPr>
              <a:t># Сохранение в файл</a:t>
            </a:r>
            <a:r>
              <a:rPr lang="en-US" sz="727" dirty="0">
                <a:solidFill>
                  <a:srgbClr val="FF79C6"/>
                </a:solidFill>
              </a:rPr>
              <a:t>with</a:t>
            </a:r>
            <a:r>
              <a:rPr lang="en-US" sz="727" dirty="0">
                <a:solidFill>
                  <a:srgbClr val="8BE9FD"/>
                </a:solidFill>
              </a:rPr>
              <a:t>open</a:t>
            </a:r>
            <a:r>
              <a:rPr lang="en-US" sz="727" dirty="0">
                <a:solidFill>
                  <a:srgbClr val="E0E0E0"/>
                </a:solidFill>
              </a:rPr>
              <a:t>(</a:t>
            </a:r>
            <a:r>
              <a:rPr lang="en-US" sz="727" dirty="0">
                <a:solidFill>
                  <a:srgbClr val="F1FA8C"/>
                </a:solidFill>
              </a:rPr>
              <a:t>"graph.png"</a:t>
            </a:r>
            <a:r>
              <a:rPr lang="en-US" sz="727" dirty="0">
                <a:solidFill>
                  <a:srgbClr val="E0E0E0"/>
                </a:solidFill>
              </a:rPr>
              <a:t>, </a:t>
            </a:r>
            <a:r>
              <a:rPr lang="en-US" sz="727" dirty="0">
                <a:solidFill>
                  <a:srgbClr val="F1FA8C"/>
                </a:solidFill>
              </a:rPr>
              <a:t>"wb"</a:t>
            </a:r>
            <a:r>
              <a:rPr lang="en-US" sz="727" dirty="0">
                <a:solidFill>
                  <a:srgbClr val="E0E0E0"/>
                </a:solidFill>
              </a:rPr>
              <a:t>) </a:t>
            </a:r>
            <a:r>
              <a:rPr lang="en-US" sz="727" dirty="0">
                <a:solidFill>
                  <a:srgbClr val="FF79C6"/>
                </a:solidFill>
              </a:rPr>
              <a:t>as</a:t>
            </a:r>
            <a:r>
              <a:rPr lang="en-US" sz="727" dirty="0">
                <a:solidFill>
                  <a:srgbClr val="E0E0E0"/>
                </a:solidFill>
              </a:rPr>
              <a:t> f:
    f.write(png_bytes)</a:t>
            </a:r>
            <a:endParaRPr lang="en-US" sz="727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572500" cy="660797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4" name="Shape 1"/>
          <p:cNvSpPr/>
          <p:nvPr/>
        </p:nvSpPr>
        <p:spPr>
          <a:xfrm>
            <a:off x="571500" y="428625"/>
            <a:ext cx="57150" cy="660797"/>
          </a:xfrm>
          <a:prstGeom prst="rect">
            <a:avLst/>
          </a:prstGeom>
          <a:solidFill>
            <a:srgbClr val="FF4500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5" name="Text 2"/>
          <p:cNvSpPr/>
          <p:nvPr/>
        </p:nvSpPr>
        <p:spPr>
          <a:xfrm>
            <a:off x="742950" y="428625"/>
            <a:ext cx="8401050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1A1A1A"/>
                </a:solidFill>
              </a:rPr>
              <a:t>Streaming и Real-time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742950" y="894755"/>
            <a:ext cx="840105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555555"/>
                </a:solidFill>
              </a:rPr>
              <a:t>Потоковая передача событий для отзывчивого UI</a:t>
            </a:r>
            <a:endParaRPr lang="en-US" sz="10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420713"/>
            <a:ext cx="160734" cy="14287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17959" y="1375172"/>
            <a:ext cx="2206219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1A1A"/>
                </a:solidFill>
              </a:rPr>
              <a:t>Зачем нужен Streaming?</a:t>
            </a:r>
            <a:endParaRPr lang="en-US" sz="1193" dirty="0"/>
          </a:p>
        </p:txBody>
      </p:sp>
      <p:sp>
        <p:nvSpPr>
          <p:cNvPr id="9" name="Text 5"/>
          <p:cNvSpPr/>
          <p:nvPr/>
        </p:nvSpPr>
        <p:spPr>
          <a:xfrm>
            <a:off x="571500" y="1716286"/>
            <a:ext cx="3786188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LLM могут генерировать ответ несколько секунд. Streaming позволяет показывать пользователю прогресс (токены или шаги агента) в реальном времени, улучшая UX.</a:t>
            </a:r>
            <a:endParaRPr lang="en-US" sz="942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697659"/>
            <a:ext cx="142875" cy="14287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00100" y="2652117"/>
            <a:ext cx="1442256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1A1A"/>
                </a:solidFill>
              </a:rPr>
              <a:t>Режимы потока</a:t>
            </a:r>
            <a:endParaRPr lang="en-US" sz="1193" dirty="0"/>
          </a:p>
        </p:txBody>
      </p:sp>
      <p:sp>
        <p:nvSpPr>
          <p:cNvPr id="12" name="Text 7"/>
          <p:cNvSpPr/>
          <p:nvPr/>
        </p:nvSpPr>
        <p:spPr>
          <a:xfrm>
            <a:off x="571500" y="2993231"/>
            <a:ext cx="53746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87" b="1" dirty="0">
                <a:solidFill>
                  <a:srgbClr val="FF4500"/>
                </a:solidFill>
              </a:rPr>
              <a:t>•</a:t>
            </a:r>
            <a:endParaRPr lang="en-US" sz="987" dirty="0"/>
          </a:p>
        </p:txBody>
      </p:sp>
      <p:sp>
        <p:nvSpPr>
          <p:cNvPr id="13" name="Shape 8"/>
          <p:cNvSpPr/>
          <p:nvPr/>
        </p:nvSpPr>
        <p:spPr>
          <a:xfrm>
            <a:off x="714375" y="2998589"/>
            <a:ext cx="460772" cy="164306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4" name="Text 9"/>
          <p:cNvSpPr/>
          <p:nvPr/>
        </p:nvSpPr>
        <p:spPr>
          <a:xfrm>
            <a:off x="714375" y="2998589"/>
            <a:ext cx="460772" cy="164306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04" b="1" dirty="0">
                <a:solidFill>
                  <a:srgbClr val="1A1A1A"/>
                </a:solidFill>
              </a:rPr>
              <a:t>values</a:t>
            </a:r>
            <a:endParaRPr lang="en-US" sz="704" dirty="0"/>
          </a:p>
        </p:txBody>
      </p:sp>
      <p:sp>
        <p:nvSpPr>
          <p:cNvPr id="15" name="Text 10"/>
          <p:cNvSpPr/>
          <p:nvPr/>
        </p:nvSpPr>
        <p:spPr>
          <a:xfrm>
            <a:off x="714375" y="2993231"/>
            <a:ext cx="3465054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555555"/>
                </a:solidFill>
              </a:rPr>
              <a:t>: Возвращает полное состояние графа после каждого шага. Удобно для отладки.</a:t>
            </a:r>
            <a:endParaRPr lang="en-US" sz="834" dirty="0"/>
          </a:p>
        </p:txBody>
      </p:sp>
      <p:sp>
        <p:nvSpPr>
          <p:cNvPr id="16" name="Text 11"/>
          <p:cNvSpPr/>
          <p:nvPr/>
        </p:nvSpPr>
        <p:spPr>
          <a:xfrm>
            <a:off x="571500" y="3411141"/>
            <a:ext cx="53746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87" b="1" dirty="0">
                <a:solidFill>
                  <a:srgbClr val="FF4500"/>
                </a:solidFill>
              </a:rPr>
              <a:t>•</a:t>
            </a:r>
            <a:endParaRPr lang="en-US" sz="987" dirty="0"/>
          </a:p>
        </p:txBody>
      </p:sp>
      <p:sp>
        <p:nvSpPr>
          <p:cNvPr id="17" name="Shape 12"/>
          <p:cNvSpPr/>
          <p:nvPr/>
        </p:nvSpPr>
        <p:spPr>
          <a:xfrm>
            <a:off x="714375" y="3416498"/>
            <a:ext cx="523280" cy="164306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8" name="Text 13"/>
          <p:cNvSpPr/>
          <p:nvPr/>
        </p:nvSpPr>
        <p:spPr>
          <a:xfrm>
            <a:off x="714375" y="3416498"/>
            <a:ext cx="523280" cy="164306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04" b="1" dirty="0">
                <a:solidFill>
                  <a:srgbClr val="1A1A1A"/>
                </a:solidFill>
              </a:rPr>
              <a:t>updates</a:t>
            </a:r>
            <a:endParaRPr lang="en-US" sz="704" dirty="0"/>
          </a:p>
        </p:txBody>
      </p:sp>
      <p:sp>
        <p:nvSpPr>
          <p:cNvPr id="19" name="Text 14"/>
          <p:cNvSpPr/>
          <p:nvPr/>
        </p:nvSpPr>
        <p:spPr>
          <a:xfrm>
            <a:off x="714375" y="3411141"/>
            <a:ext cx="3343415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555555"/>
                </a:solidFill>
              </a:rPr>
              <a:t>: Возвращает только изменения (delta) состояния, произведенные последним узлом. Эффективно для UI.</a:t>
            </a:r>
            <a:endParaRPr lang="en-US" sz="834" dirty="0"/>
          </a:p>
        </p:txBody>
      </p:sp>
      <p:sp>
        <p:nvSpPr>
          <p:cNvPr id="20" name="Text 15"/>
          <p:cNvSpPr/>
          <p:nvPr/>
        </p:nvSpPr>
        <p:spPr>
          <a:xfrm>
            <a:off x="571500" y="3829050"/>
            <a:ext cx="53746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87" b="1" dirty="0">
                <a:solidFill>
                  <a:srgbClr val="FF4500"/>
                </a:solidFill>
              </a:rPr>
              <a:t>•</a:t>
            </a:r>
            <a:endParaRPr lang="en-US" sz="987" dirty="0"/>
          </a:p>
        </p:txBody>
      </p:sp>
      <p:sp>
        <p:nvSpPr>
          <p:cNvPr id="21" name="Shape 16"/>
          <p:cNvSpPr/>
          <p:nvPr/>
        </p:nvSpPr>
        <p:spPr>
          <a:xfrm>
            <a:off x="714375" y="3834408"/>
            <a:ext cx="398264" cy="164306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2" name="Text 17"/>
          <p:cNvSpPr/>
          <p:nvPr/>
        </p:nvSpPr>
        <p:spPr>
          <a:xfrm>
            <a:off x="714375" y="3834408"/>
            <a:ext cx="398264" cy="164306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04" b="1" dirty="0">
                <a:solidFill>
                  <a:srgbClr val="1A1A1A"/>
                </a:solidFill>
              </a:rPr>
              <a:t>debug</a:t>
            </a:r>
            <a:endParaRPr lang="en-US" sz="704" dirty="0"/>
          </a:p>
        </p:txBody>
      </p:sp>
      <p:sp>
        <p:nvSpPr>
          <p:cNvPr id="23" name="Text 18"/>
          <p:cNvSpPr/>
          <p:nvPr/>
        </p:nvSpPr>
        <p:spPr>
          <a:xfrm>
            <a:off x="714375" y="3829050"/>
            <a:ext cx="3473286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555555"/>
                </a:solidFill>
              </a:rPr>
              <a:t>: Возвращает детальную информацию о каждом шаге, включая входные и выходные данные.</a:t>
            </a:r>
            <a:endParaRPr lang="en-US" sz="834" dirty="0"/>
          </a:p>
        </p:txBody>
      </p:sp>
      <p:sp>
        <p:nvSpPr>
          <p:cNvPr id="24" name="Shape 19"/>
          <p:cNvSpPr/>
          <p:nvPr/>
        </p:nvSpPr>
        <p:spPr>
          <a:xfrm>
            <a:off x="4786313" y="1375172"/>
            <a:ext cx="3786188" cy="3571875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5" name="Shape 20"/>
          <p:cNvSpPr/>
          <p:nvPr/>
        </p:nvSpPr>
        <p:spPr>
          <a:xfrm>
            <a:off x="4786313" y="1375172"/>
            <a:ext cx="28575" cy="3571875"/>
          </a:xfrm>
          <a:prstGeom prst="rect">
            <a:avLst/>
          </a:prstGeom>
          <a:solidFill>
            <a:srgbClr val="FF4500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6" name="Text 21"/>
          <p:cNvSpPr/>
          <p:nvPr/>
        </p:nvSpPr>
        <p:spPr>
          <a:xfrm>
            <a:off x="5000625" y="1960959"/>
            <a:ext cx="3357563" cy="2400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0" dirty="0">
                <a:solidFill>
                  <a:srgbClr val="FF79C6"/>
                </a:solidFill>
              </a:rPr>
              <a:t>async for</a:t>
            </a:r>
            <a:r>
              <a:rPr lang="en-US" sz="780" dirty="0">
                <a:solidFill>
                  <a:srgbClr val="E0E0E0"/>
                </a:solidFill>
              </a:rPr>
              <a:t> event </a:t>
            </a:r>
            <a:r>
              <a:rPr lang="en-US" sz="780" dirty="0">
                <a:solidFill>
                  <a:srgbClr val="FF79C6"/>
                </a:solidFill>
              </a:rPr>
              <a:t>in</a:t>
            </a:r>
            <a:r>
              <a:rPr lang="en-US" sz="780" dirty="0">
                <a:solidFill>
                  <a:srgbClr val="E0E0E0"/>
                </a:solidFill>
              </a:rPr>
              <a:t> app.</a:t>
            </a:r>
            <a:r>
              <a:rPr lang="en-US" sz="780" dirty="0">
                <a:solidFill>
                  <a:srgbClr val="8BE9FD"/>
                </a:solidFill>
              </a:rPr>
              <a:t>astream</a:t>
            </a:r>
            <a:r>
              <a:rPr lang="en-US" sz="780" dirty="0">
                <a:solidFill>
                  <a:srgbClr val="E0E0E0"/>
                </a:solidFill>
              </a:rPr>
              <a:t>(
    inputs, 
    stream_mode=</a:t>
            </a:r>
            <a:r>
              <a:rPr lang="en-US" sz="780" dirty="0">
                <a:solidFill>
                  <a:srgbClr val="F1FA8C"/>
                </a:solidFill>
              </a:rPr>
              <a:t>"updates"</a:t>
            </a:r>
            <a:r>
              <a:rPr lang="en-US" sz="780" dirty="0">
                <a:solidFill>
                  <a:srgbClr val="E0E0E0"/>
                </a:solidFill>
              </a:rPr>
              <a:t>
):
    </a:t>
            </a:r>
            <a:r>
              <a:rPr lang="en-US" sz="780" dirty="0">
                <a:solidFill>
                  <a:srgbClr val="FF79C6"/>
                </a:solidFill>
              </a:rPr>
              <a:t>for</a:t>
            </a:r>
            <a:r>
              <a:rPr lang="en-US" sz="780" dirty="0">
                <a:solidFill>
                  <a:srgbClr val="E0E0E0"/>
                </a:solidFill>
              </a:rPr>
              <a:t> node, updates </a:t>
            </a:r>
            <a:r>
              <a:rPr lang="en-US" sz="780" dirty="0">
                <a:solidFill>
                  <a:srgbClr val="FF79C6"/>
                </a:solidFill>
              </a:rPr>
              <a:t>in</a:t>
            </a:r>
            <a:r>
              <a:rPr lang="en-US" sz="780" dirty="0">
                <a:solidFill>
                  <a:srgbClr val="E0E0E0"/>
                </a:solidFill>
              </a:rPr>
              <a:t> event.items():
        </a:t>
            </a:r>
            <a:r>
              <a:rPr lang="en-US" sz="780" dirty="0">
                <a:solidFill>
                  <a:srgbClr val="8BE9FD"/>
                </a:solidFill>
              </a:rPr>
              <a:t>print</a:t>
            </a:r>
            <a:r>
              <a:rPr lang="en-US" sz="780" dirty="0">
                <a:solidFill>
                  <a:srgbClr val="E0E0E0"/>
                </a:solidFill>
              </a:rPr>
              <a:t>(</a:t>
            </a:r>
            <a:r>
              <a:rPr lang="en-US" sz="780" dirty="0">
                <a:solidFill>
                  <a:srgbClr val="F1FA8C"/>
                </a:solidFill>
              </a:rPr>
              <a:t>f"Node '{node}' updated state:"</a:t>
            </a:r>
            <a:r>
              <a:rPr lang="en-US" sz="780" dirty="0">
                <a:solidFill>
                  <a:srgbClr val="E0E0E0"/>
                </a:solidFill>
              </a:rPr>
              <a:t>)
        </a:t>
            </a:r>
            <a:r>
              <a:rPr lang="en-US" sz="780" dirty="0">
                <a:solidFill>
                  <a:srgbClr val="8BE9FD"/>
                </a:solidFill>
              </a:rPr>
              <a:t>print</a:t>
            </a:r>
            <a:r>
              <a:rPr lang="en-US" sz="780" dirty="0">
                <a:solidFill>
                  <a:srgbClr val="E0E0E0"/>
                </a:solidFill>
              </a:rPr>
              <a:t>(updates)
        </a:t>
            </a:r>
            <a:r>
              <a:rPr lang="en-US" sz="780" dirty="0">
                <a:solidFill>
                  <a:srgbClr val="8BE9FD"/>
                </a:solidFill>
              </a:rPr>
              <a:t>print</a:t>
            </a:r>
            <a:r>
              <a:rPr lang="en-US" sz="780" dirty="0">
                <a:solidFill>
                  <a:srgbClr val="E0E0E0"/>
                </a:solidFill>
              </a:rPr>
              <a:t>(</a:t>
            </a:r>
            <a:r>
              <a:rPr lang="en-US" sz="780" dirty="0">
                <a:solidFill>
                  <a:srgbClr val="F1FA8C"/>
                </a:solidFill>
              </a:rPr>
              <a:t>"---"</a:t>
            </a:r>
            <a:r>
              <a:rPr lang="en-US" sz="780" dirty="0">
                <a:solidFill>
                  <a:srgbClr val="E0E0E0"/>
                </a:solidFill>
              </a:rPr>
              <a:t>)
</a:t>
            </a:r>
            <a:r>
              <a:rPr lang="en-US" sz="780" dirty="0">
                <a:solidFill>
                  <a:srgbClr val="6272A4"/>
                </a:solidFill>
              </a:rPr>
              <a:t># Для потоковой передачи токенов LLM# используется .astream_events()</a:t>
            </a:r>
            <a:r>
              <a:rPr lang="en-US" sz="780" dirty="0">
                <a:solidFill>
                  <a:srgbClr val="FF79C6"/>
                </a:solidFill>
              </a:rPr>
              <a:t>async for</a:t>
            </a:r>
            <a:r>
              <a:rPr lang="en-US" sz="780" dirty="0">
                <a:solidFill>
                  <a:srgbClr val="E0E0E0"/>
                </a:solidFill>
              </a:rPr>
              <a:t> event </a:t>
            </a:r>
            <a:r>
              <a:rPr lang="en-US" sz="780" dirty="0">
                <a:solidFill>
                  <a:srgbClr val="FF79C6"/>
                </a:solidFill>
              </a:rPr>
              <a:t>in</a:t>
            </a:r>
            <a:r>
              <a:rPr lang="en-US" sz="780" dirty="0">
                <a:solidFill>
                  <a:srgbClr val="E0E0E0"/>
                </a:solidFill>
              </a:rPr>
              <a:t> app.</a:t>
            </a:r>
            <a:r>
              <a:rPr lang="en-US" sz="780" dirty="0">
                <a:solidFill>
                  <a:srgbClr val="8BE9FD"/>
                </a:solidFill>
              </a:rPr>
              <a:t>astream_events</a:t>
            </a:r>
            <a:r>
              <a:rPr lang="en-US" sz="780" dirty="0">
                <a:solidFill>
                  <a:srgbClr val="E0E0E0"/>
                </a:solidFill>
              </a:rPr>
              <a:t>(inputs):
    </a:t>
            </a:r>
            <a:r>
              <a:rPr lang="en-US" sz="780" dirty="0">
                <a:solidFill>
                  <a:srgbClr val="FF79C6"/>
                </a:solidFill>
              </a:rPr>
              <a:t>if</a:t>
            </a:r>
            <a:r>
              <a:rPr lang="en-US" sz="780" dirty="0">
                <a:solidFill>
                  <a:srgbClr val="E0E0E0"/>
                </a:solidFill>
              </a:rPr>
              <a:t> event[</a:t>
            </a:r>
            <a:r>
              <a:rPr lang="en-US" sz="780" dirty="0">
                <a:solidFill>
                  <a:srgbClr val="F1FA8C"/>
                </a:solidFill>
              </a:rPr>
              <a:t>"event"</a:t>
            </a:r>
            <a:r>
              <a:rPr lang="en-US" sz="780" dirty="0">
                <a:solidFill>
                  <a:srgbClr val="E0E0E0"/>
                </a:solidFill>
              </a:rPr>
              <a:t>] == </a:t>
            </a:r>
            <a:r>
              <a:rPr lang="en-US" sz="780" dirty="0">
                <a:solidFill>
                  <a:srgbClr val="F1FA8C"/>
                </a:solidFill>
              </a:rPr>
              <a:t>"on_chat_model_stream"</a:t>
            </a:r>
            <a:r>
              <a:rPr lang="en-US" sz="780" dirty="0">
                <a:solidFill>
                  <a:srgbClr val="E0E0E0"/>
                </a:solidFill>
              </a:rPr>
              <a:t>:
        </a:t>
            </a:r>
            <a:r>
              <a:rPr lang="en-US" sz="780" dirty="0">
                <a:solidFill>
                  <a:srgbClr val="8BE9FD"/>
                </a:solidFill>
              </a:rPr>
              <a:t>print</a:t>
            </a:r>
            <a:r>
              <a:rPr lang="en-US" sz="780" dirty="0">
                <a:solidFill>
                  <a:srgbClr val="E0E0E0"/>
                </a:solidFill>
              </a:rPr>
              <a:t>(event[</a:t>
            </a:r>
            <a:r>
              <a:rPr lang="en-US" sz="780" dirty="0">
                <a:solidFill>
                  <a:srgbClr val="F1FA8C"/>
                </a:solidFill>
              </a:rPr>
              <a:t>"data"</a:t>
            </a:r>
            <a:r>
              <a:rPr lang="en-US" sz="780" dirty="0">
                <a:solidFill>
                  <a:srgbClr val="E0E0E0"/>
                </a:solidFill>
              </a:rPr>
              <a:t>][</a:t>
            </a:r>
            <a:r>
              <a:rPr lang="en-US" sz="780" dirty="0">
                <a:solidFill>
                  <a:srgbClr val="F1FA8C"/>
                </a:solidFill>
              </a:rPr>
              <a:t>"chunk"</a:t>
            </a:r>
            <a:r>
              <a:rPr lang="en-US" sz="780" dirty="0">
                <a:solidFill>
                  <a:srgbClr val="E0E0E0"/>
                </a:solidFill>
              </a:rPr>
              <a:t>].content, end=</a:t>
            </a:r>
            <a:r>
              <a:rPr lang="en-US" sz="780" dirty="0">
                <a:solidFill>
                  <a:srgbClr val="F1FA8C"/>
                </a:solidFill>
              </a:rPr>
              <a:t>""</a:t>
            </a:r>
            <a:r>
              <a:rPr lang="en-US" sz="780" dirty="0">
                <a:solidFill>
                  <a:srgbClr val="E0E0E0"/>
                </a:solidFill>
              </a:rPr>
              <a:t>)</a:t>
            </a:r>
            <a:endParaRPr lang="en-US" sz="78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572500" cy="660797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4" name="Shape 1"/>
          <p:cNvSpPr/>
          <p:nvPr/>
        </p:nvSpPr>
        <p:spPr>
          <a:xfrm>
            <a:off x="571500" y="428625"/>
            <a:ext cx="57150" cy="660797"/>
          </a:xfrm>
          <a:prstGeom prst="rect">
            <a:avLst/>
          </a:prstGeom>
          <a:solidFill>
            <a:srgbClr val="FF4500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5" name="Text 2"/>
          <p:cNvSpPr/>
          <p:nvPr/>
        </p:nvSpPr>
        <p:spPr>
          <a:xfrm>
            <a:off x="742950" y="428625"/>
            <a:ext cx="8401050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1A1A1A"/>
                </a:solidFill>
              </a:rPr>
              <a:t>Persistence (Сохранение)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742950" y="894755"/>
            <a:ext cx="840105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555555"/>
                </a:solidFill>
              </a:rPr>
              <a:t>Долгосрочная память и управление сессиями</a:t>
            </a:r>
            <a:endParaRPr lang="en-US" sz="10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532334"/>
            <a:ext cx="125016" cy="14287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82241" y="1496616"/>
            <a:ext cx="113301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A1A1A"/>
                </a:solidFill>
              </a:rPr>
              <a:t>Checkpointers</a:t>
            </a:r>
            <a:endParaRPr lang="en-US" sz="1090" dirty="0"/>
          </a:p>
        </p:txBody>
      </p:sp>
      <p:sp>
        <p:nvSpPr>
          <p:cNvPr id="9" name="Text 5"/>
          <p:cNvSpPr/>
          <p:nvPr/>
        </p:nvSpPr>
        <p:spPr>
          <a:xfrm>
            <a:off x="571500" y="1805583"/>
            <a:ext cx="311196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444444"/>
                </a:solidFill>
              </a:rPr>
              <a:t>Компоненты, которые автоматически сохраняют</a:t>
            </a:r>
            <a:endParaRPr lang="en-US" sz="942" dirty="0"/>
          </a:p>
        </p:txBody>
      </p:sp>
      <p:sp>
        <p:nvSpPr>
          <p:cNvPr id="10" name="Text 6"/>
          <p:cNvSpPr/>
          <p:nvPr/>
        </p:nvSpPr>
        <p:spPr>
          <a:xfrm>
            <a:off x="571500" y="1998464"/>
            <a:ext cx="316236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444444"/>
                </a:solidFill>
              </a:rPr>
              <a:t>состояние графа после каждого шага (checkpoint).</a:t>
            </a:r>
            <a:endParaRPr lang="en-US" sz="942" dirty="0"/>
          </a:p>
        </p:txBody>
      </p:sp>
      <p:sp>
        <p:nvSpPr>
          <p:cNvPr id="11" name="Text 7"/>
          <p:cNvSpPr/>
          <p:nvPr/>
        </p:nvSpPr>
        <p:spPr>
          <a:xfrm>
            <a:off x="696683" y="2253853"/>
            <a:ext cx="8243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333333"/>
                </a:solidFill>
              </a:rPr>
              <a:t>MemorySaver:</a:t>
            </a:r>
            <a:endParaRPr lang="en-US" sz="784" dirty="0"/>
          </a:p>
        </p:txBody>
      </p:sp>
      <p:sp>
        <p:nvSpPr>
          <p:cNvPr id="12" name="Text 8"/>
          <p:cNvSpPr/>
          <p:nvPr/>
        </p:nvSpPr>
        <p:spPr>
          <a:xfrm>
            <a:off x="1521033" y="2253853"/>
            <a:ext cx="123238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В памяти (для тестов).</a:t>
            </a:r>
            <a:endParaRPr lang="en-US" sz="834" dirty="0"/>
          </a:p>
        </p:txBody>
      </p:sp>
      <p:sp>
        <p:nvSpPr>
          <p:cNvPr id="13" name="Text 9"/>
          <p:cNvSpPr/>
          <p:nvPr/>
        </p:nvSpPr>
        <p:spPr>
          <a:xfrm>
            <a:off x="696683" y="2496741"/>
            <a:ext cx="158970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333333"/>
                </a:solidFill>
              </a:rPr>
              <a:t>SqliteSaver / PostgresSaver:</a:t>
            </a:r>
            <a:endParaRPr lang="en-US" sz="784" dirty="0"/>
          </a:p>
        </p:txBody>
      </p:sp>
      <p:sp>
        <p:nvSpPr>
          <p:cNvPr id="14" name="Text 10"/>
          <p:cNvSpPr/>
          <p:nvPr/>
        </p:nvSpPr>
        <p:spPr>
          <a:xfrm>
            <a:off x="2286391" y="2496741"/>
            <a:ext cx="187316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В базе данных (для продакшена).</a:t>
            </a:r>
            <a:endParaRPr lang="en-US" sz="834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111103"/>
            <a:ext cx="142875" cy="14287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00100" y="3075384"/>
            <a:ext cx="113630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A1A1A"/>
                </a:solidFill>
              </a:rPr>
              <a:t>Возможности</a:t>
            </a:r>
            <a:endParaRPr lang="en-US" sz="1090" dirty="0"/>
          </a:p>
        </p:txBody>
      </p:sp>
      <p:sp>
        <p:nvSpPr>
          <p:cNvPr id="17" name="Text 12"/>
          <p:cNvSpPr/>
          <p:nvPr/>
        </p:nvSpPr>
        <p:spPr>
          <a:xfrm>
            <a:off x="696683" y="3375422"/>
            <a:ext cx="940073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333333"/>
                </a:solidFill>
              </a:rPr>
              <a:t>Human-in-the-loop:</a:t>
            </a:r>
            <a:endParaRPr lang="en-US" sz="784" dirty="0"/>
          </a:p>
        </p:txBody>
      </p:sp>
      <p:sp>
        <p:nvSpPr>
          <p:cNvPr id="18" name="Text 13"/>
          <p:cNvSpPr/>
          <p:nvPr/>
        </p:nvSpPr>
        <p:spPr>
          <a:xfrm>
            <a:off x="1636756" y="3375422"/>
            <a:ext cx="2720932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Пауза для одобрения человеком и продолжение работы.</a:t>
            </a:r>
            <a:endParaRPr lang="en-US" sz="834" dirty="0"/>
          </a:p>
        </p:txBody>
      </p:sp>
      <p:sp>
        <p:nvSpPr>
          <p:cNvPr id="19" name="Text 14"/>
          <p:cNvSpPr/>
          <p:nvPr/>
        </p:nvSpPr>
        <p:spPr>
          <a:xfrm>
            <a:off x="696683" y="3757613"/>
            <a:ext cx="635654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333333"/>
                </a:solidFill>
              </a:rPr>
              <a:t>Time Travel:</a:t>
            </a:r>
            <a:endParaRPr lang="en-US" sz="784" dirty="0"/>
          </a:p>
        </p:txBody>
      </p:sp>
      <p:sp>
        <p:nvSpPr>
          <p:cNvPr id="20" name="Text 15"/>
          <p:cNvSpPr/>
          <p:nvPr/>
        </p:nvSpPr>
        <p:spPr>
          <a:xfrm>
            <a:off x="1332337" y="3757613"/>
            <a:ext cx="3025350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"Перемотка" назад для исправления ошибок или отладки.</a:t>
            </a:r>
            <a:endParaRPr lang="en-US" sz="834" dirty="0"/>
          </a:p>
        </p:txBody>
      </p:sp>
      <p:sp>
        <p:nvSpPr>
          <p:cNvPr id="21" name="Text 16"/>
          <p:cNvSpPr/>
          <p:nvPr/>
        </p:nvSpPr>
        <p:spPr>
          <a:xfrm>
            <a:off x="696683" y="4139803"/>
            <a:ext cx="60202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333333"/>
                </a:solidFill>
              </a:rPr>
              <a:t>Resuming:</a:t>
            </a:r>
            <a:endParaRPr lang="en-US" sz="784" dirty="0"/>
          </a:p>
        </p:txBody>
      </p:sp>
      <p:sp>
        <p:nvSpPr>
          <p:cNvPr id="22" name="Text 17"/>
          <p:cNvSpPr/>
          <p:nvPr/>
        </p:nvSpPr>
        <p:spPr>
          <a:xfrm>
            <a:off x="1298711" y="4139803"/>
            <a:ext cx="260652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Продолжение диалога спустя дни или недели.</a:t>
            </a:r>
            <a:endParaRPr lang="en-US" sz="834" dirty="0"/>
          </a:p>
        </p:txBody>
      </p:sp>
      <p:sp>
        <p:nvSpPr>
          <p:cNvPr id="23" name="Shape 18"/>
          <p:cNvSpPr/>
          <p:nvPr/>
        </p:nvSpPr>
        <p:spPr>
          <a:xfrm>
            <a:off x="4786313" y="1375172"/>
            <a:ext cx="3786188" cy="3571875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4" name="Shape 19"/>
          <p:cNvSpPr/>
          <p:nvPr/>
        </p:nvSpPr>
        <p:spPr>
          <a:xfrm>
            <a:off x="4786313" y="1375172"/>
            <a:ext cx="28575" cy="3571875"/>
          </a:xfrm>
          <a:prstGeom prst="rect">
            <a:avLst/>
          </a:prstGeom>
          <a:solidFill>
            <a:srgbClr val="FF4500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5" name="Text 20"/>
          <p:cNvSpPr/>
          <p:nvPr/>
        </p:nvSpPr>
        <p:spPr>
          <a:xfrm>
            <a:off x="5000625" y="1618059"/>
            <a:ext cx="3357563" cy="3086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0" dirty="0">
                <a:solidFill>
                  <a:srgbClr val="FF79C6"/>
                </a:solidFill>
              </a:rPr>
              <a:t>from</a:t>
            </a:r>
            <a:r>
              <a:rPr lang="en-US" sz="780" dirty="0">
                <a:solidFill>
                  <a:srgbClr val="E0E0E0"/>
                </a:solidFill>
              </a:rPr>
              <a:t> langgraph.checkpoint.memory </a:t>
            </a:r>
            <a:r>
              <a:rPr lang="en-US" sz="780" dirty="0">
                <a:solidFill>
                  <a:srgbClr val="FF79C6"/>
                </a:solidFill>
              </a:rPr>
              <a:t>import</a:t>
            </a:r>
            <a:r>
              <a:rPr lang="en-US" sz="780" dirty="0">
                <a:solidFill>
                  <a:srgbClr val="E0E0E0"/>
                </a:solidFill>
              </a:rPr>
              <a:t> MemorySaver
</a:t>
            </a:r>
            <a:r>
              <a:rPr lang="en-US" sz="780" dirty="0">
                <a:solidFill>
                  <a:srgbClr val="6272A4"/>
                </a:solidFill>
              </a:rPr>
              <a:t># 1. Инициализация Checkpointer</a:t>
            </a:r>
            <a:r>
              <a:rPr lang="en-US" sz="780" dirty="0">
                <a:solidFill>
                  <a:srgbClr val="E0E0E0"/>
                </a:solidFill>
              </a:rPr>
              <a:t>
memory = MemorySaver()
</a:t>
            </a:r>
            <a:r>
              <a:rPr lang="en-US" sz="780" dirty="0">
                <a:solidFill>
                  <a:srgbClr val="6272A4"/>
                </a:solidFill>
              </a:rPr>
              <a:t># 2. Компиляция с памятью</a:t>
            </a:r>
            <a:r>
              <a:rPr lang="en-US" sz="780" dirty="0">
                <a:solidFill>
                  <a:srgbClr val="E0E0E0"/>
                </a:solidFill>
              </a:rPr>
              <a:t>
app = workflow.</a:t>
            </a:r>
            <a:r>
              <a:rPr lang="en-US" sz="780" dirty="0">
                <a:solidFill>
                  <a:srgbClr val="8BE9FD"/>
                </a:solidFill>
              </a:rPr>
              <a:t>compile</a:t>
            </a:r>
            <a:r>
              <a:rPr lang="en-US" sz="780" dirty="0">
                <a:solidFill>
                  <a:srgbClr val="E0E0E0"/>
                </a:solidFill>
              </a:rPr>
              <a:t>(checkpointer=memory)
</a:t>
            </a:r>
            <a:r>
              <a:rPr lang="en-US" sz="780" dirty="0">
                <a:solidFill>
                  <a:srgbClr val="6272A4"/>
                </a:solidFill>
              </a:rPr>
              <a:t># 3. Запуск с уникальным thread_id</a:t>
            </a:r>
            <a:r>
              <a:rPr lang="en-US" sz="780" dirty="0">
                <a:solidFill>
                  <a:srgbClr val="E0E0E0"/>
                </a:solidFill>
              </a:rPr>
              <a:t>
config = {</a:t>
            </a:r>
            <a:r>
              <a:rPr lang="en-US" sz="780" dirty="0">
                <a:solidFill>
                  <a:srgbClr val="F1FA8C"/>
                </a:solidFill>
              </a:rPr>
              <a:t>"configurable"</a:t>
            </a:r>
            <a:r>
              <a:rPr lang="en-US" sz="780" dirty="0">
                <a:solidFill>
                  <a:srgbClr val="E0E0E0"/>
                </a:solidFill>
              </a:rPr>
              <a:t>: {</a:t>
            </a:r>
            <a:r>
              <a:rPr lang="en-US" sz="780" dirty="0">
                <a:solidFill>
                  <a:srgbClr val="F1FA8C"/>
                </a:solidFill>
              </a:rPr>
              <a:t>"thread_id"</a:t>
            </a:r>
            <a:r>
              <a:rPr lang="en-US" sz="780" dirty="0">
                <a:solidFill>
                  <a:srgbClr val="E0E0E0"/>
                </a:solidFill>
              </a:rPr>
              <a:t>: </a:t>
            </a:r>
            <a:r>
              <a:rPr lang="en-US" sz="780" dirty="0">
                <a:solidFill>
                  <a:srgbClr val="F1FA8C"/>
                </a:solidFill>
              </a:rPr>
              <a:t>"session_1"</a:t>
            </a:r>
            <a:r>
              <a:rPr lang="en-US" sz="780" dirty="0">
                <a:solidFill>
                  <a:srgbClr val="E0E0E0"/>
                </a:solidFill>
              </a:rPr>
              <a:t>}}
</a:t>
            </a:r>
            <a:r>
              <a:rPr lang="en-US" sz="780" dirty="0">
                <a:solidFill>
                  <a:srgbClr val="6272A4"/>
                </a:solidFill>
              </a:rPr>
              <a:t># Первый запуск</a:t>
            </a:r>
            <a:r>
              <a:rPr lang="en-US" sz="780" dirty="0">
                <a:solidFill>
                  <a:srgbClr val="E0E0E0"/>
                </a:solidFill>
              </a:rPr>
              <a:t>
app.</a:t>
            </a:r>
            <a:r>
              <a:rPr lang="en-US" sz="780" dirty="0">
                <a:solidFill>
                  <a:srgbClr val="8BE9FD"/>
                </a:solidFill>
              </a:rPr>
              <a:t>invoke</a:t>
            </a:r>
            <a:r>
              <a:rPr lang="en-US" sz="780" dirty="0">
                <a:solidFill>
                  <a:srgbClr val="E0E0E0"/>
                </a:solidFill>
              </a:rPr>
              <a:t>(inputs, config=config)
</a:t>
            </a:r>
            <a:r>
              <a:rPr lang="en-US" sz="780" dirty="0">
                <a:solidFill>
                  <a:srgbClr val="6272A4"/>
                </a:solidFill>
              </a:rPr>
              <a:t># ... спустя время ...# Продолжение с того же места</a:t>
            </a:r>
            <a:r>
              <a:rPr lang="en-US" sz="780" dirty="0">
                <a:solidFill>
                  <a:srgbClr val="E0E0E0"/>
                </a:solidFill>
              </a:rPr>
              <a:t>
app.</a:t>
            </a:r>
            <a:r>
              <a:rPr lang="en-US" sz="780" dirty="0">
                <a:solidFill>
                  <a:srgbClr val="8BE9FD"/>
                </a:solidFill>
              </a:rPr>
              <a:t>invoke</a:t>
            </a:r>
            <a:r>
              <a:rPr lang="en-US" sz="780" dirty="0">
                <a:solidFill>
                  <a:srgbClr val="E0E0E0"/>
                </a:solidFill>
              </a:rPr>
              <a:t>(new_inputs, config=config)</a:t>
            </a:r>
            <a:endParaRPr lang="en-US" sz="78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572500" cy="660797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4" name="Shape 1"/>
          <p:cNvSpPr/>
          <p:nvPr/>
        </p:nvSpPr>
        <p:spPr>
          <a:xfrm>
            <a:off x="571500" y="428625"/>
            <a:ext cx="57150" cy="660797"/>
          </a:xfrm>
          <a:prstGeom prst="rect">
            <a:avLst/>
          </a:prstGeom>
          <a:solidFill>
            <a:srgbClr val="FF4500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5" name="Text 2"/>
          <p:cNvSpPr/>
          <p:nvPr/>
        </p:nvSpPr>
        <p:spPr>
          <a:xfrm>
            <a:off x="742950" y="428625"/>
            <a:ext cx="8401050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1A1A1A"/>
                </a:solidFill>
              </a:rPr>
              <a:t>Оптимизация производительности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742950" y="894755"/>
            <a:ext cx="840105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555555"/>
                </a:solidFill>
              </a:rPr>
              <a:t>Ускорение выполнения и снижение затрат</a:t>
            </a:r>
            <a:endParaRPr lang="en-US" sz="10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408212"/>
            <a:ext cx="128588" cy="12858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85813" y="1375172"/>
            <a:ext cx="2068702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1A1A"/>
                </a:solidFill>
              </a:rPr>
              <a:t>Параллельное выполнение</a:t>
            </a:r>
            <a:endParaRPr lang="en-US" sz="987" dirty="0"/>
          </a:p>
        </p:txBody>
      </p:sp>
      <p:sp>
        <p:nvSpPr>
          <p:cNvPr id="9" name="Text 5"/>
          <p:cNvSpPr/>
          <p:nvPr/>
        </p:nvSpPr>
        <p:spPr>
          <a:xfrm>
            <a:off x="571500" y="1626989"/>
            <a:ext cx="3786188" cy="514350"/>
          </a:xfrm>
          <a:prstGeom prst="rect">
            <a:avLst/>
          </a:prstGeom>
          <a:noFill/>
          <a:ln/>
        </p:spPr>
        <p:txBody>
          <a:bodyPr wrap="square" lIns="255143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555555"/>
                </a:solidFill>
              </a:rPr>
              <a:t>Запуск независимых узлов одновременно (например, поиск в Google и Wikipedia параллельно) вместо последовательного выполнения.</a:t>
            </a:r>
            <a:endParaRPr lang="en-US" sz="834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538710"/>
            <a:ext cx="128588" cy="12858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85813" y="2505670"/>
            <a:ext cx="1826372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1A1A"/>
                </a:solidFill>
              </a:rPr>
              <a:t>Управление контекстом</a:t>
            </a:r>
            <a:endParaRPr lang="en-US" sz="987" dirty="0"/>
          </a:p>
        </p:txBody>
      </p:sp>
      <p:sp>
        <p:nvSpPr>
          <p:cNvPr id="12" name="Text 7"/>
          <p:cNvSpPr/>
          <p:nvPr/>
        </p:nvSpPr>
        <p:spPr>
          <a:xfrm>
            <a:off x="571500" y="2757488"/>
            <a:ext cx="3786188" cy="342900"/>
          </a:xfrm>
          <a:prstGeom prst="rect">
            <a:avLst/>
          </a:prstGeom>
          <a:noFill/>
          <a:ln/>
        </p:spPr>
        <p:txBody>
          <a:bodyPr wrap="square" lIns="255143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555555"/>
                </a:solidFill>
              </a:rPr>
              <a:t>Агрессивное удаление старых сообщений и фильтрация `state` перед передачей в LLM. Меньше токенов = быстрее ответ.</a:t>
            </a:r>
            <a:endParaRPr lang="en-US" sz="834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3497759"/>
            <a:ext cx="128588" cy="12858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85813" y="3464719"/>
            <a:ext cx="1047424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1A1A"/>
                </a:solidFill>
              </a:rPr>
              <a:t>Кэширование</a:t>
            </a:r>
            <a:endParaRPr lang="en-US" sz="987" dirty="0"/>
          </a:p>
        </p:txBody>
      </p:sp>
      <p:sp>
        <p:nvSpPr>
          <p:cNvPr id="15" name="Text 9"/>
          <p:cNvSpPr/>
          <p:nvPr/>
        </p:nvSpPr>
        <p:spPr>
          <a:xfrm>
            <a:off x="571500" y="3716536"/>
            <a:ext cx="3786188" cy="342900"/>
          </a:xfrm>
          <a:prstGeom prst="rect">
            <a:avLst/>
          </a:prstGeom>
          <a:noFill/>
          <a:ln/>
        </p:spPr>
        <p:txBody>
          <a:bodyPr wrap="square" lIns="255143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555555"/>
                </a:solidFill>
              </a:rPr>
              <a:t>Использование семантического кэша (Redis/SQLite) для сохранения ответов LLM на повторяющиеся запросы.</a:t>
            </a:r>
            <a:endParaRPr lang="en-US" sz="834" dirty="0"/>
          </a:p>
        </p:txBody>
      </p:sp>
      <p:sp>
        <p:nvSpPr>
          <p:cNvPr id="16" name="Shape 10"/>
          <p:cNvSpPr/>
          <p:nvPr/>
        </p:nvSpPr>
        <p:spPr>
          <a:xfrm>
            <a:off x="4786313" y="1375172"/>
            <a:ext cx="3786188" cy="3171825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7" name="Shape 11"/>
          <p:cNvSpPr/>
          <p:nvPr/>
        </p:nvSpPr>
        <p:spPr>
          <a:xfrm>
            <a:off x="4786313" y="1375172"/>
            <a:ext cx="28575" cy="3171825"/>
          </a:xfrm>
          <a:prstGeom prst="rect">
            <a:avLst/>
          </a:prstGeom>
          <a:solidFill>
            <a:srgbClr val="FF4500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8" name="Text 12"/>
          <p:cNvSpPr/>
          <p:nvPr/>
        </p:nvSpPr>
        <p:spPr>
          <a:xfrm>
            <a:off x="5000625" y="1589484"/>
            <a:ext cx="3357563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0" dirty="0">
                <a:solidFill>
                  <a:srgbClr val="FF79C6"/>
                </a:solidFill>
              </a:rPr>
              <a:t>import</a:t>
            </a:r>
            <a:r>
              <a:rPr lang="en-US" sz="780" dirty="0">
                <a:solidFill>
                  <a:srgbClr val="E0E0E0"/>
                </a:solidFill>
              </a:rPr>
              <a:t> asyncio
</a:t>
            </a:r>
            <a:r>
              <a:rPr lang="en-US" sz="780" dirty="0">
                <a:solidFill>
                  <a:srgbClr val="6272A4"/>
                </a:solidFill>
              </a:rPr>
              <a:t># Параллельный узел</a:t>
            </a:r>
            <a:r>
              <a:rPr lang="en-US" sz="780" dirty="0">
                <a:solidFill>
                  <a:srgbClr val="FF79C6"/>
                </a:solidFill>
              </a:rPr>
              <a:t>async def</a:t>
            </a:r>
            <a:r>
              <a:rPr lang="en-US" sz="780" dirty="0">
                <a:solidFill>
                  <a:srgbClr val="8BE9FD"/>
                </a:solidFill>
              </a:rPr>
              <a:t>parallel_research</a:t>
            </a:r>
            <a:r>
              <a:rPr lang="en-US" sz="780" dirty="0">
                <a:solidFill>
                  <a:srgbClr val="E0E0E0"/>
                </a:solidFill>
              </a:rPr>
              <a:t>(state):
    queries = state[</a:t>
            </a:r>
            <a:r>
              <a:rPr lang="en-US" sz="780" dirty="0">
                <a:solidFill>
                  <a:srgbClr val="F1FA8C"/>
                </a:solidFill>
              </a:rPr>
              <a:t>"queries"</a:t>
            </a:r>
            <a:r>
              <a:rPr lang="en-US" sz="780" dirty="0">
                <a:solidFill>
                  <a:srgbClr val="E0E0E0"/>
                </a:solidFill>
              </a:rPr>
              <a:t>]
    </a:t>
            </a:r>
            <a:r>
              <a:rPr lang="en-US" sz="780" dirty="0">
                <a:solidFill>
                  <a:srgbClr val="6272A4"/>
                </a:solidFill>
              </a:rPr>
              <a:t># Запуск всех запросов одновременно</a:t>
            </a:r>
            <a:r>
              <a:rPr lang="en-US" sz="780" dirty="0">
                <a:solidFill>
                  <a:srgbClr val="E0E0E0"/>
                </a:solidFill>
              </a:rPr>
              <a:t>
    results = </a:t>
            </a:r>
            <a:r>
              <a:rPr lang="en-US" sz="780" dirty="0">
                <a:solidFill>
                  <a:srgbClr val="FF79C6"/>
                </a:solidFill>
              </a:rPr>
              <a:t>await</a:t>
            </a:r>
            <a:r>
              <a:rPr lang="en-US" sz="780" dirty="0">
                <a:solidFill>
                  <a:srgbClr val="E0E0E0"/>
                </a:solidFill>
              </a:rPr>
              <a:t> asyncio.gather(
        *[search_tool.ainvoke(q) </a:t>
            </a:r>
            <a:r>
              <a:rPr lang="en-US" sz="780" dirty="0">
                <a:solidFill>
                  <a:srgbClr val="FF79C6"/>
                </a:solidFill>
              </a:rPr>
              <a:t>for</a:t>
            </a:r>
            <a:r>
              <a:rPr lang="en-US" sz="780" dirty="0">
                <a:solidFill>
                  <a:srgbClr val="E0E0E0"/>
                </a:solidFill>
              </a:rPr>
              <a:t> q </a:t>
            </a:r>
            <a:r>
              <a:rPr lang="en-US" sz="780" dirty="0">
                <a:solidFill>
                  <a:srgbClr val="FF79C6"/>
                </a:solidFill>
              </a:rPr>
              <a:t>in</a:t>
            </a:r>
            <a:r>
              <a:rPr lang="en-US" sz="780" dirty="0">
                <a:solidFill>
                  <a:srgbClr val="E0E0E0"/>
                </a:solidFill>
              </a:rPr>
              <a:t> queries]
    )
    </a:t>
            </a:r>
            <a:r>
              <a:rPr lang="en-US" sz="780" dirty="0">
                <a:solidFill>
                  <a:srgbClr val="FF79C6"/>
                </a:solidFill>
              </a:rPr>
              <a:t>return</a:t>
            </a:r>
            <a:r>
              <a:rPr lang="en-US" sz="780" dirty="0">
                <a:solidFill>
                  <a:srgbClr val="E0E0E0"/>
                </a:solidFill>
              </a:rPr>
              <a:t> {</a:t>
            </a:r>
            <a:r>
              <a:rPr lang="en-US" sz="780" dirty="0">
                <a:solidFill>
                  <a:srgbClr val="F1FA8C"/>
                </a:solidFill>
              </a:rPr>
              <a:t>"results"</a:t>
            </a:r>
            <a:r>
              <a:rPr lang="en-US" sz="780" dirty="0">
                <a:solidFill>
                  <a:srgbClr val="E0E0E0"/>
                </a:solidFill>
              </a:rPr>
              <a:t>: results}
</a:t>
            </a:r>
            <a:r>
              <a:rPr lang="en-US" sz="780" dirty="0">
                <a:solidFill>
                  <a:srgbClr val="6272A4"/>
                </a:solidFill>
              </a:rPr>
              <a:t># В графе это выглядит как разветвление# graph.add_edge("start", "search_google")# graph.add_edge("start", "search_wiki")</a:t>
            </a:r>
            <a:endParaRPr lang="en-US" sz="780" dirty="0"/>
          </a:p>
        </p:txBody>
      </p:sp>
      <p:sp>
        <p:nvSpPr>
          <p:cNvPr id="19" name="Shape 13"/>
          <p:cNvSpPr/>
          <p:nvPr/>
        </p:nvSpPr>
        <p:spPr>
          <a:xfrm>
            <a:off x="4786313" y="4689872"/>
            <a:ext cx="3786188" cy="369689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0" name="Text 14"/>
          <p:cNvSpPr/>
          <p:nvPr/>
        </p:nvSpPr>
        <p:spPr>
          <a:xfrm>
            <a:off x="4893469" y="4797028"/>
            <a:ext cx="215297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333333"/>
                </a:solidFill>
              </a:rPr>
              <a:t>Экономия времени (Parallel vs Serial)</a:t>
            </a:r>
            <a:endParaRPr lang="en-US" sz="784" dirty="0"/>
          </a:p>
        </p:txBody>
      </p:sp>
      <p:sp>
        <p:nvSpPr>
          <p:cNvPr id="21" name="Text 15"/>
          <p:cNvSpPr/>
          <p:nvPr/>
        </p:nvSpPr>
        <p:spPr>
          <a:xfrm>
            <a:off x="8055220" y="4797028"/>
            <a:ext cx="41012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4500"/>
                </a:solidFill>
              </a:rPr>
              <a:t>до 60%</a:t>
            </a:r>
            <a:endParaRPr lang="en-US" sz="784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572500" cy="660797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4" name="Shape 1"/>
          <p:cNvSpPr/>
          <p:nvPr/>
        </p:nvSpPr>
        <p:spPr>
          <a:xfrm>
            <a:off x="571500" y="428625"/>
            <a:ext cx="57150" cy="660797"/>
          </a:xfrm>
          <a:prstGeom prst="rect">
            <a:avLst/>
          </a:prstGeom>
          <a:solidFill>
            <a:srgbClr val="FF4500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5" name="Text 2"/>
          <p:cNvSpPr/>
          <p:nvPr/>
        </p:nvSpPr>
        <p:spPr>
          <a:xfrm>
            <a:off x="742950" y="428625"/>
            <a:ext cx="8401050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1A1A1A"/>
                </a:solidFill>
              </a:rPr>
              <a:t>Тестирование агентов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742950" y="894755"/>
            <a:ext cx="840105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555555"/>
                </a:solidFill>
              </a:rPr>
              <a:t>От Unit-тестов до оценки качества (Evaluation)</a:t>
            </a:r>
            <a:endParaRPr lang="en-US" sz="10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663" y="1410891"/>
            <a:ext cx="142875" cy="14287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57263" y="1375172"/>
            <a:ext cx="94897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A1A1A"/>
                </a:solidFill>
              </a:rPr>
              <a:t>Unit Testing</a:t>
            </a:r>
            <a:endParaRPr lang="en-US" sz="1090" dirty="0"/>
          </a:p>
        </p:txBody>
      </p:sp>
      <p:sp>
        <p:nvSpPr>
          <p:cNvPr id="9" name="Text 5"/>
          <p:cNvSpPr/>
          <p:nvPr/>
        </p:nvSpPr>
        <p:spPr>
          <a:xfrm>
            <a:off x="728663" y="1646634"/>
            <a:ext cx="36290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555555"/>
                </a:solidFill>
              </a:rPr>
              <a:t>Тестирование отдельных узлов и инструментов в изоляции. LLM обычно мокается (mock) для детерминизма и скорости.</a:t>
            </a:r>
            <a:endParaRPr lang="en-US" sz="834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8663" y="2239566"/>
            <a:ext cx="160734" cy="14287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75122" y="2203847"/>
            <a:ext cx="151553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A1A1A"/>
                </a:solidFill>
              </a:rPr>
              <a:t>Integration Testing</a:t>
            </a:r>
            <a:endParaRPr lang="en-US" sz="1090" dirty="0"/>
          </a:p>
        </p:txBody>
      </p:sp>
      <p:sp>
        <p:nvSpPr>
          <p:cNvPr id="12" name="Text 7"/>
          <p:cNvSpPr/>
          <p:nvPr/>
        </p:nvSpPr>
        <p:spPr>
          <a:xfrm>
            <a:off x="728663" y="2475309"/>
            <a:ext cx="3629025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555555"/>
                </a:solidFill>
              </a:rPr>
              <a:t>Проверка связности графа. Убедитесь, что состояние корректно передается между узлами и условные переходы работают.</a:t>
            </a:r>
            <a:endParaRPr lang="en-US" sz="834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8663" y="3239691"/>
            <a:ext cx="142875" cy="14287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957263" y="3203972"/>
            <a:ext cx="138100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A1A1A"/>
                </a:solidFill>
              </a:rPr>
              <a:t>Evaluation (Evals)</a:t>
            </a:r>
            <a:endParaRPr lang="en-US" sz="1090" dirty="0"/>
          </a:p>
        </p:txBody>
      </p:sp>
      <p:sp>
        <p:nvSpPr>
          <p:cNvPr id="15" name="Text 9"/>
          <p:cNvSpPr/>
          <p:nvPr/>
        </p:nvSpPr>
        <p:spPr>
          <a:xfrm>
            <a:off x="728663" y="3475434"/>
            <a:ext cx="36290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555555"/>
                </a:solidFill>
              </a:rPr>
              <a:t>Запуск агента на тестовом датасете с реальной LLM. Оценка качества ответов с помощью метрик или LLM-as-a-judge.</a:t>
            </a:r>
            <a:endParaRPr lang="en-US" sz="834" dirty="0"/>
          </a:p>
        </p:txBody>
      </p:sp>
      <p:sp>
        <p:nvSpPr>
          <p:cNvPr id="16" name="Shape 10"/>
          <p:cNvSpPr/>
          <p:nvPr/>
        </p:nvSpPr>
        <p:spPr>
          <a:xfrm>
            <a:off x="571500" y="4175522"/>
            <a:ext cx="3786188" cy="835819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7" name="Text 11"/>
          <p:cNvSpPr/>
          <p:nvPr/>
        </p:nvSpPr>
        <p:spPr>
          <a:xfrm>
            <a:off x="714375" y="4318397"/>
            <a:ext cx="350043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A1A1A"/>
                </a:solidFill>
              </a:rPr>
              <a:t>Ключевые метрики</a:t>
            </a:r>
            <a:endParaRPr lang="en-US" sz="683" dirty="0"/>
          </a:p>
        </p:txBody>
      </p:sp>
      <p:sp>
        <p:nvSpPr>
          <p:cNvPr id="18" name="Text 12"/>
          <p:cNvSpPr/>
          <p:nvPr/>
        </p:nvSpPr>
        <p:spPr>
          <a:xfrm>
            <a:off x="714375" y="4525566"/>
            <a:ext cx="171450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Correctness</a:t>
            </a:r>
            <a:endParaRPr lang="en-US" sz="727" dirty="0"/>
          </a:p>
        </p:txBody>
      </p:sp>
      <p:sp>
        <p:nvSpPr>
          <p:cNvPr id="19" name="Text 13"/>
          <p:cNvSpPr/>
          <p:nvPr/>
        </p:nvSpPr>
        <p:spPr>
          <a:xfrm>
            <a:off x="2500313" y="4525566"/>
            <a:ext cx="171450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Tool Usage Accuracy</a:t>
            </a:r>
            <a:endParaRPr lang="en-US" sz="727" dirty="0"/>
          </a:p>
        </p:txBody>
      </p:sp>
      <p:sp>
        <p:nvSpPr>
          <p:cNvPr id="20" name="Text 14"/>
          <p:cNvSpPr/>
          <p:nvPr/>
        </p:nvSpPr>
        <p:spPr>
          <a:xfrm>
            <a:off x="714375" y="4732734"/>
            <a:ext cx="171450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Hallucination Rate</a:t>
            </a:r>
            <a:endParaRPr lang="en-US" sz="727" dirty="0"/>
          </a:p>
        </p:txBody>
      </p:sp>
      <p:sp>
        <p:nvSpPr>
          <p:cNvPr id="21" name="Text 15"/>
          <p:cNvSpPr/>
          <p:nvPr/>
        </p:nvSpPr>
        <p:spPr>
          <a:xfrm>
            <a:off x="2500313" y="4732734"/>
            <a:ext cx="171450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Latency / Cost</a:t>
            </a:r>
            <a:endParaRPr lang="en-US" sz="727" dirty="0"/>
          </a:p>
        </p:txBody>
      </p:sp>
      <p:sp>
        <p:nvSpPr>
          <p:cNvPr id="22" name="Shape 16"/>
          <p:cNvSpPr/>
          <p:nvPr/>
        </p:nvSpPr>
        <p:spPr>
          <a:xfrm>
            <a:off x="4786313" y="1375172"/>
            <a:ext cx="3786188" cy="3636169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3" name="Shape 17"/>
          <p:cNvSpPr/>
          <p:nvPr/>
        </p:nvSpPr>
        <p:spPr>
          <a:xfrm>
            <a:off x="4786313" y="1375172"/>
            <a:ext cx="28575" cy="3636169"/>
          </a:xfrm>
          <a:prstGeom prst="rect">
            <a:avLst/>
          </a:prstGeom>
          <a:solidFill>
            <a:srgbClr val="FF4500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4" name="Text 18"/>
          <p:cNvSpPr/>
          <p:nvPr/>
        </p:nvSpPr>
        <p:spPr>
          <a:xfrm>
            <a:off x="5000625" y="1907381"/>
            <a:ext cx="3357563" cy="2571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0" dirty="0">
                <a:solidFill>
                  <a:srgbClr val="FF79C6"/>
                </a:solidFill>
              </a:rPr>
              <a:t>def</a:t>
            </a:r>
            <a:r>
              <a:rPr lang="en-US" sz="780" dirty="0">
                <a:solidFill>
                  <a:srgbClr val="8BE9FD"/>
                </a:solidFill>
              </a:rPr>
              <a:t>test_agent_node</a:t>
            </a:r>
            <a:r>
              <a:rPr lang="en-US" sz="780" dirty="0">
                <a:solidFill>
                  <a:srgbClr val="E0E0E0"/>
                </a:solidFill>
              </a:rPr>
              <a:t>():
    </a:t>
            </a:r>
            <a:r>
              <a:rPr lang="en-US" sz="780" dirty="0">
                <a:solidFill>
                  <a:srgbClr val="6272A4"/>
                </a:solidFill>
              </a:rPr>
              <a:t># 1. Подготовка состояния</a:t>
            </a:r>
            <a:r>
              <a:rPr lang="en-US" sz="780" dirty="0">
                <a:solidFill>
                  <a:srgbClr val="E0E0E0"/>
                </a:solidFill>
              </a:rPr>
              <a:t>
    state = {</a:t>
            </a:r>
            <a:r>
              <a:rPr lang="en-US" sz="780" dirty="0">
                <a:solidFill>
                  <a:srgbClr val="F1FA8C"/>
                </a:solidFill>
              </a:rPr>
              <a:t>"messages"</a:t>
            </a:r>
            <a:r>
              <a:rPr lang="en-US" sz="780" dirty="0">
                <a:solidFill>
                  <a:srgbClr val="E0E0E0"/>
                </a:solidFill>
              </a:rPr>
              <a:t>: [HumanMessage(</a:t>
            </a:r>
            <a:r>
              <a:rPr lang="en-US" sz="780" dirty="0">
                <a:solidFill>
                  <a:srgbClr val="F1FA8C"/>
                </a:solidFill>
              </a:rPr>
              <a:t>"Hi"</a:t>
            </a:r>
            <a:r>
              <a:rPr lang="en-US" sz="780" dirty="0">
                <a:solidFill>
                  <a:srgbClr val="E0E0E0"/>
                </a:solidFill>
              </a:rPr>
              <a:t>)]}
    </a:t>
            </a:r>
            <a:r>
              <a:rPr lang="en-US" sz="780" dirty="0">
                <a:solidFill>
                  <a:srgbClr val="6272A4"/>
                </a:solidFill>
              </a:rPr>
              <a:t># 2. Запуск узла (с моком LLM)</a:t>
            </a:r>
            <a:r>
              <a:rPr lang="en-US" sz="780" dirty="0">
                <a:solidFill>
                  <a:srgbClr val="E0E0E0"/>
                </a:solidFill>
              </a:rPr>
              <a:t>
    result = agent_node(state)
    </a:t>
            </a:r>
            <a:r>
              <a:rPr lang="en-US" sz="780" dirty="0">
                <a:solidFill>
                  <a:srgbClr val="6272A4"/>
                </a:solidFill>
              </a:rPr>
              <a:t># 3. Проверка результата</a:t>
            </a:r>
            <a:r>
              <a:rPr lang="en-US" sz="780" dirty="0">
                <a:solidFill>
                  <a:srgbClr val="FF79C6"/>
                </a:solidFill>
              </a:rPr>
              <a:t>assert</a:t>
            </a:r>
            <a:r>
              <a:rPr lang="en-US" sz="780" dirty="0">
                <a:solidFill>
                  <a:srgbClr val="8BE9FD"/>
                </a:solidFill>
              </a:rPr>
              <a:t>len</a:t>
            </a:r>
            <a:r>
              <a:rPr lang="en-US" sz="780" dirty="0">
                <a:solidFill>
                  <a:srgbClr val="E0E0E0"/>
                </a:solidFill>
              </a:rPr>
              <a:t>(result[</a:t>
            </a:r>
            <a:r>
              <a:rPr lang="en-US" sz="780" dirty="0">
                <a:solidFill>
                  <a:srgbClr val="F1FA8C"/>
                </a:solidFill>
              </a:rPr>
              <a:t>"messages"</a:t>
            </a:r>
            <a:r>
              <a:rPr lang="en-US" sz="780" dirty="0">
                <a:solidFill>
                  <a:srgbClr val="E0E0E0"/>
                </a:solidFill>
              </a:rPr>
              <a:t>]) == 2
    </a:t>
            </a:r>
            <a:r>
              <a:rPr lang="en-US" sz="780" dirty="0">
                <a:solidFill>
                  <a:srgbClr val="FF79C6"/>
                </a:solidFill>
              </a:rPr>
              <a:t>assert</a:t>
            </a:r>
            <a:r>
              <a:rPr lang="en-US" sz="780" dirty="0">
                <a:solidFill>
                  <a:srgbClr val="F1FA8C"/>
                </a:solidFill>
              </a:rPr>
              <a:t>"Hello"</a:t>
            </a:r>
            <a:r>
              <a:rPr lang="en-US" sz="780" dirty="0">
                <a:solidFill>
                  <a:srgbClr val="FF79C6"/>
                </a:solidFill>
              </a:rPr>
              <a:t>in</a:t>
            </a:r>
            <a:r>
              <a:rPr lang="en-US" sz="780" dirty="0">
                <a:solidFill>
                  <a:srgbClr val="E0E0E0"/>
                </a:solidFill>
              </a:rPr>
              <a:t> result[</a:t>
            </a:r>
            <a:r>
              <a:rPr lang="en-US" sz="780" dirty="0">
                <a:solidFill>
                  <a:srgbClr val="F1FA8C"/>
                </a:solidFill>
              </a:rPr>
              <a:t>"messages"</a:t>
            </a:r>
            <a:r>
              <a:rPr lang="en-US" sz="780" dirty="0">
                <a:solidFill>
                  <a:srgbClr val="E0E0E0"/>
                </a:solidFill>
              </a:rPr>
              <a:t>][-1].content
</a:t>
            </a:r>
            <a:r>
              <a:rPr lang="en-US" sz="780" dirty="0">
                <a:solidFill>
                  <a:srgbClr val="FF79C6"/>
                </a:solidFill>
              </a:rPr>
              <a:t>def</a:t>
            </a:r>
            <a:r>
              <a:rPr lang="en-US" sz="780" dirty="0">
                <a:solidFill>
                  <a:srgbClr val="8BE9FD"/>
                </a:solidFill>
              </a:rPr>
              <a:t>test_graph_flow</a:t>
            </a:r>
            <a:r>
              <a:rPr lang="en-US" sz="780" dirty="0">
                <a:solidFill>
                  <a:srgbClr val="E0E0E0"/>
                </a:solidFill>
              </a:rPr>
              <a:t>():
    app = workflow.</a:t>
            </a:r>
            <a:r>
              <a:rPr lang="en-US" sz="780" dirty="0">
                <a:solidFill>
                  <a:srgbClr val="8BE9FD"/>
                </a:solidFill>
              </a:rPr>
              <a:t>compile</a:t>
            </a:r>
            <a:r>
              <a:rPr lang="en-US" sz="780" dirty="0">
                <a:solidFill>
                  <a:srgbClr val="E0E0E0"/>
                </a:solidFill>
              </a:rPr>
              <a:t>()
    output = app.</a:t>
            </a:r>
            <a:r>
              <a:rPr lang="en-US" sz="780" dirty="0">
                <a:solidFill>
                  <a:srgbClr val="8BE9FD"/>
                </a:solidFill>
              </a:rPr>
              <a:t>invoke</a:t>
            </a:r>
            <a:r>
              <a:rPr lang="en-US" sz="780" dirty="0">
                <a:solidFill>
                  <a:srgbClr val="E0E0E0"/>
                </a:solidFill>
              </a:rPr>
              <a:t>({</a:t>
            </a:r>
            <a:r>
              <a:rPr lang="en-US" sz="780" dirty="0">
                <a:solidFill>
                  <a:srgbClr val="F1FA8C"/>
                </a:solidFill>
              </a:rPr>
              <a:t>"input"</a:t>
            </a:r>
            <a:r>
              <a:rPr lang="en-US" sz="780" dirty="0">
                <a:solidFill>
                  <a:srgbClr val="E0E0E0"/>
                </a:solidFill>
              </a:rPr>
              <a:t>: </a:t>
            </a:r>
            <a:r>
              <a:rPr lang="en-US" sz="780" dirty="0">
                <a:solidFill>
                  <a:srgbClr val="F1FA8C"/>
                </a:solidFill>
              </a:rPr>
              <a:t>"test"</a:t>
            </a:r>
            <a:r>
              <a:rPr lang="en-US" sz="780" dirty="0">
                <a:solidFill>
                  <a:srgbClr val="E0E0E0"/>
                </a:solidFill>
              </a:rPr>
              <a:t>})
    </a:t>
            </a:r>
            <a:r>
              <a:rPr lang="en-US" sz="780" dirty="0">
                <a:solidFill>
                  <a:srgbClr val="FF79C6"/>
                </a:solidFill>
              </a:rPr>
              <a:t>assert</a:t>
            </a:r>
            <a:r>
              <a:rPr lang="en-US" sz="780" dirty="0">
                <a:solidFill>
                  <a:srgbClr val="E0E0E0"/>
                </a:solidFill>
              </a:rPr>
              <a:t> output[</a:t>
            </a:r>
            <a:r>
              <a:rPr lang="en-US" sz="780" dirty="0">
                <a:solidFill>
                  <a:srgbClr val="F1FA8C"/>
                </a:solidFill>
              </a:rPr>
              <a:t>"status"</a:t>
            </a:r>
            <a:r>
              <a:rPr lang="en-US" sz="780" dirty="0">
                <a:solidFill>
                  <a:srgbClr val="E0E0E0"/>
                </a:solidFill>
              </a:rPr>
              <a:t>] == </a:t>
            </a:r>
            <a:r>
              <a:rPr lang="en-US" sz="780" dirty="0">
                <a:solidFill>
                  <a:srgbClr val="F1FA8C"/>
                </a:solidFill>
              </a:rPr>
              <a:t>"success"</a:t>
            </a:r>
            <a:endParaRPr lang="en-US" sz="78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572500" cy="660797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4" name="Shape 1"/>
          <p:cNvSpPr/>
          <p:nvPr/>
        </p:nvSpPr>
        <p:spPr>
          <a:xfrm>
            <a:off x="571500" y="428625"/>
            <a:ext cx="57150" cy="660797"/>
          </a:xfrm>
          <a:prstGeom prst="rect">
            <a:avLst/>
          </a:prstGeom>
          <a:solidFill>
            <a:srgbClr val="FF4500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5" name="Text 2"/>
          <p:cNvSpPr/>
          <p:nvPr/>
        </p:nvSpPr>
        <p:spPr>
          <a:xfrm>
            <a:off x="742950" y="428625"/>
            <a:ext cx="8401050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1A1A1A"/>
                </a:solidFill>
              </a:rPr>
              <a:t>Deployment и масштабирование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742950" y="894755"/>
            <a:ext cx="840105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555555"/>
                </a:solidFill>
              </a:rPr>
              <a:t>От прототипа к продакшену</a:t>
            </a:r>
            <a:endParaRPr lang="en-US" sz="10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420713"/>
            <a:ext cx="142875" cy="14287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00100" y="1375172"/>
            <a:ext cx="2366702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1A1A"/>
                </a:solidFill>
              </a:rPr>
              <a:t>Варианты развертывания</a:t>
            </a:r>
            <a:endParaRPr lang="en-US" sz="1193" dirty="0"/>
          </a:p>
        </p:txBody>
      </p:sp>
      <p:sp>
        <p:nvSpPr>
          <p:cNvPr id="9" name="Text 5"/>
          <p:cNvSpPr/>
          <p:nvPr/>
        </p:nvSpPr>
        <p:spPr>
          <a:xfrm>
            <a:off x="692944" y="1716286"/>
            <a:ext cx="366474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33333"/>
                </a:solidFill>
              </a:rPr>
              <a:t>LangGraph Cloud (Managed)</a:t>
            </a:r>
            <a:endParaRPr lang="en-US" sz="885" dirty="0"/>
          </a:p>
        </p:txBody>
      </p:sp>
      <p:sp>
        <p:nvSpPr>
          <p:cNvPr id="10" name="Text 6"/>
          <p:cNvSpPr/>
          <p:nvPr/>
        </p:nvSpPr>
        <p:spPr>
          <a:xfrm>
            <a:off x="692944" y="1927027"/>
            <a:ext cx="3664744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555555"/>
                </a:solidFill>
              </a:rPr>
              <a:t>Полностью управляемая платформа. Встроенный трейсинг, persistence, auth и масштабирование "из коробки".</a:t>
            </a:r>
            <a:endParaRPr lang="en-US" sz="834" dirty="0"/>
          </a:p>
        </p:txBody>
      </p:sp>
      <p:sp>
        <p:nvSpPr>
          <p:cNvPr id="11" name="Text 7"/>
          <p:cNvSpPr/>
          <p:nvPr/>
        </p:nvSpPr>
        <p:spPr>
          <a:xfrm>
            <a:off x="692944" y="2389919"/>
            <a:ext cx="366474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33333"/>
                </a:solidFill>
              </a:rPr>
              <a:t>Self-Hosted (Docker)</a:t>
            </a:r>
            <a:endParaRPr lang="en-US" sz="885" dirty="0"/>
          </a:p>
        </p:txBody>
      </p:sp>
      <p:sp>
        <p:nvSpPr>
          <p:cNvPr id="12" name="Text 8"/>
          <p:cNvSpPr/>
          <p:nvPr/>
        </p:nvSpPr>
        <p:spPr>
          <a:xfrm>
            <a:off x="692944" y="2600660"/>
            <a:ext cx="3664744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555555"/>
                </a:solidFill>
              </a:rPr>
              <a:t>Собственный контейнер с API (FastAPI/Django). Требует настройки базы данных (Postgres) и очередей.</a:t>
            </a:r>
            <a:endParaRPr lang="en-US" sz="834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394844"/>
            <a:ext cx="142875" cy="14287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00100" y="3349303"/>
            <a:ext cx="232144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1A1A"/>
                </a:solidFill>
              </a:rPr>
              <a:t>Типовой стек (Self-hosted)</a:t>
            </a:r>
            <a:endParaRPr lang="en-US" sz="1193" dirty="0"/>
          </a:p>
        </p:txBody>
      </p:sp>
      <p:sp>
        <p:nvSpPr>
          <p:cNvPr id="15" name="Shape 10"/>
          <p:cNvSpPr/>
          <p:nvPr/>
        </p:nvSpPr>
        <p:spPr>
          <a:xfrm>
            <a:off x="571500" y="3690417"/>
            <a:ext cx="3786188" cy="921544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6" name="Text 11"/>
          <p:cNvSpPr/>
          <p:nvPr/>
        </p:nvSpPr>
        <p:spPr>
          <a:xfrm>
            <a:off x="714375" y="3833292"/>
            <a:ext cx="44157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1A1A1A"/>
                </a:solidFill>
              </a:rPr>
              <a:t>API Layer</a:t>
            </a:r>
            <a:endParaRPr lang="en-US" sz="727" dirty="0"/>
          </a:p>
        </p:txBody>
      </p:sp>
      <p:sp>
        <p:nvSpPr>
          <p:cNvPr id="17" name="Text 12"/>
          <p:cNvSpPr/>
          <p:nvPr/>
        </p:nvSpPr>
        <p:spPr>
          <a:xfrm>
            <a:off x="3341377" y="3833292"/>
            <a:ext cx="87343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1A1A1A"/>
                </a:solidFill>
              </a:rPr>
              <a:t>FastAPI / Gunicorn</a:t>
            </a:r>
            <a:endParaRPr lang="en-US" sz="727" dirty="0"/>
          </a:p>
        </p:txBody>
      </p:sp>
      <p:sp>
        <p:nvSpPr>
          <p:cNvPr id="18" name="Text 13"/>
          <p:cNvSpPr/>
          <p:nvPr/>
        </p:nvSpPr>
        <p:spPr>
          <a:xfrm>
            <a:off x="714375" y="4083323"/>
            <a:ext cx="40367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1A1A1A"/>
                </a:solidFill>
              </a:rPr>
              <a:t>State DB</a:t>
            </a:r>
            <a:endParaRPr lang="en-US" sz="727" dirty="0"/>
          </a:p>
        </p:txBody>
      </p:sp>
      <p:sp>
        <p:nvSpPr>
          <p:cNvPr id="19" name="Text 14"/>
          <p:cNvSpPr/>
          <p:nvPr/>
        </p:nvSpPr>
        <p:spPr>
          <a:xfrm>
            <a:off x="3324076" y="4083323"/>
            <a:ext cx="89073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1A1A1A"/>
                </a:solidFill>
              </a:rPr>
              <a:t>PostgreSQL / Redis</a:t>
            </a:r>
            <a:endParaRPr lang="en-US" sz="727" dirty="0"/>
          </a:p>
        </p:txBody>
      </p:sp>
      <p:sp>
        <p:nvSpPr>
          <p:cNvPr id="20" name="Text 15"/>
          <p:cNvSpPr/>
          <p:nvPr/>
        </p:nvSpPr>
        <p:spPr>
          <a:xfrm>
            <a:off x="714375" y="4333354"/>
            <a:ext cx="54557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1A1A1A"/>
                </a:solidFill>
              </a:rPr>
              <a:t>Task Queue</a:t>
            </a:r>
            <a:endParaRPr lang="en-US" sz="727" dirty="0"/>
          </a:p>
        </p:txBody>
      </p:sp>
      <p:sp>
        <p:nvSpPr>
          <p:cNvPr id="21" name="Text 16"/>
          <p:cNvSpPr/>
          <p:nvPr/>
        </p:nvSpPr>
        <p:spPr>
          <a:xfrm>
            <a:off x="3666725" y="4333354"/>
            <a:ext cx="548087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1A1A1A"/>
                </a:solidFill>
              </a:rPr>
              <a:t>Celery / Arq</a:t>
            </a:r>
            <a:endParaRPr lang="en-US" sz="727" dirty="0"/>
          </a:p>
        </p:txBody>
      </p:sp>
      <p:sp>
        <p:nvSpPr>
          <p:cNvPr id="22" name="Shape 17"/>
          <p:cNvSpPr/>
          <p:nvPr/>
        </p:nvSpPr>
        <p:spPr>
          <a:xfrm>
            <a:off x="4786313" y="1375172"/>
            <a:ext cx="3786188" cy="3571875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3" name="Shape 18"/>
          <p:cNvSpPr/>
          <p:nvPr/>
        </p:nvSpPr>
        <p:spPr>
          <a:xfrm>
            <a:off x="4786313" y="1375172"/>
            <a:ext cx="28575" cy="3571875"/>
          </a:xfrm>
          <a:prstGeom prst="rect">
            <a:avLst/>
          </a:prstGeom>
          <a:solidFill>
            <a:srgbClr val="FF4500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4" name="Text 19"/>
          <p:cNvSpPr/>
          <p:nvPr/>
        </p:nvSpPr>
        <p:spPr>
          <a:xfrm>
            <a:off x="4957763" y="1546622"/>
            <a:ext cx="3443288" cy="3000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FF79C6"/>
                </a:solidFill>
              </a:rPr>
              <a:t>from</a:t>
            </a:r>
            <a:r>
              <a:rPr lang="en-US" sz="727" dirty="0">
                <a:solidFill>
                  <a:srgbClr val="E0E0E0"/>
                </a:solidFill>
              </a:rPr>
              <a:t> fastapi </a:t>
            </a:r>
            <a:r>
              <a:rPr lang="en-US" sz="727" dirty="0">
                <a:solidFill>
                  <a:srgbClr val="FF79C6"/>
                </a:solidFill>
              </a:rPr>
              <a:t>import</a:t>
            </a:r>
            <a:r>
              <a:rPr lang="en-US" sz="727" dirty="0">
                <a:solidFill>
                  <a:srgbClr val="E0E0E0"/>
                </a:solidFill>
              </a:rPr>
              <a:t> FastAPI
</a:t>
            </a:r>
            <a:r>
              <a:rPr lang="en-US" sz="727" dirty="0">
                <a:solidFill>
                  <a:srgbClr val="FF79C6"/>
                </a:solidFill>
              </a:rPr>
              <a:t>from</a:t>
            </a:r>
            <a:r>
              <a:rPr lang="en-US" sz="727" dirty="0">
                <a:solidFill>
                  <a:srgbClr val="E0E0E0"/>
                </a:solidFill>
              </a:rPr>
              <a:t> pydantic </a:t>
            </a:r>
            <a:r>
              <a:rPr lang="en-US" sz="727" dirty="0">
                <a:solidFill>
                  <a:srgbClr val="FF79C6"/>
                </a:solidFill>
              </a:rPr>
              <a:t>import</a:t>
            </a:r>
            <a:r>
              <a:rPr lang="en-US" sz="727" dirty="0">
                <a:solidFill>
                  <a:srgbClr val="E0E0E0"/>
                </a:solidFill>
              </a:rPr>
              <a:t> BaseModel
app = FastAPI()
</a:t>
            </a:r>
            <a:r>
              <a:rPr lang="en-US" sz="727" dirty="0">
                <a:solidFill>
                  <a:srgbClr val="FF79C6"/>
                </a:solidFill>
              </a:rPr>
              <a:t>class</a:t>
            </a:r>
            <a:r>
              <a:rPr lang="en-US" sz="727" dirty="0">
                <a:solidFill>
                  <a:srgbClr val="E0E0E0"/>
                </a:solidFill>
              </a:rPr>
              <a:t>Input(BaseModel):
    message: str
    thread_id: str
</a:t>
            </a:r>
            <a:r>
              <a:rPr lang="en-US" sz="727" dirty="0">
                <a:solidFill>
                  <a:srgbClr val="FFB86C"/>
                </a:solidFill>
              </a:rPr>
              <a:t>@app.post</a:t>
            </a:r>
            <a:r>
              <a:rPr lang="en-US" sz="727" dirty="0">
                <a:solidFill>
                  <a:srgbClr val="E0E0E0"/>
                </a:solidFill>
              </a:rPr>
              <a:t>(</a:t>
            </a:r>
            <a:r>
              <a:rPr lang="en-US" sz="727" dirty="0">
                <a:solidFill>
                  <a:srgbClr val="F1FA8C"/>
                </a:solidFill>
              </a:rPr>
              <a:t>"/chat"</a:t>
            </a:r>
            <a:r>
              <a:rPr lang="en-US" sz="727" dirty="0">
                <a:solidFill>
                  <a:srgbClr val="E0E0E0"/>
                </a:solidFill>
              </a:rPr>
              <a:t>)
</a:t>
            </a:r>
            <a:r>
              <a:rPr lang="en-US" sz="727" dirty="0">
                <a:solidFill>
                  <a:srgbClr val="FF79C6"/>
                </a:solidFill>
              </a:rPr>
              <a:t>async def</a:t>
            </a:r>
            <a:r>
              <a:rPr lang="en-US" sz="727" dirty="0">
                <a:solidFill>
                  <a:srgbClr val="8BE9FD"/>
                </a:solidFill>
              </a:rPr>
              <a:t>chat_endpoint</a:t>
            </a:r>
            <a:r>
              <a:rPr lang="en-US" sz="727" dirty="0">
                <a:solidFill>
                  <a:srgbClr val="E0E0E0"/>
                </a:solidFill>
              </a:rPr>
              <a:t>(inp: Input):
    config = {</a:t>
            </a:r>
            <a:r>
              <a:rPr lang="en-US" sz="727" dirty="0">
                <a:solidFill>
                  <a:srgbClr val="F1FA8C"/>
                </a:solidFill>
              </a:rPr>
              <a:t>"configurable"</a:t>
            </a:r>
            <a:r>
              <a:rPr lang="en-US" sz="727" dirty="0">
                <a:solidFill>
                  <a:srgbClr val="E0E0E0"/>
                </a:solidFill>
              </a:rPr>
              <a:t>: {</a:t>
            </a:r>
            <a:r>
              <a:rPr lang="en-US" sz="727" dirty="0">
                <a:solidFill>
                  <a:srgbClr val="F1FA8C"/>
                </a:solidFill>
              </a:rPr>
              <a:t>"thread_id"</a:t>
            </a:r>
            <a:r>
              <a:rPr lang="en-US" sz="727" dirty="0">
                <a:solidFill>
                  <a:srgbClr val="E0E0E0"/>
                </a:solidFill>
              </a:rPr>
              <a:t>: inp.thread_id}}
    </a:t>
            </a:r>
            <a:r>
              <a:rPr lang="en-US" sz="727" dirty="0">
                <a:solidFill>
                  <a:srgbClr val="6272A4"/>
                </a:solidFill>
              </a:rPr>
              <a:t># Асинхронный запуск графа</a:t>
            </a:r>
            <a:r>
              <a:rPr lang="en-US" sz="727" dirty="0">
                <a:solidFill>
                  <a:srgbClr val="E0E0E0"/>
                </a:solidFill>
              </a:rPr>
              <a:t>
    response = </a:t>
            </a:r>
            <a:r>
              <a:rPr lang="en-US" sz="727" dirty="0">
                <a:solidFill>
                  <a:srgbClr val="FF79C6"/>
                </a:solidFill>
              </a:rPr>
              <a:t>await</a:t>
            </a:r>
            <a:r>
              <a:rPr lang="en-US" sz="727" dirty="0">
                <a:solidFill>
                  <a:srgbClr val="E0E0E0"/>
                </a:solidFill>
              </a:rPr>
              <a:t> graph.</a:t>
            </a:r>
            <a:r>
              <a:rPr lang="en-US" sz="727" dirty="0">
                <a:solidFill>
                  <a:srgbClr val="8BE9FD"/>
                </a:solidFill>
              </a:rPr>
              <a:t>ainvoke</a:t>
            </a:r>
            <a:r>
              <a:rPr lang="en-US" sz="727" dirty="0">
                <a:solidFill>
                  <a:srgbClr val="E0E0E0"/>
                </a:solidFill>
              </a:rPr>
              <a:t>(
        {</a:t>
            </a:r>
            <a:r>
              <a:rPr lang="en-US" sz="727" dirty="0">
                <a:solidFill>
                  <a:srgbClr val="F1FA8C"/>
                </a:solidFill>
              </a:rPr>
              <a:t>"messages"</a:t>
            </a:r>
            <a:r>
              <a:rPr lang="en-US" sz="727" dirty="0">
                <a:solidFill>
                  <a:srgbClr val="E0E0E0"/>
                </a:solidFill>
              </a:rPr>
              <a:t>: [inp.message]}, 
        config=config
    )
    </a:t>
            </a:r>
            <a:r>
              <a:rPr lang="en-US" sz="727" dirty="0">
                <a:solidFill>
                  <a:srgbClr val="FF79C6"/>
                </a:solidFill>
              </a:rPr>
              <a:t>return</a:t>
            </a:r>
            <a:r>
              <a:rPr lang="en-US" sz="727" dirty="0">
                <a:solidFill>
                  <a:srgbClr val="E0E0E0"/>
                </a:solidFill>
              </a:rPr>
              <a:t> response[</a:t>
            </a:r>
            <a:r>
              <a:rPr lang="en-US" sz="727" dirty="0">
                <a:solidFill>
                  <a:srgbClr val="F1FA8C"/>
                </a:solidFill>
              </a:rPr>
              <a:t>"messages"</a:t>
            </a:r>
            <a:r>
              <a:rPr lang="en-US" sz="727" dirty="0">
                <a:solidFill>
                  <a:srgbClr val="E0E0E0"/>
                </a:solidFill>
              </a:rPr>
              <a:t>][-1]</a:t>
            </a:r>
            <a:endParaRPr lang="en-US" sz="727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572500" cy="660797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4" name="Shape 1"/>
          <p:cNvSpPr/>
          <p:nvPr/>
        </p:nvSpPr>
        <p:spPr>
          <a:xfrm>
            <a:off x="571500" y="428625"/>
            <a:ext cx="57150" cy="660797"/>
          </a:xfrm>
          <a:prstGeom prst="rect">
            <a:avLst/>
          </a:prstGeom>
          <a:solidFill>
            <a:srgbClr val="FF4500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5" name="Text 2"/>
          <p:cNvSpPr/>
          <p:nvPr/>
        </p:nvSpPr>
        <p:spPr>
          <a:xfrm>
            <a:off x="742950" y="428625"/>
            <a:ext cx="8401050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1A1A1A"/>
                </a:solidFill>
              </a:rPr>
              <a:t>Кейс 1: Customer Support Bot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742950" y="894755"/>
            <a:ext cx="840105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555555"/>
                </a:solidFill>
              </a:rPr>
              <a:t>Интеллектуальная маршрутизация и RAG</a:t>
            </a:r>
            <a:endParaRPr lang="en-US" sz="10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420713"/>
            <a:ext cx="142875" cy="14287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00100" y="1375172"/>
            <a:ext cx="90921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1A1A"/>
                </a:solidFill>
              </a:rPr>
              <a:t>Проблема</a:t>
            </a:r>
            <a:endParaRPr lang="en-US" sz="1193" dirty="0"/>
          </a:p>
        </p:txBody>
      </p:sp>
      <p:sp>
        <p:nvSpPr>
          <p:cNvPr id="9" name="Text 5"/>
          <p:cNvSpPr/>
          <p:nvPr/>
        </p:nvSpPr>
        <p:spPr>
          <a:xfrm>
            <a:off x="571500" y="1716286"/>
            <a:ext cx="3786188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Высокая нагрузка на первую линию поддержки, множество повторяющихся вопросов, долгое время ожидания ответа.</a:t>
            </a:r>
            <a:endParaRPr lang="en-US" sz="942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697659"/>
            <a:ext cx="142875" cy="14287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00100" y="2652117"/>
            <a:ext cx="81475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1A1A"/>
                </a:solidFill>
              </a:rPr>
              <a:t>Решение</a:t>
            </a:r>
            <a:endParaRPr lang="en-US" sz="1193" dirty="0"/>
          </a:p>
        </p:txBody>
      </p:sp>
      <p:sp>
        <p:nvSpPr>
          <p:cNvPr id="12" name="Text 7"/>
          <p:cNvSpPr/>
          <p:nvPr/>
        </p:nvSpPr>
        <p:spPr>
          <a:xfrm>
            <a:off x="571500" y="2993231"/>
            <a:ext cx="3786188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Агент с тремя основными состояниями:</a:t>
            </a:r>
            <a:endParaRPr lang="en-US" sz="942" dirty="0"/>
          </a:p>
        </p:txBody>
      </p:sp>
      <p:sp>
        <p:nvSpPr>
          <p:cNvPr id="13" name="Text 8"/>
          <p:cNvSpPr/>
          <p:nvPr/>
        </p:nvSpPr>
        <p:spPr>
          <a:xfrm>
            <a:off x="571500" y="3257550"/>
            <a:ext cx="53746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87" b="1" dirty="0">
                <a:solidFill>
                  <a:srgbClr val="FF4500"/>
                </a:solidFill>
              </a:rPr>
              <a:t>•</a:t>
            </a:r>
            <a:endParaRPr lang="en-US" sz="987" dirty="0"/>
          </a:p>
        </p:txBody>
      </p:sp>
      <p:sp>
        <p:nvSpPr>
          <p:cNvPr id="14" name="Text 9"/>
          <p:cNvSpPr/>
          <p:nvPr/>
        </p:nvSpPr>
        <p:spPr>
          <a:xfrm>
            <a:off x="714375" y="3257550"/>
            <a:ext cx="79496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555555"/>
                </a:solidFill>
              </a:rPr>
              <a:t>Classification:</a:t>
            </a:r>
            <a:endParaRPr lang="en-US" sz="784" dirty="0"/>
          </a:p>
        </p:txBody>
      </p:sp>
      <p:sp>
        <p:nvSpPr>
          <p:cNvPr id="15" name="Text 10"/>
          <p:cNvSpPr/>
          <p:nvPr/>
        </p:nvSpPr>
        <p:spPr>
          <a:xfrm>
            <a:off x="714375" y="3257550"/>
            <a:ext cx="3330383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555555"/>
                </a:solidFill>
              </a:rPr>
              <a:t>Определение намерения (Вопрос / Жалоба / Возврат).</a:t>
            </a:r>
            <a:endParaRPr lang="en-US" sz="834" dirty="0"/>
          </a:p>
        </p:txBody>
      </p:sp>
      <p:sp>
        <p:nvSpPr>
          <p:cNvPr id="16" name="Text 11"/>
          <p:cNvSpPr/>
          <p:nvPr/>
        </p:nvSpPr>
        <p:spPr>
          <a:xfrm>
            <a:off x="571500" y="3654028"/>
            <a:ext cx="53746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87" b="1" dirty="0">
                <a:solidFill>
                  <a:srgbClr val="FF4500"/>
                </a:solidFill>
              </a:rPr>
              <a:t>•</a:t>
            </a:r>
            <a:endParaRPr lang="en-US" sz="987" dirty="0"/>
          </a:p>
        </p:txBody>
      </p:sp>
      <p:sp>
        <p:nvSpPr>
          <p:cNvPr id="17" name="Text 12"/>
          <p:cNvSpPr/>
          <p:nvPr/>
        </p:nvSpPr>
        <p:spPr>
          <a:xfrm>
            <a:off x="714375" y="3654028"/>
            <a:ext cx="26736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555555"/>
                </a:solidFill>
              </a:rPr>
              <a:t>RAG:</a:t>
            </a:r>
            <a:endParaRPr lang="en-US" sz="784" dirty="0"/>
          </a:p>
        </p:txBody>
      </p:sp>
      <p:sp>
        <p:nvSpPr>
          <p:cNvPr id="18" name="Text 13"/>
          <p:cNvSpPr/>
          <p:nvPr/>
        </p:nvSpPr>
        <p:spPr>
          <a:xfrm>
            <a:off x="981735" y="3654028"/>
            <a:ext cx="291420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555555"/>
                </a:solidFill>
              </a:rPr>
              <a:t>Поиск ответа в базе знаний для простых вопросов.</a:t>
            </a:r>
            <a:endParaRPr lang="en-US" sz="834" dirty="0"/>
          </a:p>
        </p:txBody>
      </p:sp>
      <p:sp>
        <p:nvSpPr>
          <p:cNvPr id="19" name="Text 14"/>
          <p:cNvSpPr/>
          <p:nvPr/>
        </p:nvSpPr>
        <p:spPr>
          <a:xfrm>
            <a:off x="571500" y="3895130"/>
            <a:ext cx="53746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87" b="1" dirty="0">
                <a:solidFill>
                  <a:srgbClr val="FF4500"/>
                </a:solidFill>
              </a:rPr>
              <a:t>•</a:t>
            </a:r>
            <a:endParaRPr lang="en-US" sz="987" dirty="0"/>
          </a:p>
        </p:txBody>
      </p:sp>
      <p:sp>
        <p:nvSpPr>
          <p:cNvPr id="20" name="Text 15"/>
          <p:cNvSpPr/>
          <p:nvPr/>
        </p:nvSpPr>
        <p:spPr>
          <a:xfrm>
            <a:off x="714375" y="3895130"/>
            <a:ext cx="94437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555555"/>
                </a:solidFill>
              </a:rPr>
              <a:t>Human Handoff:</a:t>
            </a:r>
            <a:endParaRPr lang="en-US" sz="784" dirty="0"/>
          </a:p>
        </p:txBody>
      </p:sp>
      <p:sp>
        <p:nvSpPr>
          <p:cNvPr id="21" name="Text 16"/>
          <p:cNvSpPr/>
          <p:nvPr/>
        </p:nvSpPr>
        <p:spPr>
          <a:xfrm>
            <a:off x="1658745" y="3895130"/>
            <a:ext cx="219193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555555"/>
                </a:solidFill>
              </a:rPr>
              <a:t>Передача сложного случая оператору.</a:t>
            </a:r>
            <a:endParaRPr lang="en-US" sz="834" dirty="0"/>
          </a:p>
        </p:txBody>
      </p:sp>
      <p:sp>
        <p:nvSpPr>
          <p:cNvPr id="22" name="Text 17"/>
          <p:cNvSpPr/>
          <p:nvPr/>
        </p:nvSpPr>
        <p:spPr>
          <a:xfrm>
            <a:off x="4786313" y="1375172"/>
            <a:ext cx="378618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kern="0" spc="1" dirty="0">
                <a:solidFill>
                  <a:srgbClr val="666666"/>
                </a:solidFill>
              </a:rPr>
              <a:t>Архитектура графа</a:t>
            </a:r>
            <a:endParaRPr lang="en-US" sz="683" dirty="0"/>
          </a:p>
        </p:txBody>
      </p:sp>
      <p:sp>
        <p:nvSpPr>
          <p:cNvPr id="23" name="Shape 18"/>
          <p:cNvSpPr/>
          <p:nvPr/>
        </p:nvSpPr>
        <p:spPr>
          <a:xfrm>
            <a:off x="4786313" y="1568053"/>
            <a:ext cx="3786188" cy="2443163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4" name="Shape 19"/>
          <p:cNvSpPr/>
          <p:nvPr/>
        </p:nvSpPr>
        <p:spPr>
          <a:xfrm>
            <a:off x="4786313" y="1568053"/>
            <a:ext cx="28575" cy="2443163"/>
          </a:xfrm>
          <a:prstGeom prst="rect">
            <a:avLst/>
          </a:prstGeom>
          <a:solidFill>
            <a:srgbClr val="FF4500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5" name="Text 20"/>
          <p:cNvSpPr/>
          <p:nvPr/>
        </p:nvSpPr>
        <p:spPr>
          <a:xfrm>
            <a:off x="4957763" y="1739503"/>
            <a:ext cx="3443288" cy="21002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6272A4"/>
                </a:solidFill>
              </a:rPr>
              <a:t># Определение узлов</a:t>
            </a:r>
            <a:r>
              <a:rPr lang="en-US" sz="727" dirty="0">
                <a:solidFill>
                  <a:srgbClr val="E0E0E0"/>
                </a:solidFill>
              </a:rPr>
              <a:t>
workflow.add_node(</a:t>
            </a:r>
            <a:r>
              <a:rPr lang="en-US" sz="727" dirty="0">
                <a:solidFill>
                  <a:srgbClr val="F1FA8C"/>
                </a:solidFill>
              </a:rPr>
              <a:t>"classify"</a:t>
            </a:r>
            <a:r>
              <a:rPr lang="en-US" sz="727" dirty="0">
                <a:solidFill>
                  <a:srgbClr val="E0E0E0"/>
                </a:solidFill>
              </a:rPr>
              <a:t>, classify_intent)
workflow.add_node(</a:t>
            </a:r>
            <a:r>
              <a:rPr lang="en-US" sz="727" dirty="0">
                <a:solidFill>
                  <a:srgbClr val="F1FA8C"/>
                </a:solidFill>
              </a:rPr>
              <a:t>"rag"</a:t>
            </a:r>
            <a:r>
              <a:rPr lang="en-US" sz="727" dirty="0">
                <a:solidFill>
                  <a:srgbClr val="E0E0E0"/>
                </a:solidFill>
              </a:rPr>
              <a:t>, rag_search)
workflow.add_node(</a:t>
            </a:r>
            <a:r>
              <a:rPr lang="en-US" sz="727" dirty="0">
                <a:solidFill>
                  <a:srgbClr val="F1FA8C"/>
                </a:solidFill>
              </a:rPr>
              <a:t>"human"</a:t>
            </a:r>
            <a:r>
              <a:rPr lang="en-US" sz="727" dirty="0">
                <a:solidFill>
                  <a:srgbClr val="E0E0E0"/>
                </a:solidFill>
              </a:rPr>
              <a:t>, human_handoff)
</a:t>
            </a:r>
            <a:r>
              <a:rPr lang="en-US" sz="727" dirty="0">
                <a:solidFill>
                  <a:srgbClr val="6272A4"/>
                </a:solidFill>
              </a:rPr>
              <a:t># Условная маршрутизация</a:t>
            </a:r>
            <a:r>
              <a:rPr lang="en-US" sz="727" dirty="0">
                <a:solidFill>
                  <a:srgbClr val="E0E0E0"/>
                </a:solidFill>
              </a:rPr>
              <a:t>
workflow.add_conditional_edges(
    </a:t>
            </a:r>
            <a:r>
              <a:rPr lang="en-US" sz="727" dirty="0">
                <a:solidFill>
                  <a:srgbClr val="F1FA8C"/>
                </a:solidFill>
              </a:rPr>
              <a:t>"classify"</a:t>
            </a:r>
            <a:r>
              <a:rPr lang="en-US" sz="727" dirty="0">
                <a:solidFill>
                  <a:srgbClr val="E0E0E0"/>
                </a:solidFill>
              </a:rPr>
              <a:t>,
    should_escalate,
    {
        </a:t>
            </a:r>
            <a:r>
              <a:rPr lang="en-US" sz="727" dirty="0">
                <a:solidFill>
                  <a:srgbClr val="F1FA8C"/>
                </a:solidFill>
              </a:rPr>
              <a:t>"rag"</a:t>
            </a:r>
            <a:r>
              <a:rPr lang="en-US" sz="727" dirty="0">
                <a:solidFill>
                  <a:srgbClr val="E0E0E0"/>
                </a:solidFill>
              </a:rPr>
              <a:t>: </a:t>
            </a:r>
            <a:r>
              <a:rPr lang="en-US" sz="727" dirty="0">
                <a:solidFill>
                  <a:srgbClr val="F1FA8C"/>
                </a:solidFill>
              </a:rPr>
              <a:t>"rag"</a:t>
            </a:r>
            <a:r>
              <a:rPr lang="en-US" sz="727" dirty="0">
                <a:solidFill>
                  <a:srgbClr val="E0E0E0"/>
                </a:solidFill>
              </a:rPr>
              <a:t>,
        </a:t>
            </a:r>
            <a:r>
              <a:rPr lang="en-US" sz="727" dirty="0">
                <a:solidFill>
                  <a:srgbClr val="F1FA8C"/>
                </a:solidFill>
              </a:rPr>
              <a:t>"escalate"</a:t>
            </a:r>
            <a:r>
              <a:rPr lang="en-US" sz="727" dirty="0">
                <a:solidFill>
                  <a:srgbClr val="E0E0E0"/>
                </a:solidFill>
              </a:rPr>
              <a:t>: </a:t>
            </a:r>
            <a:r>
              <a:rPr lang="en-US" sz="727" dirty="0">
                <a:solidFill>
                  <a:srgbClr val="F1FA8C"/>
                </a:solidFill>
              </a:rPr>
              <a:t>"human"</a:t>
            </a:r>
            <a:r>
              <a:rPr lang="en-US" sz="727" dirty="0">
                <a:solidFill>
                  <a:srgbClr val="E0E0E0"/>
                </a:solidFill>
              </a:rPr>
              <a:t>
    }
)</a:t>
            </a:r>
            <a:endParaRPr lang="en-US" sz="727" dirty="0"/>
          </a:p>
        </p:txBody>
      </p:sp>
      <p:sp>
        <p:nvSpPr>
          <p:cNvPr id="26" name="Shape 21"/>
          <p:cNvSpPr/>
          <p:nvPr/>
        </p:nvSpPr>
        <p:spPr>
          <a:xfrm>
            <a:off x="4786313" y="4225528"/>
            <a:ext cx="3786188" cy="958658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7" name="Shape 22"/>
          <p:cNvSpPr/>
          <p:nvPr/>
        </p:nvSpPr>
        <p:spPr>
          <a:xfrm>
            <a:off x="4786313" y="4225528"/>
            <a:ext cx="28575" cy="958658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8" name="Text 23"/>
          <p:cNvSpPr/>
          <p:nvPr/>
        </p:nvSpPr>
        <p:spPr>
          <a:xfrm>
            <a:off x="4929188" y="4368403"/>
            <a:ext cx="350043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A1A1A"/>
                </a:solidFill>
              </a:rPr>
              <a:t>Результат</a:t>
            </a:r>
            <a:endParaRPr lang="en-US" sz="683" dirty="0"/>
          </a:p>
        </p:txBody>
      </p:sp>
      <p:sp>
        <p:nvSpPr>
          <p:cNvPr id="29" name="Text 24"/>
          <p:cNvSpPr/>
          <p:nvPr/>
        </p:nvSpPr>
        <p:spPr>
          <a:xfrm>
            <a:off x="4929188" y="4561284"/>
            <a:ext cx="3500438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Снижение нагрузки на операторов на 60%, мгновенные ответы на FAQ, сохранение контекста при передаче человеку.</a:t>
            </a:r>
            <a:endParaRPr lang="en-US" sz="834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572500" cy="660797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4" name="Shape 1"/>
          <p:cNvSpPr/>
          <p:nvPr/>
        </p:nvSpPr>
        <p:spPr>
          <a:xfrm>
            <a:off x="571500" y="428625"/>
            <a:ext cx="57150" cy="660797"/>
          </a:xfrm>
          <a:prstGeom prst="rect">
            <a:avLst/>
          </a:prstGeom>
          <a:solidFill>
            <a:srgbClr val="FF4500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5" name="Text 2"/>
          <p:cNvSpPr/>
          <p:nvPr/>
        </p:nvSpPr>
        <p:spPr>
          <a:xfrm>
            <a:off x="742950" y="428625"/>
            <a:ext cx="8401050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1A1A1A"/>
                </a:solidFill>
              </a:rPr>
              <a:t>Кейс 2: Research Assistant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742950" y="894755"/>
            <a:ext cx="840105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555555"/>
                </a:solidFill>
              </a:rPr>
              <a:t>Глубокий поиск и синтез информации</a:t>
            </a:r>
            <a:endParaRPr lang="en-US" sz="10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420713"/>
            <a:ext cx="142875" cy="14287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00100" y="1375172"/>
            <a:ext cx="90921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1A1A"/>
                </a:solidFill>
              </a:rPr>
              <a:t>Проблема</a:t>
            </a:r>
            <a:endParaRPr lang="en-US" sz="1193" dirty="0"/>
          </a:p>
        </p:txBody>
      </p:sp>
      <p:sp>
        <p:nvSpPr>
          <p:cNvPr id="9" name="Text 5"/>
          <p:cNvSpPr/>
          <p:nvPr/>
        </p:nvSpPr>
        <p:spPr>
          <a:xfrm>
            <a:off x="571500" y="1716286"/>
            <a:ext cx="3786188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Обычный поиск выдает список ссылок. Пользователю нужно самому читать, фильтровать и объединять информацию для получения ответа.</a:t>
            </a:r>
            <a:endParaRPr lang="en-US" sz="942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697659"/>
            <a:ext cx="142875" cy="14287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00100" y="2652117"/>
            <a:ext cx="81475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1A1A"/>
                </a:solidFill>
              </a:rPr>
              <a:t>Решение</a:t>
            </a:r>
            <a:endParaRPr lang="en-US" sz="1193" dirty="0"/>
          </a:p>
        </p:txBody>
      </p:sp>
      <p:sp>
        <p:nvSpPr>
          <p:cNvPr id="12" name="Text 7"/>
          <p:cNvSpPr/>
          <p:nvPr/>
        </p:nvSpPr>
        <p:spPr>
          <a:xfrm>
            <a:off x="571500" y="2993231"/>
            <a:ext cx="3786188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Агент, работающий в цикле:</a:t>
            </a:r>
            <a:endParaRPr lang="en-US" sz="942" dirty="0"/>
          </a:p>
        </p:txBody>
      </p:sp>
      <p:sp>
        <p:nvSpPr>
          <p:cNvPr id="13" name="Text 8"/>
          <p:cNvSpPr/>
          <p:nvPr/>
        </p:nvSpPr>
        <p:spPr>
          <a:xfrm>
            <a:off x="571500" y="3257550"/>
            <a:ext cx="53746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87" b="1" dirty="0">
                <a:solidFill>
                  <a:srgbClr val="FF4500"/>
                </a:solidFill>
              </a:rPr>
              <a:t>•</a:t>
            </a:r>
            <a:endParaRPr lang="en-US" sz="987" dirty="0"/>
          </a:p>
        </p:txBody>
      </p:sp>
      <p:sp>
        <p:nvSpPr>
          <p:cNvPr id="14" name="Text 9"/>
          <p:cNvSpPr/>
          <p:nvPr/>
        </p:nvSpPr>
        <p:spPr>
          <a:xfrm>
            <a:off x="714375" y="3257550"/>
            <a:ext cx="54077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555555"/>
                </a:solidFill>
              </a:rPr>
              <a:t>Planning:</a:t>
            </a:r>
            <a:endParaRPr lang="en-US" sz="784" dirty="0"/>
          </a:p>
        </p:txBody>
      </p:sp>
      <p:sp>
        <p:nvSpPr>
          <p:cNvPr id="15" name="Text 10"/>
          <p:cNvSpPr/>
          <p:nvPr/>
        </p:nvSpPr>
        <p:spPr>
          <a:xfrm>
            <a:off x="1255151" y="3257550"/>
            <a:ext cx="252146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555555"/>
                </a:solidFill>
              </a:rPr>
              <a:t>Разбиение сложного вопроса на подзадачи.</a:t>
            </a:r>
            <a:endParaRPr lang="en-US" sz="834" dirty="0"/>
          </a:p>
        </p:txBody>
      </p:sp>
      <p:sp>
        <p:nvSpPr>
          <p:cNvPr id="16" name="Text 11"/>
          <p:cNvSpPr/>
          <p:nvPr/>
        </p:nvSpPr>
        <p:spPr>
          <a:xfrm>
            <a:off x="571500" y="3498652"/>
            <a:ext cx="53746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87" b="1" dirty="0">
                <a:solidFill>
                  <a:srgbClr val="FF4500"/>
                </a:solidFill>
              </a:rPr>
              <a:t>•</a:t>
            </a:r>
            <a:endParaRPr lang="en-US" sz="987" dirty="0"/>
          </a:p>
        </p:txBody>
      </p:sp>
      <p:sp>
        <p:nvSpPr>
          <p:cNvPr id="17" name="Text 12"/>
          <p:cNvSpPr/>
          <p:nvPr/>
        </p:nvSpPr>
        <p:spPr>
          <a:xfrm>
            <a:off x="714375" y="3498652"/>
            <a:ext cx="59209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555555"/>
                </a:solidFill>
              </a:rPr>
              <a:t>Execution:</a:t>
            </a:r>
            <a:endParaRPr lang="en-US" sz="784" dirty="0"/>
          </a:p>
        </p:txBody>
      </p:sp>
      <p:sp>
        <p:nvSpPr>
          <p:cNvPr id="18" name="Text 13"/>
          <p:cNvSpPr/>
          <p:nvPr/>
        </p:nvSpPr>
        <p:spPr>
          <a:xfrm>
            <a:off x="1306469" y="3498652"/>
            <a:ext cx="289659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555555"/>
                </a:solidFill>
              </a:rPr>
              <a:t>Поиск и скрапинг контента для каждой подзадачи.</a:t>
            </a:r>
            <a:endParaRPr lang="en-US" sz="834" dirty="0"/>
          </a:p>
        </p:txBody>
      </p:sp>
      <p:sp>
        <p:nvSpPr>
          <p:cNvPr id="19" name="Text 14"/>
          <p:cNvSpPr/>
          <p:nvPr/>
        </p:nvSpPr>
        <p:spPr>
          <a:xfrm>
            <a:off x="571500" y="3739753"/>
            <a:ext cx="53746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87" b="1" dirty="0">
                <a:solidFill>
                  <a:srgbClr val="FF4500"/>
                </a:solidFill>
              </a:rPr>
              <a:t>•</a:t>
            </a:r>
            <a:endParaRPr lang="en-US" sz="987" dirty="0"/>
          </a:p>
        </p:txBody>
      </p:sp>
      <p:sp>
        <p:nvSpPr>
          <p:cNvPr id="20" name="Text 15"/>
          <p:cNvSpPr/>
          <p:nvPr/>
        </p:nvSpPr>
        <p:spPr>
          <a:xfrm>
            <a:off x="714375" y="3739753"/>
            <a:ext cx="57643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555555"/>
                </a:solidFill>
              </a:rPr>
              <a:t>Synthesis:</a:t>
            </a:r>
            <a:endParaRPr lang="en-US" sz="784" dirty="0"/>
          </a:p>
        </p:txBody>
      </p:sp>
      <p:sp>
        <p:nvSpPr>
          <p:cNvPr id="21" name="Text 16"/>
          <p:cNvSpPr/>
          <p:nvPr/>
        </p:nvSpPr>
        <p:spPr>
          <a:xfrm>
            <a:off x="714375" y="3739753"/>
            <a:ext cx="3312551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555555"/>
                </a:solidFill>
              </a:rPr>
              <a:t>Объединение найденного в финальный отчет с цитатами.</a:t>
            </a:r>
            <a:endParaRPr lang="en-US" sz="834" dirty="0"/>
          </a:p>
        </p:txBody>
      </p:sp>
      <p:sp>
        <p:nvSpPr>
          <p:cNvPr id="22" name="Text 17"/>
          <p:cNvSpPr/>
          <p:nvPr/>
        </p:nvSpPr>
        <p:spPr>
          <a:xfrm>
            <a:off x="4786313" y="1375172"/>
            <a:ext cx="378618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kern="0" spc="1" dirty="0">
                <a:solidFill>
                  <a:srgbClr val="666666"/>
                </a:solidFill>
              </a:rPr>
              <a:t>Логика цикла</a:t>
            </a:r>
            <a:endParaRPr lang="en-US" sz="683" dirty="0"/>
          </a:p>
        </p:txBody>
      </p:sp>
      <p:sp>
        <p:nvSpPr>
          <p:cNvPr id="23" name="Shape 18"/>
          <p:cNvSpPr/>
          <p:nvPr/>
        </p:nvSpPr>
        <p:spPr>
          <a:xfrm>
            <a:off x="4786313" y="1568053"/>
            <a:ext cx="3786188" cy="2293144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4" name="Shape 19"/>
          <p:cNvSpPr/>
          <p:nvPr/>
        </p:nvSpPr>
        <p:spPr>
          <a:xfrm>
            <a:off x="4786313" y="1568053"/>
            <a:ext cx="28575" cy="2293144"/>
          </a:xfrm>
          <a:prstGeom prst="rect">
            <a:avLst/>
          </a:prstGeom>
          <a:solidFill>
            <a:srgbClr val="FF4500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5" name="Text 20"/>
          <p:cNvSpPr/>
          <p:nvPr/>
        </p:nvSpPr>
        <p:spPr>
          <a:xfrm>
            <a:off x="4957763" y="1739503"/>
            <a:ext cx="3443288" cy="19502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FF79C6"/>
                </a:solidFill>
              </a:rPr>
              <a:t>def</a:t>
            </a:r>
            <a:r>
              <a:rPr lang="en-US" sz="727" dirty="0">
                <a:solidFill>
                  <a:srgbClr val="8BE9FD"/>
                </a:solidFill>
              </a:rPr>
              <a:t>research_loop</a:t>
            </a:r>
            <a:r>
              <a:rPr lang="en-US" sz="727" dirty="0">
                <a:solidFill>
                  <a:srgbClr val="E0E0E0"/>
                </a:solidFill>
              </a:rPr>
              <a:t>(state):
    </a:t>
            </a:r>
            <a:r>
              <a:rPr lang="en-US" sz="727" dirty="0">
                <a:solidFill>
                  <a:srgbClr val="6272A4"/>
                </a:solidFill>
              </a:rPr>
              <a:t># 1. Генерация поисковых запросов</a:t>
            </a:r>
            <a:r>
              <a:rPr lang="en-US" sz="727" dirty="0">
                <a:solidFill>
                  <a:srgbClr val="E0E0E0"/>
                </a:solidFill>
              </a:rPr>
              <a:t>
    queries = generate_queries(state[</a:t>
            </a:r>
            <a:r>
              <a:rPr lang="en-US" sz="727" dirty="0">
                <a:solidFill>
                  <a:srgbClr val="F1FA8C"/>
                </a:solidFill>
              </a:rPr>
              <a:t>"topic"</a:t>
            </a:r>
            <a:r>
              <a:rPr lang="en-US" sz="727" dirty="0">
                <a:solidFill>
                  <a:srgbClr val="E0E0E0"/>
                </a:solidFill>
              </a:rPr>
              <a:t>])
    </a:t>
            </a:r>
            <a:r>
              <a:rPr lang="en-US" sz="727" dirty="0">
                <a:solidFill>
                  <a:srgbClr val="6272A4"/>
                </a:solidFill>
              </a:rPr>
              <a:t># 2. Поиск и чтение (параллельно)</a:t>
            </a:r>
            <a:r>
              <a:rPr lang="en-US" sz="727" dirty="0">
                <a:solidFill>
                  <a:srgbClr val="E0E0E0"/>
                </a:solidFill>
              </a:rPr>
              <a:t>
    results = execute_search(queries)
    </a:t>
            </a:r>
            <a:r>
              <a:rPr lang="en-US" sz="727" dirty="0">
                <a:solidFill>
                  <a:srgbClr val="6272A4"/>
                </a:solidFill>
              </a:rPr>
              <a:t># 3. Оценка достаточности информации</a:t>
            </a:r>
            <a:r>
              <a:rPr lang="en-US" sz="727" dirty="0">
                <a:solidFill>
                  <a:srgbClr val="FF79C6"/>
                </a:solidFill>
              </a:rPr>
              <a:t>if</a:t>
            </a:r>
            <a:r>
              <a:rPr lang="en-US" sz="727" dirty="0">
                <a:solidFill>
                  <a:srgbClr val="E0E0E0"/>
                </a:solidFill>
              </a:rPr>
              <a:t> is_sufficient(results):
        </a:t>
            </a:r>
            <a:r>
              <a:rPr lang="en-US" sz="727" dirty="0">
                <a:solidFill>
                  <a:srgbClr val="FF79C6"/>
                </a:solidFill>
              </a:rPr>
              <a:t>return</a:t>
            </a:r>
            <a:r>
              <a:rPr lang="en-US" sz="727" dirty="0">
                <a:solidFill>
                  <a:srgbClr val="F1FA8C"/>
                </a:solidFill>
              </a:rPr>
              <a:t>"write_report"</a:t>
            </a:r>
            <a:r>
              <a:rPr lang="en-US" sz="727" dirty="0">
                <a:solidFill>
                  <a:srgbClr val="FF79C6"/>
                </a:solidFill>
              </a:rPr>
              <a:t>else</a:t>
            </a:r>
            <a:r>
              <a:rPr lang="en-US" sz="727" dirty="0">
                <a:solidFill>
                  <a:srgbClr val="E0E0E0"/>
                </a:solidFill>
              </a:rPr>
              <a:t>:
        </a:t>
            </a:r>
            <a:r>
              <a:rPr lang="en-US" sz="727" dirty="0">
                <a:solidFill>
                  <a:srgbClr val="6272A4"/>
                </a:solidFill>
              </a:rPr>
              <a:t># Уточнение запросов и повтор</a:t>
            </a:r>
            <a:r>
              <a:rPr lang="en-US" sz="727" dirty="0">
                <a:solidFill>
                  <a:srgbClr val="FF79C6"/>
                </a:solidFill>
              </a:rPr>
              <a:t>return</a:t>
            </a:r>
            <a:r>
              <a:rPr lang="en-US" sz="727" dirty="0">
                <a:solidFill>
                  <a:srgbClr val="F1FA8C"/>
                </a:solidFill>
              </a:rPr>
              <a:t>"refine_search"</a:t>
            </a:r>
            <a:endParaRPr lang="en-US" sz="727" dirty="0"/>
          </a:p>
        </p:txBody>
      </p:sp>
      <p:sp>
        <p:nvSpPr>
          <p:cNvPr id="26" name="Shape 21"/>
          <p:cNvSpPr/>
          <p:nvPr/>
        </p:nvSpPr>
        <p:spPr>
          <a:xfrm>
            <a:off x="4786313" y="4075509"/>
            <a:ext cx="3786188" cy="798649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7" name="Shape 22"/>
          <p:cNvSpPr/>
          <p:nvPr/>
        </p:nvSpPr>
        <p:spPr>
          <a:xfrm>
            <a:off x="4786313" y="4075509"/>
            <a:ext cx="28575" cy="798649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8" name="Text 23"/>
          <p:cNvSpPr/>
          <p:nvPr/>
        </p:nvSpPr>
        <p:spPr>
          <a:xfrm>
            <a:off x="4929188" y="4218384"/>
            <a:ext cx="350043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A1A1A"/>
                </a:solidFill>
              </a:rPr>
              <a:t>Результат</a:t>
            </a:r>
            <a:endParaRPr lang="en-US" sz="683" dirty="0"/>
          </a:p>
        </p:txBody>
      </p:sp>
      <p:sp>
        <p:nvSpPr>
          <p:cNvPr id="29" name="Text 24"/>
          <p:cNvSpPr/>
          <p:nvPr/>
        </p:nvSpPr>
        <p:spPr>
          <a:xfrm>
            <a:off x="4929188" y="4411266"/>
            <a:ext cx="3500438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Автоматическое создание аналитических отчетов за 2-3 минуты вместо часов ручного поиска.</a:t>
            </a:r>
            <a:endParaRPr lang="en-US" sz="834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572500" cy="660797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4" name="Shape 1"/>
          <p:cNvSpPr/>
          <p:nvPr/>
        </p:nvSpPr>
        <p:spPr>
          <a:xfrm>
            <a:off x="571500" y="428625"/>
            <a:ext cx="57150" cy="660797"/>
          </a:xfrm>
          <a:prstGeom prst="rect">
            <a:avLst/>
          </a:prstGeom>
          <a:solidFill>
            <a:srgbClr val="FF4500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5" name="Text 2"/>
          <p:cNvSpPr/>
          <p:nvPr/>
        </p:nvSpPr>
        <p:spPr>
          <a:xfrm>
            <a:off x="742950" y="428625"/>
            <a:ext cx="8401050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1A1A1A"/>
                </a:solidFill>
              </a:rPr>
              <a:t>Кейс 3: Code Review Agent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742950" y="894755"/>
            <a:ext cx="840105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555555"/>
                </a:solidFill>
              </a:rPr>
              <a:t>Автоматизация проверки качества кода</a:t>
            </a:r>
            <a:endParaRPr lang="en-US" sz="10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334988"/>
            <a:ext cx="142875" cy="14287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00100" y="1289447"/>
            <a:ext cx="90921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1A1A"/>
                </a:solidFill>
              </a:rPr>
              <a:t>Проблема</a:t>
            </a:r>
            <a:endParaRPr lang="en-US" sz="1193" dirty="0"/>
          </a:p>
        </p:txBody>
      </p:sp>
      <p:sp>
        <p:nvSpPr>
          <p:cNvPr id="9" name="Text 5"/>
          <p:cNvSpPr/>
          <p:nvPr/>
        </p:nvSpPr>
        <p:spPr>
          <a:xfrm>
            <a:off x="571500" y="1594842"/>
            <a:ext cx="3871913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Ручное ревью кода занимает много времени, разработчики пропускают неочевидные ошибки, стиль кода часто не соблюдается.</a:t>
            </a:r>
            <a:endParaRPr lang="en-US" sz="942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447627"/>
            <a:ext cx="178594" cy="14287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35819" y="2402086"/>
            <a:ext cx="81475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1A1A"/>
                </a:solidFill>
              </a:rPr>
              <a:t>Решение</a:t>
            </a:r>
            <a:endParaRPr lang="en-US" sz="1193" dirty="0"/>
          </a:p>
        </p:txBody>
      </p:sp>
      <p:sp>
        <p:nvSpPr>
          <p:cNvPr id="12" name="Text 7"/>
          <p:cNvSpPr/>
          <p:nvPr/>
        </p:nvSpPr>
        <p:spPr>
          <a:xfrm>
            <a:off x="571500" y="2707481"/>
            <a:ext cx="3871913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Агент, который автоматически анализирует Pull Requests, запускает линтеры и использует LLM для поиска логических ошибок и уязвимостей.</a:t>
            </a:r>
            <a:endParaRPr lang="en-US" sz="942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3560266"/>
            <a:ext cx="142875" cy="14287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00100" y="3514725"/>
            <a:ext cx="82075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1A1A"/>
                </a:solidFill>
              </a:rPr>
              <a:t>Workflow</a:t>
            </a:r>
            <a:endParaRPr lang="en-US" sz="1193" dirty="0"/>
          </a:p>
        </p:txBody>
      </p:sp>
      <p:sp>
        <p:nvSpPr>
          <p:cNvPr id="15" name="Text 9"/>
          <p:cNvSpPr/>
          <p:nvPr/>
        </p:nvSpPr>
        <p:spPr>
          <a:xfrm>
            <a:off x="571500" y="3820120"/>
            <a:ext cx="53746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87" b="1" dirty="0">
                <a:solidFill>
                  <a:srgbClr val="FF4500"/>
                </a:solidFill>
              </a:rPr>
              <a:t>•</a:t>
            </a:r>
            <a:endParaRPr lang="en-US" sz="987" dirty="0"/>
          </a:p>
        </p:txBody>
      </p:sp>
      <p:sp>
        <p:nvSpPr>
          <p:cNvPr id="16" name="Text 10"/>
          <p:cNvSpPr/>
          <p:nvPr/>
        </p:nvSpPr>
        <p:spPr>
          <a:xfrm>
            <a:off x="714375" y="3820120"/>
            <a:ext cx="58397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555555"/>
                </a:solidFill>
              </a:rPr>
              <a:t>Fetch Diff:</a:t>
            </a:r>
            <a:endParaRPr lang="en-US" sz="784" dirty="0"/>
          </a:p>
        </p:txBody>
      </p:sp>
      <p:sp>
        <p:nvSpPr>
          <p:cNvPr id="17" name="Text 11"/>
          <p:cNvSpPr/>
          <p:nvPr/>
        </p:nvSpPr>
        <p:spPr>
          <a:xfrm>
            <a:off x="1298349" y="3820120"/>
            <a:ext cx="169164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555555"/>
                </a:solidFill>
              </a:rPr>
              <a:t>Получение изменений из Git.</a:t>
            </a:r>
            <a:endParaRPr lang="en-US" sz="834" dirty="0"/>
          </a:p>
        </p:txBody>
      </p:sp>
      <p:sp>
        <p:nvSpPr>
          <p:cNvPr id="18" name="Text 12"/>
          <p:cNvSpPr/>
          <p:nvPr/>
        </p:nvSpPr>
        <p:spPr>
          <a:xfrm>
            <a:off x="571500" y="4032647"/>
            <a:ext cx="53746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87" b="1" dirty="0">
                <a:solidFill>
                  <a:srgbClr val="FF4500"/>
                </a:solidFill>
              </a:rPr>
              <a:t>•</a:t>
            </a:r>
            <a:endParaRPr lang="en-US" sz="987" dirty="0"/>
          </a:p>
        </p:txBody>
      </p:sp>
      <p:sp>
        <p:nvSpPr>
          <p:cNvPr id="19" name="Text 13"/>
          <p:cNvSpPr/>
          <p:nvPr/>
        </p:nvSpPr>
        <p:spPr>
          <a:xfrm>
            <a:off x="714375" y="4032647"/>
            <a:ext cx="85853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555555"/>
                </a:solidFill>
              </a:rPr>
              <a:t>Static Analysis:</a:t>
            </a:r>
            <a:endParaRPr lang="en-US" sz="784" dirty="0"/>
          </a:p>
        </p:txBody>
      </p:sp>
      <p:sp>
        <p:nvSpPr>
          <p:cNvPr id="20" name="Text 14"/>
          <p:cNvSpPr/>
          <p:nvPr/>
        </p:nvSpPr>
        <p:spPr>
          <a:xfrm>
            <a:off x="1572909" y="4032647"/>
            <a:ext cx="148785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555555"/>
                </a:solidFill>
              </a:rPr>
              <a:t>Запуск flake8, mypy, eslint.</a:t>
            </a:r>
            <a:endParaRPr lang="en-US" sz="834" dirty="0"/>
          </a:p>
        </p:txBody>
      </p:sp>
      <p:sp>
        <p:nvSpPr>
          <p:cNvPr id="21" name="Text 15"/>
          <p:cNvSpPr/>
          <p:nvPr/>
        </p:nvSpPr>
        <p:spPr>
          <a:xfrm>
            <a:off x="571500" y="4245173"/>
            <a:ext cx="53746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87" b="1" dirty="0">
                <a:solidFill>
                  <a:srgbClr val="FF4500"/>
                </a:solidFill>
              </a:rPr>
              <a:t>•</a:t>
            </a:r>
            <a:endParaRPr lang="en-US" sz="987" dirty="0"/>
          </a:p>
        </p:txBody>
      </p:sp>
      <p:sp>
        <p:nvSpPr>
          <p:cNvPr id="22" name="Text 16"/>
          <p:cNvSpPr/>
          <p:nvPr/>
        </p:nvSpPr>
        <p:spPr>
          <a:xfrm>
            <a:off x="714375" y="4245173"/>
            <a:ext cx="99613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555555"/>
                </a:solidFill>
              </a:rPr>
              <a:t>Semantic Review:</a:t>
            </a:r>
            <a:endParaRPr lang="en-US" sz="784" dirty="0"/>
          </a:p>
        </p:txBody>
      </p:sp>
      <p:sp>
        <p:nvSpPr>
          <p:cNvPr id="23" name="Text 17"/>
          <p:cNvSpPr/>
          <p:nvPr/>
        </p:nvSpPr>
        <p:spPr>
          <a:xfrm>
            <a:off x="1710510" y="4245173"/>
            <a:ext cx="233709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555555"/>
                </a:solidFill>
              </a:rPr>
              <a:t>LLM анализирует логику и безопасность.</a:t>
            </a:r>
            <a:endParaRPr lang="en-US" sz="834" dirty="0"/>
          </a:p>
        </p:txBody>
      </p:sp>
      <p:sp>
        <p:nvSpPr>
          <p:cNvPr id="24" name="Text 18"/>
          <p:cNvSpPr/>
          <p:nvPr/>
        </p:nvSpPr>
        <p:spPr>
          <a:xfrm>
            <a:off x="571500" y="4457700"/>
            <a:ext cx="53746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87" b="1" dirty="0">
                <a:solidFill>
                  <a:srgbClr val="FF4500"/>
                </a:solidFill>
              </a:rPr>
              <a:t>•</a:t>
            </a:r>
            <a:endParaRPr lang="en-US" sz="987" dirty="0"/>
          </a:p>
        </p:txBody>
      </p:sp>
      <p:sp>
        <p:nvSpPr>
          <p:cNvPr id="25" name="Text 19"/>
          <p:cNvSpPr/>
          <p:nvPr/>
        </p:nvSpPr>
        <p:spPr>
          <a:xfrm>
            <a:off x="714375" y="4457700"/>
            <a:ext cx="59287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555555"/>
                </a:solidFill>
              </a:rPr>
              <a:t>Comment:</a:t>
            </a:r>
            <a:endParaRPr lang="en-US" sz="784" dirty="0"/>
          </a:p>
        </p:txBody>
      </p:sp>
      <p:sp>
        <p:nvSpPr>
          <p:cNvPr id="26" name="Text 20"/>
          <p:cNvSpPr/>
          <p:nvPr/>
        </p:nvSpPr>
        <p:spPr>
          <a:xfrm>
            <a:off x="1307250" y="4457700"/>
            <a:ext cx="166354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555555"/>
                </a:solidFill>
              </a:rPr>
              <a:t>Публикация замечаний в PR.</a:t>
            </a:r>
            <a:endParaRPr lang="en-US" sz="834" dirty="0"/>
          </a:p>
        </p:txBody>
      </p:sp>
      <p:sp>
        <p:nvSpPr>
          <p:cNvPr id="27" name="Text 21"/>
          <p:cNvSpPr/>
          <p:nvPr/>
        </p:nvSpPr>
        <p:spPr>
          <a:xfrm>
            <a:off x="4700588" y="1289447"/>
            <a:ext cx="387191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kern="0" spc="1" dirty="0">
                <a:solidFill>
                  <a:srgbClr val="666666"/>
                </a:solidFill>
              </a:rPr>
              <a:t>Логика узла ревью</a:t>
            </a:r>
            <a:endParaRPr lang="en-US" sz="683" dirty="0"/>
          </a:p>
        </p:txBody>
      </p:sp>
      <p:sp>
        <p:nvSpPr>
          <p:cNvPr id="28" name="Shape 22"/>
          <p:cNvSpPr/>
          <p:nvPr/>
        </p:nvSpPr>
        <p:spPr>
          <a:xfrm>
            <a:off x="4700588" y="1468041"/>
            <a:ext cx="3871913" cy="2778919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9" name="Shape 23"/>
          <p:cNvSpPr/>
          <p:nvPr/>
        </p:nvSpPr>
        <p:spPr>
          <a:xfrm>
            <a:off x="4700588" y="1468041"/>
            <a:ext cx="28575" cy="2778919"/>
          </a:xfrm>
          <a:prstGeom prst="rect">
            <a:avLst/>
          </a:prstGeom>
          <a:solidFill>
            <a:srgbClr val="FF4500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30" name="Text 24"/>
          <p:cNvSpPr/>
          <p:nvPr/>
        </p:nvSpPr>
        <p:spPr>
          <a:xfrm>
            <a:off x="4814888" y="1582341"/>
            <a:ext cx="3643313" cy="25503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FF79C6"/>
                </a:solidFill>
              </a:rPr>
              <a:t>def</a:t>
            </a:r>
            <a:r>
              <a:rPr lang="en-US" sz="727" dirty="0">
                <a:solidFill>
                  <a:srgbClr val="8BE9FD"/>
                </a:solidFill>
              </a:rPr>
              <a:t>review_node</a:t>
            </a:r>
            <a:r>
              <a:rPr lang="en-US" sz="727" dirty="0">
                <a:solidFill>
                  <a:srgbClr val="E0E0E0"/>
                </a:solidFill>
              </a:rPr>
              <a:t>(state):
    diff = state[</a:t>
            </a:r>
            <a:r>
              <a:rPr lang="en-US" sz="727" dirty="0">
                <a:solidFill>
                  <a:srgbClr val="F1FA8C"/>
                </a:solidFill>
              </a:rPr>
              <a:t>"diff"</a:t>
            </a:r>
            <a:r>
              <a:rPr lang="en-US" sz="727" dirty="0">
                <a:solidFill>
                  <a:srgbClr val="E0E0E0"/>
                </a:solidFill>
              </a:rPr>
              <a:t>]
    </a:t>
            </a:r>
            <a:r>
              <a:rPr lang="en-US" sz="727" dirty="0">
                <a:solidFill>
                  <a:srgbClr val="6272A4"/>
                </a:solidFill>
              </a:rPr>
              <a:t># Промпт для анализа кода</a:t>
            </a:r>
            <a:r>
              <a:rPr lang="en-US" sz="727" dirty="0">
                <a:solidFill>
                  <a:srgbClr val="E0E0E0"/>
                </a:solidFill>
              </a:rPr>
              <a:t>
    prompt = </a:t>
            </a:r>
            <a:r>
              <a:rPr lang="en-US" sz="727" dirty="0">
                <a:solidFill>
                  <a:srgbClr val="F1FA8C"/>
                </a:solidFill>
              </a:rPr>
              <a:t>f"""
    Analyze the following code diff for:
    1. Security vulnerabilities
    2. Performance issues
    3. Code style violations
    Diff:
    {diff}
    """</a:t>
            </a:r>
            <a:r>
              <a:rPr lang="en-US" sz="727" dirty="0">
                <a:solidFill>
                  <a:srgbClr val="E0E0E0"/>
                </a:solidFill>
              </a:rPr>
              <a:t>
    review = llm.invoke(prompt)
    </a:t>
            </a:r>
            <a:r>
              <a:rPr lang="en-US" sz="727" dirty="0">
                <a:solidFill>
                  <a:srgbClr val="FF79C6"/>
                </a:solidFill>
              </a:rPr>
              <a:t>return</a:t>
            </a:r>
            <a:r>
              <a:rPr lang="en-US" sz="727" dirty="0">
                <a:solidFill>
                  <a:srgbClr val="E0E0E0"/>
                </a:solidFill>
              </a:rPr>
              <a:t> {</a:t>
            </a:r>
            <a:r>
              <a:rPr lang="en-US" sz="727" dirty="0">
                <a:solidFill>
                  <a:srgbClr val="F1FA8C"/>
                </a:solidFill>
              </a:rPr>
              <a:t>"comments"</a:t>
            </a:r>
            <a:r>
              <a:rPr lang="en-US" sz="727" dirty="0">
                <a:solidFill>
                  <a:srgbClr val="E0E0E0"/>
                </a:solidFill>
              </a:rPr>
              <a:t>: [review.content]}</a:t>
            </a:r>
            <a:endParaRPr lang="en-US" sz="727" dirty="0"/>
          </a:p>
        </p:txBody>
      </p:sp>
      <p:sp>
        <p:nvSpPr>
          <p:cNvPr id="31" name="Shape 25"/>
          <p:cNvSpPr/>
          <p:nvPr/>
        </p:nvSpPr>
        <p:spPr>
          <a:xfrm>
            <a:off x="4700588" y="4361259"/>
            <a:ext cx="3871913" cy="670061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32" name="Shape 26"/>
          <p:cNvSpPr/>
          <p:nvPr/>
        </p:nvSpPr>
        <p:spPr>
          <a:xfrm>
            <a:off x="4700588" y="4361259"/>
            <a:ext cx="28575" cy="670061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33" name="Text 27"/>
          <p:cNvSpPr/>
          <p:nvPr/>
        </p:nvSpPr>
        <p:spPr>
          <a:xfrm>
            <a:off x="4786313" y="4446984"/>
            <a:ext cx="370046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A1A1A"/>
                </a:solidFill>
              </a:rPr>
              <a:t>Результат</a:t>
            </a:r>
            <a:endParaRPr lang="en-US" sz="683" dirty="0"/>
          </a:p>
        </p:txBody>
      </p:sp>
      <p:sp>
        <p:nvSpPr>
          <p:cNvPr id="34" name="Text 28"/>
          <p:cNvSpPr/>
          <p:nvPr/>
        </p:nvSpPr>
        <p:spPr>
          <a:xfrm>
            <a:off x="4786313" y="4625578"/>
            <a:ext cx="3700463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Сокращение времени ревью на 40%, раннее обнаружение уязвимостей, единый стиль кода во всей команде.</a:t>
            </a:r>
            <a:endParaRPr lang="en-US" sz="834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572500" cy="660797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4" name="Shape 1"/>
          <p:cNvSpPr/>
          <p:nvPr/>
        </p:nvSpPr>
        <p:spPr>
          <a:xfrm>
            <a:off x="571500" y="428625"/>
            <a:ext cx="57150" cy="660797"/>
          </a:xfrm>
          <a:prstGeom prst="rect">
            <a:avLst/>
          </a:prstGeom>
          <a:solidFill>
            <a:srgbClr val="FF4500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5" name="Text 2"/>
          <p:cNvSpPr/>
          <p:nvPr/>
        </p:nvSpPr>
        <p:spPr>
          <a:xfrm>
            <a:off x="742950" y="428625"/>
            <a:ext cx="8401050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1A1A1A"/>
                </a:solidFill>
              </a:rPr>
              <a:t>Кейс 4: Data Analysis Pipeline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742950" y="894755"/>
            <a:ext cx="840105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555555"/>
                </a:solidFill>
              </a:rPr>
              <a:t>Автоматизация EDA и генерация отчетов</a:t>
            </a:r>
            <a:endParaRPr lang="en-US" sz="10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420713"/>
            <a:ext cx="142875" cy="14287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00100" y="1375172"/>
            <a:ext cx="90921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1A1A"/>
                </a:solidFill>
              </a:rPr>
              <a:t>Проблема</a:t>
            </a:r>
            <a:endParaRPr lang="en-US" sz="1193" dirty="0"/>
          </a:p>
        </p:txBody>
      </p:sp>
      <p:sp>
        <p:nvSpPr>
          <p:cNvPr id="9" name="Text 5"/>
          <p:cNvSpPr/>
          <p:nvPr/>
        </p:nvSpPr>
        <p:spPr>
          <a:xfrm>
            <a:off x="571500" y="1716286"/>
            <a:ext cx="3786188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Аналитикам приходится писать однотипный код для загрузки, очистки и визуализации данных. Бизнес хочет получать ответы на вопросы "на лету".</a:t>
            </a:r>
            <a:endParaRPr lang="en-US" sz="942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697659"/>
            <a:ext cx="178594" cy="14287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35819" y="2652117"/>
            <a:ext cx="81475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1A1A"/>
                </a:solidFill>
              </a:rPr>
              <a:t>Решение</a:t>
            </a:r>
            <a:endParaRPr lang="en-US" sz="1193" dirty="0"/>
          </a:p>
        </p:txBody>
      </p:sp>
      <p:sp>
        <p:nvSpPr>
          <p:cNvPr id="12" name="Text 7"/>
          <p:cNvSpPr/>
          <p:nvPr/>
        </p:nvSpPr>
        <p:spPr>
          <a:xfrm>
            <a:off x="571500" y="2993231"/>
            <a:ext cx="3786188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Агент с доступом к Python REPL (Read-Eval-Print Loop). Он может писать код, выполнять его и анализировать вывод (текст или ошибки).</a:t>
            </a:r>
            <a:endParaRPr lang="en-US" sz="942" dirty="0"/>
          </a:p>
        </p:txBody>
      </p:sp>
      <p:sp>
        <p:nvSpPr>
          <p:cNvPr id="13" name="Text 8"/>
          <p:cNvSpPr/>
          <p:nvPr/>
        </p:nvSpPr>
        <p:spPr>
          <a:xfrm>
            <a:off x="571500" y="3643313"/>
            <a:ext cx="53746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87" b="1" dirty="0">
                <a:solidFill>
                  <a:srgbClr val="FF4500"/>
                </a:solidFill>
              </a:rPr>
              <a:t>•</a:t>
            </a:r>
            <a:endParaRPr lang="en-US" sz="987" dirty="0"/>
          </a:p>
        </p:txBody>
      </p:sp>
      <p:sp>
        <p:nvSpPr>
          <p:cNvPr id="14" name="Text 9"/>
          <p:cNvSpPr/>
          <p:nvPr/>
        </p:nvSpPr>
        <p:spPr>
          <a:xfrm>
            <a:off x="714375" y="3643313"/>
            <a:ext cx="98767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555555"/>
                </a:solidFill>
              </a:rPr>
              <a:t>Code Generation:</a:t>
            </a:r>
            <a:endParaRPr lang="en-US" sz="784" dirty="0"/>
          </a:p>
        </p:txBody>
      </p:sp>
      <p:sp>
        <p:nvSpPr>
          <p:cNvPr id="15" name="Text 10"/>
          <p:cNvSpPr/>
          <p:nvPr/>
        </p:nvSpPr>
        <p:spPr>
          <a:xfrm>
            <a:off x="1702054" y="3643313"/>
            <a:ext cx="198950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555555"/>
                </a:solidFill>
              </a:rPr>
              <a:t>Написание pandas/matplotlib кода.</a:t>
            </a:r>
            <a:endParaRPr lang="en-US" sz="834" dirty="0"/>
          </a:p>
        </p:txBody>
      </p:sp>
      <p:sp>
        <p:nvSpPr>
          <p:cNvPr id="16" name="Text 11"/>
          <p:cNvSpPr/>
          <p:nvPr/>
        </p:nvSpPr>
        <p:spPr>
          <a:xfrm>
            <a:off x="571500" y="3884414"/>
            <a:ext cx="53746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87" b="1" dirty="0">
                <a:solidFill>
                  <a:srgbClr val="FF4500"/>
                </a:solidFill>
              </a:rPr>
              <a:t>•</a:t>
            </a:r>
            <a:endParaRPr lang="en-US" sz="987" dirty="0"/>
          </a:p>
        </p:txBody>
      </p:sp>
      <p:sp>
        <p:nvSpPr>
          <p:cNvPr id="17" name="Text 12"/>
          <p:cNvSpPr/>
          <p:nvPr/>
        </p:nvSpPr>
        <p:spPr>
          <a:xfrm>
            <a:off x="714375" y="3884414"/>
            <a:ext cx="88069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555555"/>
                </a:solidFill>
              </a:rPr>
              <a:t>Self-Correction:</a:t>
            </a:r>
            <a:endParaRPr lang="en-US" sz="784" dirty="0"/>
          </a:p>
        </p:txBody>
      </p:sp>
      <p:sp>
        <p:nvSpPr>
          <p:cNvPr id="18" name="Text 13"/>
          <p:cNvSpPr/>
          <p:nvPr/>
        </p:nvSpPr>
        <p:spPr>
          <a:xfrm>
            <a:off x="1595065" y="3884414"/>
            <a:ext cx="220873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555555"/>
                </a:solidFill>
              </a:rPr>
              <a:t>Исправление синтаксических ошибок.</a:t>
            </a:r>
            <a:endParaRPr lang="en-US" sz="834" dirty="0"/>
          </a:p>
        </p:txBody>
      </p:sp>
      <p:sp>
        <p:nvSpPr>
          <p:cNvPr id="19" name="Text 14"/>
          <p:cNvSpPr/>
          <p:nvPr/>
        </p:nvSpPr>
        <p:spPr>
          <a:xfrm>
            <a:off x="571500" y="4125516"/>
            <a:ext cx="53746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87" b="1" dirty="0">
                <a:solidFill>
                  <a:srgbClr val="FF4500"/>
                </a:solidFill>
              </a:rPr>
              <a:t>•</a:t>
            </a:r>
            <a:endParaRPr lang="en-US" sz="987" dirty="0"/>
          </a:p>
        </p:txBody>
      </p:sp>
      <p:sp>
        <p:nvSpPr>
          <p:cNvPr id="20" name="Text 15"/>
          <p:cNvSpPr/>
          <p:nvPr/>
        </p:nvSpPr>
        <p:spPr>
          <a:xfrm>
            <a:off x="714375" y="4125516"/>
            <a:ext cx="76753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555555"/>
                </a:solidFill>
              </a:rPr>
              <a:t>Visualization:</a:t>
            </a:r>
            <a:endParaRPr lang="en-US" sz="784" dirty="0"/>
          </a:p>
        </p:txBody>
      </p:sp>
      <p:sp>
        <p:nvSpPr>
          <p:cNvPr id="21" name="Text 16"/>
          <p:cNvSpPr/>
          <p:nvPr/>
        </p:nvSpPr>
        <p:spPr>
          <a:xfrm>
            <a:off x="1481910" y="4125516"/>
            <a:ext cx="122119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555555"/>
                </a:solidFill>
              </a:rPr>
              <a:t>Генерация графиков.</a:t>
            </a:r>
            <a:endParaRPr lang="en-US" sz="834" dirty="0"/>
          </a:p>
        </p:txBody>
      </p:sp>
      <p:sp>
        <p:nvSpPr>
          <p:cNvPr id="22" name="Text 17"/>
          <p:cNvSpPr/>
          <p:nvPr/>
        </p:nvSpPr>
        <p:spPr>
          <a:xfrm>
            <a:off x="4786313" y="1375172"/>
            <a:ext cx="378618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kern="0" spc="1" dirty="0">
                <a:solidFill>
                  <a:srgbClr val="666666"/>
                </a:solidFill>
              </a:rPr>
              <a:t>Python REPL Node</a:t>
            </a:r>
            <a:endParaRPr lang="en-US" sz="683" dirty="0"/>
          </a:p>
        </p:txBody>
      </p:sp>
      <p:sp>
        <p:nvSpPr>
          <p:cNvPr id="23" name="Shape 18"/>
          <p:cNvSpPr/>
          <p:nvPr/>
        </p:nvSpPr>
        <p:spPr>
          <a:xfrm>
            <a:off x="4786313" y="1568053"/>
            <a:ext cx="3786188" cy="2143125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4" name="Shape 19"/>
          <p:cNvSpPr/>
          <p:nvPr/>
        </p:nvSpPr>
        <p:spPr>
          <a:xfrm>
            <a:off x="4786313" y="1568053"/>
            <a:ext cx="28575" cy="2143125"/>
          </a:xfrm>
          <a:prstGeom prst="rect">
            <a:avLst/>
          </a:prstGeom>
          <a:solidFill>
            <a:srgbClr val="FF4500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5" name="Text 20"/>
          <p:cNvSpPr/>
          <p:nvPr/>
        </p:nvSpPr>
        <p:spPr>
          <a:xfrm>
            <a:off x="4957763" y="1739503"/>
            <a:ext cx="3443288" cy="1800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FF79C6"/>
                </a:solidFill>
              </a:rPr>
              <a:t>from</a:t>
            </a:r>
            <a:r>
              <a:rPr lang="en-US" sz="727" dirty="0">
                <a:solidFill>
                  <a:srgbClr val="E0E0E0"/>
                </a:solidFill>
              </a:rPr>
              <a:t> langchain_experimental.utilities </a:t>
            </a:r>
            <a:r>
              <a:rPr lang="en-US" sz="727" dirty="0">
                <a:solidFill>
                  <a:srgbClr val="FF79C6"/>
                </a:solidFill>
              </a:rPr>
              <a:t>import</a:t>
            </a:r>
            <a:r>
              <a:rPr lang="en-US" sz="727" dirty="0">
                <a:solidFill>
                  <a:srgbClr val="E0E0E0"/>
                </a:solidFill>
              </a:rPr>
              <a:t> PythonREPL
</a:t>
            </a:r>
            <a:r>
              <a:rPr lang="en-US" sz="727" dirty="0">
                <a:solidFill>
                  <a:srgbClr val="FF79C6"/>
                </a:solidFill>
              </a:rPr>
              <a:t>def</a:t>
            </a:r>
            <a:r>
              <a:rPr lang="en-US" sz="727" dirty="0">
                <a:solidFill>
                  <a:srgbClr val="8BE9FD"/>
                </a:solidFill>
              </a:rPr>
              <a:t>python_node</a:t>
            </a:r>
            <a:r>
              <a:rPr lang="en-US" sz="727" dirty="0">
                <a:solidFill>
                  <a:srgbClr val="E0E0E0"/>
                </a:solidFill>
              </a:rPr>
              <a:t>(state):
    code = state[</a:t>
            </a:r>
            <a:r>
              <a:rPr lang="en-US" sz="727" dirty="0">
                <a:solidFill>
                  <a:srgbClr val="F1FA8C"/>
                </a:solidFill>
              </a:rPr>
              <a:t>"code"</a:t>
            </a:r>
            <a:r>
              <a:rPr lang="en-US" sz="727" dirty="0">
                <a:solidFill>
                  <a:srgbClr val="E0E0E0"/>
                </a:solidFill>
              </a:rPr>
              <a:t>]
    repl = PythonREPL()
    </a:t>
            </a:r>
            <a:r>
              <a:rPr lang="en-US" sz="727" dirty="0">
                <a:solidFill>
                  <a:srgbClr val="FF79C6"/>
                </a:solidFill>
              </a:rPr>
              <a:t>try</a:t>
            </a:r>
            <a:r>
              <a:rPr lang="en-US" sz="727" dirty="0">
                <a:solidFill>
                  <a:srgbClr val="E0E0E0"/>
                </a:solidFill>
              </a:rPr>
              <a:t>:
        result = repl.run(code)
        </a:t>
            </a:r>
            <a:r>
              <a:rPr lang="en-US" sz="727" dirty="0">
                <a:solidFill>
                  <a:srgbClr val="FF79C6"/>
                </a:solidFill>
              </a:rPr>
              <a:t>return</a:t>
            </a:r>
            <a:r>
              <a:rPr lang="en-US" sz="727" dirty="0">
                <a:solidFill>
                  <a:srgbClr val="E0E0E0"/>
                </a:solidFill>
              </a:rPr>
              <a:t> {</a:t>
            </a:r>
            <a:r>
              <a:rPr lang="en-US" sz="727" dirty="0">
                <a:solidFill>
                  <a:srgbClr val="F1FA8C"/>
                </a:solidFill>
              </a:rPr>
              <a:t>"output"</a:t>
            </a:r>
            <a:r>
              <a:rPr lang="en-US" sz="727" dirty="0">
                <a:solidFill>
                  <a:srgbClr val="E0E0E0"/>
                </a:solidFill>
              </a:rPr>
              <a:t>: result}
    </a:t>
            </a:r>
            <a:r>
              <a:rPr lang="en-US" sz="727" dirty="0">
                <a:solidFill>
                  <a:srgbClr val="FF79C6"/>
                </a:solidFill>
              </a:rPr>
              <a:t>except</a:t>
            </a:r>
            <a:r>
              <a:rPr lang="en-US" sz="727" dirty="0">
                <a:solidFill>
                  <a:srgbClr val="E0E0E0"/>
                </a:solidFill>
              </a:rPr>
              <a:t> Exception </a:t>
            </a:r>
            <a:r>
              <a:rPr lang="en-US" sz="727" dirty="0">
                <a:solidFill>
                  <a:srgbClr val="FF79C6"/>
                </a:solidFill>
              </a:rPr>
              <a:t>as</a:t>
            </a:r>
            <a:r>
              <a:rPr lang="en-US" sz="727" dirty="0">
                <a:solidFill>
                  <a:srgbClr val="E0E0E0"/>
                </a:solidFill>
              </a:rPr>
              <a:t> e:
        </a:t>
            </a:r>
            <a:r>
              <a:rPr lang="en-US" sz="727" dirty="0">
                <a:solidFill>
                  <a:srgbClr val="6272A4"/>
                </a:solidFill>
              </a:rPr>
              <a:t># Возвращаем ошибку для исправления</a:t>
            </a:r>
            <a:r>
              <a:rPr lang="en-US" sz="727" dirty="0">
                <a:solidFill>
                  <a:srgbClr val="FF79C6"/>
                </a:solidFill>
              </a:rPr>
              <a:t>return</a:t>
            </a:r>
            <a:r>
              <a:rPr lang="en-US" sz="727" dirty="0">
                <a:solidFill>
                  <a:srgbClr val="E0E0E0"/>
                </a:solidFill>
              </a:rPr>
              <a:t> {</a:t>
            </a:r>
            <a:r>
              <a:rPr lang="en-US" sz="727" dirty="0">
                <a:solidFill>
                  <a:srgbClr val="F1FA8C"/>
                </a:solidFill>
              </a:rPr>
              <a:t>"error"</a:t>
            </a:r>
            <a:r>
              <a:rPr lang="en-US" sz="727" dirty="0">
                <a:solidFill>
                  <a:srgbClr val="E0E0E0"/>
                </a:solidFill>
              </a:rPr>
              <a:t>: </a:t>
            </a:r>
            <a:r>
              <a:rPr lang="en-US" sz="727" dirty="0">
                <a:solidFill>
                  <a:srgbClr val="8BE9FD"/>
                </a:solidFill>
              </a:rPr>
              <a:t>str</a:t>
            </a:r>
            <a:r>
              <a:rPr lang="en-US" sz="727" dirty="0">
                <a:solidFill>
                  <a:srgbClr val="E0E0E0"/>
                </a:solidFill>
              </a:rPr>
              <a:t>(e)}</a:t>
            </a:r>
            <a:endParaRPr lang="en-US" sz="727" dirty="0"/>
          </a:p>
        </p:txBody>
      </p:sp>
      <p:sp>
        <p:nvSpPr>
          <p:cNvPr id="26" name="Shape 21"/>
          <p:cNvSpPr/>
          <p:nvPr/>
        </p:nvSpPr>
        <p:spPr>
          <a:xfrm>
            <a:off x="4786313" y="3925491"/>
            <a:ext cx="3786188" cy="958658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7" name="Shape 22"/>
          <p:cNvSpPr/>
          <p:nvPr/>
        </p:nvSpPr>
        <p:spPr>
          <a:xfrm>
            <a:off x="4786313" y="3925491"/>
            <a:ext cx="28575" cy="958658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8" name="Text 23"/>
          <p:cNvSpPr/>
          <p:nvPr/>
        </p:nvSpPr>
        <p:spPr>
          <a:xfrm>
            <a:off x="4929188" y="4068366"/>
            <a:ext cx="350043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A1A1A"/>
                </a:solidFill>
              </a:rPr>
              <a:t>Результат</a:t>
            </a:r>
            <a:endParaRPr lang="en-US" sz="683" dirty="0"/>
          </a:p>
        </p:txBody>
      </p:sp>
      <p:sp>
        <p:nvSpPr>
          <p:cNvPr id="29" name="Text 24"/>
          <p:cNvSpPr/>
          <p:nvPr/>
        </p:nvSpPr>
        <p:spPr>
          <a:xfrm>
            <a:off x="4929188" y="4261247"/>
            <a:ext cx="3500438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Сокращение времени на EDA (Exploratory Data Analysis) в 5 раз. Возможность для не-технических пользователей задавать вопросы к данным.</a:t>
            </a:r>
            <a:endParaRPr lang="en-US" sz="834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572500" cy="660797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4" name="Shape 1"/>
          <p:cNvSpPr/>
          <p:nvPr/>
        </p:nvSpPr>
        <p:spPr>
          <a:xfrm>
            <a:off x="571500" y="428625"/>
            <a:ext cx="57150" cy="660797"/>
          </a:xfrm>
          <a:prstGeom prst="rect">
            <a:avLst/>
          </a:prstGeom>
          <a:solidFill>
            <a:srgbClr val="FF4500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5" name="Text 2"/>
          <p:cNvSpPr/>
          <p:nvPr/>
        </p:nvSpPr>
        <p:spPr>
          <a:xfrm>
            <a:off x="742950" y="428625"/>
            <a:ext cx="8401050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1A1A1A"/>
                </a:solidFill>
              </a:rPr>
              <a:t>Кейс 5: Multi-agent Collaboration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742950" y="894755"/>
            <a:ext cx="840105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555555"/>
                </a:solidFill>
              </a:rPr>
              <a:t>Команда специализированных агентов для разработки ПО</a:t>
            </a:r>
            <a:endParaRPr lang="en-US" sz="10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420713"/>
            <a:ext cx="178594" cy="14287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35819" y="1375172"/>
            <a:ext cx="900978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1A1A"/>
                </a:solidFill>
              </a:rPr>
              <a:t>Сценарий</a:t>
            </a:r>
            <a:endParaRPr lang="en-US" sz="1193" dirty="0"/>
          </a:p>
        </p:txBody>
      </p:sp>
      <p:sp>
        <p:nvSpPr>
          <p:cNvPr id="9" name="Text 5"/>
          <p:cNvSpPr/>
          <p:nvPr/>
        </p:nvSpPr>
        <p:spPr>
          <a:xfrm>
            <a:off x="571500" y="1716286"/>
            <a:ext cx="3786188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Разработка новой фичи требует написания кода, создания тестов и документации. Один агент часто путается в контексте.</a:t>
            </a:r>
            <a:endParaRPr lang="en-US" sz="942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697659"/>
            <a:ext cx="178594" cy="14287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35819" y="2652117"/>
            <a:ext cx="1198113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1A1A"/>
                </a:solidFill>
              </a:rPr>
              <a:t>Роли агентов</a:t>
            </a:r>
            <a:endParaRPr lang="en-US" sz="1193" dirty="0"/>
          </a:p>
        </p:txBody>
      </p:sp>
      <p:sp>
        <p:nvSpPr>
          <p:cNvPr id="12" name="Text 7"/>
          <p:cNvSpPr/>
          <p:nvPr/>
        </p:nvSpPr>
        <p:spPr>
          <a:xfrm>
            <a:off x="571500" y="2993231"/>
            <a:ext cx="53746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87" b="1" dirty="0">
                <a:solidFill>
                  <a:srgbClr val="FF4500"/>
                </a:solidFill>
              </a:rPr>
              <a:t>•</a:t>
            </a:r>
            <a:endParaRPr lang="en-US" sz="987" dirty="0"/>
          </a:p>
        </p:txBody>
      </p:sp>
      <p:sp>
        <p:nvSpPr>
          <p:cNvPr id="13" name="Text 8"/>
          <p:cNvSpPr/>
          <p:nvPr/>
        </p:nvSpPr>
        <p:spPr>
          <a:xfrm>
            <a:off x="714375" y="2993231"/>
            <a:ext cx="61243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1A1A"/>
                </a:solidFill>
              </a:rPr>
              <a:t>Developer:</a:t>
            </a:r>
            <a:endParaRPr lang="en-US" sz="784" dirty="0"/>
          </a:p>
        </p:txBody>
      </p:sp>
      <p:sp>
        <p:nvSpPr>
          <p:cNvPr id="14" name="Text 9"/>
          <p:cNvSpPr/>
          <p:nvPr/>
        </p:nvSpPr>
        <p:spPr>
          <a:xfrm>
            <a:off x="714375" y="2993231"/>
            <a:ext cx="3041954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555555"/>
                </a:solidFill>
              </a:rPr>
              <a:t>Пишет код на Python, исправляет ошибки синтаксиса.</a:t>
            </a:r>
            <a:endParaRPr lang="en-US" sz="834" dirty="0"/>
          </a:p>
        </p:txBody>
      </p:sp>
      <p:sp>
        <p:nvSpPr>
          <p:cNvPr id="15" name="Text 10"/>
          <p:cNvSpPr/>
          <p:nvPr/>
        </p:nvSpPr>
        <p:spPr>
          <a:xfrm>
            <a:off x="571500" y="3411141"/>
            <a:ext cx="53746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87" b="1" dirty="0">
                <a:solidFill>
                  <a:srgbClr val="FF4500"/>
                </a:solidFill>
              </a:rPr>
              <a:t>•</a:t>
            </a:r>
            <a:endParaRPr lang="en-US" sz="987" dirty="0"/>
          </a:p>
        </p:txBody>
      </p:sp>
      <p:sp>
        <p:nvSpPr>
          <p:cNvPr id="16" name="Text 11"/>
          <p:cNvSpPr/>
          <p:nvPr/>
        </p:nvSpPr>
        <p:spPr>
          <a:xfrm>
            <a:off x="714375" y="3411141"/>
            <a:ext cx="38417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1A1A"/>
                </a:solidFill>
              </a:rPr>
              <a:t>Tester:</a:t>
            </a:r>
            <a:endParaRPr lang="en-US" sz="784" dirty="0"/>
          </a:p>
        </p:txBody>
      </p:sp>
      <p:sp>
        <p:nvSpPr>
          <p:cNvPr id="17" name="Text 12"/>
          <p:cNvSpPr/>
          <p:nvPr/>
        </p:nvSpPr>
        <p:spPr>
          <a:xfrm>
            <a:off x="1134266" y="3411141"/>
            <a:ext cx="230441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555555"/>
                </a:solidFill>
              </a:rPr>
              <a:t>Пишет unit-тесты (pytest) и запускает их.</a:t>
            </a:r>
            <a:endParaRPr lang="en-US" sz="834" dirty="0"/>
          </a:p>
        </p:txBody>
      </p:sp>
      <p:sp>
        <p:nvSpPr>
          <p:cNvPr id="18" name="Text 13"/>
          <p:cNvSpPr/>
          <p:nvPr/>
        </p:nvSpPr>
        <p:spPr>
          <a:xfrm>
            <a:off x="571500" y="3673673"/>
            <a:ext cx="53746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87" b="1" dirty="0">
                <a:solidFill>
                  <a:srgbClr val="FF4500"/>
                </a:solidFill>
              </a:rPr>
              <a:t>•</a:t>
            </a:r>
            <a:endParaRPr lang="en-US" sz="987" dirty="0"/>
          </a:p>
        </p:txBody>
      </p:sp>
      <p:sp>
        <p:nvSpPr>
          <p:cNvPr id="19" name="Text 14"/>
          <p:cNvSpPr/>
          <p:nvPr/>
        </p:nvSpPr>
        <p:spPr>
          <a:xfrm>
            <a:off x="714375" y="3673673"/>
            <a:ext cx="68708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1A1A"/>
                </a:solidFill>
              </a:rPr>
              <a:t>Tech Writer:</a:t>
            </a:r>
            <a:endParaRPr lang="en-US" sz="784" dirty="0"/>
          </a:p>
        </p:txBody>
      </p:sp>
      <p:sp>
        <p:nvSpPr>
          <p:cNvPr id="20" name="Text 15"/>
          <p:cNvSpPr/>
          <p:nvPr/>
        </p:nvSpPr>
        <p:spPr>
          <a:xfrm>
            <a:off x="714375" y="3673673"/>
            <a:ext cx="3422805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555555"/>
                </a:solidFill>
              </a:rPr>
              <a:t>Создает документацию (README.md) на основе кода.</a:t>
            </a:r>
            <a:endParaRPr lang="en-US" sz="834" dirty="0"/>
          </a:p>
        </p:txBody>
      </p:sp>
      <p:sp>
        <p:nvSpPr>
          <p:cNvPr id="21" name="Text 16"/>
          <p:cNvSpPr/>
          <p:nvPr/>
        </p:nvSpPr>
        <p:spPr>
          <a:xfrm>
            <a:off x="571500" y="4091583"/>
            <a:ext cx="53746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87" b="1" dirty="0">
                <a:solidFill>
                  <a:srgbClr val="FF4500"/>
                </a:solidFill>
              </a:rPr>
              <a:t>•</a:t>
            </a:r>
            <a:endParaRPr lang="en-US" sz="987" dirty="0"/>
          </a:p>
        </p:txBody>
      </p:sp>
      <p:sp>
        <p:nvSpPr>
          <p:cNvPr id="22" name="Text 17"/>
          <p:cNvSpPr/>
          <p:nvPr/>
        </p:nvSpPr>
        <p:spPr>
          <a:xfrm>
            <a:off x="714375" y="4091583"/>
            <a:ext cx="64182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1A1A"/>
                </a:solidFill>
              </a:rPr>
              <a:t>Supervisor:</a:t>
            </a:r>
            <a:endParaRPr lang="en-US" sz="784" dirty="0"/>
          </a:p>
        </p:txBody>
      </p:sp>
      <p:sp>
        <p:nvSpPr>
          <p:cNvPr id="23" name="Text 18"/>
          <p:cNvSpPr/>
          <p:nvPr/>
        </p:nvSpPr>
        <p:spPr>
          <a:xfrm>
            <a:off x="1391915" y="4091583"/>
            <a:ext cx="223538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555555"/>
                </a:solidFill>
              </a:rPr>
              <a:t>Координирует процесс и передает ход.</a:t>
            </a:r>
            <a:endParaRPr lang="en-US" sz="834" dirty="0"/>
          </a:p>
        </p:txBody>
      </p:sp>
      <p:sp>
        <p:nvSpPr>
          <p:cNvPr id="24" name="Text 19"/>
          <p:cNvSpPr/>
          <p:nvPr/>
        </p:nvSpPr>
        <p:spPr>
          <a:xfrm>
            <a:off x="4786313" y="1375172"/>
            <a:ext cx="378618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kern="0" spc="1" dirty="0">
                <a:solidFill>
                  <a:srgbClr val="666666"/>
                </a:solidFill>
              </a:rPr>
              <a:t>Логика Supervisor</a:t>
            </a:r>
            <a:endParaRPr lang="en-US" sz="683" dirty="0"/>
          </a:p>
        </p:txBody>
      </p:sp>
      <p:sp>
        <p:nvSpPr>
          <p:cNvPr id="25" name="Shape 20"/>
          <p:cNvSpPr/>
          <p:nvPr/>
        </p:nvSpPr>
        <p:spPr>
          <a:xfrm>
            <a:off x="4786313" y="1568053"/>
            <a:ext cx="3786188" cy="2143125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6" name="Shape 21"/>
          <p:cNvSpPr/>
          <p:nvPr/>
        </p:nvSpPr>
        <p:spPr>
          <a:xfrm>
            <a:off x="4786313" y="1568053"/>
            <a:ext cx="28575" cy="2143125"/>
          </a:xfrm>
          <a:prstGeom prst="rect">
            <a:avLst/>
          </a:prstGeom>
          <a:solidFill>
            <a:srgbClr val="FF4500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7" name="Text 22"/>
          <p:cNvSpPr/>
          <p:nvPr/>
        </p:nvSpPr>
        <p:spPr>
          <a:xfrm>
            <a:off x="4957763" y="1739503"/>
            <a:ext cx="3443288" cy="1800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FF79C6"/>
                </a:solidFill>
              </a:rPr>
              <a:t>class</a:t>
            </a:r>
            <a:r>
              <a:rPr lang="en-US" sz="727" dirty="0">
                <a:solidFill>
                  <a:srgbClr val="8BE9FD"/>
                </a:solidFill>
              </a:rPr>
              <a:t>Route</a:t>
            </a:r>
            <a:r>
              <a:rPr lang="en-US" sz="727" dirty="0">
                <a:solidFill>
                  <a:srgbClr val="E0E0E0"/>
                </a:solidFill>
              </a:rPr>
              <a:t>(BaseModel):
    next: Literal[</a:t>
            </a:r>
            <a:r>
              <a:rPr lang="en-US" sz="727" dirty="0">
                <a:solidFill>
                  <a:srgbClr val="F1FA8C"/>
                </a:solidFill>
              </a:rPr>
              <a:t>"Developer"</a:t>
            </a:r>
            <a:r>
              <a:rPr lang="en-US" sz="727" dirty="0">
                <a:solidFill>
                  <a:srgbClr val="E0E0E0"/>
                </a:solidFill>
              </a:rPr>
              <a:t>, </a:t>
            </a:r>
            <a:r>
              <a:rPr lang="en-US" sz="727" dirty="0">
                <a:solidFill>
                  <a:srgbClr val="F1FA8C"/>
                </a:solidFill>
              </a:rPr>
              <a:t>"Tester"</a:t>
            </a:r>
            <a:r>
              <a:rPr lang="en-US" sz="727" dirty="0">
                <a:solidFill>
                  <a:srgbClr val="E0E0E0"/>
                </a:solidFill>
              </a:rPr>
              <a:t>, </a:t>
            </a:r>
            <a:r>
              <a:rPr lang="en-US" sz="727" dirty="0">
                <a:solidFill>
                  <a:srgbClr val="F1FA8C"/>
                </a:solidFill>
              </a:rPr>
              <a:t>"Writer"</a:t>
            </a:r>
            <a:r>
              <a:rPr lang="en-US" sz="727" dirty="0">
                <a:solidFill>
                  <a:srgbClr val="E0E0E0"/>
                </a:solidFill>
              </a:rPr>
              <a:t>, </a:t>
            </a:r>
            <a:r>
              <a:rPr lang="en-US" sz="727" dirty="0">
                <a:solidFill>
                  <a:srgbClr val="F1FA8C"/>
                </a:solidFill>
              </a:rPr>
              <a:t>"FINISH"</a:t>
            </a:r>
            <a:r>
              <a:rPr lang="en-US" sz="727" dirty="0">
                <a:solidFill>
                  <a:srgbClr val="E0E0E0"/>
                </a:solidFill>
              </a:rPr>
              <a:t>]
</a:t>
            </a:r>
            <a:r>
              <a:rPr lang="en-US" sz="727" dirty="0">
                <a:solidFill>
                  <a:srgbClr val="FF79C6"/>
                </a:solidFill>
              </a:rPr>
              <a:t>def</a:t>
            </a:r>
            <a:r>
              <a:rPr lang="en-US" sz="727" dirty="0">
                <a:solidFill>
                  <a:srgbClr val="8BE9FD"/>
                </a:solidFill>
              </a:rPr>
              <a:t>supervisor_node</a:t>
            </a:r>
            <a:r>
              <a:rPr lang="en-US" sz="727" dirty="0">
                <a:solidFill>
                  <a:srgbClr val="E0E0E0"/>
                </a:solidFill>
              </a:rPr>
              <a:t>(state):
    </a:t>
            </a:r>
            <a:r>
              <a:rPr lang="en-US" sz="727" dirty="0">
                <a:solidFill>
                  <a:srgbClr val="6272A4"/>
                </a:solidFill>
              </a:rPr>
              <a:t># LLM решает, кто работает следующим</a:t>
            </a:r>
            <a:r>
              <a:rPr lang="en-US" sz="727" dirty="0">
                <a:solidFill>
                  <a:srgbClr val="E0E0E0"/>
                </a:solidFill>
              </a:rPr>
              <a:t>
    decision = llm.with_structured_output(Route).invoke(
        </a:t>
            </a:r>
            <a:r>
              <a:rPr lang="en-US" sz="727" dirty="0">
                <a:solidFill>
                  <a:srgbClr val="F1FA8C"/>
                </a:solidFill>
              </a:rPr>
              <a:t>"Given the conversation, who should act next?"</a:t>
            </a:r>
            <a:r>
              <a:rPr lang="en-US" sz="727" dirty="0">
                <a:solidFill>
                  <a:srgbClr val="E0E0E0"/>
                </a:solidFill>
              </a:rPr>
              <a:t>
    )
    </a:t>
            </a:r>
            <a:r>
              <a:rPr lang="en-US" sz="727" dirty="0">
                <a:solidFill>
                  <a:srgbClr val="FF79C6"/>
                </a:solidFill>
              </a:rPr>
              <a:t>if</a:t>
            </a:r>
            <a:r>
              <a:rPr lang="en-US" sz="727" dirty="0">
                <a:solidFill>
                  <a:srgbClr val="E0E0E0"/>
                </a:solidFill>
              </a:rPr>
              <a:t> decision.next == </a:t>
            </a:r>
            <a:r>
              <a:rPr lang="en-US" sz="727" dirty="0">
                <a:solidFill>
                  <a:srgbClr val="F1FA8C"/>
                </a:solidFill>
              </a:rPr>
              <a:t>"FINISH"</a:t>
            </a:r>
            <a:r>
              <a:rPr lang="en-US" sz="727" dirty="0">
                <a:solidFill>
                  <a:srgbClr val="E0E0E0"/>
                </a:solidFill>
              </a:rPr>
              <a:t>:
        </a:t>
            </a:r>
            <a:r>
              <a:rPr lang="en-US" sz="727" dirty="0">
                <a:solidFill>
                  <a:srgbClr val="FF79C6"/>
                </a:solidFill>
              </a:rPr>
              <a:t>return</a:t>
            </a:r>
            <a:r>
              <a:rPr lang="en-US" sz="727" dirty="0">
                <a:solidFill>
                  <a:srgbClr val="E0E0E0"/>
                </a:solidFill>
              </a:rPr>
              <a:t> END
    </a:t>
            </a:r>
            <a:r>
              <a:rPr lang="en-US" sz="727" dirty="0">
                <a:solidFill>
                  <a:srgbClr val="FF79C6"/>
                </a:solidFill>
              </a:rPr>
              <a:t>return</a:t>
            </a:r>
            <a:r>
              <a:rPr lang="en-US" sz="727" dirty="0">
                <a:solidFill>
                  <a:srgbClr val="E0E0E0"/>
                </a:solidFill>
              </a:rPr>
              <a:t> decision.next</a:t>
            </a:r>
            <a:endParaRPr lang="en-US" sz="727" dirty="0"/>
          </a:p>
        </p:txBody>
      </p:sp>
      <p:sp>
        <p:nvSpPr>
          <p:cNvPr id="28" name="Shape 23"/>
          <p:cNvSpPr/>
          <p:nvPr/>
        </p:nvSpPr>
        <p:spPr>
          <a:xfrm>
            <a:off x="4786313" y="3925491"/>
            <a:ext cx="3786188" cy="958658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9" name="Shape 24"/>
          <p:cNvSpPr/>
          <p:nvPr/>
        </p:nvSpPr>
        <p:spPr>
          <a:xfrm>
            <a:off x="4786313" y="3925491"/>
            <a:ext cx="28575" cy="958658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30" name="Text 25"/>
          <p:cNvSpPr/>
          <p:nvPr/>
        </p:nvSpPr>
        <p:spPr>
          <a:xfrm>
            <a:off x="4929188" y="4068366"/>
            <a:ext cx="350043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A1A1A"/>
                </a:solidFill>
              </a:rPr>
              <a:t>Преимущества</a:t>
            </a:r>
            <a:endParaRPr lang="en-US" sz="683" dirty="0"/>
          </a:p>
        </p:txBody>
      </p:sp>
      <p:sp>
        <p:nvSpPr>
          <p:cNvPr id="31" name="Text 26"/>
          <p:cNvSpPr/>
          <p:nvPr/>
        </p:nvSpPr>
        <p:spPr>
          <a:xfrm>
            <a:off x="4929188" y="4261247"/>
            <a:ext cx="3500438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Каждый агент имеет свой системный промпт и набор инструментов. Это повышает качество кода и снижает вероятность "галлюцинаций".</a:t>
            </a:r>
            <a:endParaRPr lang="en-US" sz="834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572500" cy="660797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4" name="Shape 1"/>
          <p:cNvSpPr/>
          <p:nvPr/>
        </p:nvSpPr>
        <p:spPr>
          <a:xfrm>
            <a:off x="571500" y="428625"/>
            <a:ext cx="57150" cy="660797"/>
          </a:xfrm>
          <a:prstGeom prst="rect">
            <a:avLst/>
          </a:prstGeom>
          <a:solidFill>
            <a:srgbClr val="FF4500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5" name="Text 2"/>
          <p:cNvSpPr/>
          <p:nvPr/>
        </p:nvSpPr>
        <p:spPr>
          <a:xfrm>
            <a:off x="742950" y="428625"/>
            <a:ext cx="8401050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1A1A1A"/>
                </a:solidFill>
              </a:rPr>
              <a:t>Сравнение с альтернативами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742950" y="894755"/>
            <a:ext cx="840105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555555"/>
                </a:solidFill>
              </a:rPr>
              <a:t>Выбор правильного инструмента под задачу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71500" y="1303734"/>
            <a:ext cx="8001000" cy="3035591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8" name="Shape 5"/>
          <p:cNvSpPr/>
          <p:nvPr/>
        </p:nvSpPr>
        <p:spPr>
          <a:xfrm>
            <a:off x="571500" y="1303734"/>
            <a:ext cx="8001000" cy="14288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9" name="Text 6"/>
          <p:cNvSpPr/>
          <p:nvPr/>
        </p:nvSpPr>
        <p:spPr>
          <a:xfrm>
            <a:off x="571500" y="1303734"/>
            <a:ext cx="1846380" cy="333970"/>
          </a:xfrm>
          <a:prstGeom prst="rect">
            <a:avLst/>
          </a:prstGeom>
          <a:noFill/>
          <a:ln/>
        </p:spPr>
        <p:txBody>
          <a:bodyPr wrap="square" lIns="85090" tIns="102108" rIns="85090" bIns="102108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kern="0" spc="1" dirty="0">
                <a:solidFill>
                  <a:srgbClr val="555555"/>
                </a:solidFill>
              </a:rPr>
              <a:t>Framework</a:t>
            </a:r>
            <a:endParaRPr lang="en-US" sz="784" dirty="0"/>
          </a:p>
        </p:txBody>
      </p:sp>
      <p:sp>
        <p:nvSpPr>
          <p:cNvPr id="10" name="Text 7"/>
          <p:cNvSpPr/>
          <p:nvPr/>
        </p:nvSpPr>
        <p:spPr>
          <a:xfrm>
            <a:off x="2417880" y="1303734"/>
            <a:ext cx="2307961" cy="333970"/>
          </a:xfrm>
          <a:prstGeom prst="rect">
            <a:avLst/>
          </a:prstGeom>
          <a:noFill/>
          <a:ln/>
        </p:spPr>
        <p:txBody>
          <a:bodyPr wrap="square" lIns="85090" tIns="102108" rIns="85090" bIns="102108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kern="0" spc="1" dirty="0">
                <a:solidFill>
                  <a:srgbClr val="555555"/>
                </a:solidFill>
              </a:rPr>
              <a:t>Философия</a:t>
            </a:r>
            <a:endParaRPr lang="en-US" sz="784" dirty="0"/>
          </a:p>
        </p:txBody>
      </p:sp>
      <p:sp>
        <p:nvSpPr>
          <p:cNvPr id="11" name="Text 8"/>
          <p:cNvSpPr/>
          <p:nvPr/>
        </p:nvSpPr>
        <p:spPr>
          <a:xfrm>
            <a:off x="4725842" y="1303734"/>
            <a:ext cx="1538669" cy="333970"/>
          </a:xfrm>
          <a:prstGeom prst="rect">
            <a:avLst/>
          </a:prstGeom>
          <a:noFill/>
          <a:ln/>
        </p:spPr>
        <p:txBody>
          <a:bodyPr wrap="square" lIns="85090" tIns="102108" rIns="85090" bIns="102108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kern="0" spc="1" dirty="0">
                <a:solidFill>
                  <a:srgbClr val="555555"/>
                </a:solidFill>
              </a:rPr>
              <a:t>Уровень контроля</a:t>
            </a:r>
            <a:endParaRPr lang="en-US" sz="784" dirty="0"/>
          </a:p>
        </p:txBody>
      </p:sp>
      <p:sp>
        <p:nvSpPr>
          <p:cNvPr id="12" name="Text 9"/>
          <p:cNvSpPr/>
          <p:nvPr/>
        </p:nvSpPr>
        <p:spPr>
          <a:xfrm>
            <a:off x="6264511" y="1303734"/>
            <a:ext cx="2307989" cy="333970"/>
          </a:xfrm>
          <a:prstGeom prst="rect">
            <a:avLst/>
          </a:prstGeom>
          <a:noFill/>
          <a:ln/>
        </p:spPr>
        <p:txBody>
          <a:bodyPr wrap="square" lIns="85090" tIns="102108" rIns="85090" bIns="102108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kern="0" spc="1" dirty="0">
                <a:solidFill>
                  <a:srgbClr val="555555"/>
                </a:solidFill>
              </a:rPr>
              <a:t>Идеальный кейс</a:t>
            </a:r>
            <a:endParaRPr lang="en-US" sz="784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572500" cy="660797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4" name="Shape 1"/>
          <p:cNvSpPr/>
          <p:nvPr/>
        </p:nvSpPr>
        <p:spPr>
          <a:xfrm>
            <a:off x="571500" y="428625"/>
            <a:ext cx="57150" cy="660797"/>
          </a:xfrm>
          <a:prstGeom prst="rect">
            <a:avLst/>
          </a:prstGeom>
          <a:solidFill>
            <a:srgbClr val="FF4500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5" name="Text 2"/>
          <p:cNvSpPr/>
          <p:nvPr/>
        </p:nvSpPr>
        <p:spPr>
          <a:xfrm>
            <a:off x="742950" y="428625"/>
            <a:ext cx="8401050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1A1A1A"/>
                </a:solidFill>
              </a:rPr>
              <a:t>Best Practices и Anti-patterns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742950" y="894755"/>
            <a:ext cx="840105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555555"/>
                </a:solidFill>
              </a:rPr>
              <a:t>Как писать надежные и поддерживаемые графы</a:t>
            </a:r>
            <a:endParaRPr lang="en-US" sz="10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477863"/>
            <a:ext cx="171450" cy="1714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50106" y="1446609"/>
            <a:ext cx="627004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2E7D32"/>
                </a:solidFill>
              </a:rPr>
              <a:t>Do This</a:t>
            </a:r>
            <a:endParaRPr lang="en-US" sz="1193" dirty="0"/>
          </a:p>
        </p:txBody>
      </p:sp>
      <p:sp>
        <p:nvSpPr>
          <p:cNvPr id="9" name="Text 5"/>
          <p:cNvSpPr/>
          <p:nvPr/>
        </p:nvSpPr>
        <p:spPr>
          <a:xfrm>
            <a:off x="571500" y="2016323"/>
            <a:ext cx="371475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Явная схема состояния</a:t>
            </a:r>
            <a:endParaRPr lang="en-US" sz="885" dirty="0"/>
          </a:p>
        </p:txBody>
      </p:sp>
      <p:sp>
        <p:nvSpPr>
          <p:cNvPr id="10" name="Text 6"/>
          <p:cNvSpPr/>
          <p:nvPr/>
        </p:nvSpPr>
        <p:spPr>
          <a:xfrm>
            <a:off x="571500" y="2227064"/>
            <a:ext cx="37147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555555"/>
                </a:solidFill>
              </a:rPr>
              <a:t>Используйте Pydantic или TypedDict с аннотациями. Всегда знайте, какие данные входят и выходят из узла.</a:t>
            </a:r>
            <a:endParaRPr lang="en-US" sz="834" dirty="0"/>
          </a:p>
        </p:txBody>
      </p:sp>
      <p:sp>
        <p:nvSpPr>
          <p:cNvPr id="11" name="Text 7"/>
          <p:cNvSpPr/>
          <p:nvPr/>
        </p:nvSpPr>
        <p:spPr>
          <a:xfrm>
            <a:off x="571500" y="2748558"/>
            <a:ext cx="371475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Маленькие, сфокусированные узлы</a:t>
            </a:r>
            <a:endParaRPr lang="en-US" sz="885" dirty="0"/>
          </a:p>
        </p:txBody>
      </p:sp>
      <p:sp>
        <p:nvSpPr>
          <p:cNvPr id="12" name="Text 8"/>
          <p:cNvSpPr/>
          <p:nvPr/>
        </p:nvSpPr>
        <p:spPr>
          <a:xfrm>
            <a:off x="571500" y="2959298"/>
            <a:ext cx="37147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555555"/>
                </a:solidFill>
              </a:rPr>
              <a:t>Один узел = одна логическая операция. Это упрощает отладку и тестирование.</a:t>
            </a:r>
            <a:endParaRPr lang="en-US" sz="834" dirty="0"/>
          </a:p>
        </p:txBody>
      </p:sp>
      <p:sp>
        <p:nvSpPr>
          <p:cNvPr id="13" name="Text 9"/>
          <p:cNvSpPr/>
          <p:nvPr/>
        </p:nvSpPr>
        <p:spPr>
          <a:xfrm>
            <a:off x="571500" y="3480792"/>
            <a:ext cx="371475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Идемпотентность</a:t>
            </a:r>
            <a:endParaRPr lang="en-US" sz="885" dirty="0"/>
          </a:p>
        </p:txBody>
      </p:sp>
      <p:sp>
        <p:nvSpPr>
          <p:cNvPr id="14" name="Text 10"/>
          <p:cNvSpPr/>
          <p:nvPr/>
        </p:nvSpPr>
        <p:spPr>
          <a:xfrm>
            <a:off x="571500" y="3691533"/>
            <a:ext cx="37147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555555"/>
                </a:solidFill>
              </a:rPr>
              <a:t>Узлы должны быть способны перезапускаться без побочных эффектов (важно для Time Travel).</a:t>
            </a:r>
            <a:endParaRPr lang="en-US" sz="834" dirty="0"/>
          </a:p>
        </p:txBody>
      </p:sp>
      <p:sp>
        <p:nvSpPr>
          <p:cNvPr id="15" name="Text 11"/>
          <p:cNvSpPr/>
          <p:nvPr/>
        </p:nvSpPr>
        <p:spPr>
          <a:xfrm>
            <a:off x="571500" y="4213027"/>
            <a:ext cx="371475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Обработка ошибок внутри графа</a:t>
            </a:r>
            <a:endParaRPr lang="en-US" sz="885" dirty="0"/>
          </a:p>
        </p:txBody>
      </p:sp>
      <p:sp>
        <p:nvSpPr>
          <p:cNvPr id="16" name="Text 12"/>
          <p:cNvSpPr/>
          <p:nvPr/>
        </p:nvSpPr>
        <p:spPr>
          <a:xfrm>
            <a:off x="571500" y="4423767"/>
            <a:ext cx="37147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555555"/>
                </a:solidFill>
              </a:rPr>
              <a:t>Используйте условные ребра для маршрутизации ошибок, а не просто try-except внутри кода.</a:t>
            </a:r>
            <a:endParaRPr lang="en-US" sz="834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7750" y="1477863"/>
            <a:ext cx="171450" cy="17145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136356" y="1446609"/>
            <a:ext cx="876812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C62828"/>
                </a:solidFill>
              </a:rPr>
              <a:t>Avoid This</a:t>
            </a:r>
            <a:endParaRPr lang="en-US" sz="1193" dirty="0"/>
          </a:p>
        </p:txBody>
      </p:sp>
      <p:sp>
        <p:nvSpPr>
          <p:cNvPr id="19" name="Text 14"/>
          <p:cNvSpPr/>
          <p:nvPr/>
        </p:nvSpPr>
        <p:spPr>
          <a:xfrm>
            <a:off x="4857750" y="2016323"/>
            <a:ext cx="371475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God Node</a:t>
            </a:r>
            <a:endParaRPr lang="en-US" sz="885" dirty="0"/>
          </a:p>
        </p:txBody>
      </p:sp>
      <p:sp>
        <p:nvSpPr>
          <p:cNvPr id="20" name="Text 15"/>
          <p:cNvSpPr/>
          <p:nvPr/>
        </p:nvSpPr>
        <p:spPr>
          <a:xfrm>
            <a:off x="4857750" y="2227064"/>
            <a:ext cx="37147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555555"/>
                </a:solidFill>
              </a:rPr>
              <a:t>Один гигантский узел, который делает всё (поиск, анализ, генерацию). Разбейте его!</a:t>
            </a:r>
            <a:endParaRPr lang="en-US" sz="834" dirty="0"/>
          </a:p>
        </p:txBody>
      </p:sp>
      <p:sp>
        <p:nvSpPr>
          <p:cNvPr id="21" name="Text 16"/>
          <p:cNvSpPr/>
          <p:nvPr/>
        </p:nvSpPr>
        <p:spPr>
          <a:xfrm>
            <a:off x="4857750" y="2748558"/>
            <a:ext cx="371475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Неявные мутации состояния</a:t>
            </a:r>
            <a:endParaRPr lang="en-US" sz="885" dirty="0"/>
          </a:p>
        </p:txBody>
      </p:sp>
      <p:sp>
        <p:nvSpPr>
          <p:cNvPr id="22" name="Text 17"/>
          <p:cNvSpPr/>
          <p:nvPr/>
        </p:nvSpPr>
        <p:spPr>
          <a:xfrm>
            <a:off x="4857750" y="2959298"/>
            <a:ext cx="37147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555555"/>
                </a:solidFill>
              </a:rPr>
              <a:t>Изменение глобальных переменных или внешних объектов вместо возврата нового состояния.</a:t>
            </a:r>
            <a:endParaRPr lang="en-US" sz="834" dirty="0"/>
          </a:p>
        </p:txBody>
      </p:sp>
      <p:sp>
        <p:nvSpPr>
          <p:cNvPr id="23" name="Text 18"/>
          <p:cNvSpPr/>
          <p:nvPr/>
        </p:nvSpPr>
        <p:spPr>
          <a:xfrm>
            <a:off x="4857750" y="3480792"/>
            <a:ext cx="371475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Бесконечные циклы</a:t>
            </a:r>
            <a:endParaRPr lang="en-US" sz="885" dirty="0"/>
          </a:p>
        </p:txBody>
      </p:sp>
      <p:sp>
        <p:nvSpPr>
          <p:cNvPr id="24" name="Text 19"/>
          <p:cNvSpPr/>
          <p:nvPr/>
        </p:nvSpPr>
        <p:spPr>
          <a:xfrm>
            <a:off x="4857750" y="3691533"/>
            <a:ext cx="37147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555555"/>
                </a:solidFill>
              </a:rPr>
              <a:t>Отсутствие счетчика итераций или условия выхода в циклических графах.</a:t>
            </a:r>
            <a:endParaRPr lang="en-US" sz="834" dirty="0"/>
          </a:p>
        </p:txBody>
      </p:sp>
      <p:sp>
        <p:nvSpPr>
          <p:cNvPr id="25" name="Text 20"/>
          <p:cNvSpPr/>
          <p:nvPr/>
        </p:nvSpPr>
        <p:spPr>
          <a:xfrm>
            <a:off x="4857750" y="4213027"/>
            <a:ext cx="371475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Хардкод конфигурации</a:t>
            </a:r>
            <a:endParaRPr lang="en-US" sz="885" dirty="0"/>
          </a:p>
        </p:txBody>
      </p:sp>
      <p:sp>
        <p:nvSpPr>
          <p:cNvPr id="26" name="Text 21"/>
          <p:cNvSpPr/>
          <p:nvPr/>
        </p:nvSpPr>
        <p:spPr>
          <a:xfrm>
            <a:off x="4857750" y="4423767"/>
            <a:ext cx="37147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555555"/>
                </a:solidFill>
              </a:rPr>
              <a:t>Зашивание промптов и ключей в код узлов. Используйте `configurable` параметры.</a:t>
            </a:r>
            <a:endParaRPr lang="en-US" sz="834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572500" cy="660797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4" name="Shape 1"/>
          <p:cNvSpPr/>
          <p:nvPr/>
        </p:nvSpPr>
        <p:spPr>
          <a:xfrm>
            <a:off x="571500" y="428625"/>
            <a:ext cx="57150" cy="660797"/>
          </a:xfrm>
          <a:prstGeom prst="rect">
            <a:avLst/>
          </a:prstGeom>
          <a:solidFill>
            <a:srgbClr val="FF4500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5" name="Text 2"/>
          <p:cNvSpPr/>
          <p:nvPr/>
        </p:nvSpPr>
        <p:spPr>
          <a:xfrm>
            <a:off x="742950" y="428625"/>
            <a:ext cx="8401050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1A1A1A"/>
                </a:solidFill>
              </a:rPr>
              <a:t>Ресурсы и документация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742950" y="894755"/>
            <a:ext cx="840105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555555"/>
                </a:solidFill>
              </a:rPr>
              <a:t>Где изучать LangGraph и искать ответы</a:t>
            </a:r>
            <a:endParaRPr lang="en-US" sz="10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477863"/>
            <a:ext cx="150019" cy="1714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28675" y="1446609"/>
            <a:ext cx="2353503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1A1A"/>
                </a:solidFill>
              </a:rPr>
              <a:t>Официальные источники</a:t>
            </a:r>
            <a:endParaRPr lang="en-US" sz="1193" dirty="0"/>
          </a:p>
        </p:txBody>
      </p:sp>
      <p:sp>
        <p:nvSpPr>
          <p:cNvPr id="9" name="Text 5"/>
          <p:cNvSpPr/>
          <p:nvPr/>
        </p:nvSpPr>
        <p:spPr>
          <a:xfrm>
            <a:off x="571500" y="1909167"/>
            <a:ext cx="3786188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333333"/>
                </a:solidFill>
              </a:rPr>
              <a:t>LangGraph Documentation</a:t>
            </a:r>
            <a:endParaRPr lang="en-US" sz="987" dirty="0"/>
          </a:p>
        </p:txBody>
      </p:sp>
      <p:sp>
        <p:nvSpPr>
          <p:cNvPr id="10" name="Text 6"/>
          <p:cNvSpPr/>
          <p:nvPr/>
        </p:nvSpPr>
        <p:spPr>
          <a:xfrm>
            <a:off x="571500" y="2139553"/>
            <a:ext cx="3786188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555555"/>
                </a:solidFill>
              </a:rPr>
              <a:t>Полное руководство, API reference и концептуальные гайды.</a:t>
            </a:r>
            <a:endParaRPr lang="en-US" sz="834" dirty="0"/>
          </a:p>
        </p:txBody>
      </p:sp>
      <p:sp>
        <p:nvSpPr>
          <p:cNvPr id="11" name="Shape 7"/>
          <p:cNvSpPr/>
          <p:nvPr/>
        </p:nvSpPr>
        <p:spPr>
          <a:xfrm>
            <a:off x="571500" y="2356712"/>
            <a:ext cx="1937240" cy="192881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2" name="Text 8"/>
          <p:cNvSpPr/>
          <p:nvPr/>
        </p:nvSpPr>
        <p:spPr>
          <a:xfrm>
            <a:off x="571500" y="2356712"/>
            <a:ext cx="1937240" cy="192881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FF4500"/>
                </a:solidFill>
              </a:rPr>
              <a:t>python.langchain.com/docs/langgraph</a:t>
            </a:r>
            <a:endParaRPr lang="en-US" sz="727" dirty="0"/>
          </a:p>
        </p:txBody>
      </p:sp>
      <p:sp>
        <p:nvSpPr>
          <p:cNvPr id="13" name="Text 9"/>
          <p:cNvSpPr/>
          <p:nvPr/>
        </p:nvSpPr>
        <p:spPr>
          <a:xfrm>
            <a:off x="571500" y="2763906"/>
            <a:ext cx="3786188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333333"/>
                </a:solidFill>
              </a:rPr>
              <a:t>GitHub Repository</a:t>
            </a:r>
            <a:endParaRPr lang="en-US" sz="987" dirty="0"/>
          </a:p>
        </p:txBody>
      </p:sp>
      <p:sp>
        <p:nvSpPr>
          <p:cNvPr id="14" name="Text 10"/>
          <p:cNvSpPr/>
          <p:nvPr/>
        </p:nvSpPr>
        <p:spPr>
          <a:xfrm>
            <a:off x="571500" y="2994292"/>
            <a:ext cx="3786188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555555"/>
                </a:solidFill>
              </a:rPr>
              <a:t>Исходный код, issue tracker и примеры реализации.</a:t>
            </a:r>
            <a:endParaRPr lang="en-US" sz="834" dirty="0"/>
          </a:p>
        </p:txBody>
      </p:sp>
      <p:sp>
        <p:nvSpPr>
          <p:cNvPr id="15" name="Shape 11"/>
          <p:cNvSpPr/>
          <p:nvPr/>
        </p:nvSpPr>
        <p:spPr>
          <a:xfrm>
            <a:off x="571500" y="3211450"/>
            <a:ext cx="1784431" cy="192881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6" name="Text 12"/>
          <p:cNvSpPr/>
          <p:nvPr/>
        </p:nvSpPr>
        <p:spPr>
          <a:xfrm>
            <a:off x="571500" y="3211450"/>
            <a:ext cx="1784431" cy="192881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FF4500"/>
                </a:solidFill>
              </a:rPr>
              <a:t>github.com/langchain-ai/langgraph</a:t>
            </a:r>
            <a:endParaRPr lang="en-US" sz="727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6313" y="1477863"/>
            <a:ext cx="214313" cy="17145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107781" y="1446609"/>
            <a:ext cx="2179486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1A1A"/>
                </a:solidFill>
              </a:rPr>
              <a:t>Обучение и сообщество</a:t>
            </a:r>
            <a:endParaRPr lang="en-US" sz="1193" dirty="0"/>
          </a:p>
        </p:txBody>
      </p:sp>
      <p:sp>
        <p:nvSpPr>
          <p:cNvPr id="19" name="Text 14"/>
          <p:cNvSpPr/>
          <p:nvPr/>
        </p:nvSpPr>
        <p:spPr>
          <a:xfrm>
            <a:off x="4786313" y="1909167"/>
            <a:ext cx="3786188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333333"/>
                </a:solidFill>
              </a:rPr>
              <a:t>LangChain Academy</a:t>
            </a:r>
            <a:endParaRPr lang="en-US" sz="987" dirty="0"/>
          </a:p>
        </p:txBody>
      </p:sp>
      <p:sp>
        <p:nvSpPr>
          <p:cNvPr id="20" name="Text 15"/>
          <p:cNvSpPr/>
          <p:nvPr/>
        </p:nvSpPr>
        <p:spPr>
          <a:xfrm>
            <a:off x="4786313" y="2139553"/>
            <a:ext cx="3786188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555555"/>
                </a:solidFill>
              </a:rPr>
              <a:t>Бесплатные интерактивные курсы от создателей фреймворка.</a:t>
            </a:r>
            <a:endParaRPr lang="en-US" sz="834" dirty="0"/>
          </a:p>
        </p:txBody>
      </p:sp>
      <p:sp>
        <p:nvSpPr>
          <p:cNvPr id="21" name="Shape 16"/>
          <p:cNvSpPr/>
          <p:nvPr/>
        </p:nvSpPr>
        <p:spPr>
          <a:xfrm>
            <a:off x="4786313" y="2356712"/>
            <a:ext cx="1247366" cy="192881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2" name="Text 17"/>
          <p:cNvSpPr/>
          <p:nvPr/>
        </p:nvSpPr>
        <p:spPr>
          <a:xfrm>
            <a:off x="4786313" y="2356712"/>
            <a:ext cx="1247366" cy="192881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FF4500"/>
                </a:solidFill>
              </a:rPr>
              <a:t>academy.langchain.com</a:t>
            </a:r>
            <a:endParaRPr lang="en-US" sz="727" dirty="0"/>
          </a:p>
        </p:txBody>
      </p:sp>
      <p:sp>
        <p:nvSpPr>
          <p:cNvPr id="23" name="Text 18"/>
          <p:cNvSpPr/>
          <p:nvPr/>
        </p:nvSpPr>
        <p:spPr>
          <a:xfrm>
            <a:off x="4786313" y="2763906"/>
            <a:ext cx="3786188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333333"/>
                </a:solidFill>
              </a:rPr>
              <a:t>YouTube: LangChain</a:t>
            </a:r>
            <a:endParaRPr lang="en-US" sz="987" dirty="0"/>
          </a:p>
        </p:txBody>
      </p:sp>
      <p:sp>
        <p:nvSpPr>
          <p:cNvPr id="24" name="Text 19"/>
          <p:cNvSpPr/>
          <p:nvPr/>
        </p:nvSpPr>
        <p:spPr>
          <a:xfrm>
            <a:off x="4786313" y="2994292"/>
            <a:ext cx="3786188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555555"/>
                </a:solidFill>
              </a:rPr>
              <a:t>Видео-туториалы, разборы кейсов и вебинары.</a:t>
            </a:r>
            <a:endParaRPr lang="en-US" sz="834" dirty="0"/>
          </a:p>
        </p:txBody>
      </p:sp>
      <p:sp>
        <p:nvSpPr>
          <p:cNvPr id="25" name="Shape 20"/>
          <p:cNvSpPr/>
          <p:nvPr/>
        </p:nvSpPr>
        <p:spPr>
          <a:xfrm>
            <a:off x="4786313" y="3211450"/>
            <a:ext cx="1359964" cy="192881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6" name="Text 21"/>
          <p:cNvSpPr/>
          <p:nvPr/>
        </p:nvSpPr>
        <p:spPr>
          <a:xfrm>
            <a:off x="4786313" y="3211450"/>
            <a:ext cx="1359964" cy="192881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FF4500"/>
                </a:solidFill>
              </a:rPr>
              <a:t>youtube.com/@LangChain</a:t>
            </a:r>
            <a:endParaRPr lang="en-US" sz="727" dirty="0"/>
          </a:p>
        </p:txBody>
      </p:sp>
      <p:sp>
        <p:nvSpPr>
          <p:cNvPr id="27" name="Text 22"/>
          <p:cNvSpPr/>
          <p:nvPr/>
        </p:nvSpPr>
        <p:spPr>
          <a:xfrm>
            <a:off x="4786313" y="3618644"/>
            <a:ext cx="3786188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333333"/>
                </a:solidFill>
              </a:rPr>
              <a:t>LangGraph Examples Repo</a:t>
            </a:r>
            <a:endParaRPr lang="en-US" sz="987" dirty="0"/>
          </a:p>
        </p:txBody>
      </p:sp>
      <p:sp>
        <p:nvSpPr>
          <p:cNvPr id="28" name="Text 23"/>
          <p:cNvSpPr/>
          <p:nvPr/>
        </p:nvSpPr>
        <p:spPr>
          <a:xfrm>
            <a:off x="4786313" y="3849030"/>
            <a:ext cx="3786188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555555"/>
                </a:solidFill>
              </a:rPr>
              <a:t>Коллекция готовых примеров агентов (Customer Support, Coding, etc).</a:t>
            </a:r>
            <a:endParaRPr lang="en-US" sz="834" dirty="0"/>
          </a:p>
        </p:txBody>
      </p:sp>
      <p:sp>
        <p:nvSpPr>
          <p:cNvPr id="29" name="Shape 24"/>
          <p:cNvSpPr/>
          <p:nvPr/>
        </p:nvSpPr>
        <p:spPr>
          <a:xfrm>
            <a:off x="4786313" y="4226198"/>
            <a:ext cx="2770045" cy="192881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30" name="Text 25"/>
          <p:cNvSpPr/>
          <p:nvPr/>
        </p:nvSpPr>
        <p:spPr>
          <a:xfrm>
            <a:off x="4786313" y="4226198"/>
            <a:ext cx="2770045" cy="192881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FF4500"/>
                </a:solidFill>
              </a:rPr>
              <a:t>github.com/langchain-ai/langgraph/tree/main/examples</a:t>
            </a:r>
            <a:endParaRPr lang="en-US" sz="727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572500" cy="660797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4" name="Shape 1"/>
          <p:cNvSpPr/>
          <p:nvPr/>
        </p:nvSpPr>
        <p:spPr>
          <a:xfrm>
            <a:off x="571500" y="428625"/>
            <a:ext cx="57150" cy="660797"/>
          </a:xfrm>
          <a:prstGeom prst="rect">
            <a:avLst/>
          </a:prstGeom>
          <a:solidFill>
            <a:srgbClr val="FF4500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5" name="Text 2"/>
          <p:cNvSpPr/>
          <p:nvPr/>
        </p:nvSpPr>
        <p:spPr>
          <a:xfrm>
            <a:off x="742950" y="428625"/>
            <a:ext cx="8401050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1A1A1A"/>
                </a:solidFill>
              </a:rPr>
              <a:t>Roadmap и будущее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742950" y="894755"/>
            <a:ext cx="840105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555555"/>
                </a:solidFill>
              </a:rPr>
              <a:t>Вектор развития экосистемы LangGraph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71500" y="1618059"/>
            <a:ext cx="247648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kern="0" spc="1" dirty="0">
                <a:solidFill>
                  <a:srgbClr val="FF4500"/>
                </a:solidFill>
              </a:rPr>
              <a:t>Short-term (Q1-Q2 2025)</a:t>
            </a:r>
            <a:endParaRPr lang="en-US" sz="683" dirty="0"/>
          </a:p>
        </p:txBody>
      </p:sp>
      <p:sp>
        <p:nvSpPr>
          <p:cNvPr id="8" name="Text 5"/>
          <p:cNvSpPr/>
          <p:nvPr/>
        </p:nvSpPr>
        <p:spPr>
          <a:xfrm>
            <a:off x="571500" y="1789509"/>
            <a:ext cx="2476481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A1A1A"/>
                </a:solidFill>
              </a:rPr>
              <a:t>Core Stability</a:t>
            </a:r>
            <a:endParaRPr lang="en-US" sz="1397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307431"/>
            <a:ext cx="100013" cy="1143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42950" y="2277070"/>
            <a:ext cx="104323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33333"/>
                </a:solidFill>
              </a:rPr>
              <a:t>Python/JS Parity</a:t>
            </a:r>
            <a:endParaRPr lang="en-US" sz="885" dirty="0"/>
          </a:p>
        </p:txBody>
      </p:sp>
      <p:sp>
        <p:nvSpPr>
          <p:cNvPr id="11" name="Text 7"/>
          <p:cNvSpPr/>
          <p:nvPr/>
        </p:nvSpPr>
        <p:spPr>
          <a:xfrm>
            <a:off x="571500" y="2509242"/>
            <a:ext cx="2476481" cy="342900"/>
          </a:xfrm>
          <a:prstGeom prst="rect">
            <a:avLst/>
          </a:prstGeom>
          <a:noFill/>
          <a:ln/>
        </p:spPr>
        <p:txBody>
          <a:bodyPr wrap="square" lIns="221107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666666"/>
                </a:solidFill>
              </a:rPr>
              <a:t>Полная синхронизация функционала между Python и JavaScript SDK.</a:t>
            </a:r>
            <a:endParaRPr lang="en-US" sz="834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061097"/>
            <a:ext cx="85725" cy="1143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28663" y="3030736"/>
            <a:ext cx="132756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33333"/>
                </a:solidFill>
              </a:rPr>
              <a:t>Enhanced Streaming</a:t>
            </a:r>
            <a:endParaRPr lang="en-US" sz="885" dirty="0"/>
          </a:p>
        </p:txBody>
      </p:sp>
      <p:sp>
        <p:nvSpPr>
          <p:cNvPr id="14" name="Text 9"/>
          <p:cNvSpPr/>
          <p:nvPr/>
        </p:nvSpPr>
        <p:spPr>
          <a:xfrm>
            <a:off x="571500" y="3262908"/>
            <a:ext cx="2476481" cy="514350"/>
          </a:xfrm>
          <a:prstGeom prst="rect">
            <a:avLst/>
          </a:prstGeom>
          <a:noFill/>
          <a:ln/>
        </p:spPr>
        <p:txBody>
          <a:bodyPr wrap="square" lIns="221107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666666"/>
                </a:solidFill>
              </a:rPr>
              <a:t>Улучшенные API для потоковой передачи сложных типов данных и мультимедиа.</a:t>
            </a:r>
            <a:endParaRPr lang="en-US" sz="834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3986213"/>
            <a:ext cx="100013" cy="1143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742950" y="3955852"/>
            <a:ext cx="122186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33333"/>
                </a:solidFill>
              </a:rPr>
              <a:t>Documentation 2.0</a:t>
            </a:r>
            <a:endParaRPr lang="en-US" sz="885" dirty="0"/>
          </a:p>
        </p:txBody>
      </p:sp>
      <p:sp>
        <p:nvSpPr>
          <p:cNvPr id="17" name="Text 11"/>
          <p:cNvSpPr/>
          <p:nvPr/>
        </p:nvSpPr>
        <p:spPr>
          <a:xfrm>
            <a:off x="571500" y="4188023"/>
            <a:ext cx="2476481" cy="342900"/>
          </a:xfrm>
          <a:prstGeom prst="rect">
            <a:avLst/>
          </a:prstGeom>
          <a:noFill/>
          <a:ln/>
        </p:spPr>
        <p:txBody>
          <a:bodyPr wrap="square" lIns="221107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666666"/>
                </a:solidFill>
              </a:rPr>
              <a:t>Больше интерактивных примеров и готовых шаблонов архитектур.</a:t>
            </a:r>
            <a:endParaRPr lang="en-US" sz="834" dirty="0"/>
          </a:p>
        </p:txBody>
      </p:sp>
      <p:sp>
        <p:nvSpPr>
          <p:cNvPr id="18" name="Text 12"/>
          <p:cNvSpPr/>
          <p:nvPr/>
        </p:nvSpPr>
        <p:spPr>
          <a:xfrm>
            <a:off x="3333731" y="1618059"/>
            <a:ext cx="247650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kern="0" spc="1" dirty="0">
                <a:solidFill>
                  <a:srgbClr val="FF4500"/>
                </a:solidFill>
              </a:rPr>
              <a:t>Mid-term (2025-2026)</a:t>
            </a:r>
            <a:endParaRPr lang="en-US" sz="683" dirty="0"/>
          </a:p>
        </p:txBody>
      </p:sp>
      <p:sp>
        <p:nvSpPr>
          <p:cNvPr id="19" name="Text 13"/>
          <p:cNvSpPr/>
          <p:nvPr/>
        </p:nvSpPr>
        <p:spPr>
          <a:xfrm>
            <a:off x="3333731" y="1789509"/>
            <a:ext cx="2476509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A1A1A"/>
                </a:solidFill>
              </a:rPr>
              <a:t>Ecosystem</a:t>
            </a:r>
            <a:endParaRPr lang="en-US" sz="1397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33731" y="2307431"/>
            <a:ext cx="128588" cy="11430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3533756" y="2277070"/>
            <a:ext cx="118418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33333"/>
                </a:solidFill>
              </a:rPr>
              <a:t>Node Marketplace</a:t>
            </a:r>
            <a:endParaRPr lang="en-US" sz="885" dirty="0"/>
          </a:p>
        </p:txBody>
      </p:sp>
      <p:sp>
        <p:nvSpPr>
          <p:cNvPr id="22" name="Text 15"/>
          <p:cNvSpPr/>
          <p:nvPr/>
        </p:nvSpPr>
        <p:spPr>
          <a:xfrm>
            <a:off x="3333731" y="2509242"/>
            <a:ext cx="2476509" cy="342900"/>
          </a:xfrm>
          <a:prstGeom prst="rect">
            <a:avLst/>
          </a:prstGeom>
          <a:noFill/>
          <a:ln/>
        </p:spPr>
        <p:txBody>
          <a:bodyPr wrap="square" lIns="221107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666666"/>
                </a:solidFill>
              </a:rPr>
              <a:t>Репозиторий готовых, проверенных узлов и инструментов от сообщества.</a:t>
            </a:r>
            <a:endParaRPr lang="en-US" sz="834" dirty="0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33731" y="3061097"/>
            <a:ext cx="114300" cy="11430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3519469" y="3030736"/>
            <a:ext cx="122300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33333"/>
                </a:solidFill>
              </a:rPr>
              <a:t>Enterprise Security</a:t>
            </a:r>
            <a:endParaRPr lang="en-US" sz="885" dirty="0"/>
          </a:p>
        </p:txBody>
      </p:sp>
      <p:sp>
        <p:nvSpPr>
          <p:cNvPr id="25" name="Text 17"/>
          <p:cNvSpPr/>
          <p:nvPr/>
        </p:nvSpPr>
        <p:spPr>
          <a:xfrm>
            <a:off x="3333731" y="3262908"/>
            <a:ext cx="2476509" cy="342900"/>
          </a:xfrm>
          <a:prstGeom prst="rect">
            <a:avLst/>
          </a:prstGeom>
          <a:noFill/>
          <a:ln/>
        </p:spPr>
        <p:txBody>
          <a:bodyPr wrap="square" lIns="221107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666666"/>
                </a:solidFill>
              </a:rPr>
              <a:t>RBAC, аудит логов и приватные деплойменты "из коробки".</a:t>
            </a:r>
            <a:endParaRPr lang="en-US" sz="834" dirty="0"/>
          </a:p>
        </p:txBody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33731" y="3814763"/>
            <a:ext cx="114300" cy="114300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3519469" y="3784402"/>
            <a:ext cx="103333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33333"/>
                </a:solidFill>
              </a:rPr>
              <a:t>Auto-Evaluation</a:t>
            </a:r>
            <a:endParaRPr lang="en-US" sz="885" dirty="0"/>
          </a:p>
        </p:txBody>
      </p:sp>
      <p:sp>
        <p:nvSpPr>
          <p:cNvPr id="28" name="Text 19"/>
          <p:cNvSpPr/>
          <p:nvPr/>
        </p:nvSpPr>
        <p:spPr>
          <a:xfrm>
            <a:off x="3333731" y="4016573"/>
            <a:ext cx="2476509" cy="514350"/>
          </a:xfrm>
          <a:prstGeom prst="rect">
            <a:avLst/>
          </a:prstGeom>
          <a:noFill/>
          <a:ln/>
        </p:spPr>
        <p:txBody>
          <a:bodyPr wrap="square" lIns="221107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666666"/>
                </a:solidFill>
              </a:rPr>
              <a:t>Встроенные инструменты для автоматического тестирования качества агентов.</a:t>
            </a:r>
            <a:endParaRPr lang="en-US" sz="834" dirty="0"/>
          </a:p>
        </p:txBody>
      </p:sp>
      <p:sp>
        <p:nvSpPr>
          <p:cNvPr id="29" name="Text 20"/>
          <p:cNvSpPr/>
          <p:nvPr/>
        </p:nvSpPr>
        <p:spPr>
          <a:xfrm>
            <a:off x="6095991" y="1618059"/>
            <a:ext cx="247648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kern="0" spc="1" dirty="0">
                <a:solidFill>
                  <a:srgbClr val="FF4500"/>
                </a:solidFill>
              </a:rPr>
              <a:t>Long-term (Future)</a:t>
            </a:r>
            <a:endParaRPr lang="en-US" sz="683" dirty="0"/>
          </a:p>
        </p:txBody>
      </p:sp>
      <p:sp>
        <p:nvSpPr>
          <p:cNvPr id="30" name="Text 21"/>
          <p:cNvSpPr/>
          <p:nvPr/>
        </p:nvSpPr>
        <p:spPr>
          <a:xfrm>
            <a:off x="6095991" y="1789509"/>
            <a:ext cx="2476481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A1A1A"/>
                </a:solidFill>
              </a:rPr>
              <a:t>Autonomy</a:t>
            </a:r>
            <a:endParaRPr lang="en-US" sz="1397" dirty="0"/>
          </a:p>
        </p:txBody>
      </p:sp>
      <p:pic>
        <p:nvPicPr>
          <p:cNvPr id="31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95991" y="2307431"/>
            <a:ext cx="114300" cy="114300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6281728" y="2277070"/>
            <a:ext cx="142978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33333"/>
                </a:solidFill>
              </a:rPr>
              <a:t>Self-Improving Agents</a:t>
            </a:r>
            <a:endParaRPr lang="en-US" sz="885" dirty="0"/>
          </a:p>
        </p:txBody>
      </p:sp>
      <p:sp>
        <p:nvSpPr>
          <p:cNvPr id="33" name="Text 23"/>
          <p:cNvSpPr/>
          <p:nvPr/>
        </p:nvSpPr>
        <p:spPr>
          <a:xfrm>
            <a:off x="6095991" y="2509242"/>
            <a:ext cx="2476481" cy="514350"/>
          </a:xfrm>
          <a:prstGeom prst="rect">
            <a:avLst/>
          </a:prstGeom>
          <a:noFill/>
          <a:ln/>
        </p:spPr>
        <p:txBody>
          <a:bodyPr wrap="square" lIns="221107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666666"/>
                </a:solidFill>
              </a:rPr>
              <a:t>Агенты, способные самостоятельно оптимизировать свой граф на основе обратной связи.</a:t>
            </a:r>
            <a:endParaRPr lang="en-US" sz="834" dirty="0"/>
          </a:p>
        </p:txBody>
      </p:sp>
      <p:pic>
        <p:nvPicPr>
          <p:cNvPr id="34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95991" y="3232547"/>
            <a:ext cx="114300" cy="114300"/>
          </a:xfrm>
          <a:prstGeom prst="rect">
            <a:avLst/>
          </a:prstGeom>
        </p:spPr>
      </p:pic>
      <p:sp>
        <p:nvSpPr>
          <p:cNvPr id="35" name="Text 24"/>
          <p:cNvSpPr/>
          <p:nvPr/>
        </p:nvSpPr>
        <p:spPr>
          <a:xfrm>
            <a:off x="6281728" y="3202186"/>
            <a:ext cx="115499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33333"/>
                </a:solidFill>
              </a:rPr>
              <a:t>Standard Protocol</a:t>
            </a:r>
            <a:endParaRPr lang="en-US" sz="885" dirty="0"/>
          </a:p>
        </p:txBody>
      </p:sp>
      <p:sp>
        <p:nvSpPr>
          <p:cNvPr id="36" name="Text 25"/>
          <p:cNvSpPr/>
          <p:nvPr/>
        </p:nvSpPr>
        <p:spPr>
          <a:xfrm>
            <a:off x="6095991" y="3434358"/>
            <a:ext cx="2476481" cy="514350"/>
          </a:xfrm>
          <a:prstGeom prst="rect">
            <a:avLst/>
          </a:prstGeom>
          <a:noFill/>
          <a:ln/>
        </p:spPr>
        <p:txBody>
          <a:bodyPr wrap="square" lIns="221107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666666"/>
                </a:solidFill>
              </a:rPr>
              <a:t>Универсальный протокол взаимодействия агентов между разными платформами.</a:t>
            </a:r>
            <a:endParaRPr lang="en-US" sz="834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57250" y="1301055"/>
            <a:ext cx="8286750" cy="1257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145" b="1" dirty="0">
                <a:solidFill>
                  <a:srgbClr val="1A1A1A"/>
                </a:solidFill>
              </a:rPr>
              <a:t>Спасибо
за внимание!</a:t>
            </a:r>
            <a:endParaRPr lang="en-US" sz="4145" dirty="0"/>
          </a:p>
        </p:txBody>
      </p:sp>
      <p:sp>
        <p:nvSpPr>
          <p:cNvPr id="4" name="Text 1"/>
          <p:cNvSpPr/>
          <p:nvPr/>
        </p:nvSpPr>
        <p:spPr>
          <a:xfrm>
            <a:off x="857250" y="2701230"/>
            <a:ext cx="828675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4" dirty="0">
                <a:solidFill>
                  <a:srgbClr val="555555"/>
                </a:solidFill>
              </a:rPr>
              <a:t>Готов ответить на ваши вопросы</a:t>
            </a:r>
            <a:endParaRPr lang="en-US" sz="1704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3603129"/>
            <a:ext cx="94655" cy="10001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23342" y="3585270"/>
            <a:ext cx="948947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kern="0" spc="1" dirty="0">
                <a:solidFill>
                  <a:srgbClr val="FF4500"/>
                </a:solidFill>
              </a:rPr>
              <a:t>Документация</a:t>
            </a:r>
            <a:endParaRPr lang="en-US" sz="683" dirty="0"/>
          </a:p>
        </p:txBody>
      </p:sp>
      <p:sp>
        <p:nvSpPr>
          <p:cNvPr id="7" name="Text 3"/>
          <p:cNvSpPr/>
          <p:nvPr/>
        </p:nvSpPr>
        <p:spPr>
          <a:xfrm>
            <a:off x="857250" y="3792438"/>
            <a:ext cx="2190731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1A1A"/>
                </a:solidFill>
              </a:rPr>
              <a:t>python.langchain.com</a:t>
            </a:r>
            <a:endParaRPr lang="en-US" sz="987" dirty="0"/>
          </a:p>
        </p:txBody>
      </p:sp>
      <p:sp>
        <p:nvSpPr>
          <p:cNvPr id="8" name="Text 4"/>
          <p:cNvSpPr/>
          <p:nvPr/>
        </p:nvSpPr>
        <p:spPr>
          <a:xfrm>
            <a:off x="857250" y="4058543"/>
            <a:ext cx="219073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666666"/>
                </a:solidFill>
              </a:rPr>
              <a:t>Раздел LangGraph</a:t>
            </a:r>
            <a:endParaRPr lang="en-US" sz="834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3731" y="3603129"/>
            <a:ext cx="103584" cy="10001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508753" y="3585270"/>
            <a:ext cx="43141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kern="0" spc="1" dirty="0">
                <a:solidFill>
                  <a:srgbClr val="FF4500"/>
                </a:solidFill>
              </a:rPr>
              <a:t>GitHub</a:t>
            </a:r>
            <a:endParaRPr lang="en-US" sz="683" dirty="0"/>
          </a:p>
        </p:txBody>
      </p:sp>
      <p:sp>
        <p:nvSpPr>
          <p:cNvPr id="11" name="Text 6"/>
          <p:cNvSpPr/>
          <p:nvPr/>
        </p:nvSpPr>
        <p:spPr>
          <a:xfrm>
            <a:off x="3333731" y="3792438"/>
            <a:ext cx="2190759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1A1A"/>
                </a:solidFill>
              </a:rPr>
              <a:t>langchain-ai/langgraph</a:t>
            </a:r>
            <a:endParaRPr lang="en-US" sz="987" dirty="0"/>
          </a:p>
        </p:txBody>
      </p:sp>
      <p:sp>
        <p:nvSpPr>
          <p:cNvPr id="12" name="Text 7"/>
          <p:cNvSpPr/>
          <p:nvPr/>
        </p:nvSpPr>
        <p:spPr>
          <a:xfrm>
            <a:off x="3333731" y="4058543"/>
            <a:ext cx="219075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666666"/>
                </a:solidFill>
              </a:rPr>
              <a:t>Star us on GitHub!</a:t>
            </a:r>
            <a:endParaRPr lang="en-US" sz="834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0241" y="3603129"/>
            <a:ext cx="107156" cy="10001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988834" y="3585270"/>
            <a:ext cx="71038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kern="0" spc="1" dirty="0">
                <a:solidFill>
                  <a:srgbClr val="FF4500"/>
                </a:solidFill>
              </a:rPr>
              <a:t>Community</a:t>
            </a:r>
            <a:endParaRPr lang="en-US" sz="683" dirty="0"/>
          </a:p>
        </p:txBody>
      </p:sp>
      <p:sp>
        <p:nvSpPr>
          <p:cNvPr id="15" name="Text 9"/>
          <p:cNvSpPr/>
          <p:nvPr/>
        </p:nvSpPr>
        <p:spPr>
          <a:xfrm>
            <a:off x="5810241" y="3792438"/>
            <a:ext cx="2190731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1A1A"/>
                </a:solidFill>
              </a:rPr>
              <a:t>@LangChainAI</a:t>
            </a:r>
            <a:endParaRPr lang="en-US" sz="987" dirty="0"/>
          </a:p>
        </p:txBody>
      </p:sp>
      <p:sp>
        <p:nvSpPr>
          <p:cNvPr id="16" name="Text 10"/>
          <p:cNvSpPr/>
          <p:nvPr/>
        </p:nvSpPr>
        <p:spPr>
          <a:xfrm>
            <a:off x="5810241" y="4058543"/>
            <a:ext cx="219073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666666"/>
                </a:solidFill>
              </a:rPr>
              <a:t>Следите за обновлениями</a:t>
            </a:r>
            <a:endParaRPr lang="en-US" sz="834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5209</Words>
  <Application>Microsoft Macintosh PowerPoint</Application>
  <PresentationFormat>Экран (16:9)</PresentationFormat>
  <Paragraphs>579</Paragraphs>
  <Slides>35</Slides>
  <Notes>35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35</vt:i4>
      </vt:variant>
    </vt:vector>
  </HeadingPairs>
  <TitlesOfParts>
    <vt:vector size="37" baseType="lpstr"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Қалжанов Нұрлыхан Ерланұлы</cp:lastModifiedBy>
  <cp:revision>1</cp:revision>
  <dcterms:created xsi:type="dcterms:W3CDTF">2026-01-30T13:58:20Z</dcterms:created>
  <dcterms:modified xsi:type="dcterms:W3CDTF">2026-01-30T14:04:00Z</dcterms:modified>
</cp:coreProperties>
</file>