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06466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-457200"/>
            <a:ext cx="2743200" cy="27432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E8AA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ЛЕКЦИЯ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3716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Создание агента для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A5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углубленных исследований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Agent — от архитектуры до рабочего прототипа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347472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Повестка лекции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685800" cy="685800"/>
          </a:xfrm>
          <a:prstGeom prst="ellipse">
            <a:avLst/>
          </a:prstGeom>
          <a:solidFill>
            <a:srgbClr val="0646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4767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Концепция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00400" y="1325880"/>
            <a:ext cx="685800" cy="685800"/>
          </a:xfrm>
          <a:prstGeom prst="ellipse">
            <a:avLst/>
          </a:prstGeom>
          <a:solidFill>
            <a:srgbClr val="E06C7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6" y="147675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5176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75488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5394960" y="1325880"/>
            <a:ext cx="685800" cy="685800"/>
          </a:xfrm>
          <a:prstGeom prst="ellipse">
            <a:avLst/>
          </a:prstGeom>
          <a:solidFill>
            <a:srgbClr val="E8AA42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5836" y="147675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4632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Планирование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6949440" y="109728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589520" y="1325880"/>
            <a:ext cx="685800" cy="6858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0396" y="14767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40880" y="21488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Поиск</a:t>
            </a:r>
            <a:endParaRPr lang="en-US" sz="1500" dirty="0"/>
          </a:p>
        </p:txBody>
      </p:sp>
      <p:sp>
        <p:nvSpPr>
          <p:cNvPr id="20" name="Shape 14"/>
          <p:cNvSpPr/>
          <p:nvPr/>
        </p:nvSpPr>
        <p:spPr>
          <a:xfrm>
            <a:off x="36576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1005840" y="3291840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16" y="344271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720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</a:t>
            </a:r>
            <a:endParaRPr lang="en-US" sz="1500" dirty="0"/>
          </a:p>
        </p:txBody>
      </p:sp>
      <p:sp>
        <p:nvSpPr>
          <p:cNvPr id="24" name="Shape 17"/>
          <p:cNvSpPr/>
          <p:nvPr/>
        </p:nvSpPr>
        <p:spPr>
          <a:xfrm>
            <a:off x="256032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3200400" y="3291840"/>
            <a:ext cx="685800" cy="685800"/>
          </a:xfrm>
          <a:prstGeom prst="ellipse">
            <a:avLst/>
          </a:prstGeom>
          <a:solidFill>
            <a:srgbClr val="06466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1276" y="3442716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265176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</a:t>
            </a:r>
            <a:endParaRPr lang="en-US" sz="1500" dirty="0"/>
          </a:p>
        </p:txBody>
      </p:sp>
      <p:sp>
        <p:nvSpPr>
          <p:cNvPr id="28" name="Shape 20"/>
          <p:cNvSpPr/>
          <p:nvPr/>
        </p:nvSpPr>
        <p:spPr>
          <a:xfrm>
            <a:off x="475488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5394960" y="3291840"/>
            <a:ext cx="685800" cy="685800"/>
          </a:xfrm>
          <a:prstGeom prst="ellipse">
            <a:avLst/>
          </a:prstGeom>
          <a:solidFill>
            <a:srgbClr val="E8AA42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45836" y="3442716"/>
            <a:ext cx="384048" cy="38404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84632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</a:t>
            </a:r>
            <a:endParaRPr lang="en-US" sz="1500" dirty="0"/>
          </a:p>
        </p:txBody>
      </p:sp>
      <p:sp>
        <p:nvSpPr>
          <p:cNvPr id="32" name="Shape 23"/>
          <p:cNvSpPr/>
          <p:nvPr/>
        </p:nvSpPr>
        <p:spPr>
          <a:xfrm>
            <a:off x="6949440" y="3063240"/>
            <a:ext cx="201168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7589520" y="3291840"/>
            <a:ext cx="685800" cy="685800"/>
          </a:xfrm>
          <a:prstGeom prst="ellipse">
            <a:avLst/>
          </a:prstGeom>
          <a:solidFill>
            <a:srgbClr val="E06C75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40396" y="3442716"/>
            <a:ext cx="384048" cy="3840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40880" y="41148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Практика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657600" cy="36576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74320"/>
            <a:ext cx="91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0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77724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Research Agent —</a:t>
            </a:r>
            <a:endParaRPr lang="en-US" sz="2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это AI-система, которая</a:t>
            </a:r>
            <a:endParaRPr lang="en-US" sz="2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сама ищет, читает, проверяет</a:t>
            </a:r>
            <a:endParaRPr lang="en-US" sz="2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 пишет исчерпывающий отчёт.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EA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опытный аналитик — только в десятки раз быстрее.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Research Agent в цифрах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4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300+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страниц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 5 минут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Человеку на это нужен целый рабочий день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4612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324612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быстрее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429000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Чем ручной поиск, чтение и написание отчёта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1887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6400" dirty="0"/>
          </a:p>
        </p:txBody>
      </p:sp>
      <p:sp>
        <p:nvSpPr>
          <p:cNvPr id="14" name="Text 12"/>
          <p:cNvSpPr/>
          <p:nvPr/>
        </p:nvSpPr>
        <p:spPr>
          <a:xfrm>
            <a:off x="6172200" y="2468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без пауз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32004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устаёт, не отвлекается, не теряет фокус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Где применяется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0160" y="1234440"/>
            <a:ext cx="777240" cy="777240"/>
          </a:xfrm>
          <a:prstGeom prst="ellipse">
            <a:avLst/>
          </a:prstGeom>
          <a:solidFill>
            <a:srgbClr val="0646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1153" y="1405433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Научные обзоры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0515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06240" y="1234440"/>
            <a:ext cx="777240" cy="777240"/>
          </a:xfrm>
          <a:prstGeom prst="ellipse">
            <a:avLst/>
          </a:prstGeom>
          <a:solidFill>
            <a:srgbClr val="E8AA4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233" y="140543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33756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Конкурентная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разведка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172200" y="105156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7132320" y="1234440"/>
            <a:ext cx="777240" cy="77724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313" y="1405433"/>
            <a:ext cx="435254" cy="43525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263640" y="210312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Due Diligence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320040" y="3017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1280160" y="3200400"/>
            <a:ext cx="777240" cy="777240"/>
          </a:xfrm>
          <a:prstGeom prst="ellipse">
            <a:avLst/>
          </a:prstGeom>
          <a:solidFill>
            <a:srgbClr val="E06C75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153" y="3371393"/>
            <a:ext cx="435254" cy="43525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11480" y="4069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Журналистика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3246120" y="3017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206240" y="3200400"/>
            <a:ext cx="777240" cy="7772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7233" y="3371393"/>
            <a:ext cx="435254" cy="43525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337560" y="4069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Технический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6172200" y="3017520"/>
            <a:ext cx="274320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7132320" y="3200400"/>
            <a:ext cx="777240" cy="777240"/>
          </a:xfrm>
          <a:prstGeom prst="ellipse">
            <a:avLst/>
          </a:prstGeom>
          <a:solidFill>
            <a:srgbClr val="064663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03313" y="3371393"/>
            <a:ext cx="435254" cy="435254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263640" y="406908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Медицина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Существующие решения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7899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07899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Подход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0" y="107899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Плюсы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0" y="107899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Тип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087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OpenAI Deep Research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560320" y="1508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+ browsing, до 30 стр.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50876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Лучшее качество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0" y="1508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14884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14884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 Deep Research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60320" y="21488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+ Gemini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0" y="2148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0" y="21488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Закрытый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Perplexity Pro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2788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→ Extract → Generate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27889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Инлайн-цитаты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Полуоткрытый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29000"/>
            <a:ext cx="822960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4290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 Researcher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34290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Python-агент, OSS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0" y="3429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контроль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0080" y="42245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GPT Researcher — наш ориентир. Мы построим собственного агента с нуля, шаг за шагом.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Простой RAG vs Deep Research Agent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4864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Простой RAG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Ищет по заранее загруженным документам. Один запрос — один ответ, без итераций.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проверяет факты между источниками и не может сам искать в интернете.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— короткий текст в чате без структуры и цитирования.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 Research Agent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ищет в интернете, формулирует запросы, извлекает контент из десятков страниц.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Итеративно уточняет поиск, если данных мало. Cross-checking между источниками.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— полный отчёт с заголовками, выводами и списком ссылок.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1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 Deep Research Agent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этапов работы агента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064663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73736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9659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E06C75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56616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947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10B981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39496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235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8B5CF6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223760" y="1463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52360" y="109728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E8AA42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27432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этап — отдельный узел в графе LangGraph. Между Анализом и Планом существует обратная связь: если данных недостаточно, агент возвращается к поиску с уточнёнными подвопросами.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3 итерации — защита от бесконечного цикла. На практике обычно хватает 1–2 проходов для качественного отчёта.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State: память агента между этапами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узлы работают с общим объектом состояния. Каждый читает нужные поля, делает работу и записывает результат.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828800" cy="402336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51760" y="1645920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64592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 запрос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828800" cy="402336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12140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sub_queries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51760" y="2121408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212140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Подвопросы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96896"/>
            <a:ext cx="1828800" cy="40233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596896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51760" y="2596896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88920" y="2596896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Найденные URL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072384"/>
            <a:ext cx="1828800" cy="402336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072384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651760" y="3072384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88920" y="307238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Резюме источников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1828800" cy="402336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47872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3547872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788920" y="354787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анализа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1828800" cy="402336"/>
          </a:xfrm>
          <a:prstGeom prst="rect">
            <a:avLst/>
          </a:prstGeom>
          <a:solidFill>
            <a:srgbClr val="0EA5A0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023360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4023360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788920" y="4023360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 отчёт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498848"/>
            <a:ext cx="1828800" cy="40233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498848"/>
            <a:ext cx="1645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651760" y="4498848"/>
            <a:ext cx="603504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788920" y="4498848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Счётчик (max 3)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LangGraph?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846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— фреймворк от LangChain для агентов в виде графов состояний. Для исследовательского агента он идеален: поддерживает циклы (агент может вернуться к поиску), условные переходы (решает, куда двигаться), persistence (промежуточные состояния сохраняются) и streaming (пользователь видит прогресс).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Обычные цепочки (chains) так не умеют — они работают только линейно, без возврата к предыдущим шагам.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0" y="1051560"/>
            <a:ext cx="3108960" cy="3749040"/>
          </a:xfrm>
          <a:prstGeom prst="rect">
            <a:avLst/>
          </a:prstGeom>
          <a:solidFill>
            <a:srgbClr val="041C3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0" y="1280160"/>
            <a:ext cx="1828800" cy="475488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128016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75120" y="171907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938528"/>
            <a:ext cx="1828800" cy="475488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93852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237744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2596896"/>
            <a:ext cx="18288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59689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675120" y="3035808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0" y="3255264"/>
            <a:ext cx="182880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3255264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675120" y="3694176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0" y="3913632"/>
            <a:ext cx="1828800" cy="475488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391363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760720" y="32004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AA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↑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Ключевой момент: условный переход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анализа агент принимает решение: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0" y="1463040"/>
            <a:ext cx="2743200" cy="7315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4630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E06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↙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3657600" cy="1097280"/>
          </a:xfrm>
          <a:prstGeom prst="rect">
            <a:avLst/>
          </a:prstGeom>
          <a:solidFill>
            <a:srgbClr val="E06C75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6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Мало данных?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E06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Пробелы в покрытии?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Назад к Planner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подвопросы, фокус на пробелах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0" y="21945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↘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5029200" y="2743200"/>
            <a:ext cx="3657600" cy="109728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0" y="27889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Данных достаточно?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Тема покрыта?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12080" y="333756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Вперёд к Writer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финального отчёта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3 итерации. После третьего цикла — отчёт пишется с тем, что есть.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2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запросов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Почему нельзя просто загуглить?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Представьте: вы пишете дипломную работу на тему «Влияние ИИ на рынок труда». Вы не вбиваете это в Google одним запросом. Вы составляете план: какие аспекты изучить, какие данные найти, чьи мнения учесть.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 так же работает наш агент. Planner разбивает тему на 3–7 конкретных подвопросов.</a:t>
            </a: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endParaRPr lang="en-US" sz="17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даёт три вещи: всесторонний охват темы, точные результаты поиска и возможность параллельного поиска — что ускоряет работу в 3–5 раз.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Пример: от одного запроса к шести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14300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«Как ИИ влияет на рынок труда в 2025?»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737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2743200" cy="123444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86000"/>
            <a:ext cx="411480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автоматизации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2024–2025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194560"/>
            <a:ext cx="2743200" cy="1234440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83280" y="2286000"/>
            <a:ext cx="411480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8328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Профессии, подверженные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замене ИИ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94560"/>
            <a:ext cx="2743200" cy="12344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286000"/>
            <a:ext cx="411480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профессии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благодаря ИИ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2743200" cy="12344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749040"/>
            <a:ext cx="411480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Мнения ведущих экспертов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657600"/>
            <a:ext cx="2743200" cy="123444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3749040"/>
            <a:ext cx="411480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8328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Региональные различия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657600"/>
            <a:ext cx="2743200" cy="123444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309360" y="3749040"/>
            <a:ext cx="411480" cy="411480"/>
          </a:xfrm>
          <a:prstGeom prst="ellipse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09360" y="4160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Меры правительств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адаптации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Planner: вход → обработка → выход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560320" cy="3474720"/>
          </a:xfrm>
          <a:prstGeom prst="rect">
            <a:avLst/>
          </a:prstGeom>
          <a:solidFill>
            <a:srgbClr val="041C3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ВХОД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state["query"]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"Как ИИ влияет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 рынок труда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 2025 году?"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83464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8328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466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ОБРАБОТКА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(GPT-4o)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temperature=0.3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«Разбей запрос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3–7 конкретных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подвопросов.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Верни JSON-список.»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309360" y="1188720"/>
            <a:ext cx="2560320" cy="34747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2801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ВЫХОД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691640"/>
            <a:ext cx="2377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sub_queries: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"Статистика...",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"Профессии...",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"Эксперты...",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"Регионы...",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"Меры..."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iteration: +1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3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сбор информации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типа источников данных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4114800" cy="548640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Поисковые 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Tavily, SerpAPI, Brave.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Миллиарды страниц.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— лучший для агентов.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411480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Научные базы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Arxiv, PubMed, Semantic Scholar.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Абстракты, метаданные, PDF.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академических исследований.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4114800" cy="548640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Веб-скрапинг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" y="3749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BeautifulSoup, Playwright.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Прямое извлечение контента.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сайтов без API.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4114800" cy="5486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08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Специализированные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7490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Vantage, News API,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API.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Зависят от темы исследования.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Tavily API: поиск для AI-агентов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отличие от Google API, который возвращает лишь сниппеты, Tavily заходит на каждую страницу, извлекает текст и возвращает его вместе с оценкой релевантности.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экономит целый шаг pipeline — не нужно отдельно скрапить страницы.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advanced: глубокий анализ контента. Встроенная фильтрация по дате и домену. Оценка score от 0 до 1 для каждого результата.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94960" y="1051560"/>
            <a:ext cx="3383280" cy="2743200"/>
          </a:xfrm>
          <a:prstGeom prst="rect">
            <a:avLst/>
          </a:prstGeom>
          <a:solidFill>
            <a:srgbClr val="041C3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577840" y="1097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Сравнение 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77840" y="15087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Tavily         ★★★★★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SerpAPI        ★★★☆☆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CSE     ★★☆☆☆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Brave          ★★★☆☆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DuckDuckGo     ★★★☆☆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Бесплатный план Tavily: 1000 запросов/месяц — достаточно для экспериментов и домашнего задания.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Параллельный поиск: 5 секунд вместо 30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228600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Последовательно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1 → ждём 5 сек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2 → ждём 5 сек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3 → ждём 5 сек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4 → ждём 5 сек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Итого: ~25 секунд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51560"/>
            <a:ext cx="3931920" cy="228600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Параллельно (asyncio)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1 ─┐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2 ─┼→ одновременно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3 ─┤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Запрос 4 ─┘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Итого: ~5 секунд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566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объединения результатов: дедупликация (один URL может появиться для разных подвопросов), сортировка по score, ограничение до топ-20.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Извлечение: сигнал из шума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FF1F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3931920" cy="5029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Сырой HTML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▓▓▓▓▓▓▓▓▓▓▓▓▓▓▓▓▓▓▓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46888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шапка, навигация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▓▓▓▓▓▓▓▓▓▓▓▓▓▓▓▓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68880" y="202082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cookie-баннер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48640" y="2350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████████████████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68880" y="235000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НУЖНЫЙ ТЕКСТ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26791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████████████████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468880" y="26791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НУЖНЫЙ ТЕКСТ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300837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▓▓▓▓▓▓▓▓▓▓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68880" y="300837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реклама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████████████████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3375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НУЖНЫЙ ТЕКСТ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48640" y="366674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▓▓▓▓▓▓▓▓▓▓▓▓▓▓▓▓▓▓▓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68880" y="36667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комментарии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48640" y="3995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▓▓▓▓▓▓▓▓▓▓▓▓▓▓▓▓▓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39959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футер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2560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4846320" y="1051560"/>
            <a:ext cx="3931920" cy="37490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1051560"/>
            <a:ext cx="3931920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109728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После trafilatura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029200" y="1737360"/>
            <a:ext cx="356616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чистый текст статьи.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Шум удалён: навигация, реклама, комментарии — всё отброшено.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извлечения ~90% для новостных и аналитических сайтов.</a:t>
            </a: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endParaRPr lang="en-US" sz="1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Ограничение: ~5000 символов на источник, чтобы уложиться в контекстное окно LLM при обработке 15–20 источников одновременно.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4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и синтез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Фильтрация: от 20 источников к 10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все страницы полезны. «Мусорные» источники размывают отчёт. Фильтрация — критический этап.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1965960" cy="310896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8288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источников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Сырые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651760" y="2240280"/>
            <a:ext cx="1965960" cy="256032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743200" y="23774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Score ≥ 6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3977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ставит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оценку 1–10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2788920"/>
            <a:ext cx="1965960" cy="201168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9260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Дедупли-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кация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937760" y="3977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Удаление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одинаковых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30175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040880" y="3337560"/>
            <a:ext cx="1965960" cy="1463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34747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8–12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0" y="3977640"/>
            <a:ext cx="1783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Финальный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набор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LLM извлекает из каждого источника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280160" cy="1828800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2588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ФАКТЫ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828800" y="1188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«По данным McKinsey, к 2030 году 30% задач будут автоматизированы ИИ». Конкретные утверждения с данными.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51560"/>
            <a:ext cx="1280160" cy="1828800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132588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АРГУМЕНТЫ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17920" y="118872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Позиция автора, ключевые доводы «за» и «против», основные тезисы и выводы.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3063240"/>
            <a:ext cx="1280160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3375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ДАННЫЕ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828800" y="32004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Проценты, суммы, количества, результаты исследований — всё, что можно проверить и сравнить.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63240"/>
            <a:ext cx="1280160" cy="1828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337560"/>
            <a:ext cx="1188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ЦИТАТЫ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17920" y="320040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Прямые высказывания экспертов: «CEO компании X заявил, что...» — с указанием имени и должности.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Верификация: как агент проверяет факты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из главных рисков AI-отчётов — галлюцинации. Агент должен не просто компилировать информацию, но и проверять её. Четыре стратегии работают одновременно: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783080"/>
            <a:ext cx="2057400" cy="29718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9202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064663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3108960"/>
            <a:ext cx="16916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факт 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источника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783080"/>
            <a:ext cx="2057400" cy="29718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51760" y="19202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10B981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0" y="3108960"/>
            <a:ext cx="16916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.gov .edu 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высокий вес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1783080"/>
            <a:ext cx="2057400" cy="29718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9202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E8AA42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83480" y="3108960"/>
            <a:ext cx="16916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года →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«устаревшее»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1783080"/>
            <a:ext cx="2057400" cy="297180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9202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E06C75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23760" y="3108960"/>
            <a:ext cx="1691640" cy="3657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29184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PR, коммерция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пометка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Analyzer: мозг агента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Analyzer получает все резюме источников и отвечает на 4 вопроса. Его ответ определяет, куда пойдёт граф: назад к поиску или вперёд к написанию отчёта.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7680960" cy="502920"/>
          </a:xfrm>
          <a:prstGeom prst="rect">
            <a:avLst/>
          </a:prstGeom>
          <a:solidFill>
            <a:srgbClr val="064663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73152" cy="502920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3055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выводы поддерживаются большинством источников?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7680960" cy="502920"/>
          </a:xfrm>
          <a:prstGeom prst="rect">
            <a:avLst/>
          </a:prstGeom>
          <a:solidFill>
            <a:srgbClr val="E06C75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2743200"/>
            <a:ext cx="73152" cy="50292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77063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источники противоречат друг другу?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383280"/>
            <a:ext cx="7680960" cy="502920"/>
          </a:xfrm>
          <a:prstGeom prst="rect">
            <a:avLst/>
          </a:prstGeom>
          <a:solidFill>
            <a:srgbClr val="E8AA42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" cy="502920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41071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аспекты темы остались не покрыты?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7680960" cy="502920"/>
          </a:xfrm>
          <a:prstGeom prst="rect">
            <a:avLst/>
          </a:prstGeom>
          <a:solidFill>
            <a:srgbClr val="10B98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4023360"/>
            <a:ext cx="73152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050792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Достаточно ли данных для качественного отчёта?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ответ на последний вопрос «нет» — агент возвращается к Planner с фокусом на пробелах.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Loop: итеративное уточнение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Самая мощная особенность нашего агента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7680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Analyzer решает, что данных недостаточно, агент не сдаётся — он возвращается к Planner и формулирует новые подвопросы, фокусируясь на обнаруженных пробелах.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имитирует реальный исследовательский процесс: вы читаете статьи, понимаете, что чего-то не хватает, и ищете дополнительную информацию. Наш агент делает это автоматически.</a:t>
            </a: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endParaRPr lang="en-US" sz="14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условия для продолжения цикла: найдено менее 5 источников, Analyzer явно указал на пробелы, или не превышен лимит в 3 итерации. После третьего цикла агент в любом случае переходит к написанию отчёта.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5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отчёта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Структура отчёта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7772400" cy="45720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2412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2529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суть для тех, у кого 2 минуты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5727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77393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 и цель исследования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1214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Основные выводы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32257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ключевых находок со ссылками [1], [2]…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67004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Детальный анализ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4360" y="2871216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Разделы по подтемам: аргументы, данные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5029200" cy="45720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1868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Противоречия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341985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источники расходятся и почему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749040"/>
            <a:ext cx="4114800" cy="457200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767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Заключение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396849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Итоги, рекомендации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297680"/>
            <a:ext cx="3200400" cy="45720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315968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Источники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517136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URL с заголовками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48640" y="4663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Длина полосы ≈ относительный объём раздела. Основные выводы и анализ — самые объёмные части.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принципов отчёта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1051560"/>
            <a:ext cx="1645920" cy="374904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914400" cy="914400"/>
          </a:xfrm>
          <a:prstGeom prst="ellipse">
            <a:avLst/>
          </a:prstGeom>
          <a:solidFill>
            <a:srgbClr val="06466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435608"/>
            <a:ext cx="512064" cy="5120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Объективность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точки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зрения представлены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равноценно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75104" y="1051560"/>
            <a:ext cx="1645920" cy="374904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340864" y="1234440"/>
            <a:ext cx="914400" cy="914400"/>
          </a:xfrm>
          <a:prstGeom prst="ellipse">
            <a:avLst/>
          </a:prstGeom>
          <a:solidFill>
            <a:srgbClr val="E8AA4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1435608"/>
            <a:ext cx="512064" cy="5120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6544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Доказательность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066544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тезис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подкреплён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ссылкой [N]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767328" y="1051560"/>
            <a:ext cx="1645920" cy="37490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133088" y="1234440"/>
            <a:ext cx="914400" cy="9144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435608"/>
            <a:ext cx="512064" cy="5120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58768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Структурность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3858768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Чёткие заголовки,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навигация за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секунд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559552" y="1051560"/>
            <a:ext cx="1645920" cy="374904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925312" y="12344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43560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650992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Читаемость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650992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Короткие абзацы,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понятный язык,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51776" y="1051560"/>
            <a:ext cx="1645920" cy="3749040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17536" y="1234440"/>
            <a:ext cx="914400" cy="914400"/>
          </a:xfrm>
          <a:prstGeom prst="ellipse">
            <a:avLst/>
          </a:prstGeom>
          <a:solidFill>
            <a:srgbClr val="E06C7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1435608"/>
            <a:ext cx="512064" cy="5120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443216" y="228600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Актуальность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443216" y="2743200"/>
            <a:ext cx="14630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свежим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данным, даты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указаны везде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6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Реализация на LangGraph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Сборка графа: 7 шагов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9224" y="1417320"/>
            <a:ext cx="73152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0" cy="457200"/>
          </a:xfrm>
          <a:prstGeom prst="ellipse">
            <a:avLst/>
          </a:prstGeom>
          <a:solidFill>
            <a:srgbClr val="06466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Создать StateGraph(ResearchState)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" y="1965960"/>
            <a:ext cx="73152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600200"/>
            <a:ext cx="457200" cy="45720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160020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5 узлов: planner, searcher, extractor, analyzer, writer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9224" y="2514600"/>
            <a:ext cx="73152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214884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Начальная точка: set_entry_point('planner')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" y="3063240"/>
            <a:ext cx="73152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697480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269748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Линейные связи: planner → searcher → extractor → analyzer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" y="3611880"/>
            <a:ext cx="73152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E8AA42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Условный переход: analyzer → planner ИЛИ writer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9224" y="4160520"/>
            <a:ext cx="73152" cy="18288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064663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794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79476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Финал: writer → END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343400"/>
            <a:ext cx="457200" cy="457200"/>
          </a:xfrm>
          <a:prstGeom prst="ellipse">
            <a:avLst/>
          </a:prstGeom>
          <a:solidFill>
            <a:srgbClr val="E06C75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97280" y="4343400"/>
            <a:ext cx="7589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Компиляция: workflow.compile()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Запуск: пошаговый прогресс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Запрос: «Как квантовые компьютеры повлияют на криптографию?»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" y="1600200"/>
            <a:ext cx="1645920" cy="228600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0:03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Planner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8600" y="2743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подвопросов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сгенерированы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965960" y="1600200"/>
            <a:ext cx="1645920" cy="2286000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659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0:11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9659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57400" y="2743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→ 18 после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дедупликации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1600200"/>
            <a:ext cx="1645920" cy="22860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947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0:16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947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886200" y="2743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из 18 стр.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обработаны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23560" y="1600200"/>
            <a:ext cx="1645920" cy="2286000"/>
          </a:xfrm>
          <a:prstGeom prst="rect">
            <a:avLst/>
          </a:prstGeom>
          <a:solidFill>
            <a:srgbClr val="8B5CF6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6235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0:22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235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Analyzer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15000" y="2743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 достаточно,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противоречия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452360" y="1600200"/>
            <a:ext cx="1645920" cy="228600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5236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0:37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452360" y="21031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Writer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3800" y="274320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3000 слов,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ссылок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37 секунд вместо 3–4 часов ручной работы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Минимальный код сборки графа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0C234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143000"/>
            <a:ext cx="7955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langgraph.graph import StateGraph, END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= StateGraph(ResearchState)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workflow.add_node("planner", planner_node)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workflow.add_node("searcher", searcher_node)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workflow.add_node("extractor", extractor_node)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workflow.add_node("analyzer", analyzer_node)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workflow.add_node("writer", writer_node)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workflow.set_entry_point("planner")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workflow.add_edge("planner", "searcher")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workflow.add_edge("searcher", "extractor")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workflow.add_edge("extractor", "analyzer")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workflow.add_conditional_edges(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"analyzer", should_continue,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{"refine_search": "planner",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"write_report": "writer"}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workflow.add_edge("writer", END)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research_agent = workflow.compile()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62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0EA5A0">
              <a:alpha val="6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2296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Часть 7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32918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Улучшения и подводные камни</a:t>
            </a:r>
            <a:endParaRPr lang="en-US" sz="1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продвинутых улучшения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114800" cy="182880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34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Мультимодальный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поиск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2057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models анализируют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графики и таблицы из PDF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051560"/>
            <a:ext cx="4114800" cy="182880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234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RAG-хранилище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983480" y="20574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Векторная БД кэширует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между запусками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4114800" cy="1828800"/>
          </a:xfrm>
          <a:prstGeom prst="rect">
            <a:avLst/>
          </a:prstGeom>
          <a:solidFill>
            <a:srgbClr val="E06C7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46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Human-in-the-loop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 корректирует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направление после анализа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114800" cy="1828800"/>
          </a:xfrm>
          <a:prstGeom prst="rect">
            <a:avLst/>
          </a:prstGeom>
          <a:solidFill>
            <a:srgbClr val="E8AA42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83480" y="324612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 вывод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983480" y="406908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каждого шага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реальном времени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6C7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Подводные камни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657600" cy="594360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7899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Галлюцинации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0" y="1069848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выдумывает факты 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Промпт: «ТОЛЬКО из источников»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764792"/>
            <a:ext cx="3657600" cy="594360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9222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Бесконечный цикл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0" y="1783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Некорректное условие выхода 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Лимит: max 3 итерации + таймаут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78024"/>
            <a:ext cx="3657600" cy="5943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5054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Переполнение контекста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496312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× 5K = 100K символов 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Суммаризация до 500–1000 слов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91256"/>
            <a:ext cx="3657600" cy="594360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2186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Стоимость API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3209544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$0.50–$2 за исследование 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Кэширование + mini-модели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904488"/>
            <a:ext cx="3657600" cy="5943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31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Скорость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0" y="3922776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сек – 3 мин →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+ обновления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Лучшие практики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3 итерации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20 источников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важнее количества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234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Цитирование [N]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факт — со ссылкой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05156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05156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3444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Чанкинг 3–4K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20574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Точнее, чем длинные тексты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246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Кэширование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069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повторять одинаковые запросы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3246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Логирование State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4069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без перезапуска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06324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3063240"/>
            <a:ext cx="274320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324612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23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Модель по задаче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406908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 для точности,</a:t>
            </a:r>
            <a:endParaRPr lang="en-US" sz="12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для экономии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0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41C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Практическое задание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74904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A4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Постройте своего Deep Research Agent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7680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с определения ResearchState — TypedDict со всеми 7 полями. Затем напишите Planner: промпт для декомпозиции, проверьте, что он стабильно выдаёт 3–7 подвопросов в JSON.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Подключите Tavily (бесплатный план на tavily.com) — реализуйте параллельный поиск с asyncio.gather и дедупликацией. Добавьте Extractor на основе trafilatura и Analyzer, который оценивает «достаточно ли данных».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Напишите Writer с промптом для структурированного отчёта — обязательно цитирование [N] и список источников. Соберите всё в граф LangGraph, добавьте условный переход. Протестируйте на 2–3 разных темах.</a:t>
            </a: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endParaRPr lang="en-US" sz="13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Бонус: подключите Arxiv API или News API как второй источник параллельно с Tavily.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41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064663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3657600" cy="3657600"/>
          </a:xfrm>
          <a:prstGeom prst="ellipse">
            <a:avLst/>
          </a:prstGeom>
          <a:solidFill>
            <a:srgbClr val="0EA5A0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Итоги лекции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828800" cy="475488"/>
          </a:xfrm>
          <a:prstGeom prst="rect">
            <a:avLst/>
          </a:prstGeom>
          <a:solidFill>
            <a:srgbClr val="06466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05840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Архитектура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Search → Extract → Analyze → Write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72768"/>
            <a:ext cx="1828800" cy="475488"/>
          </a:xfrm>
          <a:prstGeom prst="rect">
            <a:avLst/>
          </a:prstGeom>
          <a:solidFill>
            <a:srgbClr val="E06C7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Поиск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0" y="1572768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Параллельный через Tavily + дедупликация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139696"/>
            <a:ext cx="1828800" cy="4754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39696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Анализ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139696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+ суммаризация + cross-checking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06624"/>
            <a:ext cx="1828800" cy="475488"/>
          </a:xfrm>
          <a:prstGeom prst="rect">
            <a:avLst/>
          </a:prstGeom>
          <a:solidFill>
            <a:srgbClr val="E8AA42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06624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Отчёт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60320" y="2706624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+ цитирование [N] + список источников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273552"/>
            <a:ext cx="1828800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73552"/>
            <a:ext cx="1645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Реализация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3273552"/>
            <a:ext cx="6035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LangGraph: 5 узлов, цикл, max 3 итерации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solidFill>
            <a:srgbClr val="064663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51960"/>
            <a:ext cx="457200" cy="4572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371600" y="416052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Следующая лекция: Память и состояние агентов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5: Deep Research Agent</dc:title>
  <dc:subject>PptxGenJS Presentation</dc:subject>
  <dc:creator>PptxGenJS</dc:creator>
  <cp:lastModifiedBy>PptxGenJS</cp:lastModifiedBy>
  <cp:revision>1</cp:revision>
  <dcterms:created xsi:type="dcterms:W3CDTF">2026-02-27T13:34:00Z</dcterms:created>
  <dcterms:modified xsi:type="dcterms:W3CDTF">2026-02-27T13:34:00Z</dcterms:modified>
</cp:coreProperties>
</file>