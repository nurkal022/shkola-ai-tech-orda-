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6" r:id="rId4"/>
    <p:sldId id="268" r:id="rId5"/>
    <p:sldId id="258" r:id="rId6"/>
    <p:sldId id="267" r:id="rId7"/>
    <p:sldId id="269" r:id="rId8"/>
    <p:sldId id="259" r:id="rId9"/>
    <p:sldId id="270" r:id="rId10"/>
    <p:sldId id="260" r:id="rId11"/>
    <p:sldId id="261" r:id="rId12"/>
    <p:sldId id="262" r:id="rId13"/>
    <p:sldId id="271" r:id="rId14"/>
    <p:sldId id="263" r:id="rId15"/>
    <p:sldId id="264"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60"/>
    <p:restoredTop sz="94610"/>
  </p:normalViewPr>
  <p:slideViewPr>
    <p:cSldViewPr snapToGrid="0" snapToObjects="1">
      <p:cViewPr>
        <p:scale>
          <a:sx n="142" d="100"/>
          <a:sy n="142" d="100"/>
        </p:scale>
        <p:origin x="1816" y="1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214EE5-DAFD-4ACE-AB63-1191A7A34BE3}"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FBD63D5F-1513-42F6-861B-811FD5C772D8}">
      <dgm:prSet/>
      <dgm:spPr/>
      <dgm:t>
        <a:bodyPr/>
        <a:lstStyle/>
        <a:p>
          <a:r>
            <a:rPr lang="ru-KZ" b="0" i="0" baseline="0" dirty="0"/>
            <a:t>Она состоит из двух множителей:</a:t>
          </a:r>
          <a:endParaRPr lang="en-US" dirty="0"/>
        </a:p>
      </dgm:t>
    </dgm:pt>
    <dgm:pt modelId="{ADC29EBA-D184-43C3-A663-A40456CED4F8}" type="parTrans" cxnId="{8D56EB60-EB00-4507-AFEB-F306434A73A1}">
      <dgm:prSet/>
      <dgm:spPr/>
      <dgm:t>
        <a:bodyPr/>
        <a:lstStyle/>
        <a:p>
          <a:endParaRPr lang="en-US"/>
        </a:p>
      </dgm:t>
    </dgm:pt>
    <dgm:pt modelId="{BACF616A-8C51-4C57-A0DC-FA02C2FF7FD5}" type="sibTrans" cxnId="{8D56EB60-EB00-4507-AFEB-F306434A73A1}">
      <dgm:prSet/>
      <dgm:spPr/>
      <dgm:t>
        <a:bodyPr/>
        <a:lstStyle/>
        <a:p>
          <a:endParaRPr lang="en-US"/>
        </a:p>
      </dgm:t>
    </dgm:pt>
    <dgm:pt modelId="{AC8B67C7-9303-4F76-922E-8AC50181CBE2}">
      <dgm:prSet/>
      <dgm:spPr/>
      <dgm:t>
        <a:bodyPr/>
        <a:lstStyle/>
        <a:p>
          <a:r>
            <a:rPr lang="ru-KZ" b="1" i="0" baseline="0" dirty="0"/>
            <a:t>TF (Term Frequency — частота слова):</a:t>
          </a:r>
          <a:r>
            <a:rPr lang="ru-KZ" b="0" i="0" baseline="0" dirty="0"/>
            <a:t> Отношение числа вхождений конкретного слова к общему количеству слов в документе. Оценивает важность слова внутри одного документа.</a:t>
          </a:r>
          <a:endParaRPr lang="en-US" dirty="0"/>
        </a:p>
      </dgm:t>
    </dgm:pt>
    <dgm:pt modelId="{AF27CF64-715C-4184-8ED6-20533799BC47}" type="parTrans" cxnId="{718A4803-855B-4384-A673-E48803B48E85}">
      <dgm:prSet/>
      <dgm:spPr/>
      <dgm:t>
        <a:bodyPr/>
        <a:lstStyle/>
        <a:p>
          <a:endParaRPr lang="en-US"/>
        </a:p>
      </dgm:t>
    </dgm:pt>
    <dgm:pt modelId="{E4A81300-5C42-416E-B184-BDAB3C4144EB}" type="sibTrans" cxnId="{718A4803-855B-4384-A673-E48803B48E85}">
      <dgm:prSet/>
      <dgm:spPr/>
      <dgm:t>
        <a:bodyPr/>
        <a:lstStyle/>
        <a:p>
          <a:endParaRPr lang="en-US"/>
        </a:p>
      </dgm:t>
    </dgm:pt>
    <dgm:pt modelId="{B701DB00-1DC9-476E-98A8-75093A7D9B34}">
      <dgm:prSet/>
      <dgm:spPr/>
      <dgm:t>
        <a:bodyPr/>
        <a:lstStyle/>
        <a:p>
          <a:r>
            <a:rPr lang="ru-KZ" b="1" i="0" baseline="0" dirty="0"/>
            <a:t>IDF (Inverse Document Frequency — обратная частотность документа):</a:t>
          </a:r>
          <a:r>
            <a:rPr lang="ru-KZ" b="0" i="0" baseline="0" dirty="0"/>
            <a:t> Инверсия частоты, с которой слово встречается во всех документах корпуса. Она снижает вес общеупотребительных слов (предлогов, союзов) и повышает вес редких, уникальных слов.</a:t>
          </a:r>
          <a:endParaRPr lang="en-US" dirty="0"/>
        </a:p>
      </dgm:t>
    </dgm:pt>
    <dgm:pt modelId="{0D33CBB2-5A5B-4323-8160-FA26F5880D5D}" type="parTrans" cxnId="{1C7B5307-C6A6-475C-8CC0-45198F3800AD}">
      <dgm:prSet/>
      <dgm:spPr/>
      <dgm:t>
        <a:bodyPr/>
        <a:lstStyle/>
        <a:p>
          <a:endParaRPr lang="en-US"/>
        </a:p>
      </dgm:t>
    </dgm:pt>
    <dgm:pt modelId="{D9FBF1A2-046E-4AF0-A46B-181611E3A099}" type="sibTrans" cxnId="{1C7B5307-C6A6-475C-8CC0-45198F3800AD}">
      <dgm:prSet/>
      <dgm:spPr/>
      <dgm:t>
        <a:bodyPr/>
        <a:lstStyle/>
        <a:p>
          <a:endParaRPr lang="en-US"/>
        </a:p>
      </dgm:t>
    </dgm:pt>
    <dgm:pt modelId="{D1DE9B25-5D84-4DC2-81FD-0AE9F319A357}">
      <dgm:prSet/>
      <dgm:spPr/>
      <dgm:t>
        <a:bodyPr/>
        <a:lstStyle/>
        <a:p>
          <a:r>
            <a:rPr lang="ru-KZ" b="1" i="0" baseline="0" dirty="0"/>
            <a:t>TF-IDF</a:t>
          </a:r>
          <a:r>
            <a:rPr lang="ru-KZ" b="0" i="0" baseline="0" dirty="0"/>
            <a:t> (от англ. term frequency — inverse document frequency) — это статистическая мера, используемая для оценки важности слова в контексте документа, являющегося частью коллекции или корпуса документов.</a:t>
          </a:r>
          <a:endParaRPr lang="en-US" dirty="0"/>
        </a:p>
      </dgm:t>
    </dgm:pt>
    <dgm:pt modelId="{1ECCE3BE-1FEE-4894-871F-134115F271E5}" type="sibTrans" cxnId="{C7ECC6A9-4961-4654-9873-E14FD1D447F4}">
      <dgm:prSet/>
      <dgm:spPr/>
      <dgm:t>
        <a:bodyPr/>
        <a:lstStyle/>
        <a:p>
          <a:endParaRPr lang="en-US"/>
        </a:p>
      </dgm:t>
    </dgm:pt>
    <dgm:pt modelId="{71578DC9-119C-4A72-A5CA-99ED4394B340}" type="parTrans" cxnId="{C7ECC6A9-4961-4654-9873-E14FD1D447F4}">
      <dgm:prSet/>
      <dgm:spPr/>
      <dgm:t>
        <a:bodyPr/>
        <a:lstStyle/>
        <a:p>
          <a:endParaRPr lang="en-US"/>
        </a:p>
      </dgm:t>
    </dgm:pt>
    <dgm:pt modelId="{82DA2A2B-0B53-5149-8995-907B40249AAD}" type="pres">
      <dgm:prSet presAssocID="{2C214EE5-DAFD-4ACE-AB63-1191A7A34BE3}" presName="linear" presStyleCnt="0">
        <dgm:presLayoutVars>
          <dgm:animLvl val="lvl"/>
          <dgm:resizeHandles val="exact"/>
        </dgm:presLayoutVars>
      </dgm:prSet>
      <dgm:spPr/>
    </dgm:pt>
    <dgm:pt modelId="{D816F1AB-3949-D941-83A6-071105989DF5}" type="pres">
      <dgm:prSet presAssocID="{D1DE9B25-5D84-4DC2-81FD-0AE9F319A357}" presName="parentText" presStyleLbl="node1" presStyleIdx="0" presStyleCnt="2">
        <dgm:presLayoutVars>
          <dgm:chMax val="0"/>
          <dgm:bulletEnabled val="1"/>
        </dgm:presLayoutVars>
      </dgm:prSet>
      <dgm:spPr/>
    </dgm:pt>
    <dgm:pt modelId="{644EAA8D-1293-C048-8389-B48B7A559FD7}" type="pres">
      <dgm:prSet presAssocID="{1ECCE3BE-1FEE-4894-871F-134115F271E5}" presName="spacer" presStyleCnt="0"/>
      <dgm:spPr/>
    </dgm:pt>
    <dgm:pt modelId="{1AB900D9-FD2C-9345-8FBB-125997B45EAF}" type="pres">
      <dgm:prSet presAssocID="{FBD63D5F-1513-42F6-861B-811FD5C772D8}" presName="parentText" presStyleLbl="node1" presStyleIdx="1" presStyleCnt="2">
        <dgm:presLayoutVars>
          <dgm:chMax val="0"/>
          <dgm:bulletEnabled val="1"/>
        </dgm:presLayoutVars>
      </dgm:prSet>
      <dgm:spPr/>
    </dgm:pt>
    <dgm:pt modelId="{E7287BA1-0B1F-6C48-A0D1-FFB8072D39EA}" type="pres">
      <dgm:prSet presAssocID="{FBD63D5F-1513-42F6-861B-811FD5C772D8}" presName="childText" presStyleLbl="revTx" presStyleIdx="0" presStyleCnt="1">
        <dgm:presLayoutVars>
          <dgm:bulletEnabled val="1"/>
        </dgm:presLayoutVars>
      </dgm:prSet>
      <dgm:spPr/>
    </dgm:pt>
  </dgm:ptLst>
  <dgm:cxnLst>
    <dgm:cxn modelId="{718A4803-855B-4384-A673-E48803B48E85}" srcId="{FBD63D5F-1513-42F6-861B-811FD5C772D8}" destId="{AC8B67C7-9303-4F76-922E-8AC50181CBE2}" srcOrd="0" destOrd="0" parTransId="{AF27CF64-715C-4184-8ED6-20533799BC47}" sibTransId="{E4A81300-5C42-416E-B184-BDAB3C4144EB}"/>
    <dgm:cxn modelId="{1C7B5307-C6A6-475C-8CC0-45198F3800AD}" srcId="{FBD63D5F-1513-42F6-861B-811FD5C772D8}" destId="{B701DB00-1DC9-476E-98A8-75093A7D9B34}" srcOrd="1" destOrd="0" parTransId="{0D33CBB2-5A5B-4323-8160-FA26F5880D5D}" sibTransId="{D9FBF1A2-046E-4AF0-A46B-181611E3A099}"/>
    <dgm:cxn modelId="{0BC0CA0F-3300-AA4B-BC8F-5693C822484D}" type="presOf" srcId="{2C214EE5-DAFD-4ACE-AB63-1191A7A34BE3}" destId="{82DA2A2B-0B53-5149-8995-907B40249AAD}" srcOrd="0" destOrd="0" presId="urn:microsoft.com/office/officeart/2005/8/layout/vList2"/>
    <dgm:cxn modelId="{19F0DD21-A2AF-674A-9D73-9B83FDE3763E}" type="presOf" srcId="{FBD63D5F-1513-42F6-861B-811FD5C772D8}" destId="{1AB900D9-FD2C-9345-8FBB-125997B45EAF}" srcOrd="0" destOrd="0" presId="urn:microsoft.com/office/officeart/2005/8/layout/vList2"/>
    <dgm:cxn modelId="{F510A728-B61D-EE4F-9017-5573BF471265}" type="presOf" srcId="{D1DE9B25-5D84-4DC2-81FD-0AE9F319A357}" destId="{D816F1AB-3949-D941-83A6-071105989DF5}" srcOrd="0" destOrd="0" presId="urn:microsoft.com/office/officeart/2005/8/layout/vList2"/>
    <dgm:cxn modelId="{8D56EB60-EB00-4507-AFEB-F306434A73A1}" srcId="{2C214EE5-DAFD-4ACE-AB63-1191A7A34BE3}" destId="{FBD63D5F-1513-42F6-861B-811FD5C772D8}" srcOrd="1" destOrd="0" parTransId="{ADC29EBA-D184-43C3-A663-A40456CED4F8}" sibTransId="{BACF616A-8C51-4C57-A0DC-FA02C2FF7FD5}"/>
    <dgm:cxn modelId="{4C3AD296-0226-8F48-AFF5-F074051DDFD9}" type="presOf" srcId="{B701DB00-1DC9-476E-98A8-75093A7D9B34}" destId="{E7287BA1-0B1F-6C48-A0D1-FFB8072D39EA}" srcOrd="0" destOrd="1" presId="urn:microsoft.com/office/officeart/2005/8/layout/vList2"/>
    <dgm:cxn modelId="{C7ECC6A9-4961-4654-9873-E14FD1D447F4}" srcId="{2C214EE5-DAFD-4ACE-AB63-1191A7A34BE3}" destId="{D1DE9B25-5D84-4DC2-81FD-0AE9F319A357}" srcOrd="0" destOrd="0" parTransId="{71578DC9-119C-4A72-A5CA-99ED4394B340}" sibTransId="{1ECCE3BE-1FEE-4894-871F-134115F271E5}"/>
    <dgm:cxn modelId="{154B84F4-55BE-0B44-BD36-1A537FB49D9F}" type="presOf" srcId="{AC8B67C7-9303-4F76-922E-8AC50181CBE2}" destId="{E7287BA1-0B1F-6C48-A0D1-FFB8072D39EA}" srcOrd="0" destOrd="0" presId="urn:microsoft.com/office/officeart/2005/8/layout/vList2"/>
    <dgm:cxn modelId="{8DD80D65-1C00-2148-8514-F90B7776B319}" type="presParOf" srcId="{82DA2A2B-0B53-5149-8995-907B40249AAD}" destId="{D816F1AB-3949-D941-83A6-071105989DF5}" srcOrd="0" destOrd="0" presId="urn:microsoft.com/office/officeart/2005/8/layout/vList2"/>
    <dgm:cxn modelId="{1D55C237-9BA8-BE45-81D6-D9F17A0C490A}" type="presParOf" srcId="{82DA2A2B-0B53-5149-8995-907B40249AAD}" destId="{644EAA8D-1293-C048-8389-B48B7A559FD7}" srcOrd="1" destOrd="0" presId="urn:microsoft.com/office/officeart/2005/8/layout/vList2"/>
    <dgm:cxn modelId="{9DC19912-7404-8740-B7D4-C4B938EAC161}" type="presParOf" srcId="{82DA2A2B-0B53-5149-8995-907B40249AAD}" destId="{1AB900D9-FD2C-9345-8FBB-125997B45EAF}" srcOrd="2" destOrd="0" presId="urn:microsoft.com/office/officeart/2005/8/layout/vList2"/>
    <dgm:cxn modelId="{61B661D1-60E1-A04E-BE80-BA46878CC49F}" type="presParOf" srcId="{82DA2A2B-0B53-5149-8995-907B40249AAD}" destId="{E7287BA1-0B1F-6C48-A0D1-FFB8072D39EA}"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16F1AB-3949-D941-83A6-071105989DF5}">
      <dsp:nvSpPr>
        <dsp:cNvPr id="0" name=""/>
        <dsp:cNvSpPr/>
      </dsp:nvSpPr>
      <dsp:spPr>
        <a:xfrm>
          <a:off x="0" y="28316"/>
          <a:ext cx="3656335" cy="112554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ru-KZ" sz="1300" b="1" i="0" kern="1200" baseline="0" dirty="0"/>
            <a:t>TF-IDF</a:t>
          </a:r>
          <a:r>
            <a:rPr lang="ru-KZ" sz="1300" b="0" i="0" kern="1200" baseline="0" dirty="0"/>
            <a:t> (от англ. term frequency — inverse document frequency) — это статистическая мера, используемая для оценки важности слова в контексте документа, являющегося частью коллекции или корпуса документов.</a:t>
          </a:r>
          <a:endParaRPr lang="en-US" sz="1300" kern="1200" dirty="0"/>
        </a:p>
      </dsp:txBody>
      <dsp:txXfrm>
        <a:off x="54944" y="83260"/>
        <a:ext cx="3546447" cy="1015652"/>
      </dsp:txXfrm>
    </dsp:sp>
    <dsp:sp modelId="{1AB900D9-FD2C-9345-8FBB-125997B45EAF}">
      <dsp:nvSpPr>
        <dsp:cNvPr id="0" name=""/>
        <dsp:cNvSpPr/>
      </dsp:nvSpPr>
      <dsp:spPr>
        <a:xfrm>
          <a:off x="0" y="1191296"/>
          <a:ext cx="3656335" cy="1125540"/>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ru-KZ" sz="1300" b="0" i="0" kern="1200" baseline="0" dirty="0"/>
            <a:t>Она состоит из двух множителей:</a:t>
          </a:r>
          <a:endParaRPr lang="en-US" sz="1300" kern="1200" dirty="0"/>
        </a:p>
      </dsp:txBody>
      <dsp:txXfrm>
        <a:off x="54944" y="1246240"/>
        <a:ext cx="3546447" cy="1015652"/>
      </dsp:txXfrm>
    </dsp:sp>
    <dsp:sp modelId="{E7287BA1-0B1F-6C48-A0D1-FFB8072D39EA}">
      <dsp:nvSpPr>
        <dsp:cNvPr id="0" name=""/>
        <dsp:cNvSpPr/>
      </dsp:nvSpPr>
      <dsp:spPr>
        <a:xfrm>
          <a:off x="0" y="2316836"/>
          <a:ext cx="3656335" cy="1345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6089" tIns="16510" rIns="92456" bIns="16510" numCol="1" spcCol="1270" anchor="t" anchorCtr="0">
          <a:noAutofit/>
        </a:bodyPr>
        <a:lstStyle/>
        <a:p>
          <a:pPr marL="57150" lvl="1" indent="-57150" algn="l" defTabSz="444500">
            <a:lnSpc>
              <a:spcPct val="90000"/>
            </a:lnSpc>
            <a:spcBef>
              <a:spcPct val="0"/>
            </a:spcBef>
            <a:spcAft>
              <a:spcPct val="20000"/>
            </a:spcAft>
            <a:buChar char="•"/>
          </a:pPr>
          <a:r>
            <a:rPr lang="ru-KZ" sz="1000" b="1" i="0" kern="1200" baseline="0" dirty="0"/>
            <a:t>TF (Term Frequency — частота слова):</a:t>
          </a:r>
          <a:r>
            <a:rPr lang="ru-KZ" sz="1000" b="0" i="0" kern="1200" baseline="0" dirty="0"/>
            <a:t> Отношение числа вхождений конкретного слова к общему количеству слов в документе. Оценивает важность слова внутри одного документа.</a:t>
          </a:r>
          <a:endParaRPr lang="en-US" sz="1000" kern="1200" dirty="0"/>
        </a:p>
        <a:p>
          <a:pPr marL="57150" lvl="1" indent="-57150" algn="l" defTabSz="444500">
            <a:lnSpc>
              <a:spcPct val="90000"/>
            </a:lnSpc>
            <a:spcBef>
              <a:spcPct val="0"/>
            </a:spcBef>
            <a:spcAft>
              <a:spcPct val="20000"/>
            </a:spcAft>
            <a:buChar char="•"/>
          </a:pPr>
          <a:r>
            <a:rPr lang="ru-KZ" sz="1000" b="1" i="0" kern="1200" baseline="0" dirty="0"/>
            <a:t>IDF (Inverse Document Frequency — обратная частотность документа):</a:t>
          </a:r>
          <a:r>
            <a:rPr lang="ru-KZ" sz="1000" b="0" i="0" kern="1200" baseline="0" dirty="0"/>
            <a:t> Инверсия частоты, с которой слово встречается во всех документах корпуса. Она снижает вес общеупотребительных слов (предлогов, союзов) и повышает вес редких, уникальных слов.</a:t>
          </a:r>
          <a:endParaRPr lang="en-US" sz="1000" kern="1200" dirty="0"/>
        </a:p>
      </dsp:txBody>
      <dsp:txXfrm>
        <a:off x="0" y="2316836"/>
        <a:ext cx="3656335" cy="13455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085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начинаем нашу десятую лекцию, и сегодня мы погрузимся в самую суть современного поиска — в гибридные системы. Ключевая идея в том, что ни один метод поиска не идеален, и максимальная точность достигается только при их комбинации. Мы разберем, как объединить старую добрую классику, лексический поиск, с новейшими достижениями в области семантики, чтобы получить лучшее из двух миров. Мы поговорим о том, как работает BM25, что такое векторные эмбеддинги, и как алгоритм RRF помогает нам объединить их результаты в единый, высокоточный ответ. Это фундаментальные знания для построения любой серьезной RAG-системы. Давайте начнем с краткого обзора эволюции поиска.</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протяжении десятилетий поиск был основан на лексике, на точном совпадении слов. Лексический поиск, как BM25, невероятно быстр и прозрачен, он идеален для поиска конкретных имен, кодов или ID. Но он совершенно не понимает смысла. Если вы ищете "iphone 15 pro", а в документе написано "apple smartphone 2023", лексический поиск промахнется. Семантический поиск, напротив, работает с вектором смысла. Он понимает синонимы и контекст, но может пропустить точные термины, если они не являются центральными для смысла. Проблема, которую мы пытаемся решить, называется Lexical Gap. Это разрыв между словами, которые использует пользователь, и словами, которые используются в документе, хотя смысл у них один и тот же. И вот тут нам на помощь приходит гибридный подход. Давайте посмотрим, как работает классический лексический поиск.</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Лексический поиск — это не просто подсчет слов, это сложная формула, и BM25 является ее золотым стандартом. BM25 оценивает релевантность документа тремя ключевыми факторами. Во-первых, это частота слова в документе, TF, но с насыщением. Это значит, что после определенного количества вхождений слова его вес перестает расти так быстро. Во-вторых, это обратная частота документа, IDF. Чем реже слово встречается во всей коллекции, тем оно важнее. Слова вроде "энтропия" имеют высокий вес, а служебные слова — низкий. И, наконец, нормализация по длине. Короткий документ, в котором найдено ключевое слово, более релевантен, чем очень длинный документ, где это слово упомянуто лишь раз. BM25 — это быстрый, интерпретируемый и очень эффективный метод, но он не понимает синонимов. Теперь перейдем к его современному оппоненту, семантическому поиску.</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Семантический поиск полностью меняет парадигму, используя векторные эмбеддинги. Мы берем текст и преобразуем его в плотный вектор чисел, который живет в многомерном пространстве. Тексты, близкие по смыслу, оказываются близко друг к другу в этом пространстве. Это позволяет нам находить синонимы и работать с контекстом, что является огромным преимуществом. Однако у него есть и недостатки. Он медленнее, чем BM25, и он является "черным ящиком", нам сложнее понять, почему модель решила, что два текста похожи. Для измерения близости мы чаще всего используем косинусное сходство, Cosine Similarity. Оно измеряет угол между векторами, игнорируя их длину, что идеально подходит для сравнения текстов разной длины. Мы видим, что оба метода имеют сильные и слабые стороны. Как же нам их объединить?</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Гибридный поиск — это синергия, которая позволяет нам получить лучшее от обоих методов. Мы запускаем лексический поиск BM25 и векторный поиск параллельно. BM25 дает нам высокую точность, Precision, находя точные совпадения. Векторный поиск дает нам полноту, Recall, находя синонимы и контекст. Объединяя их, мы получаем максимальную релевантность. Представьте, что вы ищете информацию об "Alaskan Pollock". BM25 точно найдет документы, где упоминается именно эта рыба. А векторный поиск поймет, что "catch" в этом контексте означает "рыбалка", а не "поймать мяч". Только вместе они дадут вам релевантные инструкции по ловле этой рыбы. Но как технически объединить два списка результатов, каждый из которых имеет свой собственный рейтинг? Это мы обсудим на следующем слайде, где рассмотрим архитектуру.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Гибридный поиск — это не просто сложение двух методов, это создание мощной архитектуры, которая использует сильные стороны каждого. Мы уже обсудили, почему нам нужно объединять лексический и семантический поиск. Теперь давайте посмотрим, как это происходит пошагово. Вся архитектура делится на четыре логических этапа. Сначала мы обрабатываем запрос, превращая его сразу в два представления: разреженный вектор для BM25 и плотный вектор-эмбеддинг для семантического поиска. Затем происходит параллельный поиск. Это критически важно: мы не ждём результатов одного поиска, чтобы начать другой. Оба поиска — в инвертированном индексе и в векторном индексе — идут одновременно. И только после этого наступает самый интересный этап — слияние результатов, или Fusion. Здесь в игру вступает Reciprocal Rank Fusion, или RRF, о котором мы поговорим дальше. И, наконец, опциональный, но очень полезный шаг — переранжирование. Мы можем использовать более мощную, но медленную модель, чтобы отсортировать только небольшой топ-лист, который нам выдал RRF. Это даёт нам максимальную точность при сохранении высокой скорости.</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Ключевая проблема объединения результатов поиска в том, что скоры от BM25 и векторного поиска абсолютно несовместимы. BM25 выдаёт скоры в одном диапазоне, косинусное сходство — в другом. Их нельзя просто сложить. RRF решает эту проблему элегантно: он полностью игнорирует абсолютные значения скоров и фокусируется только на рангах, то есть на позициях документов в каждом списке. Формула RRF проста, но очень эффективна. Она суммирует обратные величины рангов для каждого документа. Обратите внимание на константу k. Она обычно равна 60 и служит сглаживающим параметром. Она не даёт одному очень высокому рангу, например, первому месту в одном списке, полностью перевесить весь второй список. Но самое важное — это Top-Heavy Bias. Функция 1/rank очень быстро убывает. Это значит, что документ, который находится на первом месте, получает огромный вес, а документ на десятом месте — уже совсем небольшой. Это гарантирует, что документы, которые оба метода считают лучшими, мгновенно поднимаются в самый верх объединённого списка.</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Если RRF — это алгоритм слияния, то Weighted RRF — это способ настроить, насколько сильно мы доверяем каждому из наших поисковых методов. Мы вводим веса, которые позволяют нам контролировать вклад лексического и семантического поиска. Главный параметр здесь — это Alpha. Если Alpha равен нулю, мы получаем чистый BM25, то есть полностью лексический поиск. Если Alpha равен единице, это чистый векторный поиск. А вот Alpha 0.5 даёт нам идеально сбалансированный гибрид. Но нам не всегда нужен баланс. Иногда нам нужен приоритет лексики. Это происходит, когда мы ищем очень точные, специфические вещи: артикулы, коды ошибок, имена собственные. В этих случаях низкий Alpha сработает лучше. И наоборот, если мы ищем по концепциям, задаём вопросы на естественном языке или работаем с многоязычным поиском, нам нужен высокий Alpha, потому что здесь важнее семантика. Настройка этого параметра Alpha — это ваш главный инструмент для оптимизации гибридного поиска под конкретную задачу.</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Теория — это хорошо, но как это выглядит на практике? Давайте посмотрим на два основных способа реализации гибридного поиска. Первый — это реализация с помощью чистого SQL, например, в PostgreSQL с расширением pgvector. Здесь мы вручную реализуем логику RRF. Мы создаём два подзапроса: один для BM25, другой для семантического поиска. В каждом подзапросе мы используем оконную функцию RANK() для определения позиции документа. Затем мы объединяем эти результаты и применяем формулу RRF, суммируя обратные ранги. Это требует некоторого знания SQL, но даёт полный контроль. Второй, более современный и простой способ — использовать специализированные векторные базы данных, такие как Weaviate или Qdrant. Они имеют встроенную поддержку гибридного поиска. Как вы видите в примере на Python, нам достаточно одного вызова с параметром with_hybrid. Мы просто указываем наш запрос, устанавливаем нужный нам Alpha, например, 0.75, и база данных сама выполняет всю сложную логику RRF. Это значительно упрощает разработку и делает гибридный поиск доступным по умолчанию.</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Мы подошли к финалу нашей лекции, и я хочу подвести итоги по гибридному поиску. Запомните четыре ключевых вывода. BM25 незаменим для точного поиска, но он не понимает смысла. Векторный поиск понимает контекст, но может быть неточным на специфике. Гибридный поиск объединяет их сильные стороны, а RRF — это лучший алгоритм для их слияния, потому что он не требует сложной нормализации скоров. Моя главная рекомендация: используйте гибридный поиск по умолчанию для всех RAG-систем, которые вы запускаете в продакшене. Начните с Alpha 0.75, отдавая небольшой приоритет семантике, и затем корректируйте его на основе ваших метрик. И не забывайте про переранжирование. Это финальный штрих, который может дать вам максимальную точность в топ-10 результатах. На этом мы завершаем тему поиска. В следующей лекции мы перейдём к продвинутым паттернам RAG, таким как Agentic и Graph RAG, которые выводят наши системы на новый уровень сложности и возможностей.</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1.jp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5011424" cy="5143500"/>
          </a:xfrm>
          <a:prstGeom prst="rect">
            <a:avLst/>
          </a:prstGeom>
          <a:solidFill>
            <a:srgbClr val="1A1A1A"/>
          </a:solidFill>
          <a:ln/>
        </p:spPr>
        <p:txBody>
          <a:bodyPr/>
          <a:lstStyle/>
          <a:p>
            <a:endParaRPr lang="ru-KZ"/>
          </a:p>
        </p:txBody>
      </p:sp>
      <p:sp>
        <p:nvSpPr>
          <p:cNvPr id="5" name="Text 1"/>
          <p:cNvSpPr/>
          <p:nvPr/>
        </p:nvSpPr>
        <p:spPr>
          <a:xfrm>
            <a:off x="571500" y="628873"/>
            <a:ext cx="3868424" cy="233958"/>
          </a:xfrm>
          <a:prstGeom prst="rect">
            <a:avLst/>
          </a:prstGeom>
          <a:noFill/>
          <a:ln/>
        </p:spPr>
        <p:txBody>
          <a:bodyPr wrap="none" lIns="0" tIns="0" rIns="0" bIns="0" rtlCol="0" anchor="t">
            <a:spAutoFit/>
          </a:bodyPr>
          <a:lstStyle/>
          <a:p>
            <a:pPr marL="0" indent="0" algn="l">
              <a:lnSpc>
                <a:spcPts val="1600"/>
              </a:lnSpc>
              <a:buNone/>
            </a:pPr>
            <a:r>
              <a:rPr lang="en-US" sz="1193" b="1" kern="0" spc="2" dirty="0">
                <a:solidFill>
                  <a:srgbClr val="FF4F00"/>
                </a:solidFill>
              </a:rPr>
              <a:t>Лекция 10</a:t>
            </a:r>
            <a:endParaRPr lang="en-US" sz="1193" dirty="0"/>
          </a:p>
        </p:txBody>
      </p:sp>
      <p:sp>
        <p:nvSpPr>
          <p:cNvPr id="6" name="Text 2"/>
          <p:cNvSpPr/>
          <p:nvPr/>
        </p:nvSpPr>
        <p:spPr>
          <a:xfrm>
            <a:off x="571500" y="1005706"/>
            <a:ext cx="3868424" cy="2263118"/>
          </a:xfrm>
          <a:prstGeom prst="rect">
            <a:avLst/>
          </a:prstGeom>
          <a:noFill/>
          <a:ln/>
        </p:spPr>
        <p:txBody>
          <a:bodyPr wrap="square" lIns="0" tIns="0" rIns="0" bIns="0" rtlCol="0" anchor="t">
            <a:spAutoFit/>
          </a:bodyPr>
          <a:lstStyle/>
          <a:p>
            <a:pPr marL="0" indent="0" algn="l">
              <a:lnSpc>
                <a:spcPts val="4500"/>
              </a:lnSpc>
              <a:buNone/>
            </a:pPr>
            <a:r>
              <a:rPr lang="en-US" sz="3731" b="1" dirty="0">
                <a:solidFill>
                  <a:srgbClr val="FFFFFF"/>
                </a:solidFill>
              </a:rPr>
              <a:t>Продвинутый поиск с Hybrid Search и RRF</a:t>
            </a:r>
            <a:endParaRPr lang="en-US" sz="3731" dirty="0"/>
          </a:p>
        </p:txBody>
      </p:sp>
      <p:sp>
        <p:nvSpPr>
          <p:cNvPr id="7" name="Text 3"/>
          <p:cNvSpPr/>
          <p:nvPr/>
        </p:nvSpPr>
        <p:spPr>
          <a:xfrm>
            <a:off x="571500" y="3554574"/>
            <a:ext cx="3868424" cy="960053"/>
          </a:xfrm>
          <a:prstGeom prst="rect">
            <a:avLst/>
          </a:prstGeom>
          <a:noFill/>
          <a:ln/>
        </p:spPr>
        <p:txBody>
          <a:bodyPr wrap="square" lIns="0" tIns="0" rIns="0" bIns="0" rtlCol="0" anchor="t">
            <a:spAutoFit/>
          </a:bodyPr>
          <a:lstStyle/>
          <a:p>
            <a:pPr marL="0" indent="0" algn="l">
              <a:lnSpc>
                <a:spcPts val="2500"/>
              </a:lnSpc>
              <a:buNone/>
            </a:pPr>
            <a:r>
              <a:rPr lang="en-US" sz="1704" dirty="0">
                <a:solidFill>
                  <a:srgbClr val="BBBBBB"/>
                </a:solidFill>
              </a:rPr>
              <a:t>Комбинация лексического и семантического поиска для максимальной точности</a:t>
            </a:r>
            <a:endParaRPr lang="en-US" sz="1704" dirty="0"/>
          </a:p>
        </p:txBody>
      </p:sp>
      <p:sp>
        <p:nvSpPr>
          <p:cNvPr id="8" name="Text 4"/>
          <p:cNvSpPr/>
          <p:nvPr/>
        </p:nvSpPr>
        <p:spPr>
          <a:xfrm>
            <a:off x="5582924" y="1668959"/>
            <a:ext cx="298957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В этой лекции:</a:t>
            </a:r>
            <a:endParaRPr lang="en-US" sz="1193" dirty="0"/>
          </a:p>
        </p:txBody>
      </p:sp>
      <p:sp>
        <p:nvSpPr>
          <p:cNvPr id="9" name="Text 5"/>
          <p:cNvSpPr/>
          <p:nvPr/>
        </p:nvSpPr>
        <p:spPr>
          <a:xfrm>
            <a:off x="5582924" y="2045791"/>
            <a:ext cx="142875"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FF4F00"/>
                </a:solidFill>
              </a:rPr>
              <a:t>■</a:t>
            </a:r>
            <a:endParaRPr lang="en-US" sz="1050" dirty="0"/>
          </a:p>
        </p:txBody>
      </p:sp>
      <p:sp>
        <p:nvSpPr>
          <p:cNvPr id="10" name="Text 6"/>
          <p:cNvSpPr/>
          <p:nvPr/>
        </p:nvSpPr>
        <p:spPr>
          <a:xfrm>
            <a:off x="5797237" y="2045791"/>
            <a:ext cx="1911818"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333333"/>
                </a:solidFill>
              </a:rPr>
              <a:t>BM25 и Лексический поиск</a:t>
            </a:r>
            <a:endParaRPr lang="en-US" sz="1050" dirty="0"/>
          </a:p>
        </p:txBody>
      </p:sp>
      <p:sp>
        <p:nvSpPr>
          <p:cNvPr id="11" name="Text 7"/>
          <p:cNvSpPr/>
          <p:nvPr/>
        </p:nvSpPr>
        <p:spPr>
          <a:xfrm>
            <a:off x="5582924" y="2331541"/>
            <a:ext cx="142875"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FF4F00"/>
                </a:solidFill>
              </a:rPr>
              <a:t>■</a:t>
            </a:r>
            <a:endParaRPr lang="en-US" sz="1050" dirty="0"/>
          </a:p>
        </p:txBody>
      </p:sp>
      <p:sp>
        <p:nvSpPr>
          <p:cNvPr id="12" name="Text 8"/>
          <p:cNvSpPr/>
          <p:nvPr/>
        </p:nvSpPr>
        <p:spPr>
          <a:xfrm>
            <a:off x="5797237" y="2331541"/>
            <a:ext cx="2264736"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333333"/>
                </a:solidFill>
              </a:rPr>
              <a:t>Векторный поиск и Эмбеддинги</a:t>
            </a:r>
            <a:endParaRPr lang="en-US" sz="1050" dirty="0"/>
          </a:p>
        </p:txBody>
      </p:sp>
      <p:sp>
        <p:nvSpPr>
          <p:cNvPr id="13" name="Text 9"/>
          <p:cNvSpPr/>
          <p:nvPr/>
        </p:nvSpPr>
        <p:spPr>
          <a:xfrm>
            <a:off x="5582924" y="2617291"/>
            <a:ext cx="142875"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FF4F00"/>
                </a:solidFill>
              </a:rPr>
              <a:t>■</a:t>
            </a:r>
            <a:endParaRPr lang="en-US" sz="1050" dirty="0"/>
          </a:p>
        </p:txBody>
      </p:sp>
      <p:sp>
        <p:nvSpPr>
          <p:cNvPr id="14" name="Text 10"/>
          <p:cNvSpPr/>
          <p:nvPr/>
        </p:nvSpPr>
        <p:spPr>
          <a:xfrm>
            <a:off x="5797237" y="2617291"/>
            <a:ext cx="1852240"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333333"/>
                </a:solidFill>
              </a:rPr>
              <a:t>Архитектура Hybrid Search</a:t>
            </a:r>
            <a:endParaRPr lang="en-US" sz="1050" dirty="0"/>
          </a:p>
        </p:txBody>
      </p:sp>
      <p:sp>
        <p:nvSpPr>
          <p:cNvPr id="15" name="Text 11"/>
          <p:cNvSpPr/>
          <p:nvPr/>
        </p:nvSpPr>
        <p:spPr>
          <a:xfrm>
            <a:off x="5582924" y="2903041"/>
            <a:ext cx="142875"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FF4F00"/>
                </a:solidFill>
              </a:rPr>
              <a:t>■</a:t>
            </a:r>
            <a:endParaRPr lang="en-US" sz="1050" dirty="0"/>
          </a:p>
        </p:txBody>
      </p:sp>
      <p:sp>
        <p:nvSpPr>
          <p:cNvPr id="16" name="Text 12"/>
          <p:cNvSpPr/>
          <p:nvPr/>
        </p:nvSpPr>
        <p:spPr>
          <a:xfrm>
            <a:off x="5797237" y="2903041"/>
            <a:ext cx="2628342"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333333"/>
                </a:solidFill>
              </a:rPr>
              <a:t>Алгоритм RRF (Reciprocal Rank Fusion)</a:t>
            </a:r>
            <a:endParaRPr lang="en-US" sz="1050" dirty="0"/>
          </a:p>
        </p:txBody>
      </p:sp>
      <p:sp>
        <p:nvSpPr>
          <p:cNvPr id="17" name="Text 13"/>
          <p:cNvSpPr/>
          <p:nvPr/>
        </p:nvSpPr>
        <p:spPr>
          <a:xfrm>
            <a:off x="5582924" y="3188791"/>
            <a:ext cx="142875"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FF4F00"/>
                </a:solidFill>
              </a:rPr>
              <a:t>■</a:t>
            </a:r>
            <a:endParaRPr lang="en-US" sz="1050" dirty="0"/>
          </a:p>
        </p:txBody>
      </p:sp>
      <p:sp>
        <p:nvSpPr>
          <p:cNvPr id="18" name="Text 14"/>
          <p:cNvSpPr/>
          <p:nvPr/>
        </p:nvSpPr>
        <p:spPr>
          <a:xfrm>
            <a:off x="5797237" y="3188791"/>
            <a:ext cx="1852659" cy="285750"/>
          </a:xfrm>
          <a:prstGeom prst="rect">
            <a:avLst/>
          </a:prstGeom>
          <a:noFill/>
          <a:ln/>
        </p:spPr>
        <p:txBody>
          <a:bodyPr wrap="none" lIns="0" tIns="0" rIns="0" bIns="0" rtlCol="0" anchor="t">
            <a:spAutoFit/>
          </a:bodyPr>
          <a:lstStyle/>
          <a:p>
            <a:pPr marL="0" indent="0" algn="l">
              <a:lnSpc>
                <a:spcPts val="2300"/>
              </a:lnSpc>
              <a:buNone/>
            </a:pPr>
            <a:r>
              <a:rPr lang="en-US" sz="1050" dirty="0">
                <a:solidFill>
                  <a:srgbClr val="333333"/>
                </a:solidFill>
              </a:rPr>
              <a:t>Практическая реализация</a:t>
            </a:r>
            <a:endParaRPr lang="en-US" sz="1050" dirty="0"/>
          </a:p>
        </p:txBody>
      </p:sp>
      <p:sp>
        <p:nvSpPr>
          <p:cNvPr id="19" name="Text 15"/>
          <p:cNvSpPr/>
          <p:nvPr/>
        </p:nvSpPr>
        <p:spPr>
          <a:xfrm>
            <a:off x="5582924" y="4702373"/>
            <a:ext cx="127136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Курс по ИИ: RAG и LLM</a:t>
            </a:r>
            <a:endParaRPr lang="en-US" sz="83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Эволюция поиска</a:t>
            </a:r>
            <a:endParaRPr lang="en-US" sz="2436" dirty="0"/>
          </a:p>
        </p:txBody>
      </p:sp>
      <p:sp>
        <p:nvSpPr>
          <p:cNvPr id="7" name="Shape 3"/>
          <p:cNvSpPr/>
          <p:nvPr/>
        </p:nvSpPr>
        <p:spPr>
          <a:xfrm>
            <a:off x="428625" y="1394817"/>
            <a:ext cx="3643313" cy="3384352"/>
          </a:xfrm>
          <a:prstGeom prst="rect">
            <a:avLst/>
          </a:prstGeom>
          <a:solidFill>
            <a:srgbClr val="FFFFFF"/>
          </a:solidFill>
          <a:ln w="9144">
            <a:solidFill>
              <a:srgbClr val="E0E0E0"/>
            </a:solidFill>
            <a:prstDash val="solid"/>
          </a:ln>
        </p:spPr>
        <p:txBody>
          <a:bodyPr/>
          <a:lstStyle/>
          <a:p>
            <a:endParaRPr lang="ru-KZ"/>
          </a:p>
        </p:txBody>
      </p:sp>
      <p:sp>
        <p:nvSpPr>
          <p:cNvPr id="8" name="Text 4"/>
          <p:cNvSpPr/>
          <p:nvPr/>
        </p:nvSpPr>
        <p:spPr>
          <a:xfrm>
            <a:off x="714375" y="1680567"/>
            <a:ext cx="3071813" cy="358973"/>
          </a:xfrm>
          <a:prstGeom prst="rect">
            <a:avLst/>
          </a:prstGeom>
          <a:noFill/>
          <a:ln/>
        </p:spPr>
        <p:txBody>
          <a:bodyPr wrap="none" lIns="0" tIns="0" rIns="0" bIns="85090" rtlCol="0" anchor="t">
            <a:spAutoFit/>
          </a:bodyPr>
          <a:lstStyle/>
          <a:p>
            <a:pPr marL="0" indent="0" algn="l">
              <a:lnSpc>
                <a:spcPts val="1900"/>
              </a:lnSpc>
              <a:buNone/>
            </a:pPr>
            <a:r>
              <a:rPr lang="en-US" sz="1397" b="1" dirty="0">
                <a:solidFill>
                  <a:srgbClr val="1A1A1A"/>
                </a:solidFill>
              </a:rPr>
              <a:t>Lexical Search</a:t>
            </a:r>
            <a:endParaRPr lang="en-US" sz="1397" dirty="0"/>
          </a:p>
        </p:txBody>
      </p:sp>
      <p:sp>
        <p:nvSpPr>
          <p:cNvPr id="9" name="Text 5"/>
          <p:cNvSpPr/>
          <p:nvPr/>
        </p:nvSpPr>
        <p:spPr>
          <a:xfrm>
            <a:off x="714375" y="2325291"/>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10" name="Text 6"/>
          <p:cNvSpPr/>
          <p:nvPr/>
        </p:nvSpPr>
        <p:spPr>
          <a:xfrm>
            <a:off x="892969" y="2325291"/>
            <a:ext cx="2661493"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Точное совпадение слов (Exact Match)</a:t>
            </a:r>
            <a:endParaRPr lang="en-US" sz="1050" dirty="0"/>
          </a:p>
        </p:txBody>
      </p:sp>
      <p:sp>
        <p:nvSpPr>
          <p:cNvPr id="11" name="Text 7"/>
          <p:cNvSpPr/>
          <p:nvPr/>
        </p:nvSpPr>
        <p:spPr>
          <a:xfrm>
            <a:off x="714375" y="2627114"/>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12" name="Text 8"/>
          <p:cNvSpPr/>
          <p:nvPr/>
        </p:nvSpPr>
        <p:spPr>
          <a:xfrm>
            <a:off x="892969" y="2627114"/>
            <a:ext cx="1489779" cy="389334"/>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555555"/>
                </a:solidFill>
              </a:rPr>
              <a:t>Высокая скорость и интерпретируемость</a:t>
            </a:r>
            <a:endParaRPr lang="en-US" sz="1050" dirty="0"/>
          </a:p>
        </p:txBody>
      </p:sp>
      <p:sp>
        <p:nvSpPr>
          <p:cNvPr id="13" name="Text 9"/>
          <p:cNvSpPr/>
          <p:nvPr/>
        </p:nvSpPr>
        <p:spPr>
          <a:xfrm>
            <a:off x="714375" y="3123605"/>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14" name="Text 10"/>
          <p:cNvSpPr/>
          <p:nvPr/>
        </p:nvSpPr>
        <p:spPr>
          <a:xfrm>
            <a:off x="892969" y="3123605"/>
            <a:ext cx="2102690"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Идеально для кодов, имен, ID</a:t>
            </a:r>
            <a:endParaRPr lang="en-US" sz="1050" dirty="0"/>
          </a:p>
        </p:txBody>
      </p:sp>
      <p:sp>
        <p:nvSpPr>
          <p:cNvPr id="15" name="Text 11"/>
          <p:cNvSpPr/>
          <p:nvPr/>
        </p:nvSpPr>
        <p:spPr>
          <a:xfrm>
            <a:off x="714375" y="3425428"/>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16" name="Text 12"/>
          <p:cNvSpPr/>
          <p:nvPr/>
        </p:nvSpPr>
        <p:spPr>
          <a:xfrm>
            <a:off x="892969" y="3425428"/>
            <a:ext cx="1392055"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Не понимает смысл</a:t>
            </a:r>
            <a:endParaRPr lang="en-US" sz="1050" dirty="0"/>
          </a:p>
        </p:txBody>
      </p:sp>
      <p:sp>
        <p:nvSpPr>
          <p:cNvPr id="17" name="Shape 13"/>
          <p:cNvSpPr/>
          <p:nvPr/>
        </p:nvSpPr>
        <p:spPr>
          <a:xfrm>
            <a:off x="714375" y="3727252"/>
            <a:ext cx="3071813" cy="751880"/>
          </a:xfrm>
          <a:prstGeom prst="rect">
            <a:avLst/>
          </a:prstGeom>
          <a:solidFill>
            <a:srgbClr val="F9F9F9"/>
          </a:solidFill>
          <a:ln/>
        </p:spPr>
        <p:txBody>
          <a:bodyPr/>
          <a:lstStyle/>
          <a:p>
            <a:endParaRPr lang="ru-KZ"/>
          </a:p>
        </p:txBody>
      </p:sp>
      <p:sp>
        <p:nvSpPr>
          <p:cNvPr id="18" name="Shape 14"/>
          <p:cNvSpPr/>
          <p:nvPr/>
        </p:nvSpPr>
        <p:spPr>
          <a:xfrm>
            <a:off x="714375" y="3727252"/>
            <a:ext cx="28575" cy="751880"/>
          </a:xfrm>
          <a:prstGeom prst="rect">
            <a:avLst/>
          </a:prstGeom>
          <a:solidFill>
            <a:srgbClr val="1A1A1A"/>
          </a:solidFill>
          <a:ln/>
        </p:spPr>
        <p:txBody>
          <a:bodyPr/>
          <a:lstStyle/>
          <a:p>
            <a:endParaRPr lang="ru-KZ"/>
          </a:p>
        </p:txBody>
      </p:sp>
      <p:sp>
        <p:nvSpPr>
          <p:cNvPr id="19" name="Text 15"/>
          <p:cNvSpPr/>
          <p:nvPr/>
        </p:nvSpPr>
        <p:spPr>
          <a:xfrm>
            <a:off x="714375" y="3727252"/>
            <a:ext cx="3071813" cy="751880"/>
          </a:xfrm>
          <a:prstGeom prst="rect">
            <a:avLst/>
          </a:prstGeom>
          <a:noFill/>
          <a:ln/>
        </p:spPr>
        <p:txBody>
          <a:bodyPr wrap="square" lIns="170053" tIns="170053" rIns="170053" bIns="170053" rtlCol="0" anchor="t">
            <a:spAutoFit/>
          </a:bodyPr>
          <a:lstStyle/>
          <a:p>
            <a:pPr marL="0" indent="0" algn="l">
              <a:lnSpc>
                <a:spcPts val="1100"/>
              </a:lnSpc>
              <a:buNone/>
            </a:pPr>
            <a:r>
              <a:rPr lang="en-US" sz="834" dirty="0">
                <a:solidFill>
                  <a:srgbClr val="000000"/>
                </a:solidFill>
              </a:rPr>
              <a:t>Query: "iphone 15 pro"
 Match: "iphone 15 pro max"
 Miss: "apple smartphone 2023"</a:t>
            </a:r>
            <a:endParaRPr lang="en-US" sz="834" dirty="0"/>
          </a:p>
        </p:txBody>
      </p:sp>
      <p:sp>
        <p:nvSpPr>
          <p:cNvPr id="20" name="Shape 16"/>
          <p:cNvSpPr/>
          <p:nvPr/>
        </p:nvSpPr>
        <p:spPr>
          <a:xfrm>
            <a:off x="4357688" y="2865537"/>
            <a:ext cx="428625" cy="428625"/>
          </a:xfrm>
          <a:prstGeom prst="ellipse">
            <a:avLst/>
          </a:prstGeom>
          <a:solidFill>
            <a:srgbClr val="1A1A1A"/>
          </a:solidFill>
          <a:ln/>
        </p:spPr>
        <p:txBody>
          <a:bodyPr/>
          <a:lstStyle/>
          <a:p>
            <a:endParaRPr lang="ru-KZ"/>
          </a:p>
        </p:txBody>
      </p:sp>
      <p:sp>
        <p:nvSpPr>
          <p:cNvPr id="21" name="Text 17"/>
          <p:cNvSpPr/>
          <p:nvPr/>
        </p:nvSpPr>
        <p:spPr>
          <a:xfrm>
            <a:off x="4357688" y="2865537"/>
            <a:ext cx="428625" cy="428625"/>
          </a:xfrm>
          <a:prstGeom prst="rect">
            <a:avLst/>
          </a:prstGeom>
          <a:noFill/>
          <a:ln/>
        </p:spPr>
        <p:txBody>
          <a:bodyPr wrap="square" lIns="0" tIns="0" rIns="0" bIns="0" rtlCol="0" anchor="ctr">
            <a:spAutoFit/>
          </a:bodyPr>
          <a:lstStyle/>
          <a:p>
            <a:pPr marL="0" indent="0" algn="ctr">
              <a:lnSpc>
                <a:spcPts val="1400"/>
              </a:lnSpc>
              <a:buNone/>
            </a:pPr>
            <a:r>
              <a:rPr lang="en-US" sz="987" b="1" dirty="0">
                <a:solidFill>
                  <a:srgbClr val="FFFFFF"/>
                </a:solidFill>
              </a:rPr>
              <a:t>VS</a:t>
            </a:r>
            <a:endParaRPr lang="en-US" sz="987" dirty="0"/>
          </a:p>
        </p:txBody>
      </p:sp>
      <p:sp>
        <p:nvSpPr>
          <p:cNvPr id="22" name="Shape 18"/>
          <p:cNvSpPr/>
          <p:nvPr/>
        </p:nvSpPr>
        <p:spPr>
          <a:xfrm>
            <a:off x="5072063" y="1394817"/>
            <a:ext cx="3643313" cy="3370064"/>
          </a:xfrm>
          <a:prstGeom prst="rect">
            <a:avLst/>
          </a:prstGeom>
          <a:solidFill>
            <a:srgbClr val="FFFFFF"/>
          </a:solidFill>
          <a:ln w="9144">
            <a:solidFill>
              <a:srgbClr val="E0E0E0"/>
            </a:solidFill>
            <a:prstDash val="solid"/>
          </a:ln>
        </p:spPr>
        <p:txBody>
          <a:bodyPr/>
          <a:lstStyle/>
          <a:p>
            <a:endParaRPr lang="ru-KZ"/>
          </a:p>
        </p:txBody>
      </p:sp>
      <p:sp>
        <p:nvSpPr>
          <p:cNvPr id="23" name="Text 19"/>
          <p:cNvSpPr/>
          <p:nvPr/>
        </p:nvSpPr>
        <p:spPr>
          <a:xfrm>
            <a:off x="5357813" y="1680567"/>
            <a:ext cx="3071813" cy="358973"/>
          </a:xfrm>
          <a:prstGeom prst="rect">
            <a:avLst/>
          </a:prstGeom>
          <a:noFill/>
          <a:ln/>
        </p:spPr>
        <p:txBody>
          <a:bodyPr wrap="none" lIns="0" tIns="0" rIns="0" bIns="85090" rtlCol="0" anchor="t">
            <a:spAutoFit/>
          </a:bodyPr>
          <a:lstStyle/>
          <a:p>
            <a:pPr marL="0" indent="0" algn="l">
              <a:lnSpc>
                <a:spcPts val="1900"/>
              </a:lnSpc>
              <a:buNone/>
            </a:pPr>
            <a:r>
              <a:rPr lang="en-US" sz="1397" b="1" dirty="0">
                <a:solidFill>
                  <a:srgbClr val="1A1A1A"/>
                </a:solidFill>
              </a:rPr>
              <a:t>Semantic Search</a:t>
            </a:r>
            <a:endParaRPr lang="en-US" sz="1397" dirty="0"/>
          </a:p>
        </p:txBody>
      </p:sp>
      <p:sp>
        <p:nvSpPr>
          <p:cNvPr id="24" name="Text 20"/>
          <p:cNvSpPr/>
          <p:nvPr/>
        </p:nvSpPr>
        <p:spPr>
          <a:xfrm>
            <a:off x="5357813" y="2325291"/>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25" name="Text 21"/>
          <p:cNvSpPr/>
          <p:nvPr/>
        </p:nvSpPr>
        <p:spPr>
          <a:xfrm>
            <a:off x="5536406" y="2325291"/>
            <a:ext cx="2399323"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Поиск по смыслу (Vector Similarity)</a:t>
            </a:r>
            <a:endParaRPr lang="en-US" sz="1050" dirty="0"/>
          </a:p>
        </p:txBody>
      </p:sp>
      <p:sp>
        <p:nvSpPr>
          <p:cNvPr id="26" name="Text 22"/>
          <p:cNvSpPr/>
          <p:nvPr/>
        </p:nvSpPr>
        <p:spPr>
          <a:xfrm>
            <a:off x="5357813" y="2627114"/>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27" name="Text 23"/>
          <p:cNvSpPr/>
          <p:nvPr/>
        </p:nvSpPr>
        <p:spPr>
          <a:xfrm>
            <a:off x="5536406" y="2627114"/>
            <a:ext cx="2257592"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Понимает синонимы и контекст</a:t>
            </a:r>
            <a:endParaRPr lang="en-US" sz="1050" dirty="0"/>
          </a:p>
        </p:txBody>
      </p:sp>
      <p:sp>
        <p:nvSpPr>
          <p:cNvPr id="28" name="Text 24"/>
          <p:cNvSpPr/>
          <p:nvPr/>
        </p:nvSpPr>
        <p:spPr>
          <a:xfrm>
            <a:off x="5357813" y="2928938"/>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29" name="Text 25"/>
          <p:cNvSpPr/>
          <p:nvPr/>
        </p:nvSpPr>
        <p:spPr>
          <a:xfrm>
            <a:off x="5536406" y="2928938"/>
            <a:ext cx="2074701"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Работает с многоязычностью</a:t>
            </a:r>
            <a:endParaRPr lang="en-US" sz="1050" dirty="0"/>
          </a:p>
        </p:txBody>
      </p:sp>
      <p:sp>
        <p:nvSpPr>
          <p:cNvPr id="30" name="Text 26"/>
          <p:cNvSpPr/>
          <p:nvPr/>
        </p:nvSpPr>
        <p:spPr>
          <a:xfrm>
            <a:off x="5357813" y="3230761"/>
            <a:ext cx="53746"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FF4F00"/>
                </a:solidFill>
              </a:rPr>
              <a:t>•</a:t>
            </a:r>
            <a:endParaRPr lang="en-US" sz="987" dirty="0"/>
          </a:p>
        </p:txBody>
      </p:sp>
      <p:sp>
        <p:nvSpPr>
          <p:cNvPr id="31" name="Text 27"/>
          <p:cNvSpPr/>
          <p:nvPr/>
        </p:nvSpPr>
        <p:spPr>
          <a:xfrm>
            <a:off x="5536406" y="3230761"/>
            <a:ext cx="2351298" cy="194667"/>
          </a:xfrm>
          <a:prstGeom prst="rect">
            <a:avLst/>
          </a:prstGeom>
          <a:noFill/>
          <a:ln/>
        </p:spPr>
        <p:txBody>
          <a:bodyPr wrap="none" lIns="0" tIns="0" rIns="0" bIns="0" rtlCol="0" anchor="t">
            <a:spAutoFit/>
          </a:bodyPr>
          <a:lstStyle/>
          <a:p>
            <a:pPr marL="0" indent="0" algn="l">
              <a:lnSpc>
                <a:spcPts val="1400"/>
              </a:lnSpc>
              <a:buNone/>
            </a:pPr>
            <a:r>
              <a:rPr lang="en-US" sz="1050" dirty="0">
                <a:solidFill>
                  <a:srgbClr val="555555"/>
                </a:solidFill>
              </a:rPr>
              <a:t>Может упустить точные термины</a:t>
            </a:r>
            <a:endParaRPr lang="en-US" sz="1050" dirty="0"/>
          </a:p>
        </p:txBody>
      </p:sp>
      <p:sp>
        <p:nvSpPr>
          <p:cNvPr id="32" name="Shape 28"/>
          <p:cNvSpPr/>
          <p:nvPr/>
        </p:nvSpPr>
        <p:spPr>
          <a:xfrm>
            <a:off x="5357813" y="3727252"/>
            <a:ext cx="3071813" cy="751880"/>
          </a:xfrm>
          <a:prstGeom prst="rect">
            <a:avLst/>
          </a:prstGeom>
          <a:solidFill>
            <a:srgbClr val="F9F9F9"/>
          </a:solidFill>
          <a:ln/>
        </p:spPr>
        <p:txBody>
          <a:bodyPr/>
          <a:lstStyle/>
          <a:p>
            <a:endParaRPr lang="ru-KZ"/>
          </a:p>
        </p:txBody>
      </p:sp>
      <p:sp>
        <p:nvSpPr>
          <p:cNvPr id="33" name="Shape 29"/>
          <p:cNvSpPr/>
          <p:nvPr/>
        </p:nvSpPr>
        <p:spPr>
          <a:xfrm>
            <a:off x="5357813" y="3727252"/>
            <a:ext cx="28575" cy="751880"/>
          </a:xfrm>
          <a:prstGeom prst="rect">
            <a:avLst/>
          </a:prstGeom>
          <a:solidFill>
            <a:srgbClr val="1A1A1A"/>
          </a:solidFill>
          <a:ln/>
        </p:spPr>
        <p:txBody>
          <a:bodyPr/>
          <a:lstStyle/>
          <a:p>
            <a:endParaRPr lang="ru-KZ"/>
          </a:p>
        </p:txBody>
      </p:sp>
      <p:sp>
        <p:nvSpPr>
          <p:cNvPr id="34" name="Text 30"/>
          <p:cNvSpPr/>
          <p:nvPr/>
        </p:nvSpPr>
        <p:spPr>
          <a:xfrm>
            <a:off x="5357813" y="3727252"/>
            <a:ext cx="3071813" cy="751880"/>
          </a:xfrm>
          <a:prstGeom prst="rect">
            <a:avLst/>
          </a:prstGeom>
          <a:noFill/>
          <a:ln/>
        </p:spPr>
        <p:txBody>
          <a:bodyPr wrap="square" lIns="170053" tIns="170053" rIns="170053" bIns="170053" rtlCol="0" anchor="t">
            <a:spAutoFit/>
          </a:bodyPr>
          <a:lstStyle/>
          <a:p>
            <a:pPr marL="0" indent="0" algn="l">
              <a:lnSpc>
                <a:spcPts val="1100"/>
              </a:lnSpc>
              <a:buNone/>
            </a:pPr>
            <a:r>
              <a:rPr lang="en-US" sz="834" dirty="0">
                <a:solidFill>
                  <a:srgbClr val="000000"/>
                </a:solidFill>
              </a:rPr>
              <a:t>Query: "best device for coding"
 Match: "MacBook Pro M3"
 Miss: "coding device manual"</a:t>
            </a:r>
            <a:endParaRPr lang="en-US" sz="834" dirty="0"/>
          </a:p>
        </p:txBody>
      </p:sp>
      <p:sp>
        <p:nvSpPr>
          <p:cNvPr id="35" name="Shape 31"/>
          <p:cNvSpPr/>
          <p:nvPr/>
        </p:nvSpPr>
        <p:spPr>
          <a:xfrm>
            <a:off x="428625" y="4434483"/>
            <a:ext cx="8286750" cy="753666"/>
          </a:xfrm>
          <a:prstGeom prst="rect">
            <a:avLst/>
          </a:prstGeom>
          <a:solidFill>
            <a:srgbClr val="1A1A1A"/>
          </a:solidFill>
          <a:ln/>
        </p:spPr>
        <p:txBody>
          <a:bodyPr/>
          <a:lstStyle/>
          <a:p>
            <a:endParaRPr lang="ru-KZ"/>
          </a:p>
        </p:txBody>
      </p:sp>
      <p:sp>
        <p:nvSpPr>
          <p:cNvPr id="36" name="Text 32"/>
          <p:cNvSpPr/>
          <p:nvPr/>
        </p:nvSpPr>
        <p:spPr>
          <a:xfrm>
            <a:off x="714375" y="4577358"/>
            <a:ext cx="1970280" cy="467916"/>
          </a:xfrm>
          <a:prstGeom prst="rect">
            <a:avLst/>
          </a:prstGeom>
          <a:noFill/>
          <a:ln/>
        </p:spPr>
        <p:txBody>
          <a:bodyPr wrap="square" lIns="0" tIns="0" rIns="0" bIns="0" rtlCol="0" anchor="t">
            <a:spAutoFit/>
          </a:bodyPr>
          <a:lstStyle/>
          <a:p>
            <a:pPr marL="0" indent="0" algn="l">
              <a:lnSpc>
                <a:spcPts val="1600"/>
              </a:lnSpc>
              <a:buNone/>
            </a:pPr>
            <a:r>
              <a:rPr lang="en-US" sz="1193" b="1" dirty="0">
                <a:solidFill>
                  <a:srgbClr val="FF4F00"/>
                </a:solidFill>
              </a:rPr>
              <a:t>Проблема: Lexical Gap</a:t>
            </a:r>
            <a:endParaRPr lang="en-US" sz="1193" dirty="0"/>
          </a:p>
        </p:txBody>
      </p:sp>
      <p:sp>
        <p:nvSpPr>
          <p:cNvPr id="37" name="Text 33"/>
          <p:cNvSpPr/>
          <p:nvPr/>
        </p:nvSpPr>
        <p:spPr>
          <a:xfrm>
            <a:off x="2684655" y="4616649"/>
            <a:ext cx="5744970" cy="389334"/>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FFFFFF"/>
                </a:solidFill>
              </a:rPr>
              <a:t>Пользователи и документы часто используют разные слова для описания одного и того же.</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F-IDF Calculator - Онлайн-калькулятор">
            <a:extLst>
              <a:ext uri="{FF2B5EF4-FFF2-40B4-BE49-F238E27FC236}">
                <a16:creationId xmlns:a16="http://schemas.microsoft.com/office/drawing/2014/main" id="{C2B3348E-590A-0E10-472B-D9E977831A9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72000" y="1496403"/>
            <a:ext cx="3989297" cy="2094381"/>
          </a:xfrm>
          <a:prstGeom prst="rect">
            <a:avLst/>
          </a:prstGeom>
          <a:noFill/>
          <a:extLst>
            <a:ext uri="{909E8E84-426E-40DD-AFC4-6F175D3DCCD1}">
              <a14:hiddenFill xmlns:a14="http://schemas.microsoft.com/office/drawing/2010/main">
                <a:solidFill>
                  <a:srgbClr val="FFFFFF"/>
                </a:solidFill>
              </a14:hiddenFill>
            </a:ext>
          </a:extLst>
        </p:spPr>
      </p:pic>
      <p:grpSp>
        <p:nvGrpSpPr>
          <p:cNvPr id="1033" name="Group 1032">
            <a:extLst>
              <a:ext uri="{FF2B5EF4-FFF2-40B4-BE49-F238E27FC236}">
                <a16:creationId xmlns:a16="http://schemas.microsoft.com/office/drawing/2014/main" id="{1FD67D68-9B83-C338-8342-3348D8F223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5053288"/>
            <a:ext cx="9155399" cy="92522"/>
            <a:chOff x="-5025" y="6737718"/>
            <a:chExt cx="12207200" cy="123363"/>
          </a:xfrm>
        </p:grpSpPr>
        <p:sp>
          <p:nvSpPr>
            <p:cNvPr id="1034" name="Rectangle 1033">
              <a:extLst>
                <a:ext uri="{FF2B5EF4-FFF2-40B4-BE49-F238E27FC236}">
                  <a16:creationId xmlns:a16="http://schemas.microsoft.com/office/drawing/2014/main" id="{1E397F34-6B84-0D3B-0F29-B1D134B3B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9BD98075-BFC1-BE9C-7FB7-23FE55E433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5">
            <a:extLst>
              <a:ext uri="{FF2B5EF4-FFF2-40B4-BE49-F238E27FC236}">
                <a16:creationId xmlns:a16="http://schemas.microsoft.com/office/drawing/2014/main" id="{3BF7E33C-7801-3431-7154-17FBD2CACC7C}"/>
              </a:ext>
            </a:extLst>
          </p:cNvPr>
          <p:cNvSpPr>
            <a:spLocks noChangeArrowheads="1"/>
          </p:cNvSpPr>
          <p:nvPr/>
        </p:nvSpPr>
        <p:spPr bwMode="auto">
          <a:xfrm>
            <a:off x="0" y="25199"/>
            <a:ext cx="65" cy="40680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55545" rIns="0" bIns="7300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u-KZ" altLang="ru-KZ" sz="1800" b="0" i="0" u="none" strike="noStrike" cap="none" normalizeH="0" baseline="0" dirty="0">
              <a:ln>
                <a:noFill/>
              </a:ln>
              <a:solidFill>
                <a:schemeClr val="tx1"/>
              </a:solidFill>
              <a:effectLst/>
              <a:latin typeface="Arial" panose="020B0604020202020204" pitchFamily="34" charset="0"/>
            </a:endParaRPr>
          </a:p>
        </p:txBody>
      </p:sp>
      <p:graphicFrame>
        <p:nvGraphicFramePr>
          <p:cNvPr id="1028" name="TextBox 4">
            <a:extLst>
              <a:ext uri="{FF2B5EF4-FFF2-40B4-BE49-F238E27FC236}">
                <a16:creationId xmlns:a16="http://schemas.microsoft.com/office/drawing/2014/main" id="{975B9F66-50E9-046B-9590-103C2E14F956}"/>
              </a:ext>
            </a:extLst>
          </p:cNvPr>
          <p:cNvGraphicFramePr/>
          <p:nvPr>
            <p:extLst>
              <p:ext uri="{D42A27DB-BD31-4B8C-83A1-F6EECF244321}">
                <p14:modId xmlns:p14="http://schemas.microsoft.com/office/powerpoint/2010/main" val="819719487"/>
              </p:ext>
            </p:extLst>
          </p:nvPr>
        </p:nvGraphicFramePr>
        <p:xfrm>
          <a:off x="428625" y="1362635"/>
          <a:ext cx="3656335" cy="36906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hape 1">
            <a:extLst>
              <a:ext uri="{FF2B5EF4-FFF2-40B4-BE49-F238E27FC236}">
                <a16:creationId xmlns:a16="http://schemas.microsoft.com/office/drawing/2014/main" id="{FF634345-596C-5839-010A-829A6F115A32}"/>
              </a:ext>
            </a:extLst>
          </p:cNvPr>
          <p:cNvSpPr/>
          <p:nvPr/>
        </p:nvSpPr>
        <p:spPr>
          <a:xfrm>
            <a:off x="428625" y="1037630"/>
            <a:ext cx="8286750" cy="28575"/>
          </a:xfrm>
          <a:prstGeom prst="rect">
            <a:avLst/>
          </a:prstGeom>
          <a:solidFill>
            <a:srgbClr val="1A1A1A"/>
          </a:solidFill>
          <a:ln/>
        </p:spPr>
        <p:txBody>
          <a:bodyPr/>
          <a:lstStyle/>
          <a:p>
            <a:endParaRPr lang="ru-KZ"/>
          </a:p>
        </p:txBody>
      </p:sp>
      <p:sp>
        <p:nvSpPr>
          <p:cNvPr id="7" name="Text 2">
            <a:extLst>
              <a:ext uri="{FF2B5EF4-FFF2-40B4-BE49-F238E27FC236}">
                <a16:creationId xmlns:a16="http://schemas.microsoft.com/office/drawing/2014/main" id="{CECE27C8-12D2-153E-70DD-525CAA6AB296}"/>
              </a:ext>
            </a:extLst>
          </p:cNvPr>
          <p:cNvSpPr/>
          <p:nvPr/>
        </p:nvSpPr>
        <p:spPr>
          <a:xfrm>
            <a:off x="428625" y="428625"/>
            <a:ext cx="1022716" cy="430887"/>
          </a:xfrm>
          <a:prstGeom prst="rect">
            <a:avLst/>
          </a:prstGeom>
          <a:noFill/>
          <a:ln/>
        </p:spPr>
        <p:txBody>
          <a:bodyPr wrap="none" lIns="0" tIns="0" rIns="0" bIns="0" rtlCol="0" anchor="t">
            <a:spAutoFit/>
          </a:bodyPr>
          <a:lstStyle/>
          <a:p>
            <a:pPr lvl="0"/>
            <a:r>
              <a:rPr lang="ru-KZ" sz="2800" b="1" dirty="0"/>
              <a:t>TF-IDF</a:t>
            </a:r>
            <a:r>
              <a:rPr lang="ru-KZ" sz="2800" dirty="0"/>
              <a:t> </a:t>
            </a:r>
            <a:endParaRPr lang="ru-RU" sz="2800" dirty="0"/>
          </a:p>
        </p:txBody>
      </p:sp>
    </p:spTree>
    <p:extLst>
      <p:ext uri="{BB962C8B-B14F-4D97-AF65-F5344CB8AC3E}">
        <p14:creationId xmlns:p14="http://schemas.microsoft.com/office/powerpoint/2010/main" val="1222703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6C32D688-04BD-113C-09CB-AE55F87D8628}"/>
              </a:ext>
            </a:extLst>
          </p:cNvPr>
          <p:cNvPicPr>
            <a:picLocks noChangeAspect="1"/>
          </p:cNvPicPr>
          <p:nvPr/>
        </p:nvPicPr>
        <p:blipFill>
          <a:blip r:embed="rId2"/>
          <a:stretch>
            <a:fillRect/>
          </a:stretch>
        </p:blipFill>
        <p:spPr>
          <a:xfrm>
            <a:off x="428625" y="1244323"/>
            <a:ext cx="1498600" cy="584200"/>
          </a:xfrm>
          <a:prstGeom prst="rect">
            <a:avLst/>
          </a:prstGeom>
        </p:spPr>
      </p:pic>
      <p:sp>
        <p:nvSpPr>
          <p:cNvPr id="3" name="Shape 1">
            <a:extLst>
              <a:ext uri="{FF2B5EF4-FFF2-40B4-BE49-F238E27FC236}">
                <a16:creationId xmlns:a16="http://schemas.microsoft.com/office/drawing/2014/main" id="{E52B8541-11BF-DECA-E346-D70945ABCFE9}"/>
              </a:ext>
            </a:extLst>
          </p:cNvPr>
          <p:cNvSpPr/>
          <p:nvPr/>
        </p:nvSpPr>
        <p:spPr>
          <a:xfrm>
            <a:off x="428625" y="1037630"/>
            <a:ext cx="8286750" cy="28575"/>
          </a:xfrm>
          <a:prstGeom prst="rect">
            <a:avLst/>
          </a:prstGeom>
          <a:solidFill>
            <a:srgbClr val="1A1A1A"/>
          </a:solidFill>
          <a:ln/>
        </p:spPr>
        <p:txBody>
          <a:bodyPr/>
          <a:lstStyle/>
          <a:p>
            <a:endParaRPr lang="ru-KZ"/>
          </a:p>
        </p:txBody>
      </p:sp>
      <p:sp>
        <p:nvSpPr>
          <p:cNvPr id="4" name="Text 2">
            <a:extLst>
              <a:ext uri="{FF2B5EF4-FFF2-40B4-BE49-F238E27FC236}">
                <a16:creationId xmlns:a16="http://schemas.microsoft.com/office/drawing/2014/main" id="{F0C948EE-1907-EE35-D470-5CAE1A25BD11}"/>
              </a:ext>
            </a:extLst>
          </p:cNvPr>
          <p:cNvSpPr/>
          <p:nvPr/>
        </p:nvSpPr>
        <p:spPr>
          <a:xfrm>
            <a:off x="428625" y="428625"/>
            <a:ext cx="1022716" cy="430887"/>
          </a:xfrm>
          <a:prstGeom prst="rect">
            <a:avLst/>
          </a:prstGeom>
          <a:noFill/>
          <a:ln/>
        </p:spPr>
        <p:txBody>
          <a:bodyPr wrap="none" lIns="0" tIns="0" rIns="0" bIns="0" rtlCol="0" anchor="t">
            <a:spAutoFit/>
          </a:bodyPr>
          <a:lstStyle/>
          <a:p>
            <a:pPr lvl="0"/>
            <a:r>
              <a:rPr lang="ru-KZ" sz="2800" b="1" dirty="0"/>
              <a:t>TF-IDF</a:t>
            </a:r>
            <a:r>
              <a:rPr lang="ru-KZ" sz="2800" dirty="0"/>
              <a:t> </a:t>
            </a:r>
            <a:endParaRPr lang="ru-RU" sz="2800" dirty="0"/>
          </a:p>
        </p:txBody>
      </p:sp>
      <p:pic>
        <p:nvPicPr>
          <p:cNvPr id="5" name="Рисунок 4">
            <a:extLst>
              <a:ext uri="{FF2B5EF4-FFF2-40B4-BE49-F238E27FC236}">
                <a16:creationId xmlns:a16="http://schemas.microsoft.com/office/drawing/2014/main" id="{D353E9C7-E90F-355F-1A27-2BB558E2F73F}"/>
              </a:ext>
            </a:extLst>
          </p:cNvPr>
          <p:cNvPicPr>
            <a:picLocks noChangeAspect="1"/>
          </p:cNvPicPr>
          <p:nvPr/>
        </p:nvPicPr>
        <p:blipFill>
          <a:blip r:embed="rId3"/>
          <a:stretch>
            <a:fillRect/>
          </a:stretch>
        </p:blipFill>
        <p:spPr>
          <a:xfrm>
            <a:off x="428625" y="1828523"/>
            <a:ext cx="3670300" cy="1879600"/>
          </a:xfrm>
          <a:prstGeom prst="rect">
            <a:avLst/>
          </a:prstGeom>
        </p:spPr>
      </p:pic>
      <p:pic>
        <p:nvPicPr>
          <p:cNvPr id="6" name="Рисунок 5">
            <a:extLst>
              <a:ext uri="{FF2B5EF4-FFF2-40B4-BE49-F238E27FC236}">
                <a16:creationId xmlns:a16="http://schemas.microsoft.com/office/drawing/2014/main" id="{2FBCC92C-BFF6-6DF0-05F1-BF553E1E7C11}"/>
              </a:ext>
            </a:extLst>
          </p:cNvPr>
          <p:cNvPicPr>
            <a:picLocks noChangeAspect="1"/>
          </p:cNvPicPr>
          <p:nvPr/>
        </p:nvPicPr>
        <p:blipFill>
          <a:blip r:embed="rId4"/>
          <a:stretch>
            <a:fillRect/>
          </a:stretch>
        </p:blipFill>
        <p:spPr>
          <a:xfrm>
            <a:off x="428625" y="3708123"/>
            <a:ext cx="2819400" cy="977900"/>
          </a:xfrm>
          <a:prstGeom prst="rect">
            <a:avLst/>
          </a:prstGeom>
        </p:spPr>
      </p:pic>
      <p:pic>
        <p:nvPicPr>
          <p:cNvPr id="7" name="Рисунок 6">
            <a:extLst>
              <a:ext uri="{FF2B5EF4-FFF2-40B4-BE49-F238E27FC236}">
                <a16:creationId xmlns:a16="http://schemas.microsoft.com/office/drawing/2014/main" id="{9AED65D4-06D5-FF1B-4B1E-756595C75BFA}"/>
              </a:ext>
            </a:extLst>
          </p:cNvPr>
          <p:cNvPicPr>
            <a:picLocks noChangeAspect="1"/>
          </p:cNvPicPr>
          <p:nvPr/>
        </p:nvPicPr>
        <p:blipFill>
          <a:blip r:embed="rId5"/>
          <a:stretch>
            <a:fillRect/>
          </a:stretch>
        </p:blipFill>
        <p:spPr>
          <a:xfrm>
            <a:off x="4098925" y="1146361"/>
            <a:ext cx="4089400" cy="1828800"/>
          </a:xfrm>
          <a:prstGeom prst="rect">
            <a:avLst/>
          </a:prstGeom>
        </p:spPr>
      </p:pic>
      <p:pic>
        <p:nvPicPr>
          <p:cNvPr id="8" name="Рисунок 7">
            <a:extLst>
              <a:ext uri="{FF2B5EF4-FFF2-40B4-BE49-F238E27FC236}">
                <a16:creationId xmlns:a16="http://schemas.microsoft.com/office/drawing/2014/main" id="{23548A9B-A133-C853-0E0F-8AC9B978B7DC}"/>
              </a:ext>
            </a:extLst>
          </p:cNvPr>
          <p:cNvPicPr>
            <a:picLocks noChangeAspect="1"/>
          </p:cNvPicPr>
          <p:nvPr/>
        </p:nvPicPr>
        <p:blipFill>
          <a:blip r:embed="rId6"/>
          <a:stretch>
            <a:fillRect/>
          </a:stretch>
        </p:blipFill>
        <p:spPr>
          <a:xfrm>
            <a:off x="4098925" y="2971523"/>
            <a:ext cx="4267200" cy="1320800"/>
          </a:xfrm>
          <a:prstGeom prst="rect">
            <a:avLst/>
          </a:prstGeom>
        </p:spPr>
      </p:pic>
    </p:spTree>
    <p:extLst>
      <p:ext uri="{BB962C8B-B14F-4D97-AF65-F5344CB8AC3E}">
        <p14:creationId xmlns:p14="http://schemas.microsoft.com/office/powerpoint/2010/main" val="28208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Лексический поиск: BM25</a:t>
            </a:r>
            <a:endParaRPr lang="en-US" sz="2436" dirty="0"/>
          </a:p>
        </p:txBody>
      </p:sp>
      <p:sp>
        <p:nvSpPr>
          <p:cNvPr id="22" name="TextBox 21">
            <a:extLst>
              <a:ext uri="{FF2B5EF4-FFF2-40B4-BE49-F238E27FC236}">
                <a16:creationId xmlns:a16="http://schemas.microsoft.com/office/drawing/2014/main" id="{C4935B8B-52B3-1024-C21B-3806B815834A}"/>
              </a:ext>
            </a:extLst>
          </p:cNvPr>
          <p:cNvSpPr txBox="1"/>
          <p:nvPr/>
        </p:nvSpPr>
        <p:spPr>
          <a:xfrm>
            <a:off x="428625" y="1494830"/>
            <a:ext cx="8419540" cy="646331"/>
          </a:xfrm>
          <a:prstGeom prst="rect">
            <a:avLst/>
          </a:prstGeom>
          <a:noFill/>
        </p:spPr>
        <p:txBody>
          <a:bodyPr wrap="square">
            <a:spAutoFit/>
          </a:bodyPr>
          <a:lstStyle/>
          <a:p>
            <a:r>
              <a:rPr lang="ru-RU" sz="1800" dirty="0"/>
              <a:t>BM25 - Функция ранжирования документов по их релевантности поисковому запросу (встречаемости слова в каждом документе коллекции)</a:t>
            </a:r>
          </a:p>
        </p:txBody>
      </p:sp>
      <p:pic>
        <p:nvPicPr>
          <p:cNvPr id="23" name="Рисунок 22">
            <a:extLst>
              <a:ext uri="{FF2B5EF4-FFF2-40B4-BE49-F238E27FC236}">
                <a16:creationId xmlns:a16="http://schemas.microsoft.com/office/drawing/2014/main" id="{11FF5AC0-9651-579F-3FCA-395651B23F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165" y="2491139"/>
            <a:ext cx="8700000" cy="1052669"/>
          </a:xfrm>
          <a:prstGeom prst="rect">
            <a:avLst/>
          </a:prstGeom>
        </p:spPr>
      </p:pic>
      <p:pic>
        <p:nvPicPr>
          <p:cNvPr id="24" name="Рисунок 23">
            <a:extLst>
              <a:ext uri="{FF2B5EF4-FFF2-40B4-BE49-F238E27FC236}">
                <a16:creationId xmlns:a16="http://schemas.microsoft.com/office/drawing/2014/main" id="{B15A6E06-DF16-28C1-27F4-087C6DC80D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165" y="3902648"/>
            <a:ext cx="8866300" cy="8323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899BD3-9DA3-5BBF-F89A-630BB166B81B}"/>
              </a:ext>
            </a:extLst>
          </p:cNvPr>
          <p:cNvSpPr txBox="1"/>
          <p:nvPr/>
        </p:nvSpPr>
        <p:spPr>
          <a:xfrm>
            <a:off x="181070" y="1903010"/>
            <a:ext cx="8854288" cy="2308324"/>
          </a:xfrm>
          <a:prstGeom prst="rect">
            <a:avLst/>
          </a:prstGeom>
          <a:noFill/>
        </p:spPr>
        <p:txBody>
          <a:bodyPr wrap="square" rtlCol="0">
            <a:spAutoFit/>
          </a:bodyPr>
          <a:lstStyle/>
          <a:p>
            <a:r>
              <a:rPr lang="ru-RU" sz="2400" b="1" dirty="0"/>
              <a:t>BM25F</a:t>
            </a:r>
            <a:r>
              <a:rPr lang="ru-RU" sz="2400" dirty="0"/>
              <a:t> — модификация BM25, в которой документ рассматривается как совокупность нескольких полей (таких как, например, заголовки, основной текст, ссылочный текст), длины которых независимо нормализуются, и каждому из которых может быть назначена своя степень значимости в итоговой функции ранжировании.</a:t>
            </a:r>
          </a:p>
        </p:txBody>
      </p:sp>
      <p:sp>
        <p:nvSpPr>
          <p:cNvPr id="3" name="Shape 1">
            <a:extLst>
              <a:ext uri="{FF2B5EF4-FFF2-40B4-BE49-F238E27FC236}">
                <a16:creationId xmlns:a16="http://schemas.microsoft.com/office/drawing/2014/main" id="{7094C9A6-9755-BD8D-4018-74FECC532987}"/>
              </a:ext>
            </a:extLst>
          </p:cNvPr>
          <p:cNvSpPr/>
          <p:nvPr/>
        </p:nvSpPr>
        <p:spPr>
          <a:xfrm>
            <a:off x="428625" y="1037630"/>
            <a:ext cx="8286750" cy="28575"/>
          </a:xfrm>
          <a:prstGeom prst="rect">
            <a:avLst/>
          </a:prstGeom>
          <a:solidFill>
            <a:srgbClr val="1A1A1A"/>
          </a:solidFill>
          <a:ln/>
        </p:spPr>
        <p:txBody>
          <a:bodyPr/>
          <a:lstStyle/>
          <a:p>
            <a:endParaRPr lang="ru-KZ"/>
          </a:p>
        </p:txBody>
      </p:sp>
      <p:sp>
        <p:nvSpPr>
          <p:cNvPr id="4" name="Text 2">
            <a:extLst>
              <a:ext uri="{FF2B5EF4-FFF2-40B4-BE49-F238E27FC236}">
                <a16:creationId xmlns:a16="http://schemas.microsoft.com/office/drawing/2014/main" id="{44E483B4-48FC-D7A9-8A57-357FDF13B4B5}"/>
              </a:ext>
            </a:extLst>
          </p:cNvPr>
          <p:cNvSpPr/>
          <p:nvPr/>
        </p:nvSpPr>
        <p:spPr>
          <a:xfrm>
            <a:off x="428625" y="428625"/>
            <a:ext cx="3679020" cy="390235"/>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Лексический поиск: BM25F</a:t>
            </a:r>
            <a:endParaRPr lang="en-US" sz="2436" dirty="0"/>
          </a:p>
        </p:txBody>
      </p:sp>
    </p:spTree>
    <p:extLst>
      <p:ext uri="{BB962C8B-B14F-4D97-AF65-F5344CB8AC3E}">
        <p14:creationId xmlns:p14="http://schemas.microsoft.com/office/powerpoint/2010/main" val="1879453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5D742968-1F55-DFC7-6667-B313022E8873}"/>
              </a:ext>
            </a:extLst>
          </p:cNvPr>
          <p:cNvSpPr/>
          <p:nvPr/>
        </p:nvSpPr>
        <p:spPr>
          <a:xfrm>
            <a:off x="428625" y="1037630"/>
            <a:ext cx="8286750" cy="28575"/>
          </a:xfrm>
          <a:prstGeom prst="rect">
            <a:avLst/>
          </a:prstGeom>
          <a:solidFill>
            <a:srgbClr val="1A1A1A"/>
          </a:solidFill>
          <a:ln/>
        </p:spPr>
        <p:txBody>
          <a:bodyPr/>
          <a:lstStyle/>
          <a:p>
            <a:endParaRPr lang="ru-KZ"/>
          </a:p>
        </p:txBody>
      </p:sp>
      <p:sp>
        <p:nvSpPr>
          <p:cNvPr id="3" name="Text 2">
            <a:extLst>
              <a:ext uri="{FF2B5EF4-FFF2-40B4-BE49-F238E27FC236}">
                <a16:creationId xmlns:a16="http://schemas.microsoft.com/office/drawing/2014/main" id="{A39EB1DA-47F9-4FE2-36ED-518619652EE0}"/>
              </a:ext>
            </a:extLst>
          </p:cNvPr>
          <p:cNvSpPr/>
          <p:nvPr/>
        </p:nvSpPr>
        <p:spPr>
          <a:xfrm>
            <a:off x="428625" y="428625"/>
            <a:ext cx="1690399" cy="410369"/>
          </a:xfrm>
          <a:prstGeom prst="rect">
            <a:avLst/>
          </a:prstGeom>
          <a:noFill/>
          <a:ln/>
        </p:spPr>
        <p:txBody>
          <a:bodyPr wrap="none" lIns="0" tIns="0" rIns="0" bIns="0" rtlCol="0" anchor="t">
            <a:spAutoFit/>
          </a:bodyPr>
          <a:lstStyle/>
          <a:p>
            <a:pPr>
              <a:lnSpc>
                <a:spcPts val="3200"/>
              </a:lnSpc>
            </a:pPr>
            <a:r>
              <a:rPr lang="ru-RU" sz="2800" b="1" dirty="0"/>
              <a:t>Семантика</a:t>
            </a:r>
            <a:endParaRPr lang="en-US" sz="2436" b="1" dirty="0"/>
          </a:p>
        </p:txBody>
      </p:sp>
      <p:sp>
        <p:nvSpPr>
          <p:cNvPr id="5" name="TextBox 4">
            <a:extLst>
              <a:ext uri="{FF2B5EF4-FFF2-40B4-BE49-F238E27FC236}">
                <a16:creationId xmlns:a16="http://schemas.microsoft.com/office/drawing/2014/main" id="{0EE81821-7009-08C5-6A40-29170BD2D616}"/>
              </a:ext>
            </a:extLst>
          </p:cNvPr>
          <p:cNvSpPr txBox="1"/>
          <p:nvPr/>
        </p:nvSpPr>
        <p:spPr>
          <a:xfrm>
            <a:off x="428625" y="1284975"/>
            <a:ext cx="6221506" cy="2585323"/>
          </a:xfrm>
          <a:prstGeom prst="rect">
            <a:avLst/>
          </a:prstGeom>
          <a:noFill/>
        </p:spPr>
        <p:txBody>
          <a:bodyPr wrap="square">
            <a:spAutoFit/>
          </a:bodyPr>
          <a:lstStyle/>
          <a:p>
            <a:r>
              <a:rPr lang="ru-RU" dirty="0"/>
              <a:t>Семантика — это раздел лингвистики, изучающий </a:t>
            </a:r>
            <a:r>
              <a:rPr lang="ru-RU" b="1" i="0" dirty="0">
                <a:solidFill>
                  <a:srgbClr val="0A0A0A"/>
                </a:solidFill>
                <a:effectLst/>
                <a:latin typeface="Google Sans"/>
              </a:rPr>
              <a:t>значения</a:t>
            </a:r>
            <a:r>
              <a:rPr lang="ru-RU" b="0" i="0" dirty="0">
                <a:solidFill>
                  <a:srgbClr val="0A0A0A"/>
                </a:solidFill>
                <a:effectLst/>
                <a:latin typeface="Google Sans"/>
              </a:rPr>
              <a:t> языковых единиц (слов, фраз), а также </a:t>
            </a:r>
            <a:r>
              <a:rPr lang="ru-RU" b="1" i="0" dirty="0">
                <a:solidFill>
                  <a:srgbClr val="0A0A0A"/>
                </a:solidFill>
                <a:effectLst/>
                <a:latin typeface="Google Sans"/>
              </a:rPr>
              <a:t>смысловое содержание</a:t>
            </a:r>
            <a:r>
              <a:rPr lang="ru-RU" b="0" i="0" dirty="0">
                <a:solidFill>
                  <a:srgbClr val="0A0A0A"/>
                </a:solidFill>
                <a:effectLst/>
                <a:latin typeface="Google Sans"/>
              </a:rPr>
              <a:t>, передаваемое языком, и отношения между знаками и их значениями. В более широком смысле (в программировании, </a:t>
            </a:r>
            <a:r>
              <a:rPr lang="en" b="0" i="0" dirty="0">
                <a:solidFill>
                  <a:srgbClr val="0A0A0A"/>
                </a:solidFill>
                <a:effectLst/>
                <a:latin typeface="Google Sans"/>
              </a:rPr>
              <a:t>SEO, </a:t>
            </a:r>
            <a:r>
              <a:rPr lang="ru-RU" b="0" i="0" dirty="0">
                <a:solidFill>
                  <a:srgbClr val="0A0A0A"/>
                </a:solidFill>
                <a:effectLst/>
                <a:latin typeface="Google Sans"/>
              </a:rPr>
              <a:t>семиотике) семантика относится к </a:t>
            </a:r>
            <a:r>
              <a:rPr lang="ru-RU" b="1" i="0" dirty="0">
                <a:solidFill>
                  <a:srgbClr val="0A0A0A"/>
                </a:solidFill>
                <a:effectLst/>
                <a:latin typeface="Google Sans"/>
              </a:rPr>
              <a:t>значимости</a:t>
            </a:r>
            <a:r>
              <a:rPr lang="ru-RU" b="0" i="0" dirty="0">
                <a:solidFill>
                  <a:srgbClr val="0A0A0A"/>
                </a:solidFill>
                <a:effectLst/>
                <a:latin typeface="Google Sans"/>
              </a:rPr>
              <a:t> элементов и их роли в системе. Например, в </a:t>
            </a:r>
            <a:r>
              <a:rPr lang="en" b="0" i="0" dirty="0">
                <a:solidFill>
                  <a:srgbClr val="0A0A0A"/>
                </a:solidFill>
                <a:effectLst/>
                <a:latin typeface="Google Sans"/>
              </a:rPr>
              <a:t>HTML </a:t>
            </a:r>
            <a:r>
              <a:rPr lang="ru-RU" b="0" i="0" dirty="0">
                <a:solidFill>
                  <a:srgbClr val="0A0A0A"/>
                </a:solidFill>
                <a:effectLst/>
                <a:latin typeface="Google Sans"/>
              </a:rPr>
              <a:t>семантика определяет значение тегов (заголовок, параграф), а в программировании — поведение функций. </a:t>
            </a:r>
            <a:endParaRPr lang="ru-KZ" dirty="0"/>
          </a:p>
        </p:txBody>
      </p:sp>
    </p:spTree>
    <p:extLst>
      <p:ext uri="{BB962C8B-B14F-4D97-AF65-F5344CB8AC3E}">
        <p14:creationId xmlns:p14="http://schemas.microsoft.com/office/powerpoint/2010/main" val="3669656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7" name="Shape 17"/>
          <p:cNvSpPr/>
          <p:nvPr/>
        </p:nvSpPr>
        <p:spPr>
          <a:xfrm>
            <a:off x="4894780" y="1857427"/>
            <a:ext cx="3393282" cy="2891433"/>
          </a:xfrm>
          <a:prstGeom prst="rect">
            <a:avLst/>
          </a:prstGeom>
          <a:solidFill>
            <a:srgbClr val="FFFFFF"/>
          </a:solidFill>
          <a:ln w="9144">
            <a:solidFill>
              <a:srgbClr val="E0E0E0"/>
            </a:solidFill>
            <a:prstDash val="solid"/>
          </a:ln>
        </p:spPr>
        <p:txBody>
          <a:bodyPr/>
          <a:lstStyle/>
          <a:p>
            <a:endParaRPr lang="ru-KZ"/>
          </a:p>
        </p:txBody>
      </p:sp>
      <p:pic>
        <p:nvPicPr>
          <p:cNvPr id="3" name="Image 0" descr="preencoded.png"/>
          <p:cNvPicPr>
            <a:picLocks noChangeAspect="1"/>
          </p:cNvPicPr>
          <p:nvPr/>
        </p:nvPicPr>
        <p:blipFill>
          <a:blip r:embed="rId3"/>
          <a:stretch>
            <a:fillRect/>
          </a:stretch>
        </p:blipFill>
        <p:spPr>
          <a:xfrm>
            <a:off x="0" y="-893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Семантический поиск: Dense Retrieval</a:t>
            </a:r>
            <a:endParaRPr lang="en-US" sz="2436" dirty="0"/>
          </a:p>
        </p:txBody>
      </p:sp>
      <p:sp>
        <p:nvSpPr>
          <p:cNvPr id="7" name="Shape 3"/>
          <p:cNvSpPr/>
          <p:nvPr/>
        </p:nvSpPr>
        <p:spPr>
          <a:xfrm>
            <a:off x="428625" y="1323380"/>
            <a:ext cx="3929063" cy="1348383"/>
          </a:xfrm>
          <a:prstGeom prst="rect">
            <a:avLst/>
          </a:prstGeom>
          <a:solidFill>
            <a:srgbClr val="FFFFFF"/>
          </a:solidFill>
          <a:ln/>
        </p:spPr>
        <p:txBody>
          <a:bodyPr/>
          <a:lstStyle/>
          <a:p>
            <a:endParaRPr lang="ru-KZ"/>
          </a:p>
        </p:txBody>
      </p:sp>
      <p:sp>
        <p:nvSpPr>
          <p:cNvPr id="8" name="Shape 4"/>
          <p:cNvSpPr/>
          <p:nvPr/>
        </p:nvSpPr>
        <p:spPr>
          <a:xfrm>
            <a:off x="428625" y="1323380"/>
            <a:ext cx="28575" cy="1348383"/>
          </a:xfrm>
          <a:prstGeom prst="rect">
            <a:avLst/>
          </a:prstGeom>
          <a:solidFill>
            <a:srgbClr val="1A1A1A"/>
          </a:solidFill>
          <a:ln/>
        </p:spPr>
        <p:txBody>
          <a:bodyPr/>
          <a:lstStyle/>
          <a:p>
            <a:endParaRPr lang="ru-KZ"/>
          </a:p>
        </p:txBody>
      </p:sp>
      <p:sp>
        <p:nvSpPr>
          <p:cNvPr id="9" name="Text 5"/>
          <p:cNvSpPr/>
          <p:nvPr/>
        </p:nvSpPr>
        <p:spPr>
          <a:xfrm>
            <a:off x="642938" y="1537692"/>
            <a:ext cx="3500438"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Векторные Эмбеддинги</a:t>
            </a:r>
            <a:endParaRPr lang="en-US" sz="1193" dirty="0"/>
          </a:p>
        </p:txBody>
      </p:sp>
      <p:sp>
        <p:nvSpPr>
          <p:cNvPr id="10" name="Text 6"/>
          <p:cNvSpPr/>
          <p:nvPr/>
        </p:nvSpPr>
        <p:spPr>
          <a:xfrm>
            <a:off x="642938" y="1878806"/>
            <a:ext cx="3500438" cy="578644"/>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555555"/>
                </a:solidFill>
              </a:rPr>
              <a:t>Преобразование текста в плотный вектор чисел (например, 1536 измерений для OpenAI). Близкие по смыслу тексты находятся рядом в этом пространстве.</a:t>
            </a:r>
            <a:endParaRPr lang="en-US" sz="942" dirty="0"/>
          </a:p>
        </p:txBody>
      </p:sp>
      <p:sp>
        <p:nvSpPr>
          <p:cNvPr id="11" name="Shape 7"/>
          <p:cNvSpPr/>
          <p:nvPr/>
        </p:nvSpPr>
        <p:spPr>
          <a:xfrm>
            <a:off x="428625" y="2886075"/>
            <a:ext cx="1893094" cy="1150144"/>
          </a:xfrm>
          <a:prstGeom prst="rect">
            <a:avLst/>
          </a:prstGeom>
          <a:solidFill>
            <a:srgbClr val="FFFFFF"/>
          </a:solidFill>
          <a:ln/>
        </p:spPr>
        <p:txBody>
          <a:bodyPr/>
          <a:lstStyle/>
          <a:p>
            <a:endParaRPr lang="ru-KZ"/>
          </a:p>
        </p:txBody>
      </p:sp>
      <p:sp>
        <p:nvSpPr>
          <p:cNvPr id="12" name="Text 8"/>
          <p:cNvSpPr/>
          <p:nvPr/>
        </p:nvSpPr>
        <p:spPr>
          <a:xfrm>
            <a:off x="571500" y="3028950"/>
            <a:ext cx="160734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098658"/>
                </a:solidFill>
              </a:rPr>
              <a:t>Преимущества</a:t>
            </a:r>
            <a:endParaRPr lang="en-US" sz="784" dirty="0"/>
          </a:p>
        </p:txBody>
      </p:sp>
      <p:pic>
        <p:nvPicPr>
          <p:cNvPr id="13" name="Image 1" descr="preencoded.png"/>
          <p:cNvPicPr>
            <a:picLocks noChangeAspect="1"/>
          </p:cNvPicPr>
          <p:nvPr/>
        </p:nvPicPr>
        <p:blipFill>
          <a:blip r:embed="rId4"/>
          <a:stretch>
            <a:fillRect/>
          </a:stretch>
        </p:blipFill>
        <p:spPr>
          <a:xfrm>
            <a:off x="571500" y="3276302"/>
            <a:ext cx="114300" cy="114300"/>
          </a:xfrm>
          <a:prstGeom prst="rect">
            <a:avLst/>
          </a:prstGeom>
        </p:spPr>
      </p:pic>
      <p:sp>
        <p:nvSpPr>
          <p:cNvPr id="14" name="Text 9"/>
          <p:cNvSpPr/>
          <p:nvPr/>
        </p:nvSpPr>
        <p:spPr>
          <a:xfrm>
            <a:off x="757238" y="3255764"/>
            <a:ext cx="608195"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Синонимы</a:t>
            </a:r>
            <a:endParaRPr lang="en-US" sz="834" dirty="0"/>
          </a:p>
        </p:txBody>
      </p:sp>
      <p:pic>
        <p:nvPicPr>
          <p:cNvPr id="15" name="Image 2" descr="preencoded.png"/>
          <p:cNvPicPr>
            <a:picLocks noChangeAspect="1"/>
          </p:cNvPicPr>
          <p:nvPr/>
        </p:nvPicPr>
        <p:blipFill>
          <a:blip r:embed="rId5"/>
          <a:stretch>
            <a:fillRect/>
          </a:stretch>
        </p:blipFill>
        <p:spPr>
          <a:xfrm>
            <a:off x="571500" y="3488829"/>
            <a:ext cx="114300" cy="114300"/>
          </a:xfrm>
          <a:prstGeom prst="rect">
            <a:avLst/>
          </a:prstGeom>
        </p:spPr>
      </p:pic>
      <p:sp>
        <p:nvSpPr>
          <p:cNvPr id="16" name="Text 10"/>
          <p:cNvSpPr/>
          <p:nvPr/>
        </p:nvSpPr>
        <p:spPr>
          <a:xfrm>
            <a:off x="757238" y="3468291"/>
            <a:ext cx="497802"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Контекст</a:t>
            </a:r>
            <a:endParaRPr lang="en-US" sz="834" dirty="0"/>
          </a:p>
        </p:txBody>
      </p:sp>
      <p:pic>
        <p:nvPicPr>
          <p:cNvPr id="17" name="Image 3" descr="preencoded.png"/>
          <p:cNvPicPr>
            <a:picLocks noChangeAspect="1"/>
          </p:cNvPicPr>
          <p:nvPr/>
        </p:nvPicPr>
        <p:blipFill>
          <a:blip r:embed="rId6"/>
          <a:stretch>
            <a:fillRect/>
          </a:stretch>
        </p:blipFill>
        <p:spPr>
          <a:xfrm>
            <a:off x="571500" y="3701355"/>
            <a:ext cx="114300" cy="114300"/>
          </a:xfrm>
          <a:prstGeom prst="rect">
            <a:avLst/>
          </a:prstGeom>
        </p:spPr>
      </p:pic>
      <p:sp>
        <p:nvSpPr>
          <p:cNvPr id="18" name="Text 11"/>
          <p:cNvSpPr/>
          <p:nvPr/>
        </p:nvSpPr>
        <p:spPr>
          <a:xfrm>
            <a:off x="757238" y="3680817"/>
            <a:ext cx="1013854"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Мультиязычность</a:t>
            </a:r>
            <a:endParaRPr lang="en-US" sz="834" dirty="0"/>
          </a:p>
        </p:txBody>
      </p:sp>
      <p:sp>
        <p:nvSpPr>
          <p:cNvPr id="19" name="Shape 12"/>
          <p:cNvSpPr/>
          <p:nvPr/>
        </p:nvSpPr>
        <p:spPr>
          <a:xfrm>
            <a:off x="2464594" y="2886075"/>
            <a:ext cx="1893094" cy="1150144"/>
          </a:xfrm>
          <a:prstGeom prst="rect">
            <a:avLst/>
          </a:prstGeom>
          <a:solidFill>
            <a:srgbClr val="FFFFFF"/>
          </a:solidFill>
          <a:ln/>
        </p:spPr>
        <p:txBody>
          <a:bodyPr/>
          <a:lstStyle/>
          <a:p>
            <a:endParaRPr lang="ru-KZ"/>
          </a:p>
        </p:txBody>
      </p:sp>
      <p:sp>
        <p:nvSpPr>
          <p:cNvPr id="20" name="Text 13"/>
          <p:cNvSpPr/>
          <p:nvPr/>
        </p:nvSpPr>
        <p:spPr>
          <a:xfrm>
            <a:off x="2607469" y="3028950"/>
            <a:ext cx="1607344"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A31515"/>
                </a:solidFill>
              </a:rPr>
              <a:t>Недостатки</a:t>
            </a:r>
            <a:endParaRPr lang="en-US" sz="784" dirty="0"/>
          </a:p>
        </p:txBody>
      </p:sp>
      <p:pic>
        <p:nvPicPr>
          <p:cNvPr id="21" name="Image 4" descr="preencoded.png"/>
          <p:cNvPicPr>
            <a:picLocks noChangeAspect="1"/>
          </p:cNvPicPr>
          <p:nvPr/>
        </p:nvPicPr>
        <p:blipFill>
          <a:blip r:embed="rId7"/>
          <a:stretch>
            <a:fillRect/>
          </a:stretch>
        </p:blipFill>
        <p:spPr>
          <a:xfrm>
            <a:off x="2607469" y="3276302"/>
            <a:ext cx="71438" cy="114300"/>
          </a:xfrm>
          <a:prstGeom prst="rect">
            <a:avLst/>
          </a:prstGeom>
        </p:spPr>
      </p:pic>
      <p:sp>
        <p:nvSpPr>
          <p:cNvPr id="22" name="Text 14"/>
          <p:cNvSpPr/>
          <p:nvPr/>
        </p:nvSpPr>
        <p:spPr>
          <a:xfrm>
            <a:off x="2750344" y="3255764"/>
            <a:ext cx="1115932"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Точные совпадения</a:t>
            </a:r>
            <a:endParaRPr lang="en-US" sz="834" dirty="0"/>
          </a:p>
        </p:txBody>
      </p:sp>
      <p:pic>
        <p:nvPicPr>
          <p:cNvPr id="23" name="Image 5" descr="preencoded.png"/>
          <p:cNvPicPr>
            <a:picLocks noChangeAspect="1"/>
          </p:cNvPicPr>
          <p:nvPr/>
        </p:nvPicPr>
        <p:blipFill>
          <a:blip r:embed="rId8"/>
          <a:stretch>
            <a:fillRect/>
          </a:stretch>
        </p:blipFill>
        <p:spPr>
          <a:xfrm>
            <a:off x="2607469" y="3488829"/>
            <a:ext cx="71438" cy="114300"/>
          </a:xfrm>
          <a:prstGeom prst="rect">
            <a:avLst/>
          </a:prstGeom>
        </p:spPr>
      </p:pic>
      <p:sp>
        <p:nvSpPr>
          <p:cNvPr id="24" name="Text 15"/>
          <p:cNvSpPr/>
          <p:nvPr/>
        </p:nvSpPr>
        <p:spPr>
          <a:xfrm>
            <a:off x="2750344" y="3468291"/>
            <a:ext cx="1235701"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Скорость (медленнее)</a:t>
            </a:r>
            <a:endParaRPr lang="en-US" sz="834" dirty="0"/>
          </a:p>
        </p:txBody>
      </p:sp>
      <p:pic>
        <p:nvPicPr>
          <p:cNvPr id="25" name="Image 6" descr="preencoded.png"/>
          <p:cNvPicPr>
            <a:picLocks noChangeAspect="1"/>
          </p:cNvPicPr>
          <p:nvPr/>
        </p:nvPicPr>
        <p:blipFill>
          <a:blip r:embed="rId9"/>
          <a:stretch>
            <a:fillRect/>
          </a:stretch>
        </p:blipFill>
        <p:spPr>
          <a:xfrm>
            <a:off x="2607469" y="3701355"/>
            <a:ext cx="71438" cy="114300"/>
          </a:xfrm>
          <a:prstGeom prst="rect">
            <a:avLst/>
          </a:prstGeom>
        </p:spPr>
      </p:pic>
      <p:sp>
        <p:nvSpPr>
          <p:cNvPr id="26" name="Text 16"/>
          <p:cNvSpPr/>
          <p:nvPr/>
        </p:nvSpPr>
        <p:spPr>
          <a:xfrm>
            <a:off x="2750344" y="3680817"/>
            <a:ext cx="608419" cy="155377"/>
          </a:xfrm>
          <a:prstGeom prst="rect">
            <a:avLst/>
          </a:prstGeom>
          <a:noFill/>
          <a:ln/>
        </p:spPr>
        <p:txBody>
          <a:bodyPr wrap="none" lIns="0" tIns="0" rIns="0" bIns="0" rtlCol="0" anchor="t">
            <a:spAutoFit/>
          </a:bodyPr>
          <a:lstStyle/>
          <a:p>
            <a:pPr marL="0" indent="0" algn="l">
              <a:lnSpc>
                <a:spcPts val="1100"/>
              </a:lnSpc>
              <a:buNone/>
            </a:pPr>
            <a:r>
              <a:rPr lang="en-US" sz="834" dirty="0">
                <a:solidFill>
                  <a:srgbClr val="555555"/>
                </a:solidFill>
              </a:rPr>
              <a:t>"Black Box"</a:t>
            </a:r>
            <a:endParaRPr lang="en-US" sz="834" dirty="0"/>
          </a:p>
        </p:txBody>
      </p:sp>
      <p:sp>
        <p:nvSpPr>
          <p:cNvPr id="28" name="Text 18"/>
          <p:cNvSpPr/>
          <p:nvPr/>
        </p:nvSpPr>
        <p:spPr>
          <a:xfrm>
            <a:off x="5000625" y="1537692"/>
            <a:ext cx="1576508"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Метрики расстояния</a:t>
            </a:r>
            <a:endParaRPr lang="en-US" sz="987" dirty="0"/>
          </a:p>
        </p:txBody>
      </p:sp>
      <p:sp>
        <p:nvSpPr>
          <p:cNvPr id="29" name="Shape 19"/>
          <p:cNvSpPr/>
          <p:nvPr/>
        </p:nvSpPr>
        <p:spPr>
          <a:xfrm rot="-1200000">
            <a:off x="5388692" y="4201829"/>
            <a:ext cx="2143125" cy="28575"/>
          </a:xfrm>
          <a:prstGeom prst="rect">
            <a:avLst/>
          </a:prstGeom>
          <a:solidFill>
            <a:srgbClr val="1A1A1A"/>
          </a:solidFill>
          <a:ln/>
        </p:spPr>
        <p:txBody>
          <a:bodyPr/>
          <a:lstStyle/>
          <a:p>
            <a:endParaRPr lang="ru-KZ"/>
          </a:p>
        </p:txBody>
      </p:sp>
      <p:sp>
        <p:nvSpPr>
          <p:cNvPr id="30" name="Shape 20"/>
          <p:cNvSpPr/>
          <p:nvPr/>
        </p:nvSpPr>
        <p:spPr>
          <a:xfrm rot="-3300000">
            <a:off x="4872037" y="3860583"/>
            <a:ext cx="1785938" cy="28575"/>
          </a:xfrm>
          <a:prstGeom prst="rect">
            <a:avLst/>
          </a:prstGeom>
          <a:solidFill>
            <a:srgbClr val="1A1A1A"/>
          </a:solidFill>
          <a:ln/>
        </p:spPr>
        <p:txBody>
          <a:bodyPr/>
          <a:lstStyle/>
          <a:p>
            <a:endParaRPr lang="ru-KZ"/>
          </a:p>
        </p:txBody>
      </p:sp>
      <p:sp>
        <p:nvSpPr>
          <p:cNvPr id="31" name="Shape 21"/>
          <p:cNvSpPr/>
          <p:nvPr/>
        </p:nvSpPr>
        <p:spPr>
          <a:xfrm>
            <a:off x="5765006" y="4116586"/>
            <a:ext cx="826415" cy="192881"/>
          </a:xfrm>
          <a:prstGeom prst="rect">
            <a:avLst/>
          </a:prstGeom>
          <a:solidFill>
            <a:srgbClr val="F2F2F2"/>
          </a:solidFill>
          <a:ln/>
        </p:spPr>
        <p:txBody>
          <a:bodyPr/>
          <a:lstStyle/>
          <a:p>
            <a:endParaRPr lang="ru-KZ"/>
          </a:p>
        </p:txBody>
      </p:sp>
      <p:sp>
        <p:nvSpPr>
          <p:cNvPr id="32" name="Text 22"/>
          <p:cNvSpPr/>
          <p:nvPr/>
        </p:nvSpPr>
        <p:spPr>
          <a:xfrm>
            <a:off x="5765006" y="4116586"/>
            <a:ext cx="826415" cy="192881"/>
          </a:xfrm>
          <a:prstGeom prst="rect">
            <a:avLst/>
          </a:prstGeom>
          <a:noFill/>
          <a:ln/>
        </p:spPr>
        <p:txBody>
          <a:bodyPr wrap="square" lIns="68072" tIns="34036" rIns="68072" bIns="34036" rtlCol="0" anchor="t">
            <a:spAutoFit/>
          </a:bodyPr>
          <a:lstStyle/>
          <a:p>
            <a:pPr marL="0" indent="0" algn="l">
              <a:lnSpc>
                <a:spcPts val="900"/>
              </a:lnSpc>
              <a:buNone/>
            </a:pPr>
            <a:r>
              <a:rPr lang="en-US" sz="683" b="1" dirty="0">
                <a:solidFill>
                  <a:srgbClr val="FF4F00"/>
                </a:solidFill>
              </a:rPr>
              <a:t>Cosine (Angle)</a:t>
            </a:r>
            <a:endParaRPr lang="en-US" sz="683" dirty="0"/>
          </a:p>
        </p:txBody>
      </p:sp>
      <p:sp>
        <p:nvSpPr>
          <p:cNvPr id="33" name="Shape 23"/>
          <p:cNvSpPr/>
          <p:nvPr/>
        </p:nvSpPr>
        <p:spPr>
          <a:xfrm>
            <a:off x="6772080" y="2466380"/>
            <a:ext cx="836014" cy="192881"/>
          </a:xfrm>
          <a:prstGeom prst="rect">
            <a:avLst/>
          </a:prstGeom>
          <a:solidFill>
            <a:srgbClr val="F2F2F2"/>
          </a:solidFill>
          <a:ln/>
        </p:spPr>
        <p:txBody>
          <a:bodyPr/>
          <a:lstStyle/>
          <a:p>
            <a:endParaRPr lang="ru-KZ"/>
          </a:p>
        </p:txBody>
      </p:sp>
      <p:sp>
        <p:nvSpPr>
          <p:cNvPr id="34" name="Text 24"/>
          <p:cNvSpPr/>
          <p:nvPr/>
        </p:nvSpPr>
        <p:spPr>
          <a:xfrm>
            <a:off x="6772080" y="2466380"/>
            <a:ext cx="836014" cy="192881"/>
          </a:xfrm>
          <a:prstGeom prst="rect">
            <a:avLst/>
          </a:prstGeom>
          <a:noFill/>
          <a:ln/>
        </p:spPr>
        <p:txBody>
          <a:bodyPr wrap="square" lIns="68072" tIns="34036" rIns="68072" bIns="34036" rtlCol="0" anchor="t">
            <a:spAutoFit/>
          </a:bodyPr>
          <a:lstStyle/>
          <a:p>
            <a:pPr marL="0" indent="0" algn="l">
              <a:lnSpc>
                <a:spcPts val="900"/>
              </a:lnSpc>
              <a:buNone/>
            </a:pPr>
            <a:r>
              <a:rPr lang="en-US" sz="727" dirty="0">
                <a:solidFill>
                  <a:srgbClr val="555555"/>
                </a:solidFill>
              </a:rPr>
              <a:t>Euclidean (Dist)</a:t>
            </a:r>
            <a:endParaRPr lang="en-US" sz="727" dirty="0"/>
          </a:p>
        </p:txBody>
      </p:sp>
      <p:sp>
        <p:nvSpPr>
          <p:cNvPr id="35" name="Text 25"/>
          <p:cNvSpPr/>
          <p:nvPr/>
        </p:nvSpPr>
        <p:spPr>
          <a:xfrm>
            <a:off x="5122348" y="4823817"/>
            <a:ext cx="3256992" cy="310753"/>
          </a:xfrm>
          <a:prstGeom prst="rect">
            <a:avLst/>
          </a:prstGeom>
          <a:noFill/>
          <a:ln/>
        </p:spPr>
        <p:txBody>
          <a:bodyPr wrap="square" lIns="0" tIns="0" rIns="0" bIns="0" rtlCol="0" anchor="t">
            <a:spAutoFit/>
          </a:bodyPr>
          <a:lstStyle/>
          <a:p>
            <a:pPr marL="0" indent="0" algn="ctr">
              <a:lnSpc>
                <a:spcPts val="1100"/>
              </a:lnSpc>
              <a:buNone/>
            </a:pPr>
            <a:r>
              <a:rPr lang="en-US" sz="784" b="1" dirty="0">
                <a:solidFill>
                  <a:srgbClr val="555555"/>
                </a:solidFill>
              </a:rPr>
              <a:t>Cosine Similarity</a:t>
            </a:r>
            <a:r>
              <a:rPr lang="en-US" sz="834" dirty="0">
                <a:solidFill>
                  <a:srgbClr val="555555"/>
                </a:solidFill>
              </a:rPr>
              <a:t> предпочтительнее для текста,
так как игнорирует длину документа (магнитуду вектора).</a:t>
            </a:r>
            <a:endParaRPr lang="en-US" sz="78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4551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Гибридный поиск</a:t>
            </a:r>
            <a:endParaRPr lang="en-US" sz="2436" dirty="0"/>
          </a:p>
        </p:txBody>
      </p:sp>
      <p:sp>
        <p:nvSpPr>
          <p:cNvPr id="7" name="Text 3"/>
          <p:cNvSpPr/>
          <p:nvPr/>
        </p:nvSpPr>
        <p:spPr>
          <a:xfrm>
            <a:off x="428625" y="1323380"/>
            <a:ext cx="3964781" cy="273248"/>
          </a:xfrm>
          <a:prstGeom prst="rect">
            <a:avLst/>
          </a:prstGeom>
          <a:noFill/>
          <a:ln/>
        </p:spPr>
        <p:txBody>
          <a:bodyPr wrap="none" lIns="127508" tIns="0" rIns="0" bIns="0" rtlCol="0" anchor="t">
            <a:spAutoFit/>
          </a:bodyPr>
          <a:lstStyle/>
          <a:p>
            <a:pPr marL="0" indent="0" algn="l">
              <a:lnSpc>
                <a:spcPts val="1900"/>
              </a:lnSpc>
              <a:buNone/>
            </a:pPr>
            <a:r>
              <a:rPr lang="en-US" sz="1397" b="1" dirty="0">
                <a:solidFill>
                  <a:srgbClr val="1A1A1A"/>
                </a:solidFill>
              </a:rPr>
              <a:t>Синергия методов</a:t>
            </a:r>
            <a:endParaRPr lang="en-US" sz="1397" dirty="0"/>
          </a:p>
        </p:txBody>
      </p:sp>
      <p:sp>
        <p:nvSpPr>
          <p:cNvPr id="8" name="Text 4"/>
          <p:cNvSpPr/>
          <p:nvPr/>
        </p:nvSpPr>
        <p:spPr>
          <a:xfrm>
            <a:off x="428625" y="1703784"/>
            <a:ext cx="3964781" cy="642938"/>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555555"/>
                </a:solidFill>
              </a:rPr>
              <a:t>Гибридный поиск выполняет </a:t>
            </a:r>
            <a:r>
              <a:rPr lang="en-US" sz="987" b="1" dirty="0">
                <a:solidFill>
                  <a:srgbClr val="555555"/>
                </a:solidFill>
              </a:rPr>
              <a:t>Keyword Search</a:t>
            </a:r>
            <a:r>
              <a:rPr lang="en-US" sz="1050" dirty="0">
                <a:solidFill>
                  <a:srgbClr val="555555"/>
                </a:solidFill>
              </a:rPr>
              <a:t> (BM25) и </a:t>
            </a:r>
            <a:r>
              <a:rPr lang="en-US" sz="987" b="1" dirty="0">
                <a:solidFill>
                  <a:srgbClr val="555555"/>
                </a:solidFill>
              </a:rPr>
              <a:t>Vector Search</a:t>
            </a:r>
            <a:r>
              <a:rPr lang="en-US" sz="1050" dirty="0">
                <a:solidFill>
                  <a:srgbClr val="555555"/>
                </a:solidFill>
              </a:rPr>
              <a:t> параллельно, объединяя результаты для максимальной точности.</a:t>
            </a:r>
            <a:endParaRPr lang="en-US" sz="1050" dirty="0"/>
          </a:p>
        </p:txBody>
      </p:sp>
      <p:sp>
        <p:nvSpPr>
          <p:cNvPr id="9" name="Shape 5"/>
          <p:cNvSpPr/>
          <p:nvPr/>
        </p:nvSpPr>
        <p:spPr>
          <a:xfrm>
            <a:off x="428625" y="2682478"/>
            <a:ext cx="3964781" cy="767953"/>
          </a:xfrm>
          <a:prstGeom prst="rect">
            <a:avLst/>
          </a:prstGeom>
          <a:solidFill>
            <a:srgbClr val="FFFFFF"/>
          </a:solidFill>
          <a:ln w="9144">
            <a:solidFill>
              <a:srgbClr val="DDDDDD"/>
            </a:solidFill>
            <a:prstDash val="solid"/>
          </a:ln>
        </p:spPr>
        <p:txBody>
          <a:bodyPr/>
          <a:lstStyle/>
          <a:p>
            <a:endParaRPr lang="ru-KZ"/>
          </a:p>
        </p:txBody>
      </p:sp>
      <p:sp>
        <p:nvSpPr>
          <p:cNvPr id="10" name="Text 6"/>
          <p:cNvSpPr/>
          <p:nvPr/>
        </p:nvSpPr>
        <p:spPr>
          <a:xfrm>
            <a:off x="428625" y="2682478"/>
            <a:ext cx="3964781" cy="767953"/>
          </a:xfrm>
          <a:prstGeom prst="rect">
            <a:avLst/>
          </a:prstGeom>
          <a:noFill/>
          <a:ln/>
        </p:spPr>
        <p:txBody>
          <a:bodyPr wrap="square" lIns="170053" tIns="170053" rIns="170053" bIns="170053" rtlCol="0" anchor="t">
            <a:spAutoFit/>
          </a:bodyPr>
          <a:lstStyle/>
          <a:p>
            <a:pPr marL="0" indent="0" algn="ctr">
              <a:lnSpc>
                <a:spcPts val="1600"/>
              </a:lnSpc>
              <a:buNone/>
            </a:pPr>
            <a:r>
              <a:rPr lang="en-US" sz="1193" b="1" dirty="0">
                <a:solidFill>
                  <a:srgbClr val="333333"/>
                </a:solidFill>
              </a:rPr>
              <a:t>Precision (BM25) </a:t>
            </a:r>
            <a:r>
              <a:rPr lang="en-US" sz="1193" b="1" dirty="0">
                <a:solidFill>
                  <a:srgbClr val="FF4F00"/>
                </a:solidFill>
              </a:rPr>
              <a:t>+</a:t>
            </a:r>
            <a:r>
              <a:rPr lang="en-US" sz="1193" b="1" dirty="0">
                <a:solidFill>
                  <a:srgbClr val="333333"/>
                </a:solidFill>
              </a:rPr>
              <a:t> Recall (Vector) </a:t>
            </a:r>
            <a:r>
              <a:rPr lang="en-US" sz="1193" b="1" dirty="0">
                <a:solidFill>
                  <a:srgbClr val="FF4F00"/>
                </a:solidFill>
              </a:rPr>
              <a:t>=</a:t>
            </a:r>
            <a:r>
              <a:rPr lang="en-US" sz="1193" b="1" dirty="0">
                <a:solidFill>
                  <a:srgbClr val="333333"/>
                </a:solidFill>
              </a:rPr>
              <a:t> Hybrid</a:t>
            </a:r>
            <a:endParaRPr lang="en-US" sz="1193" dirty="0"/>
          </a:p>
        </p:txBody>
      </p:sp>
      <p:sp>
        <p:nvSpPr>
          <p:cNvPr id="11" name="Shape 7"/>
          <p:cNvSpPr/>
          <p:nvPr/>
        </p:nvSpPr>
        <p:spPr>
          <a:xfrm>
            <a:off x="428625" y="3714750"/>
            <a:ext cx="3964781" cy="1428750"/>
          </a:xfrm>
          <a:prstGeom prst="rect">
            <a:avLst/>
          </a:prstGeom>
          <a:solidFill>
            <a:srgbClr val="FFFFFF"/>
          </a:solidFill>
          <a:ln w="9144">
            <a:solidFill>
              <a:srgbClr val="EEEEEE"/>
            </a:solidFill>
            <a:prstDash val="solid"/>
          </a:ln>
        </p:spPr>
        <p:txBody>
          <a:bodyPr/>
          <a:lstStyle/>
          <a:p>
            <a:endParaRPr lang="ru-KZ"/>
          </a:p>
        </p:txBody>
      </p:sp>
      <p:pic>
        <p:nvPicPr>
          <p:cNvPr id="12" name="Image 1" descr="preencoded.png"/>
          <p:cNvPicPr>
            <a:picLocks noChangeAspect="1"/>
          </p:cNvPicPr>
          <p:nvPr/>
        </p:nvPicPr>
        <p:blipFill>
          <a:blip r:embed="rId4"/>
          <a:stretch>
            <a:fillRect/>
          </a:stretch>
        </p:blipFill>
        <p:spPr>
          <a:xfrm>
            <a:off x="1055824" y="3714750"/>
            <a:ext cx="2710355" cy="1428722"/>
          </a:xfrm>
          <a:prstGeom prst="rect">
            <a:avLst/>
          </a:prstGeom>
        </p:spPr>
      </p:pic>
      <p:sp>
        <p:nvSpPr>
          <p:cNvPr id="13" name="Shape 8"/>
          <p:cNvSpPr/>
          <p:nvPr/>
        </p:nvSpPr>
        <p:spPr>
          <a:xfrm>
            <a:off x="4750594" y="1323380"/>
            <a:ext cx="3964781" cy="3820120"/>
          </a:xfrm>
          <a:prstGeom prst="rect">
            <a:avLst/>
          </a:prstGeom>
          <a:solidFill>
            <a:srgbClr val="FFFFFF"/>
          </a:solidFill>
          <a:ln w="9144">
            <a:solidFill>
              <a:srgbClr val="E0E0E0"/>
            </a:solidFill>
            <a:prstDash val="solid"/>
          </a:ln>
        </p:spPr>
        <p:txBody>
          <a:bodyPr/>
          <a:lstStyle/>
          <a:p>
            <a:endParaRPr lang="ru-KZ"/>
          </a:p>
        </p:txBody>
      </p:sp>
      <p:sp>
        <p:nvSpPr>
          <p:cNvPr id="14" name="Text 9"/>
          <p:cNvSpPr/>
          <p:nvPr/>
        </p:nvSpPr>
        <p:spPr>
          <a:xfrm>
            <a:off x="4964906" y="1537692"/>
            <a:ext cx="3536156"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4F00"/>
                </a:solidFill>
              </a:rPr>
              <a:t>Case Study</a:t>
            </a:r>
            <a:endParaRPr lang="en-US" sz="683" dirty="0"/>
          </a:p>
        </p:txBody>
      </p:sp>
      <p:sp>
        <p:nvSpPr>
          <p:cNvPr id="15" name="Text 10"/>
          <p:cNvSpPr/>
          <p:nvPr/>
        </p:nvSpPr>
        <p:spPr>
          <a:xfrm>
            <a:off x="4964906" y="1744861"/>
            <a:ext cx="3536156"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Пример: "Alaskan Pollock"</a:t>
            </a:r>
            <a:endParaRPr lang="en-US" sz="1193" dirty="0"/>
          </a:p>
        </p:txBody>
      </p:sp>
      <p:sp>
        <p:nvSpPr>
          <p:cNvPr id="16" name="Shape 11"/>
          <p:cNvSpPr/>
          <p:nvPr/>
        </p:nvSpPr>
        <p:spPr>
          <a:xfrm>
            <a:off x="4964906" y="2121694"/>
            <a:ext cx="3536156" cy="389334"/>
          </a:xfrm>
          <a:prstGeom prst="rect">
            <a:avLst/>
          </a:prstGeom>
          <a:solidFill>
            <a:srgbClr val="F2F2F2"/>
          </a:solidFill>
          <a:ln/>
        </p:spPr>
        <p:txBody>
          <a:bodyPr/>
          <a:lstStyle/>
          <a:p>
            <a:endParaRPr lang="ru-KZ"/>
          </a:p>
        </p:txBody>
      </p:sp>
      <p:sp>
        <p:nvSpPr>
          <p:cNvPr id="17" name="Shape 12"/>
          <p:cNvSpPr/>
          <p:nvPr/>
        </p:nvSpPr>
        <p:spPr>
          <a:xfrm>
            <a:off x="4964906" y="2121694"/>
            <a:ext cx="21431" cy="389334"/>
          </a:xfrm>
          <a:prstGeom prst="rect">
            <a:avLst/>
          </a:prstGeom>
          <a:solidFill>
            <a:srgbClr val="1A1A1A"/>
          </a:solidFill>
          <a:ln/>
        </p:spPr>
        <p:txBody>
          <a:bodyPr/>
          <a:lstStyle/>
          <a:p>
            <a:endParaRPr lang="ru-KZ"/>
          </a:p>
        </p:txBody>
      </p:sp>
      <p:sp>
        <p:nvSpPr>
          <p:cNvPr id="18" name="Text 13"/>
          <p:cNvSpPr/>
          <p:nvPr/>
        </p:nvSpPr>
        <p:spPr>
          <a:xfrm>
            <a:off x="4964906" y="2121694"/>
            <a:ext cx="3536156" cy="389334"/>
          </a:xfrm>
          <a:prstGeom prst="rect">
            <a:avLst/>
          </a:prstGeom>
          <a:noFill/>
          <a:ln/>
        </p:spPr>
        <p:txBody>
          <a:bodyPr wrap="square" lIns="127508" tIns="127508" rIns="127508" bIns="127508" rtlCol="0" anchor="t">
            <a:spAutoFit/>
          </a:bodyPr>
          <a:lstStyle/>
          <a:p>
            <a:pPr marL="0" indent="0" algn="l">
              <a:lnSpc>
                <a:spcPts val="1200"/>
              </a:lnSpc>
              <a:buNone/>
            </a:pPr>
            <a:r>
              <a:rPr lang="en-US" sz="942" dirty="0">
                <a:solidFill>
                  <a:srgbClr val="000000"/>
                </a:solidFill>
              </a:rPr>
              <a:t>Query: "How to catch an Alaskan Pollock"</a:t>
            </a:r>
            <a:endParaRPr lang="en-US" sz="942" dirty="0"/>
          </a:p>
        </p:txBody>
      </p:sp>
      <p:pic>
        <p:nvPicPr>
          <p:cNvPr id="19" name="Image 2" descr="preencoded.png"/>
          <p:cNvPicPr>
            <a:picLocks noChangeAspect="1"/>
          </p:cNvPicPr>
          <p:nvPr/>
        </p:nvPicPr>
        <p:blipFill>
          <a:blip r:embed="rId5"/>
          <a:stretch>
            <a:fillRect/>
          </a:stretch>
        </p:blipFill>
        <p:spPr>
          <a:xfrm>
            <a:off x="4964906" y="2675334"/>
            <a:ext cx="125016" cy="142875"/>
          </a:xfrm>
          <a:prstGeom prst="rect">
            <a:avLst/>
          </a:prstGeom>
        </p:spPr>
      </p:pic>
      <p:sp>
        <p:nvSpPr>
          <p:cNvPr id="20" name="Text 14"/>
          <p:cNvSpPr/>
          <p:nvPr/>
        </p:nvSpPr>
        <p:spPr>
          <a:xfrm>
            <a:off x="5197078" y="2653903"/>
            <a:ext cx="2899665" cy="525066"/>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444444"/>
                </a:solidFill>
              </a:rPr>
              <a:t>BM25 (Lexical):</a:t>
            </a:r>
            <a:r>
              <a:rPr lang="en-US" sz="942" dirty="0">
                <a:solidFill>
                  <a:srgbClr val="444444"/>
                </a:solidFill>
              </a:rPr>
              <a:t>
 Находит точное совпадение "Alaskan Pollock".
</a:t>
            </a:r>
            <a:r>
              <a:rPr lang="en-US" sz="727" dirty="0">
                <a:solidFill>
                  <a:srgbClr val="FF4F00"/>
                </a:solidFill>
              </a:rPr>
              <a:t>Без этого вектор может найти просто "рыбу".</a:t>
            </a:r>
            <a:endParaRPr lang="en-US" sz="885" dirty="0"/>
          </a:p>
        </p:txBody>
      </p:sp>
      <p:pic>
        <p:nvPicPr>
          <p:cNvPr id="21" name="Image 3" descr="preencoded.png"/>
          <p:cNvPicPr>
            <a:picLocks noChangeAspect="1"/>
          </p:cNvPicPr>
          <p:nvPr/>
        </p:nvPicPr>
        <p:blipFill>
          <a:blip r:embed="rId6"/>
          <a:stretch>
            <a:fillRect/>
          </a:stretch>
        </p:blipFill>
        <p:spPr>
          <a:xfrm>
            <a:off x="4964906" y="3307556"/>
            <a:ext cx="142875" cy="142875"/>
          </a:xfrm>
          <a:prstGeom prst="rect">
            <a:avLst/>
          </a:prstGeom>
        </p:spPr>
      </p:pic>
      <p:sp>
        <p:nvSpPr>
          <p:cNvPr id="22" name="Text 15"/>
          <p:cNvSpPr/>
          <p:nvPr/>
        </p:nvSpPr>
        <p:spPr>
          <a:xfrm>
            <a:off x="5214938" y="3286125"/>
            <a:ext cx="3286125" cy="525066"/>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444444"/>
                </a:solidFill>
              </a:rPr>
              <a:t>Vector (Semantic):</a:t>
            </a:r>
            <a:r>
              <a:rPr lang="en-US" sz="942" dirty="0">
                <a:solidFill>
                  <a:srgbClr val="444444"/>
                </a:solidFill>
              </a:rPr>
              <a:t>
 Понимает контекст "catch" как "рыбалка", а не "поймать мяч" или "подхватить простуду".</a:t>
            </a:r>
            <a:endParaRPr lang="en-US" sz="885" dirty="0"/>
          </a:p>
        </p:txBody>
      </p:sp>
      <p:pic>
        <p:nvPicPr>
          <p:cNvPr id="23" name="Image 4" descr="preencoded.png"/>
          <p:cNvPicPr>
            <a:picLocks noChangeAspect="1"/>
          </p:cNvPicPr>
          <p:nvPr/>
        </p:nvPicPr>
        <p:blipFill>
          <a:blip r:embed="rId7"/>
          <a:stretch>
            <a:fillRect/>
          </a:stretch>
        </p:blipFill>
        <p:spPr>
          <a:xfrm>
            <a:off x="4964906" y="3939778"/>
            <a:ext cx="142875" cy="142875"/>
          </a:xfrm>
          <a:prstGeom prst="rect">
            <a:avLst/>
          </a:prstGeom>
        </p:spPr>
      </p:pic>
      <p:sp>
        <p:nvSpPr>
          <p:cNvPr id="24" name="Text 16"/>
          <p:cNvSpPr/>
          <p:nvPr/>
        </p:nvSpPr>
        <p:spPr>
          <a:xfrm>
            <a:off x="5214938" y="3918347"/>
            <a:ext cx="3286125" cy="525066"/>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444444"/>
                </a:solidFill>
              </a:rPr>
              <a:t>Результат:</a:t>
            </a:r>
            <a:r>
              <a:rPr lang="en-US" sz="942" dirty="0">
                <a:solidFill>
                  <a:srgbClr val="444444"/>
                </a:solidFill>
              </a:rPr>
              <a:t>
 Релевантные инструкции по рыбалке именно этой рыбы.</a:t>
            </a:r>
            <a:endParaRPr lang="en-US" sz="88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Архитектура гибридного поиска</a:t>
            </a:r>
            <a:endParaRPr lang="en-US" sz="2436" dirty="0"/>
          </a:p>
        </p:txBody>
      </p:sp>
      <p:sp>
        <p:nvSpPr>
          <p:cNvPr id="7" name="Shape 3"/>
          <p:cNvSpPr/>
          <p:nvPr/>
        </p:nvSpPr>
        <p:spPr>
          <a:xfrm>
            <a:off x="428625" y="1626096"/>
            <a:ext cx="4325206" cy="3214688"/>
          </a:xfrm>
          <a:prstGeom prst="rect">
            <a:avLst/>
          </a:prstGeom>
          <a:solidFill>
            <a:srgbClr val="FFFFFF"/>
          </a:solidFill>
          <a:ln w="9144">
            <a:solidFill>
              <a:srgbClr val="E0E0E0"/>
            </a:solidFill>
            <a:prstDash val="solid"/>
          </a:ln>
        </p:spPr>
        <p:txBody>
          <a:bodyPr/>
          <a:lstStyle/>
          <a:p>
            <a:endParaRPr lang="ru-KZ"/>
          </a:p>
        </p:txBody>
      </p:sp>
      <p:pic>
        <p:nvPicPr>
          <p:cNvPr id="8" name="Image 1" descr="preencoded.png"/>
          <p:cNvPicPr>
            <a:picLocks noChangeAspect="1"/>
          </p:cNvPicPr>
          <p:nvPr/>
        </p:nvPicPr>
        <p:blipFill>
          <a:blip r:embed="rId4"/>
          <a:stretch>
            <a:fillRect/>
          </a:stretch>
        </p:blipFill>
        <p:spPr>
          <a:xfrm>
            <a:off x="886495" y="1768971"/>
            <a:ext cx="3409466" cy="2928938"/>
          </a:xfrm>
          <a:prstGeom prst="rect">
            <a:avLst/>
          </a:prstGeom>
        </p:spPr>
      </p:pic>
      <p:sp>
        <p:nvSpPr>
          <p:cNvPr id="9" name="Text 4"/>
          <p:cNvSpPr/>
          <p:nvPr/>
        </p:nvSpPr>
        <p:spPr>
          <a:xfrm>
            <a:off x="5111018" y="1475380"/>
            <a:ext cx="428625" cy="274309"/>
          </a:xfrm>
          <a:prstGeom prst="rect">
            <a:avLst/>
          </a:prstGeom>
          <a:noFill/>
          <a:ln/>
        </p:spPr>
        <p:txBody>
          <a:bodyPr wrap="none" lIns="0" tIns="0" rIns="0" bIns="0" rtlCol="0" anchor="t">
            <a:spAutoFit/>
          </a:bodyPr>
          <a:lstStyle/>
          <a:p>
            <a:pPr marL="0" indent="0" algn="l">
              <a:lnSpc>
                <a:spcPts val="2200"/>
              </a:lnSpc>
              <a:buNone/>
            </a:pPr>
            <a:r>
              <a:rPr lang="en-US" sz="2436" b="1" dirty="0">
                <a:solidFill>
                  <a:srgbClr val="E0E0E0"/>
                </a:solidFill>
              </a:rPr>
              <a:t>01</a:t>
            </a:r>
            <a:endParaRPr lang="en-US" sz="2436" dirty="0"/>
          </a:p>
        </p:txBody>
      </p:sp>
      <p:sp>
        <p:nvSpPr>
          <p:cNvPr id="10" name="Text 5"/>
          <p:cNvSpPr/>
          <p:nvPr/>
        </p:nvSpPr>
        <p:spPr>
          <a:xfrm>
            <a:off x="5682518" y="1475380"/>
            <a:ext cx="303282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Query Processing</a:t>
            </a:r>
            <a:endParaRPr lang="en-US" sz="1090" dirty="0"/>
          </a:p>
        </p:txBody>
      </p:sp>
      <p:sp>
        <p:nvSpPr>
          <p:cNvPr id="11" name="Text 6"/>
          <p:cNvSpPr/>
          <p:nvPr/>
        </p:nvSpPr>
        <p:spPr>
          <a:xfrm>
            <a:off x="5682518" y="1725411"/>
            <a:ext cx="3032829" cy="540051"/>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555555"/>
                </a:solidFill>
              </a:rPr>
              <a:t>Запрос преобразуется в </a:t>
            </a:r>
            <a:r>
              <a:rPr lang="en-US" sz="942" dirty="0">
                <a:solidFill>
                  <a:srgbClr val="FF4F00"/>
                </a:solidFill>
              </a:rPr>
              <a:t>Sparse Vector</a:t>
            </a:r>
            <a:r>
              <a:rPr lang="en-US" sz="942" dirty="0">
                <a:solidFill>
                  <a:srgbClr val="555555"/>
                </a:solidFill>
              </a:rPr>
              <a:t> (ключевые слова) и </a:t>
            </a:r>
            <a:r>
              <a:rPr lang="en-US" sz="942" dirty="0">
                <a:solidFill>
                  <a:srgbClr val="FF4F00"/>
                </a:solidFill>
              </a:rPr>
              <a:t>Dense Vector</a:t>
            </a:r>
            <a:r>
              <a:rPr lang="en-US" sz="942" dirty="0">
                <a:solidFill>
                  <a:srgbClr val="555555"/>
                </a:solidFill>
              </a:rPr>
              <a:t> (эмбеддинг) одновременно.</a:t>
            </a:r>
            <a:endParaRPr lang="en-US" sz="942" dirty="0"/>
          </a:p>
        </p:txBody>
      </p:sp>
      <p:sp>
        <p:nvSpPr>
          <p:cNvPr id="12" name="Text 7"/>
          <p:cNvSpPr/>
          <p:nvPr/>
        </p:nvSpPr>
        <p:spPr>
          <a:xfrm>
            <a:off x="5111018" y="2444055"/>
            <a:ext cx="428625" cy="274309"/>
          </a:xfrm>
          <a:prstGeom prst="rect">
            <a:avLst/>
          </a:prstGeom>
          <a:noFill/>
          <a:ln/>
        </p:spPr>
        <p:txBody>
          <a:bodyPr wrap="none" lIns="0" tIns="0" rIns="0" bIns="0" rtlCol="0" anchor="t">
            <a:spAutoFit/>
          </a:bodyPr>
          <a:lstStyle/>
          <a:p>
            <a:pPr marL="0" indent="0" algn="l">
              <a:lnSpc>
                <a:spcPts val="2200"/>
              </a:lnSpc>
              <a:buNone/>
            </a:pPr>
            <a:r>
              <a:rPr lang="en-US" sz="2436" b="1" dirty="0">
                <a:solidFill>
                  <a:srgbClr val="E0E0E0"/>
                </a:solidFill>
              </a:rPr>
              <a:t>02</a:t>
            </a:r>
            <a:endParaRPr lang="en-US" sz="2436" dirty="0"/>
          </a:p>
        </p:txBody>
      </p:sp>
      <p:sp>
        <p:nvSpPr>
          <p:cNvPr id="13" name="Text 8"/>
          <p:cNvSpPr/>
          <p:nvPr/>
        </p:nvSpPr>
        <p:spPr>
          <a:xfrm>
            <a:off x="5682518" y="2444055"/>
            <a:ext cx="303282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Parallel Retrieval</a:t>
            </a:r>
            <a:endParaRPr lang="en-US" sz="1090" dirty="0"/>
          </a:p>
        </p:txBody>
      </p:sp>
      <p:sp>
        <p:nvSpPr>
          <p:cNvPr id="14" name="Text 9"/>
          <p:cNvSpPr/>
          <p:nvPr/>
        </p:nvSpPr>
        <p:spPr>
          <a:xfrm>
            <a:off x="5682518" y="2694087"/>
            <a:ext cx="3032829" cy="360034"/>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555555"/>
                </a:solidFill>
              </a:rPr>
              <a:t>Система выполняет поиск в двух индексах: Inverted Index (BM25) и Vector Index (HNSW).</a:t>
            </a:r>
            <a:endParaRPr lang="en-US" sz="942" dirty="0"/>
          </a:p>
        </p:txBody>
      </p:sp>
      <p:sp>
        <p:nvSpPr>
          <p:cNvPr id="15" name="Text 10"/>
          <p:cNvSpPr/>
          <p:nvPr/>
        </p:nvSpPr>
        <p:spPr>
          <a:xfrm>
            <a:off x="5111018" y="3232714"/>
            <a:ext cx="428625" cy="274309"/>
          </a:xfrm>
          <a:prstGeom prst="rect">
            <a:avLst/>
          </a:prstGeom>
          <a:noFill/>
          <a:ln/>
        </p:spPr>
        <p:txBody>
          <a:bodyPr wrap="none" lIns="0" tIns="0" rIns="0" bIns="0" rtlCol="0" anchor="t">
            <a:spAutoFit/>
          </a:bodyPr>
          <a:lstStyle/>
          <a:p>
            <a:pPr marL="0" indent="0" algn="l">
              <a:lnSpc>
                <a:spcPts val="2200"/>
              </a:lnSpc>
              <a:buNone/>
            </a:pPr>
            <a:r>
              <a:rPr lang="en-US" sz="2436" b="1" dirty="0">
                <a:solidFill>
                  <a:srgbClr val="FF4F00"/>
                </a:solidFill>
              </a:rPr>
              <a:t>03</a:t>
            </a:r>
            <a:endParaRPr lang="en-US" sz="2436" dirty="0"/>
          </a:p>
        </p:txBody>
      </p:sp>
      <p:sp>
        <p:nvSpPr>
          <p:cNvPr id="16" name="Text 11"/>
          <p:cNvSpPr/>
          <p:nvPr/>
        </p:nvSpPr>
        <p:spPr>
          <a:xfrm>
            <a:off x="5682518" y="3232714"/>
            <a:ext cx="303282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FF4F00"/>
                </a:solidFill>
              </a:rPr>
              <a:t>Fusion (RRF)</a:t>
            </a:r>
            <a:endParaRPr lang="en-US" sz="1090" dirty="0"/>
          </a:p>
        </p:txBody>
      </p:sp>
      <p:sp>
        <p:nvSpPr>
          <p:cNvPr id="17" name="Text 12"/>
          <p:cNvSpPr/>
          <p:nvPr/>
        </p:nvSpPr>
        <p:spPr>
          <a:xfrm>
            <a:off x="5682518" y="3482746"/>
            <a:ext cx="3032829" cy="540051"/>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555555"/>
                </a:solidFill>
              </a:rPr>
              <a:t>Результаты объединяются. Документы, найденные обоими методами, поднимаются вверх.</a:t>
            </a:r>
            <a:endParaRPr lang="en-US" sz="942" dirty="0"/>
          </a:p>
        </p:txBody>
      </p:sp>
      <p:sp>
        <p:nvSpPr>
          <p:cNvPr id="18" name="Text 13"/>
          <p:cNvSpPr/>
          <p:nvPr/>
        </p:nvSpPr>
        <p:spPr>
          <a:xfrm>
            <a:off x="5111018" y="4201390"/>
            <a:ext cx="428625" cy="274309"/>
          </a:xfrm>
          <a:prstGeom prst="rect">
            <a:avLst/>
          </a:prstGeom>
          <a:noFill/>
          <a:ln/>
        </p:spPr>
        <p:txBody>
          <a:bodyPr wrap="none" lIns="0" tIns="0" rIns="0" bIns="0" rtlCol="0" anchor="t">
            <a:spAutoFit/>
          </a:bodyPr>
          <a:lstStyle/>
          <a:p>
            <a:pPr marL="0" indent="0" algn="l">
              <a:lnSpc>
                <a:spcPts val="2200"/>
              </a:lnSpc>
              <a:buNone/>
            </a:pPr>
            <a:r>
              <a:rPr lang="en-US" sz="2436" b="1" dirty="0">
                <a:solidFill>
                  <a:srgbClr val="E0E0E0"/>
                </a:solidFill>
              </a:rPr>
              <a:t>04</a:t>
            </a:r>
            <a:endParaRPr lang="en-US" sz="2436" dirty="0"/>
          </a:p>
        </p:txBody>
      </p:sp>
      <p:sp>
        <p:nvSpPr>
          <p:cNvPr id="19" name="Text 14"/>
          <p:cNvSpPr/>
          <p:nvPr/>
        </p:nvSpPr>
        <p:spPr>
          <a:xfrm>
            <a:off x="5682518" y="4201390"/>
            <a:ext cx="3032829"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Re-ranking (Optional)</a:t>
            </a:r>
            <a:endParaRPr lang="en-US" sz="1090" dirty="0"/>
          </a:p>
        </p:txBody>
      </p:sp>
      <p:sp>
        <p:nvSpPr>
          <p:cNvPr id="20" name="Text 15"/>
          <p:cNvSpPr/>
          <p:nvPr/>
        </p:nvSpPr>
        <p:spPr>
          <a:xfrm>
            <a:off x="5682518" y="4451421"/>
            <a:ext cx="3032829" cy="540051"/>
          </a:xfrm>
          <a:prstGeom prst="rect">
            <a:avLst/>
          </a:prstGeom>
          <a:noFill/>
          <a:ln/>
        </p:spPr>
        <p:txBody>
          <a:bodyPr wrap="square" lIns="0" tIns="0" rIns="0" bIns="0" rtlCol="0" anchor="t">
            <a:spAutoFit/>
          </a:bodyPr>
          <a:lstStyle/>
          <a:p>
            <a:pPr marL="0" indent="0" algn="l">
              <a:lnSpc>
                <a:spcPts val="1400"/>
              </a:lnSpc>
              <a:buNone/>
            </a:pPr>
            <a:r>
              <a:rPr lang="en-US" sz="942" dirty="0">
                <a:solidFill>
                  <a:srgbClr val="555555"/>
                </a:solidFill>
              </a:rPr>
              <a:t>Финальный список может быть пересортирован Cross-Encoder моделью (Cohere, BGE) для максимальной точности.</a:t>
            </a:r>
            <a:endParaRPr lang="en-US" sz="942"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Reciprocal Rank Fusion (RRF)</a:t>
            </a:r>
            <a:endParaRPr lang="en-US" sz="2436" dirty="0"/>
          </a:p>
        </p:txBody>
      </p:sp>
      <p:sp>
        <p:nvSpPr>
          <p:cNvPr id="7" name="Text 3"/>
          <p:cNvSpPr/>
          <p:nvPr/>
        </p:nvSpPr>
        <p:spPr>
          <a:xfrm>
            <a:off x="428625" y="1323380"/>
            <a:ext cx="6429375" cy="720040"/>
          </a:xfrm>
          <a:prstGeom prst="rect">
            <a:avLst/>
          </a:prstGeom>
          <a:noFill/>
          <a:ln/>
        </p:spPr>
        <p:txBody>
          <a:bodyPr wrap="square" lIns="0" tIns="0" rIns="0" bIns="0" rtlCol="0" anchor="t">
            <a:spAutoFit/>
          </a:bodyPr>
          <a:lstStyle/>
          <a:p>
            <a:pPr marL="0" indent="0" algn="l">
              <a:lnSpc>
                <a:spcPts val="1900"/>
              </a:lnSpc>
              <a:buNone/>
            </a:pPr>
            <a:r>
              <a:rPr lang="en-US" sz="1269" dirty="0">
                <a:solidFill>
                  <a:srgbClr val="555555"/>
                </a:solidFill>
              </a:rPr>
              <a:t>Алгоритм объединения результатов, который игнорирует абсолютные значения скоров и использует только </a:t>
            </a:r>
            <a:r>
              <a:rPr lang="en-US" sz="1193" b="1" dirty="0">
                <a:solidFill>
                  <a:srgbClr val="555555"/>
                </a:solidFill>
              </a:rPr>
              <a:t>позиции (ранги)</a:t>
            </a:r>
            <a:r>
              <a:rPr lang="en-US" sz="1269" dirty="0">
                <a:solidFill>
                  <a:srgbClr val="555555"/>
                </a:solidFill>
              </a:rPr>
              <a:t> документов в списках.</a:t>
            </a:r>
            <a:endParaRPr lang="en-US" sz="1269" dirty="0"/>
          </a:p>
        </p:txBody>
      </p:sp>
      <p:sp>
        <p:nvSpPr>
          <p:cNvPr id="8" name="Shape 4"/>
          <p:cNvSpPr/>
          <p:nvPr/>
        </p:nvSpPr>
        <p:spPr>
          <a:xfrm>
            <a:off x="428625" y="2300595"/>
            <a:ext cx="8286750" cy="1538390"/>
          </a:xfrm>
          <a:prstGeom prst="rect">
            <a:avLst/>
          </a:prstGeom>
          <a:solidFill>
            <a:srgbClr val="1A1A1A"/>
          </a:solidFill>
          <a:ln/>
        </p:spPr>
        <p:txBody>
          <a:bodyPr/>
          <a:lstStyle/>
          <a:p>
            <a:endParaRPr lang="ru-KZ"/>
          </a:p>
        </p:txBody>
      </p:sp>
      <p:sp>
        <p:nvSpPr>
          <p:cNvPr id="9" name="Shape 5"/>
          <p:cNvSpPr/>
          <p:nvPr/>
        </p:nvSpPr>
        <p:spPr>
          <a:xfrm>
            <a:off x="428625" y="2329169"/>
            <a:ext cx="607637" cy="116086"/>
          </a:xfrm>
          <a:prstGeom prst="rect">
            <a:avLst/>
          </a:prstGeom>
          <a:solidFill>
            <a:srgbClr val="FF4F00"/>
          </a:solidFill>
          <a:ln/>
        </p:spPr>
        <p:txBody>
          <a:bodyPr/>
          <a:lstStyle/>
          <a:p>
            <a:endParaRPr lang="ru-KZ"/>
          </a:p>
        </p:txBody>
      </p:sp>
      <p:sp>
        <p:nvSpPr>
          <p:cNvPr id="10" name="Text 6"/>
          <p:cNvSpPr/>
          <p:nvPr/>
        </p:nvSpPr>
        <p:spPr>
          <a:xfrm>
            <a:off x="428625" y="2329169"/>
            <a:ext cx="607637" cy="116086"/>
          </a:xfrm>
          <a:prstGeom prst="rect">
            <a:avLst/>
          </a:prstGeom>
          <a:noFill/>
          <a:ln/>
        </p:spPr>
        <p:txBody>
          <a:bodyPr wrap="none" lIns="127508" tIns="42545" rIns="127508" bIns="42545" rtlCol="0" anchor="t">
            <a:spAutoFit/>
          </a:bodyPr>
          <a:lstStyle/>
          <a:p>
            <a:pPr marL="0" indent="0" algn="l">
              <a:lnSpc>
                <a:spcPts val="800"/>
              </a:lnSpc>
              <a:buNone/>
            </a:pPr>
            <a:r>
              <a:rPr lang="en-US" sz="584" b="1" dirty="0">
                <a:solidFill>
                  <a:srgbClr val="FFFFFF"/>
                </a:solidFill>
              </a:rPr>
              <a:t>RRF FORMULA</a:t>
            </a:r>
            <a:endParaRPr lang="en-US" sz="584" dirty="0"/>
          </a:p>
        </p:txBody>
      </p:sp>
      <p:sp>
        <p:nvSpPr>
          <p:cNvPr id="12" name="Text 8"/>
          <p:cNvSpPr/>
          <p:nvPr/>
        </p:nvSpPr>
        <p:spPr>
          <a:xfrm>
            <a:off x="4647149" y="2982673"/>
            <a:ext cx="65" cy="231410"/>
          </a:xfrm>
          <a:prstGeom prst="rect">
            <a:avLst/>
          </a:prstGeom>
          <a:noFill/>
          <a:ln/>
        </p:spPr>
        <p:txBody>
          <a:bodyPr wrap="none" lIns="0" tIns="0" rIns="0" bIns="0" rtlCol="0" anchor="ctr">
            <a:spAutoFit/>
          </a:bodyPr>
          <a:lstStyle/>
          <a:p>
            <a:pPr marL="0" indent="0" algn="l">
              <a:lnSpc>
                <a:spcPts val="1900"/>
              </a:lnSpc>
              <a:buNone/>
            </a:pPr>
            <a:endParaRPr lang="en-US" sz="1438" dirty="0"/>
          </a:p>
        </p:txBody>
      </p:sp>
      <p:sp>
        <p:nvSpPr>
          <p:cNvPr id="15" name="Text 11"/>
          <p:cNvSpPr/>
          <p:nvPr/>
        </p:nvSpPr>
        <p:spPr>
          <a:xfrm>
            <a:off x="428625" y="4043502"/>
            <a:ext cx="2571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Проблема шкал</a:t>
            </a:r>
            <a:endParaRPr lang="en-US" sz="987" dirty="0"/>
          </a:p>
        </p:txBody>
      </p:sp>
      <p:sp>
        <p:nvSpPr>
          <p:cNvPr id="16" name="Text 12"/>
          <p:cNvSpPr/>
          <p:nvPr/>
        </p:nvSpPr>
        <p:spPr>
          <a:xfrm>
            <a:off x="428625" y="4309607"/>
            <a:ext cx="2571750" cy="96440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555555"/>
                </a:solidFill>
              </a:rPr>
              <a:t>BM25 выдает скоры от 0 до ∞ (напр. 15.4). Cosine Similarity от 0 до 1 (напр. 0.89). Их нельзя просто сложить. RRF решает это, используя универсальную метрику — </a:t>
            </a:r>
            <a:r>
              <a:rPr lang="en-US" sz="885" b="1" dirty="0">
                <a:solidFill>
                  <a:srgbClr val="555555"/>
                </a:solidFill>
              </a:rPr>
              <a:t>ранг</a:t>
            </a:r>
            <a:r>
              <a:rPr lang="en-US" sz="942" dirty="0">
                <a:solidFill>
                  <a:srgbClr val="555555"/>
                </a:solidFill>
              </a:rPr>
              <a:t>.</a:t>
            </a:r>
            <a:endParaRPr lang="en-US" sz="942" dirty="0"/>
          </a:p>
        </p:txBody>
      </p:sp>
      <p:sp>
        <p:nvSpPr>
          <p:cNvPr id="17" name="Text 13"/>
          <p:cNvSpPr/>
          <p:nvPr/>
        </p:nvSpPr>
        <p:spPr>
          <a:xfrm>
            <a:off x="3286125" y="4043502"/>
            <a:ext cx="2571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Top-Heavy Bias</a:t>
            </a:r>
            <a:endParaRPr lang="en-US" sz="987" dirty="0"/>
          </a:p>
        </p:txBody>
      </p:sp>
      <p:sp>
        <p:nvSpPr>
          <p:cNvPr id="18" name="Text 14"/>
          <p:cNvSpPr/>
          <p:nvPr/>
        </p:nvSpPr>
        <p:spPr>
          <a:xfrm>
            <a:off x="3286125" y="4309607"/>
            <a:ext cx="2571750" cy="96440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555555"/>
                </a:solidFill>
              </a:rPr>
              <a:t>Функция 1/rank быстро убывает. Документ на 1-м месте получает намного больше веса, чем на 10-м. Это гарантирует, что топ-результаты имеют приоритет.</a:t>
            </a:r>
            <a:endParaRPr lang="en-US" sz="942" dirty="0"/>
          </a:p>
        </p:txBody>
      </p:sp>
      <p:sp>
        <p:nvSpPr>
          <p:cNvPr id="19" name="Text 15"/>
          <p:cNvSpPr/>
          <p:nvPr/>
        </p:nvSpPr>
        <p:spPr>
          <a:xfrm>
            <a:off x="6143625" y="4043502"/>
            <a:ext cx="2571750" cy="194667"/>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1A"/>
                </a:solidFill>
              </a:rPr>
              <a:t>Константа k</a:t>
            </a:r>
            <a:endParaRPr lang="en-US" sz="987" dirty="0"/>
          </a:p>
        </p:txBody>
      </p:sp>
      <p:sp>
        <p:nvSpPr>
          <p:cNvPr id="20" name="Text 16"/>
          <p:cNvSpPr/>
          <p:nvPr/>
        </p:nvSpPr>
        <p:spPr>
          <a:xfrm>
            <a:off x="6143625" y="4309607"/>
            <a:ext cx="2571750" cy="964406"/>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555555"/>
                </a:solidFill>
              </a:rPr>
              <a:t>Обычно </a:t>
            </a:r>
            <a:r>
              <a:rPr lang="en-US" sz="942" dirty="0">
                <a:solidFill>
                  <a:srgbClr val="FFFFFF"/>
                </a:solidFill>
              </a:rPr>
              <a:t>k=60</a:t>
            </a:r>
            <a:r>
              <a:rPr lang="en-US" sz="942" dirty="0">
                <a:solidFill>
                  <a:srgbClr val="555555"/>
                </a:solidFill>
              </a:rPr>
              <a:t>. Это сглаживающий параметр. Он предотвращает ситуацию, когда один очень высокий ранг в одном списке полностью доминирует над другим списком.</a:t>
            </a:r>
            <a:endParaRPr lang="en-US" sz="942" dirty="0"/>
          </a:p>
        </p:txBody>
      </p:sp>
      <p:pic>
        <p:nvPicPr>
          <p:cNvPr id="2" name="Рисунок 1">
            <a:extLst>
              <a:ext uri="{FF2B5EF4-FFF2-40B4-BE49-F238E27FC236}">
                <a16:creationId xmlns:a16="http://schemas.microsoft.com/office/drawing/2014/main" id="{D16D0E66-5567-274C-9CF4-011F9600CB81}"/>
              </a:ext>
            </a:extLst>
          </p:cNvPr>
          <p:cNvPicPr>
            <a:picLocks noChangeAspect="1"/>
          </p:cNvPicPr>
          <p:nvPr/>
        </p:nvPicPr>
        <p:blipFill>
          <a:blip r:embed="rId4"/>
          <a:stretch>
            <a:fillRect/>
          </a:stretch>
        </p:blipFill>
        <p:spPr>
          <a:xfrm>
            <a:off x="732443" y="2571750"/>
            <a:ext cx="3108185" cy="1070031"/>
          </a:xfrm>
          <a:prstGeom prst="rect">
            <a:avLst/>
          </a:prstGeom>
        </p:spPr>
      </p:pic>
      <p:pic>
        <p:nvPicPr>
          <p:cNvPr id="21" name="Рисунок 20">
            <a:extLst>
              <a:ext uri="{FF2B5EF4-FFF2-40B4-BE49-F238E27FC236}">
                <a16:creationId xmlns:a16="http://schemas.microsoft.com/office/drawing/2014/main" id="{2C5E9821-42C1-563D-1F19-595F8FEE2B65}"/>
              </a:ext>
            </a:extLst>
          </p:cNvPr>
          <p:cNvPicPr>
            <a:picLocks noChangeAspect="1"/>
          </p:cNvPicPr>
          <p:nvPr/>
        </p:nvPicPr>
        <p:blipFill>
          <a:blip r:embed="rId5"/>
          <a:stretch>
            <a:fillRect/>
          </a:stretch>
        </p:blipFill>
        <p:spPr>
          <a:xfrm>
            <a:off x="3916828" y="2841681"/>
            <a:ext cx="4747560" cy="800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id="{950CBF8E-745C-0FE6-E039-CC55567109B7}"/>
              </a:ext>
            </a:extLst>
          </p:cNvPr>
          <p:cNvPicPr>
            <a:picLocks noChangeAspect="1"/>
          </p:cNvPicPr>
          <p:nvPr/>
        </p:nvPicPr>
        <p:blipFill>
          <a:blip r:embed="rId2"/>
          <a:stretch>
            <a:fillRect/>
          </a:stretch>
        </p:blipFill>
        <p:spPr>
          <a:xfrm>
            <a:off x="102865" y="1973729"/>
            <a:ext cx="4619621" cy="1231899"/>
          </a:xfrm>
          <a:prstGeom prst="rect">
            <a:avLst/>
          </a:prstGeom>
        </p:spPr>
      </p:pic>
      <p:pic>
        <p:nvPicPr>
          <p:cNvPr id="3" name="Рисунок 2">
            <a:extLst>
              <a:ext uri="{FF2B5EF4-FFF2-40B4-BE49-F238E27FC236}">
                <a16:creationId xmlns:a16="http://schemas.microsoft.com/office/drawing/2014/main" id="{BF66EE15-5A1D-05FC-0CFC-BF9492EE98EC}"/>
              </a:ext>
            </a:extLst>
          </p:cNvPr>
          <p:cNvPicPr>
            <a:picLocks noChangeAspect="1"/>
          </p:cNvPicPr>
          <p:nvPr/>
        </p:nvPicPr>
        <p:blipFill>
          <a:blip r:embed="rId3"/>
          <a:stretch>
            <a:fillRect/>
          </a:stretch>
        </p:blipFill>
        <p:spPr>
          <a:xfrm>
            <a:off x="4456724" y="1973729"/>
            <a:ext cx="4687276" cy="1495611"/>
          </a:xfrm>
          <a:prstGeom prst="rect">
            <a:avLst/>
          </a:prstGeom>
        </p:spPr>
      </p:pic>
      <p:sp>
        <p:nvSpPr>
          <p:cNvPr id="5" name="Text 2">
            <a:extLst>
              <a:ext uri="{FF2B5EF4-FFF2-40B4-BE49-F238E27FC236}">
                <a16:creationId xmlns:a16="http://schemas.microsoft.com/office/drawing/2014/main" id="{E811ADFB-5ECC-1C56-5B0B-EEED472C8152}"/>
              </a:ext>
            </a:extLst>
          </p:cNvPr>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Гибридный поиск</a:t>
            </a:r>
            <a:endParaRPr lang="en-US" sz="2436" dirty="0"/>
          </a:p>
        </p:txBody>
      </p:sp>
      <p:sp>
        <p:nvSpPr>
          <p:cNvPr id="6" name="Shape 1">
            <a:extLst>
              <a:ext uri="{FF2B5EF4-FFF2-40B4-BE49-F238E27FC236}">
                <a16:creationId xmlns:a16="http://schemas.microsoft.com/office/drawing/2014/main" id="{54B11DBE-2D96-544B-C63B-17AE0A9D78C9}"/>
              </a:ext>
            </a:extLst>
          </p:cNvPr>
          <p:cNvSpPr/>
          <p:nvPr/>
        </p:nvSpPr>
        <p:spPr>
          <a:xfrm>
            <a:off x="428625" y="1037630"/>
            <a:ext cx="8286750" cy="28575"/>
          </a:xfrm>
          <a:prstGeom prst="rect">
            <a:avLst/>
          </a:prstGeom>
          <a:solidFill>
            <a:srgbClr val="1A1A1A"/>
          </a:solidFill>
          <a:ln/>
        </p:spPr>
        <p:txBody>
          <a:bodyPr/>
          <a:lstStyle/>
          <a:p>
            <a:endParaRPr lang="ru-KZ"/>
          </a:p>
        </p:txBody>
      </p:sp>
    </p:spTree>
    <p:extLst>
      <p:ext uri="{BB962C8B-B14F-4D97-AF65-F5344CB8AC3E}">
        <p14:creationId xmlns:p14="http://schemas.microsoft.com/office/powerpoint/2010/main" val="1850233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Weighted RRF: Настройка весов</a:t>
            </a:r>
            <a:endParaRPr lang="en-US" sz="2436" dirty="0"/>
          </a:p>
        </p:txBody>
      </p:sp>
      <p:sp>
        <p:nvSpPr>
          <p:cNvPr id="7" name="Shape 3"/>
          <p:cNvSpPr/>
          <p:nvPr/>
        </p:nvSpPr>
        <p:spPr>
          <a:xfrm>
            <a:off x="428625" y="1323380"/>
            <a:ext cx="8286750" cy="716161"/>
          </a:xfrm>
          <a:prstGeom prst="rect">
            <a:avLst/>
          </a:prstGeom>
          <a:solidFill>
            <a:srgbClr val="FFFFFF"/>
          </a:solidFill>
          <a:ln/>
        </p:spPr>
        <p:txBody>
          <a:bodyPr/>
          <a:lstStyle/>
          <a:p>
            <a:endParaRPr lang="ru-KZ"/>
          </a:p>
        </p:txBody>
      </p:sp>
      <p:sp>
        <p:nvSpPr>
          <p:cNvPr id="8" name="Shape 4"/>
          <p:cNvSpPr/>
          <p:nvPr/>
        </p:nvSpPr>
        <p:spPr>
          <a:xfrm>
            <a:off x="428625" y="1323380"/>
            <a:ext cx="8286750" cy="7144"/>
          </a:xfrm>
          <a:prstGeom prst="rect">
            <a:avLst/>
          </a:prstGeom>
          <a:solidFill>
            <a:srgbClr val="E0E0E0"/>
          </a:solidFill>
          <a:ln/>
        </p:spPr>
        <p:txBody>
          <a:bodyPr/>
          <a:lstStyle/>
          <a:p>
            <a:endParaRPr lang="ru-KZ"/>
          </a:p>
        </p:txBody>
      </p:sp>
      <p:sp>
        <p:nvSpPr>
          <p:cNvPr id="9" name="Shape 5"/>
          <p:cNvSpPr/>
          <p:nvPr/>
        </p:nvSpPr>
        <p:spPr>
          <a:xfrm>
            <a:off x="8708231" y="1323380"/>
            <a:ext cx="7144" cy="716161"/>
          </a:xfrm>
          <a:prstGeom prst="rect">
            <a:avLst/>
          </a:prstGeom>
          <a:solidFill>
            <a:srgbClr val="E0E0E0"/>
          </a:solidFill>
          <a:ln/>
        </p:spPr>
        <p:txBody>
          <a:bodyPr/>
          <a:lstStyle/>
          <a:p>
            <a:endParaRPr lang="ru-KZ"/>
          </a:p>
        </p:txBody>
      </p:sp>
      <p:sp>
        <p:nvSpPr>
          <p:cNvPr id="10" name="Shape 6"/>
          <p:cNvSpPr/>
          <p:nvPr/>
        </p:nvSpPr>
        <p:spPr>
          <a:xfrm>
            <a:off x="428625" y="2032397"/>
            <a:ext cx="8286750" cy="7144"/>
          </a:xfrm>
          <a:prstGeom prst="rect">
            <a:avLst/>
          </a:prstGeom>
          <a:solidFill>
            <a:srgbClr val="E0E0E0"/>
          </a:solidFill>
          <a:ln/>
        </p:spPr>
        <p:txBody>
          <a:bodyPr/>
          <a:lstStyle/>
          <a:p>
            <a:endParaRPr lang="ru-KZ"/>
          </a:p>
        </p:txBody>
      </p:sp>
      <p:sp>
        <p:nvSpPr>
          <p:cNvPr id="11" name="Shape 7"/>
          <p:cNvSpPr/>
          <p:nvPr/>
        </p:nvSpPr>
        <p:spPr>
          <a:xfrm>
            <a:off x="428625" y="1323380"/>
            <a:ext cx="71438" cy="716161"/>
          </a:xfrm>
          <a:prstGeom prst="rect">
            <a:avLst/>
          </a:prstGeom>
          <a:solidFill>
            <a:srgbClr val="FF4F00"/>
          </a:solidFill>
          <a:ln/>
        </p:spPr>
        <p:txBody>
          <a:bodyPr/>
          <a:lstStyle/>
          <a:p>
            <a:endParaRPr lang="ru-KZ"/>
          </a:p>
        </p:txBody>
      </p:sp>
      <p:sp>
        <p:nvSpPr>
          <p:cNvPr id="12" name="Text 8"/>
          <p:cNvSpPr/>
          <p:nvPr/>
        </p:nvSpPr>
        <p:spPr>
          <a:xfrm>
            <a:off x="2821056" y="1537692"/>
            <a:ext cx="1205759" cy="273248"/>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333333"/>
                </a:solidFill>
              </a:rPr>
              <a:t>Score(d) = Σ (</a:t>
            </a:r>
            <a:endParaRPr lang="en-US" sz="1486" dirty="0"/>
          </a:p>
        </p:txBody>
      </p:sp>
      <p:sp>
        <p:nvSpPr>
          <p:cNvPr id="13" name="Text 9"/>
          <p:cNvSpPr/>
          <p:nvPr/>
        </p:nvSpPr>
        <p:spPr>
          <a:xfrm>
            <a:off x="4026815" y="1537692"/>
            <a:ext cx="193439"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FF4F00"/>
                </a:solidFill>
              </a:rPr>
              <a:t>W</a:t>
            </a:r>
            <a:endParaRPr lang="en-US" sz="1397" dirty="0"/>
          </a:p>
        </p:txBody>
      </p:sp>
      <p:sp>
        <p:nvSpPr>
          <p:cNvPr id="14" name="Text 10"/>
          <p:cNvSpPr/>
          <p:nvPr/>
        </p:nvSpPr>
        <p:spPr>
          <a:xfrm>
            <a:off x="4220254" y="1537692"/>
            <a:ext cx="2102690" cy="273248"/>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333333"/>
                </a:solidFill>
              </a:rPr>
              <a:t>r * (1 / (k + rank_r(d))) )</a:t>
            </a:r>
            <a:endParaRPr lang="en-US" sz="1486" dirty="0"/>
          </a:p>
        </p:txBody>
      </p:sp>
      <p:sp>
        <p:nvSpPr>
          <p:cNvPr id="15" name="Text 11"/>
          <p:cNvSpPr/>
          <p:nvPr/>
        </p:nvSpPr>
        <p:spPr>
          <a:xfrm>
            <a:off x="571500" y="2382441"/>
            <a:ext cx="800100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1A"/>
                </a:solidFill>
              </a:rPr>
              <a:t>Параметр Alpha (α)</a:t>
            </a:r>
            <a:endParaRPr lang="en-US" sz="1193" dirty="0"/>
          </a:p>
        </p:txBody>
      </p:sp>
      <p:sp>
        <p:nvSpPr>
          <p:cNvPr id="16" name="Shape 12"/>
          <p:cNvSpPr/>
          <p:nvPr/>
        </p:nvSpPr>
        <p:spPr>
          <a:xfrm>
            <a:off x="571500" y="2759273"/>
            <a:ext cx="8001000" cy="71438"/>
          </a:xfrm>
          <a:prstGeom prst="rect">
            <a:avLst/>
          </a:prstGeom>
          <a:solidFill>
            <a:srgbClr val="D0D0D0"/>
          </a:solidFill>
          <a:ln/>
        </p:spPr>
        <p:txBody>
          <a:bodyPr/>
          <a:lstStyle/>
          <a:p>
            <a:endParaRPr lang="ru-KZ"/>
          </a:p>
        </p:txBody>
      </p:sp>
      <p:sp>
        <p:nvSpPr>
          <p:cNvPr id="17" name="Text 13"/>
          <p:cNvSpPr/>
          <p:nvPr/>
        </p:nvSpPr>
        <p:spPr>
          <a:xfrm>
            <a:off x="571500" y="2973586"/>
            <a:ext cx="1295279" cy="350044"/>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555555"/>
                </a:solidFill>
              </a:rPr>
              <a:t>α = 0.0</a:t>
            </a:r>
            <a:r>
              <a:rPr lang="en-US" sz="942" dirty="0">
                <a:solidFill>
                  <a:srgbClr val="555555"/>
                </a:solidFill>
              </a:rPr>
              <a:t>
 Pure Keyword (BM25)</a:t>
            </a:r>
            <a:endParaRPr lang="en-US" sz="885" dirty="0"/>
          </a:p>
        </p:txBody>
      </p:sp>
      <p:sp>
        <p:nvSpPr>
          <p:cNvPr id="18" name="Text 14"/>
          <p:cNvSpPr/>
          <p:nvPr/>
        </p:nvSpPr>
        <p:spPr>
          <a:xfrm>
            <a:off x="4373370" y="2973586"/>
            <a:ext cx="992591" cy="350044"/>
          </a:xfrm>
          <a:prstGeom prst="rect">
            <a:avLst/>
          </a:prstGeom>
          <a:noFill/>
          <a:ln/>
        </p:spPr>
        <p:txBody>
          <a:bodyPr wrap="square" lIns="0" tIns="0" rIns="0" bIns="0" rtlCol="0" anchor="t">
            <a:spAutoFit/>
          </a:bodyPr>
          <a:lstStyle/>
          <a:p>
            <a:pPr marL="0" indent="0" algn="ctr">
              <a:lnSpc>
                <a:spcPts val="1200"/>
              </a:lnSpc>
              <a:buNone/>
            </a:pPr>
            <a:r>
              <a:rPr lang="en-US" sz="885" b="1" dirty="0">
                <a:solidFill>
                  <a:srgbClr val="555555"/>
                </a:solidFill>
              </a:rPr>
              <a:t>α = 0.5</a:t>
            </a:r>
            <a:r>
              <a:rPr lang="en-US" sz="942" dirty="0">
                <a:solidFill>
                  <a:srgbClr val="555555"/>
                </a:solidFill>
              </a:rPr>
              <a:t>
 Balanced Hybrid</a:t>
            </a:r>
            <a:endParaRPr lang="en-US" sz="885" dirty="0"/>
          </a:p>
        </p:txBody>
      </p:sp>
      <p:sp>
        <p:nvSpPr>
          <p:cNvPr id="19" name="Text 15"/>
          <p:cNvSpPr/>
          <p:nvPr/>
        </p:nvSpPr>
        <p:spPr>
          <a:xfrm>
            <a:off x="7872552" y="2973586"/>
            <a:ext cx="699920" cy="350044"/>
          </a:xfrm>
          <a:prstGeom prst="rect">
            <a:avLst/>
          </a:prstGeom>
          <a:noFill/>
          <a:ln/>
        </p:spPr>
        <p:txBody>
          <a:bodyPr wrap="square" lIns="0" tIns="0" rIns="0" bIns="0" rtlCol="0" anchor="t">
            <a:spAutoFit/>
          </a:bodyPr>
          <a:lstStyle/>
          <a:p>
            <a:pPr marL="0" indent="0" algn="r">
              <a:lnSpc>
                <a:spcPts val="1200"/>
              </a:lnSpc>
              <a:buNone/>
            </a:pPr>
            <a:r>
              <a:rPr lang="en-US" sz="885" b="1" dirty="0">
                <a:solidFill>
                  <a:srgbClr val="555555"/>
                </a:solidFill>
              </a:rPr>
              <a:t>α = 1.0</a:t>
            </a:r>
            <a:r>
              <a:rPr lang="en-US" sz="942" dirty="0">
                <a:solidFill>
                  <a:srgbClr val="555555"/>
                </a:solidFill>
              </a:rPr>
              <a:t>
 Pure Vector</a:t>
            </a:r>
            <a:endParaRPr lang="en-US" sz="885" dirty="0"/>
          </a:p>
        </p:txBody>
      </p:sp>
      <p:sp>
        <p:nvSpPr>
          <p:cNvPr id="20" name="Shape 16"/>
          <p:cNvSpPr/>
          <p:nvPr/>
        </p:nvSpPr>
        <p:spPr>
          <a:xfrm>
            <a:off x="428625" y="3481685"/>
            <a:ext cx="4000500" cy="1503759"/>
          </a:xfrm>
          <a:prstGeom prst="rect">
            <a:avLst/>
          </a:prstGeom>
          <a:solidFill>
            <a:srgbClr val="FFFFFF"/>
          </a:solidFill>
          <a:ln w="9144">
            <a:solidFill>
              <a:srgbClr val="E0E0E0"/>
            </a:solidFill>
            <a:prstDash val="solid"/>
          </a:ln>
        </p:spPr>
        <p:txBody>
          <a:bodyPr/>
          <a:lstStyle/>
          <a:p>
            <a:endParaRPr lang="ru-KZ"/>
          </a:p>
        </p:txBody>
      </p:sp>
      <p:pic>
        <p:nvPicPr>
          <p:cNvPr id="21" name="Image 1" descr="preencoded.png"/>
          <p:cNvPicPr>
            <a:picLocks noChangeAspect="1"/>
          </p:cNvPicPr>
          <p:nvPr/>
        </p:nvPicPr>
        <p:blipFill>
          <a:blip r:embed="rId4"/>
          <a:stretch>
            <a:fillRect/>
          </a:stretch>
        </p:blipFill>
        <p:spPr>
          <a:xfrm>
            <a:off x="642938" y="3724572"/>
            <a:ext cx="157163" cy="157163"/>
          </a:xfrm>
          <a:prstGeom prst="rect">
            <a:avLst/>
          </a:prstGeom>
        </p:spPr>
      </p:pic>
      <p:sp>
        <p:nvSpPr>
          <p:cNvPr id="22" name="Text 17"/>
          <p:cNvSpPr/>
          <p:nvPr/>
        </p:nvSpPr>
        <p:spPr>
          <a:xfrm>
            <a:off x="871538" y="3695997"/>
            <a:ext cx="2492136"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Приоритет Лексики (Low α)</a:t>
            </a:r>
            <a:endParaRPr lang="en-US" sz="1090" dirty="0"/>
          </a:p>
        </p:txBody>
      </p:sp>
      <p:sp>
        <p:nvSpPr>
          <p:cNvPr id="23" name="Text 18"/>
          <p:cNvSpPr/>
          <p:nvPr/>
        </p:nvSpPr>
        <p:spPr>
          <a:xfrm>
            <a:off x="642938" y="4017466"/>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24" name="Text 19"/>
          <p:cNvSpPr/>
          <p:nvPr/>
        </p:nvSpPr>
        <p:spPr>
          <a:xfrm>
            <a:off x="785813" y="4017466"/>
            <a:ext cx="2817484"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Поиск по артикулам (SKU), ID, кодам ошибок</a:t>
            </a:r>
            <a:endParaRPr lang="en-US" sz="942" dirty="0"/>
          </a:p>
        </p:txBody>
      </p:sp>
      <p:sp>
        <p:nvSpPr>
          <p:cNvPr id="25" name="Text 20"/>
          <p:cNvSpPr/>
          <p:nvPr/>
        </p:nvSpPr>
        <p:spPr>
          <a:xfrm>
            <a:off x="642938" y="4263925"/>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26" name="Text 21"/>
          <p:cNvSpPr/>
          <p:nvPr/>
        </p:nvSpPr>
        <p:spPr>
          <a:xfrm>
            <a:off x="785813" y="4263925"/>
            <a:ext cx="308252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Юридические документы с точными терминами</a:t>
            </a:r>
            <a:endParaRPr lang="en-US" sz="942" dirty="0"/>
          </a:p>
        </p:txBody>
      </p:sp>
      <p:sp>
        <p:nvSpPr>
          <p:cNvPr id="27" name="Text 22"/>
          <p:cNvSpPr/>
          <p:nvPr/>
        </p:nvSpPr>
        <p:spPr>
          <a:xfrm>
            <a:off x="642938" y="4510385"/>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28" name="Text 23"/>
          <p:cNvSpPr/>
          <p:nvPr/>
        </p:nvSpPr>
        <p:spPr>
          <a:xfrm>
            <a:off x="785813" y="4510385"/>
            <a:ext cx="2564188"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Поиск имен собственных и аббревиатур</a:t>
            </a:r>
            <a:endParaRPr lang="en-US" sz="942" dirty="0"/>
          </a:p>
        </p:txBody>
      </p:sp>
      <p:sp>
        <p:nvSpPr>
          <p:cNvPr id="29" name="Shape 24"/>
          <p:cNvSpPr/>
          <p:nvPr/>
        </p:nvSpPr>
        <p:spPr>
          <a:xfrm>
            <a:off x="4714875" y="3481685"/>
            <a:ext cx="4000500" cy="1503759"/>
          </a:xfrm>
          <a:prstGeom prst="rect">
            <a:avLst/>
          </a:prstGeom>
          <a:solidFill>
            <a:srgbClr val="FFFFFF"/>
          </a:solidFill>
          <a:ln w="9144">
            <a:solidFill>
              <a:srgbClr val="E0E0E0"/>
            </a:solidFill>
            <a:prstDash val="solid"/>
          </a:ln>
        </p:spPr>
        <p:txBody>
          <a:bodyPr/>
          <a:lstStyle/>
          <a:p>
            <a:endParaRPr lang="ru-KZ"/>
          </a:p>
        </p:txBody>
      </p:sp>
      <p:pic>
        <p:nvPicPr>
          <p:cNvPr id="30" name="Image 2" descr="preencoded.png"/>
          <p:cNvPicPr>
            <a:picLocks noChangeAspect="1"/>
          </p:cNvPicPr>
          <p:nvPr/>
        </p:nvPicPr>
        <p:blipFill>
          <a:blip r:embed="rId5"/>
          <a:stretch>
            <a:fillRect/>
          </a:stretch>
        </p:blipFill>
        <p:spPr>
          <a:xfrm>
            <a:off x="4929188" y="3724572"/>
            <a:ext cx="157163" cy="157163"/>
          </a:xfrm>
          <a:prstGeom prst="rect">
            <a:avLst/>
          </a:prstGeom>
        </p:spPr>
      </p:pic>
      <p:sp>
        <p:nvSpPr>
          <p:cNvPr id="31" name="Text 25"/>
          <p:cNvSpPr/>
          <p:nvPr/>
        </p:nvSpPr>
        <p:spPr>
          <a:xfrm>
            <a:off x="5157788" y="3695997"/>
            <a:ext cx="2796248" cy="21431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1A"/>
                </a:solidFill>
              </a:rPr>
              <a:t>Приоритет Семантики (High α)</a:t>
            </a:r>
            <a:endParaRPr lang="en-US" sz="1090" dirty="0"/>
          </a:p>
        </p:txBody>
      </p:sp>
      <p:sp>
        <p:nvSpPr>
          <p:cNvPr id="32" name="Text 26"/>
          <p:cNvSpPr/>
          <p:nvPr/>
        </p:nvSpPr>
        <p:spPr>
          <a:xfrm>
            <a:off x="4929188" y="4017466"/>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33" name="Text 27"/>
          <p:cNvSpPr/>
          <p:nvPr/>
        </p:nvSpPr>
        <p:spPr>
          <a:xfrm>
            <a:off x="5072063" y="4017466"/>
            <a:ext cx="2883591"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Вопросы на естественном языке ("Как мне...")</a:t>
            </a:r>
            <a:endParaRPr lang="en-US" sz="942" dirty="0"/>
          </a:p>
        </p:txBody>
      </p:sp>
      <p:sp>
        <p:nvSpPr>
          <p:cNvPr id="34" name="Text 28"/>
          <p:cNvSpPr/>
          <p:nvPr/>
        </p:nvSpPr>
        <p:spPr>
          <a:xfrm>
            <a:off x="4929188" y="4263925"/>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35" name="Text 29"/>
          <p:cNvSpPr/>
          <p:nvPr/>
        </p:nvSpPr>
        <p:spPr>
          <a:xfrm>
            <a:off x="5072063" y="4263925"/>
            <a:ext cx="2665763"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Исследовательский поиск по концепциям</a:t>
            </a:r>
            <a:endParaRPr lang="en-US" sz="942" dirty="0"/>
          </a:p>
        </p:txBody>
      </p:sp>
      <p:sp>
        <p:nvSpPr>
          <p:cNvPr id="36" name="Text 30"/>
          <p:cNvSpPr/>
          <p:nvPr/>
        </p:nvSpPr>
        <p:spPr>
          <a:xfrm>
            <a:off x="4929188" y="4510385"/>
            <a:ext cx="128588" cy="189309"/>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4F00"/>
                </a:solidFill>
              </a:rPr>
              <a:t>→</a:t>
            </a:r>
            <a:endParaRPr lang="en-US" sz="942" dirty="0"/>
          </a:p>
        </p:txBody>
      </p:sp>
      <p:sp>
        <p:nvSpPr>
          <p:cNvPr id="37" name="Text 31"/>
          <p:cNvSpPr/>
          <p:nvPr/>
        </p:nvSpPr>
        <p:spPr>
          <a:xfrm>
            <a:off x="5072063" y="4510385"/>
            <a:ext cx="2285274"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555555"/>
                </a:solidFill>
              </a:rPr>
              <a:t>Многоязычный поиск (Cross-lingual)</a:t>
            </a:r>
            <a:endParaRPr lang="en-US" sz="942"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Практическая реализация</a:t>
            </a:r>
            <a:endParaRPr lang="en-US" sz="2436" dirty="0"/>
          </a:p>
        </p:txBody>
      </p:sp>
      <p:sp>
        <p:nvSpPr>
          <p:cNvPr id="7" name="Shape 3"/>
          <p:cNvSpPr/>
          <p:nvPr/>
        </p:nvSpPr>
        <p:spPr>
          <a:xfrm>
            <a:off x="428625" y="1323380"/>
            <a:ext cx="4000500" cy="389334"/>
          </a:xfrm>
          <a:prstGeom prst="rect">
            <a:avLst/>
          </a:prstGeom>
          <a:solidFill>
            <a:srgbClr val="1A1A1A"/>
          </a:solidFill>
          <a:ln/>
        </p:spPr>
        <p:txBody>
          <a:bodyPr/>
          <a:lstStyle/>
          <a:p>
            <a:endParaRPr lang="ru-KZ"/>
          </a:p>
        </p:txBody>
      </p:sp>
      <p:sp>
        <p:nvSpPr>
          <p:cNvPr id="8" name="Text 4"/>
          <p:cNvSpPr/>
          <p:nvPr/>
        </p:nvSpPr>
        <p:spPr>
          <a:xfrm>
            <a:off x="571500" y="1430536"/>
            <a:ext cx="1431568"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rPr>
              <a:t>PostgreSQL (pgvector)</a:t>
            </a:r>
            <a:endParaRPr lang="en-US" sz="885" dirty="0"/>
          </a:p>
        </p:txBody>
      </p:sp>
      <p:sp>
        <p:nvSpPr>
          <p:cNvPr id="9" name="Shape 5"/>
          <p:cNvSpPr/>
          <p:nvPr/>
        </p:nvSpPr>
        <p:spPr>
          <a:xfrm>
            <a:off x="4008034" y="1445716"/>
            <a:ext cx="278216" cy="144661"/>
          </a:xfrm>
          <a:prstGeom prst="rect">
            <a:avLst/>
          </a:prstGeom>
          <a:solidFill>
            <a:srgbClr val="FF4F00"/>
          </a:solidFill>
          <a:ln/>
        </p:spPr>
        <p:txBody>
          <a:bodyPr/>
          <a:lstStyle/>
          <a:p>
            <a:endParaRPr lang="ru-KZ"/>
          </a:p>
        </p:txBody>
      </p:sp>
      <p:sp>
        <p:nvSpPr>
          <p:cNvPr id="10" name="Text 6"/>
          <p:cNvSpPr/>
          <p:nvPr/>
        </p:nvSpPr>
        <p:spPr>
          <a:xfrm>
            <a:off x="4008034" y="1445716"/>
            <a:ext cx="278216" cy="144661"/>
          </a:xfrm>
          <a:prstGeom prst="rect">
            <a:avLst/>
          </a:prstGeom>
          <a:noFill/>
          <a:ln/>
        </p:spPr>
        <p:txBody>
          <a:bodyPr wrap="none" lIns="68072" tIns="17018" rIns="68072" bIns="17018" rtlCol="0" anchor="t">
            <a:spAutoFit/>
          </a:bodyPr>
          <a:lstStyle/>
          <a:p>
            <a:pPr marL="0" indent="0" algn="l">
              <a:lnSpc>
                <a:spcPts val="800"/>
              </a:lnSpc>
              <a:buNone/>
            </a:pPr>
            <a:r>
              <a:rPr lang="en-US" sz="584" b="1" dirty="0">
                <a:solidFill>
                  <a:srgbClr val="FFFFFF"/>
                </a:solidFill>
              </a:rPr>
              <a:t>SQL</a:t>
            </a:r>
            <a:endParaRPr lang="en-US" sz="584" dirty="0"/>
          </a:p>
        </p:txBody>
      </p:sp>
      <p:sp>
        <p:nvSpPr>
          <p:cNvPr id="11" name="Shape 7"/>
          <p:cNvSpPr/>
          <p:nvPr/>
        </p:nvSpPr>
        <p:spPr>
          <a:xfrm>
            <a:off x="428625" y="1712714"/>
            <a:ext cx="4000500" cy="2762845"/>
          </a:xfrm>
          <a:prstGeom prst="rect">
            <a:avLst/>
          </a:prstGeom>
          <a:solidFill>
            <a:srgbClr val="FFFFFF"/>
          </a:solidFill>
          <a:ln/>
        </p:spPr>
        <p:txBody>
          <a:bodyPr/>
          <a:lstStyle/>
          <a:p>
            <a:endParaRPr lang="ru-KZ"/>
          </a:p>
        </p:txBody>
      </p:sp>
      <p:sp>
        <p:nvSpPr>
          <p:cNvPr id="12" name="Shape 8"/>
          <p:cNvSpPr/>
          <p:nvPr/>
        </p:nvSpPr>
        <p:spPr>
          <a:xfrm>
            <a:off x="4421981" y="1712714"/>
            <a:ext cx="7144" cy="2762845"/>
          </a:xfrm>
          <a:prstGeom prst="rect">
            <a:avLst/>
          </a:prstGeom>
          <a:solidFill>
            <a:srgbClr val="E0E0E0"/>
          </a:solidFill>
          <a:ln/>
        </p:spPr>
        <p:txBody>
          <a:bodyPr/>
          <a:lstStyle/>
          <a:p>
            <a:endParaRPr lang="ru-KZ"/>
          </a:p>
        </p:txBody>
      </p:sp>
      <p:sp>
        <p:nvSpPr>
          <p:cNvPr id="13" name="Shape 9"/>
          <p:cNvSpPr/>
          <p:nvPr/>
        </p:nvSpPr>
        <p:spPr>
          <a:xfrm>
            <a:off x="428625" y="4468416"/>
            <a:ext cx="4000500" cy="7144"/>
          </a:xfrm>
          <a:prstGeom prst="rect">
            <a:avLst/>
          </a:prstGeom>
          <a:solidFill>
            <a:srgbClr val="E0E0E0"/>
          </a:solidFill>
          <a:ln/>
        </p:spPr>
        <p:txBody>
          <a:bodyPr/>
          <a:lstStyle/>
          <a:p>
            <a:endParaRPr lang="ru-KZ"/>
          </a:p>
        </p:txBody>
      </p:sp>
      <p:sp>
        <p:nvSpPr>
          <p:cNvPr id="14" name="Shape 10"/>
          <p:cNvSpPr/>
          <p:nvPr/>
        </p:nvSpPr>
        <p:spPr>
          <a:xfrm>
            <a:off x="428625" y="1712714"/>
            <a:ext cx="7144" cy="2762845"/>
          </a:xfrm>
          <a:prstGeom prst="rect">
            <a:avLst/>
          </a:prstGeom>
          <a:solidFill>
            <a:srgbClr val="E0E0E0"/>
          </a:solidFill>
          <a:ln/>
        </p:spPr>
        <p:txBody>
          <a:bodyPr/>
          <a:lstStyle/>
          <a:p>
            <a:endParaRPr lang="ru-KZ"/>
          </a:p>
        </p:txBody>
      </p:sp>
      <p:sp>
        <p:nvSpPr>
          <p:cNvPr id="15" name="Text 11"/>
          <p:cNvSpPr/>
          <p:nvPr/>
        </p:nvSpPr>
        <p:spPr>
          <a:xfrm>
            <a:off x="428625" y="1712714"/>
            <a:ext cx="4000500" cy="2762845"/>
          </a:xfrm>
          <a:prstGeom prst="rect">
            <a:avLst/>
          </a:prstGeom>
          <a:noFill/>
          <a:ln/>
        </p:spPr>
        <p:txBody>
          <a:bodyPr wrap="square" lIns="212598" tIns="212598" rIns="212598" bIns="212598" rtlCol="0" anchor="t">
            <a:spAutoFit/>
          </a:bodyPr>
          <a:lstStyle/>
          <a:p>
            <a:pPr marL="0" indent="0" algn="l">
              <a:lnSpc>
                <a:spcPts val="1300"/>
              </a:lnSpc>
              <a:buNone/>
            </a:pPr>
            <a:r>
              <a:rPr lang="en-US" sz="734" b="1" dirty="0">
                <a:solidFill>
                  <a:srgbClr val="0000FF"/>
                </a:solidFill>
              </a:rPr>
              <a:t>WITH</a:t>
            </a:r>
            <a:r>
              <a:rPr lang="en-US" sz="780" dirty="0">
                <a:solidFill>
                  <a:srgbClr val="333333"/>
                </a:solidFill>
              </a:rPr>
              <a:t> bm25 </a:t>
            </a:r>
            <a:r>
              <a:rPr lang="en-US" sz="734" b="1" dirty="0">
                <a:solidFill>
                  <a:srgbClr val="0000FF"/>
                </a:solidFill>
              </a:rPr>
              <a:t>AS</a:t>
            </a:r>
            <a:r>
              <a:rPr lang="en-US" sz="780" dirty="0">
                <a:solidFill>
                  <a:srgbClr val="333333"/>
                </a:solidFill>
              </a:rPr>
              <a:t> ( </a:t>
            </a:r>
            <a:r>
              <a:rPr lang="en-US" sz="734" b="1" dirty="0">
                <a:solidFill>
                  <a:srgbClr val="0000FF"/>
                </a:solidFill>
              </a:rPr>
              <a:t>SELECT</a:t>
            </a:r>
            <a:r>
              <a:rPr lang="en-US" sz="780" dirty="0">
                <a:solidFill>
                  <a:srgbClr val="333333"/>
                </a:solidFill>
              </a:rPr>
              <a:t> id, </a:t>
            </a:r>
            <a:r>
              <a:rPr lang="en-US" sz="780" dirty="0">
                <a:solidFill>
                  <a:srgbClr val="795E26"/>
                </a:solidFill>
              </a:rPr>
              <a:t>RANK</a:t>
            </a:r>
            <a:r>
              <a:rPr lang="en-US" sz="780" dirty="0">
                <a:solidFill>
                  <a:srgbClr val="333333"/>
                </a:solidFill>
              </a:rPr>
              <a:t>() </a:t>
            </a:r>
            <a:r>
              <a:rPr lang="en-US" sz="734" b="1" dirty="0">
                <a:solidFill>
                  <a:srgbClr val="0000FF"/>
                </a:solidFill>
              </a:rPr>
              <a:t>OVER</a:t>
            </a:r>
            <a:r>
              <a:rPr lang="en-US" sz="780" dirty="0">
                <a:solidFill>
                  <a:srgbClr val="333333"/>
                </a:solidFill>
              </a:rPr>
              <a:t> (</a:t>
            </a:r>
            <a:r>
              <a:rPr lang="en-US" sz="734" b="1" dirty="0">
                <a:solidFill>
                  <a:srgbClr val="0000FF"/>
                </a:solidFill>
              </a:rPr>
              <a:t>ORDER BY</a:t>
            </a:r>
            <a:r>
              <a:rPr lang="en-US" sz="780" dirty="0">
                <a:solidFill>
                  <a:srgbClr val="333333"/>
                </a:solidFill>
              </a:rPr>
              <a:t> score </a:t>
            </a:r>
            <a:r>
              <a:rPr lang="en-US" sz="734" b="1" dirty="0">
                <a:solidFill>
                  <a:srgbClr val="0000FF"/>
                </a:solidFill>
              </a:rPr>
              <a:t>DESC</a:t>
            </a:r>
            <a:r>
              <a:rPr lang="en-US" sz="780" dirty="0">
                <a:solidFill>
                  <a:srgbClr val="333333"/>
                </a:solidFill>
              </a:rPr>
              <a:t>) </a:t>
            </a:r>
            <a:r>
              <a:rPr lang="en-US" sz="734" b="1" dirty="0">
                <a:solidFill>
                  <a:srgbClr val="0000FF"/>
                </a:solidFill>
              </a:rPr>
              <a:t>AS</a:t>
            </a:r>
            <a:r>
              <a:rPr lang="en-US" sz="780" dirty="0">
                <a:solidFill>
                  <a:srgbClr val="333333"/>
                </a:solidFill>
              </a:rPr>
              <a:t> r </a:t>
            </a:r>
            <a:r>
              <a:rPr lang="en-US" sz="734" b="1" dirty="0">
                <a:solidFill>
                  <a:srgbClr val="0000FF"/>
                </a:solidFill>
              </a:rPr>
              <a:t>FROM</a:t>
            </a:r>
            <a:r>
              <a:rPr lang="en-US" sz="780" dirty="0">
                <a:solidFill>
                  <a:srgbClr val="333333"/>
                </a:solidFill>
              </a:rPr>
              <a:t> docs </a:t>
            </a:r>
            <a:r>
              <a:rPr lang="en-US" sz="734" b="1" dirty="0">
                <a:solidFill>
                  <a:srgbClr val="0000FF"/>
                </a:solidFill>
              </a:rPr>
              <a:t>WHERE</a:t>
            </a:r>
            <a:r>
              <a:rPr lang="en-US" sz="780" dirty="0">
                <a:solidFill>
                  <a:srgbClr val="333333"/>
                </a:solidFill>
              </a:rPr>
              <a:t> text_search @@ </a:t>
            </a:r>
            <a:r>
              <a:rPr lang="en-US" sz="780" dirty="0">
                <a:solidFill>
                  <a:srgbClr val="795E26"/>
                </a:solidFill>
              </a:rPr>
              <a:t>to_tsquery</a:t>
            </a:r>
            <a:r>
              <a:rPr lang="en-US" sz="780" dirty="0">
                <a:solidFill>
                  <a:srgbClr val="333333"/>
                </a:solidFill>
              </a:rPr>
              <a:t>(</a:t>
            </a:r>
            <a:r>
              <a:rPr lang="en-US" sz="780" dirty="0">
                <a:solidFill>
                  <a:srgbClr val="A31515"/>
                </a:solidFill>
              </a:rPr>
              <a:t>'rag'</a:t>
            </a:r>
            <a:r>
              <a:rPr lang="en-US" sz="780" dirty="0">
                <a:solidFill>
                  <a:srgbClr val="333333"/>
                </a:solidFill>
              </a:rPr>
              <a:t>) ), semantic </a:t>
            </a:r>
            <a:r>
              <a:rPr lang="en-US" sz="734" b="1" dirty="0">
                <a:solidFill>
                  <a:srgbClr val="0000FF"/>
                </a:solidFill>
              </a:rPr>
              <a:t>AS</a:t>
            </a:r>
            <a:r>
              <a:rPr lang="en-US" sz="780" dirty="0">
                <a:solidFill>
                  <a:srgbClr val="333333"/>
                </a:solidFill>
              </a:rPr>
              <a:t> ( </a:t>
            </a:r>
            <a:r>
              <a:rPr lang="en-US" sz="734" b="1" dirty="0">
                <a:solidFill>
                  <a:srgbClr val="0000FF"/>
                </a:solidFill>
              </a:rPr>
              <a:t>SELECT</a:t>
            </a:r>
            <a:r>
              <a:rPr lang="en-US" sz="780" dirty="0">
                <a:solidFill>
                  <a:srgbClr val="333333"/>
                </a:solidFill>
              </a:rPr>
              <a:t> id, </a:t>
            </a:r>
            <a:r>
              <a:rPr lang="en-US" sz="780" dirty="0">
                <a:solidFill>
                  <a:srgbClr val="795E26"/>
                </a:solidFill>
              </a:rPr>
              <a:t>RANK</a:t>
            </a:r>
            <a:r>
              <a:rPr lang="en-US" sz="780" dirty="0">
                <a:solidFill>
                  <a:srgbClr val="333333"/>
                </a:solidFill>
              </a:rPr>
              <a:t>() </a:t>
            </a:r>
            <a:r>
              <a:rPr lang="en-US" sz="734" b="1" dirty="0">
                <a:solidFill>
                  <a:srgbClr val="0000FF"/>
                </a:solidFill>
              </a:rPr>
              <a:t>OVER</a:t>
            </a:r>
            <a:r>
              <a:rPr lang="en-US" sz="780" dirty="0">
                <a:solidFill>
                  <a:srgbClr val="333333"/>
                </a:solidFill>
              </a:rPr>
              <a:t> (</a:t>
            </a:r>
            <a:r>
              <a:rPr lang="en-US" sz="734" b="1" dirty="0">
                <a:solidFill>
                  <a:srgbClr val="0000FF"/>
                </a:solidFill>
              </a:rPr>
              <a:t>ORDER BY</a:t>
            </a:r>
            <a:r>
              <a:rPr lang="en-US" sz="780" dirty="0">
                <a:solidFill>
                  <a:srgbClr val="333333"/>
                </a:solidFill>
              </a:rPr>
              <a:t> vec &lt;=&gt; query_vec) </a:t>
            </a:r>
            <a:r>
              <a:rPr lang="en-US" sz="734" b="1" dirty="0">
                <a:solidFill>
                  <a:srgbClr val="0000FF"/>
                </a:solidFill>
              </a:rPr>
              <a:t>AS</a:t>
            </a:r>
            <a:r>
              <a:rPr lang="en-US" sz="780" dirty="0">
                <a:solidFill>
                  <a:srgbClr val="333333"/>
                </a:solidFill>
              </a:rPr>
              <a:t> r </a:t>
            </a:r>
            <a:r>
              <a:rPr lang="en-US" sz="734" b="1" dirty="0">
                <a:solidFill>
                  <a:srgbClr val="0000FF"/>
                </a:solidFill>
              </a:rPr>
              <a:t>FROM</a:t>
            </a:r>
            <a:r>
              <a:rPr lang="en-US" sz="780" dirty="0">
                <a:solidFill>
                  <a:srgbClr val="333333"/>
                </a:solidFill>
              </a:rPr>
              <a:t> docs </a:t>
            </a:r>
            <a:r>
              <a:rPr lang="en-US" sz="734" b="1" dirty="0">
                <a:solidFill>
                  <a:srgbClr val="0000FF"/>
                </a:solidFill>
              </a:rPr>
              <a:t>ORDER BY</a:t>
            </a:r>
            <a:r>
              <a:rPr lang="en-US" sz="780" dirty="0">
                <a:solidFill>
                  <a:srgbClr val="333333"/>
                </a:solidFill>
              </a:rPr>
              <a:t> vec &lt;=&gt; query_vec ) </a:t>
            </a:r>
            <a:r>
              <a:rPr lang="en-US" sz="734" b="1" dirty="0">
                <a:solidFill>
                  <a:srgbClr val="0000FF"/>
                </a:solidFill>
              </a:rPr>
              <a:t>SELECT</a:t>
            </a:r>
            <a:r>
              <a:rPr lang="en-US" sz="780" dirty="0">
                <a:solidFill>
                  <a:srgbClr val="333333"/>
                </a:solidFill>
              </a:rPr>
              <a:t> id, </a:t>
            </a:r>
            <a:r>
              <a:rPr lang="en-US" sz="780" i="1" dirty="0">
                <a:solidFill>
                  <a:srgbClr val="008000"/>
                </a:solidFill>
              </a:rPr>
              <a:t>-- RRF Formula Implementation</a:t>
            </a:r>
            <a:r>
              <a:rPr lang="en-US" sz="780" dirty="0">
                <a:solidFill>
                  <a:srgbClr val="795E26"/>
                </a:solidFill>
              </a:rPr>
              <a:t>SUM</a:t>
            </a:r>
            <a:r>
              <a:rPr lang="en-US" sz="780" dirty="0">
                <a:solidFill>
                  <a:srgbClr val="333333"/>
                </a:solidFill>
              </a:rPr>
              <a:t>(</a:t>
            </a:r>
            <a:r>
              <a:rPr lang="en-US" sz="780" dirty="0">
                <a:solidFill>
                  <a:srgbClr val="098658"/>
                </a:solidFill>
              </a:rPr>
              <a:t>1.0</a:t>
            </a:r>
            <a:r>
              <a:rPr lang="en-US" sz="780" dirty="0">
                <a:solidFill>
                  <a:srgbClr val="333333"/>
                </a:solidFill>
              </a:rPr>
              <a:t> / (</a:t>
            </a:r>
            <a:r>
              <a:rPr lang="en-US" sz="780" dirty="0">
                <a:solidFill>
                  <a:srgbClr val="098658"/>
                </a:solidFill>
              </a:rPr>
              <a:t>60</a:t>
            </a:r>
            <a:r>
              <a:rPr lang="en-US" sz="780" dirty="0">
                <a:solidFill>
                  <a:srgbClr val="333333"/>
                </a:solidFill>
              </a:rPr>
              <a:t> + r)) </a:t>
            </a:r>
            <a:r>
              <a:rPr lang="en-US" sz="734" b="1" dirty="0">
                <a:solidFill>
                  <a:srgbClr val="0000FF"/>
                </a:solidFill>
              </a:rPr>
              <a:t>AS</a:t>
            </a:r>
            <a:r>
              <a:rPr lang="en-US" sz="780" dirty="0">
                <a:solidFill>
                  <a:srgbClr val="333333"/>
                </a:solidFill>
              </a:rPr>
              <a:t> rrf_score </a:t>
            </a:r>
            <a:r>
              <a:rPr lang="en-US" sz="734" b="1" dirty="0">
                <a:solidFill>
                  <a:srgbClr val="0000FF"/>
                </a:solidFill>
              </a:rPr>
              <a:t>FROM</a:t>
            </a:r>
            <a:r>
              <a:rPr lang="en-US" sz="780" dirty="0">
                <a:solidFill>
                  <a:srgbClr val="333333"/>
                </a:solidFill>
              </a:rPr>
              <a:t> ( </a:t>
            </a:r>
            <a:r>
              <a:rPr lang="en-US" sz="734" b="1" dirty="0">
                <a:solidFill>
                  <a:srgbClr val="0000FF"/>
                </a:solidFill>
              </a:rPr>
              <a:t>SELECT</a:t>
            </a:r>
            <a:r>
              <a:rPr lang="en-US" sz="780" dirty="0">
                <a:solidFill>
                  <a:srgbClr val="333333"/>
                </a:solidFill>
              </a:rPr>
              <a:t> id, r </a:t>
            </a:r>
            <a:r>
              <a:rPr lang="en-US" sz="734" b="1" dirty="0">
                <a:solidFill>
                  <a:srgbClr val="0000FF"/>
                </a:solidFill>
              </a:rPr>
              <a:t>FROM</a:t>
            </a:r>
            <a:r>
              <a:rPr lang="en-US" sz="780" dirty="0">
                <a:solidFill>
                  <a:srgbClr val="333333"/>
                </a:solidFill>
              </a:rPr>
              <a:t> bm25 </a:t>
            </a:r>
            <a:r>
              <a:rPr lang="en-US" sz="734" b="1" dirty="0">
                <a:solidFill>
                  <a:srgbClr val="0000FF"/>
                </a:solidFill>
              </a:rPr>
              <a:t>UNION ALLSELECT</a:t>
            </a:r>
            <a:r>
              <a:rPr lang="en-US" sz="780" dirty="0">
                <a:solidFill>
                  <a:srgbClr val="333333"/>
                </a:solidFill>
              </a:rPr>
              <a:t> id, r </a:t>
            </a:r>
            <a:r>
              <a:rPr lang="en-US" sz="734" b="1" dirty="0">
                <a:solidFill>
                  <a:srgbClr val="0000FF"/>
                </a:solidFill>
              </a:rPr>
              <a:t>FROM</a:t>
            </a:r>
            <a:r>
              <a:rPr lang="en-US" sz="780" dirty="0">
                <a:solidFill>
                  <a:srgbClr val="333333"/>
                </a:solidFill>
              </a:rPr>
              <a:t> semantic ) t </a:t>
            </a:r>
            <a:r>
              <a:rPr lang="en-US" sz="734" b="1" dirty="0">
                <a:solidFill>
                  <a:srgbClr val="0000FF"/>
                </a:solidFill>
              </a:rPr>
              <a:t>GROUP BY</a:t>
            </a:r>
            <a:r>
              <a:rPr lang="en-US" sz="780" dirty="0">
                <a:solidFill>
                  <a:srgbClr val="333333"/>
                </a:solidFill>
              </a:rPr>
              <a:t> id </a:t>
            </a:r>
            <a:r>
              <a:rPr lang="en-US" sz="734" b="1" dirty="0">
                <a:solidFill>
                  <a:srgbClr val="0000FF"/>
                </a:solidFill>
              </a:rPr>
              <a:t>ORDER BY</a:t>
            </a:r>
            <a:r>
              <a:rPr lang="en-US" sz="780" dirty="0">
                <a:solidFill>
                  <a:srgbClr val="333333"/>
                </a:solidFill>
              </a:rPr>
              <a:t> rrf_score </a:t>
            </a:r>
            <a:r>
              <a:rPr lang="en-US" sz="734" b="1" dirty="0">
                <a:solidFill>
                  <a:srgbClr val="0000FF"/>
                </a:solidFill>
              </a:rPr>
              <a:t>DESC</a:t>
            </a:r>
            <a:r>
              <a:rPr lang="en-US" sz="780" dirty="0">
                <a:solidFill>
                  <a:srgbClr val="333333"/>
                </a:solidFill>
              </a:rPr>
              <a:t>;</a:t>
            </a:r>
            <a:endParaRPr lang="en-US" sz="734" dirty="0"/>
          </a:p>
        </p:txBody>
      </p:sp>
      <p:sp>
        <p:nvSpPr>
          <p:cNvPr id="16" name="Shape 12"/>
          <p:cNvSpPr/>
          <p:nvPr/>
        </p:nvSpPr>
        <p:spPr>
          <a:xfrm>
            <a:off x="428625" y="4618434"/>
            <a:ext cx="4000500" cy="525066"/>
          </a:xfrm>
          <a:prstGeom prst="rect">
            <a:avLst/>
          </a:prstGeom>
          <a:solidFill>
            <a:srgbClr val="EFEFEF"/>
          </a:solidFill>
          <a:ln/>
        </p:spPr>
        <p:txBody>
          <a:bodyPr/>
          <a:lstStyle/>
          <a:p>
            <a:endParaRPr lang="ru-KZ"/>
          </a:p>
        </p:txBody>
      </p:sp>
      <p:sp>
        <p:nvSpPr>
          <p:cNvPr id="17" name="Shape 13"/>
          <p:cNvSpPr/>
          <p:nvPr/>
        </p:nvSpPr>
        <p:spPr>
          <a:xfrm>
            <a:off x="428625" y="4618434"/>
            <a:ext cx="21431" cy="525066"/>
          </a:xfrm>
          <a:prstGeom prst="rect">
            <a:avLst/>
          </a:prstGeom>
          <a:solidFill>
            <a:srgbClr val="FF4F00"/>
          </a:solidFill>
          <a:ln/>
        </p:spPr>
        <p:txBody>
          <a:bodyPr/>
          <a:lstStyle/>
          <a:p>
            <a:endParaRPr lang="ru-KZ"/>
          </a:p>
        </p:txBody>
      </p:sp>
      <p:sp>
        <p:nvSpPr>
          <p:cNvPr id="18" name="Text 14"/>
          <p:cNvSpPr/>
          <p:nvPr/>
        </p:nvSpPr>
        <p:spPr>
          <a:xfrm>
            <a:off x="428625" y="4618434"/>
            <a:ext cx="4000500" cy="525066"/>
          </a:xfrm>
          <a:prstGeom prst="rect">
            <a:avLst/>
          </a:prstGeom>
          <a:noFill/>
          <a:ln/>
        </p:spPr>
        <p:txBody>
          <a:bodyPr wrap="square" lIns="127508" tIns="127508" rIns="127508" bIns="127508" rtlCol="0" anchor="t">
            <a:spAutoFit/>
          </a:bodyPr>
          <a:lstStyle/>
          <a:p>
            <a:pPr marL="0" indent="0" algn="l">
              <a:lnSpc>
                <a:spcPts val="1100"/>
              </a:lnSpc>
              <a:buNone/>
            </a:pPr>
            <a:r>
              <a:rPr lang="en-US" sz="834" dirty="0">
                <a:solidFill>
                  <a:srgbClr val="555555"/>
                </a:solidFill>
              </a:rPr>
              <a:t>В SQL мы вручную реализуем логику RRF, объединяя ранги из двух подзапросов (CTE).</a:t>
            </a:r>
            <a:endParaRPr lang="en-US" sz="834" dirty="0"/>
          </a:p>
        </p:txBody>
      </p:sp>
      <p:sp>
        <p:nvSpPr>
          <p:cNvPr id="19" name="Shape 15"/>
          <p:cNvSpPr/>
          <p:nvPr/>
        </p:nvSpPr>
        <p:spPr>
          <a:xfrm>
            <a:off x="4714875" y="1323380"/>
            <a:ext cx="4000500" cy="389334"/>
          </a:xfrm>
          <a:prstGeom prst="rect">
            <a:avLst/>
          </a:prstGeom>
          <a:solidFill>
            <a:srgbClr val="1A1A1A"/>
          </a:solidFill>
          <a:ln/>
        </p:spPr>
        <p:txBody>
          <a:bodyPr/>
          <a:lstStyle/>
          <a:p>
            <a:endParaRPr lang="ru-KZ"/>
          </a:p>
        </p:txBody>
      </p:sp>
      <p:sp>
        <p:nvSpPr>
          <p:cNvPr id="20" name="Text 16"/>
          <p:cNvSpPr/>
          <p:nvPr/>
        </p:nvSpPr>
        <p:spPr>
          <a:xfrm>
            <a:off x="4857750" y="1430536"/>
            <a:ext cx="1007380"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rPr>
              <a:t>Weaviate Client</a:t>
            </a:r>
            <a:endParaRPr lang="en-US" sz="885" dirty="0"/>
          </a:p>
        </p:txBody>
      </p:sp>
      <p:sp>
        <p:nvSpPr>
          <p:cNvPr id="21" name="Shape 17"/>
          <p:cNvSpPr/>
          <p:nvPr/>
        </p:nvSpPr>
        <p:spPr>
          <a:xfrm>
            <a:off x="8152665" y="1445716"/>
            <a:ext cx="419835" cy="144661"/>
          </a:xfrm>
          <a:prstGeom prst="rect">
            <a:avLst/>
          </a:prstGeom>
          <a:solidFill>
            <a:srgbClr val="FF4F00"/>
          </a:solidFill>
          <a:ln/>
        </p:spPr>
        <p:txBody>
          <a:bodyPr/>
          <a:lstStyle/>
          <a:p>
            <a:endParaRPr lang="ru-KZ"/>
          </a:p>
        </p:txBody>
      </p:sp>
      <p:sp>
        <p:nvSpPr>
          <p:cNvPr id="22" name="Text 18"/>
          <p:cNvSpPr/>
          <p:nvPr/>
        </p:nvSpPr>
        <p:spPr>
          <a:xfrm>
            <a:off x="8152665" y="1445716"/>
            <a:ext cx="419835" cy="144661"/>
          </a:xfrm>
          <a:prstGeom prst="rect">
            <a:avLst/>
          </a:prstGeom>
          <a:noFill/>
          <a:ln/>
        </p:spPr>
        <p:txBody>
          <a:bodyPr wrap="none" lIns="68072" tIns="17018" rIns="68072" bIns="17018" rtlCol="0" anchor="t">
            <a:spAutoFit/>
          </a:bodyPr>
          <a:lstStyle/>
          <a:p>
            <a:pPr marL="0" indent="0" algn="l">
              <a:lnSpc>
                <a:spcPts val="800"/>
              </a:lnSpc>
              <a:buNone/>
            </a:pPr>
            <a:r>
              <a:rPr lang="en-US" sz="584" b="1" dirty="0">
                <a:solidFill>
                  <a:srgbClr val="FFFFFF"/>
                </a:solidFill>
              </a:rPr>
              <a:t>Python</a:t>
            </a:r>
            <a:endParaRPr lang="en-US" sz="584" dirty="0"/>
          </a:p>
        </p:txBody>
      </p:sp>
      <p:sp>
        <p:nvSpPr>
          <p:cNvPr id="23" name="Shape 19"/>
          <p:cNvSpPr/>
          <p:nvPr/>
        </p:nvSpPr>
        <p:spPr>
          <a:xfrm>
            <a:off x="4714875" y="1712714"/>
            <a:ext cx="4000500" cy="2762845"/>
          </a:xfrm>
          <a:prstGeom prst="rect">
            <a:avLst/>
          </a:prstGeom>
          <a:solidFill>
            <a:srgbClr val="FFFFFF"/>
          </a:solidFill>
          <a:ln/>
        </p:spPr>
        <p:txBody>
          <a:bodyPr/>
          <a:lstStyle/>
          <a:p>
            <a:endParaRPr lang="ru-KZ"/>
          </a:p>
        </p:txBody>
      </p:sp>
      <p:sp>
        <p:nvSpPr>
          <p:cNvPr id="24" name="Shape 20"/>
          <p:cNvSpPr/>
          <p:nvPr/>
        </p:nvSpPr>
        <p:spPr>
          <a:xfrm>
            <a:off x="8708231" y="1712714"/>
            <a:ext cx="7144" cy="2762845"/>
          </a:xfrm>
          <a:prstGeom prst="rect">
            <a:avLst/>
          </a:prstGeom>
          <a:solidFill>
            <a:srgbClr val="E0E0E0"/>
          </a:solidFill>
          <a:ln/>
        </p:spPr>
        <p:txBody>
          <a:bodyPr/>
          <a:lstStyle/>
          <a:p>
            <a:endParaRPr lang="ru-KZ"/>
          </a:p>
        </p:txBody>
      </p:sp>
      <p:sp>
        <p:nvSpPr>
          <p:cNvPr id="25" name="Shape 21"/>
          <p:cNvSpPr/>
          <p:nvPr/>
        </p:nvSpPr>
        <p:spPr>
          <a:xfrm>
            <a:off x="4714875" y="4468416"/>
            <a:ext cx="4000500" cy="7144"/>
          </a:xfrm>
          <a:prstGeom prst="rect">
            <a:avLst/>
          </a:prstGeom>
          <a:solidFill>
            <a:srgbClr val="E0E0E0"/>
          </a:solidFill>
          <a:ln/>
        </p:spPr>
        <p:txBody>
          <a:bodyPr/>
          <a:lstStyle/>
          <a:p>
            <a:endParaRPr lang="ru-KZ"/>
          </a:p>
        </p:txBody>
      </p:sp>
      <p:sp>
        <p:nvSpPr>
          <p:cNvPr id="26" name="Shape 22"/>
          <p:cNvSpPr/>
          <p:nvPr/>
        </p:nvSpPr>
        <p:spPr>
          <a:xfrm>
            <a:off x="4714875" y="1712714"/>
            <a:ext cx="7144" cy="2762845"/>
          </a:xfrm>
          <a:prstGeom prst="rect">
            <a:avLst/>
          </a:prstGeom>
          <a:solidFill>
            <a:srgbClr val="E0E0E0"/>
          </a:solidFill>
          <a:ln/>
        </p:spPr>
        <p:txBody>
          <a:bodyPr/>
          <a:lstStyle/>
          <a:p>
            <a:endParaRPr lang="ru-KZ"/>
          </a:p>
        </p:txBody>
      </p:sp>
      <p:sp>
        <p:nvSpPr>
          <p:cNvPr id="27" name="Text 23"/>
          <p:cNvSpPr/>
          <p:nvPr/>
        </p:nvSpPr>
        <p:spPr>
          <a:xfrm>
            <a:off x="4893469" y="1898452"/>
            <a:ext cx="367233" cy="146447"/>
          </a:xfrm>
          <a:prstGeom prst="rect">
            <a:avLst/>
          </a:prstGeom>
          <a:noFill/>
          <a:ln/>
        </p:spPr>
        <p:txBody>
          <a:bodyPr wrap="none" lIns="0" tIns="0" rIns="0" bIns="0" rtlCol="0" anchor="t">
            <a:spAutoFit/>
          </a:bodyPr>
          <a:lstStyle/>
          <a:p>
            <a:pPr marL="0" indent="0" algn="l">
              <a:lnSpc>
                <a:spcPts val="1300"/>
              </a:lnSpc>
              <a:buNone/>
            </a:pPr>
            <a:r>
              <a:rPr lang="en-US" sz="734" b="1" dirty="0">
                <a:solidFill>
                  <a:srgbClr val="0000FF"/>
                </a:solidFill>
              </a:rPr>
              <a:t>import</a:t>
            </a:r>
            <a:endParaRPr lang="en-US" sz="734" dirty="0"/>
          </a:p>
        </p:txBody>
      </p:sp>
      <p:sp>
        <p:nvSpPr>
          <p:cNvPr id="28" name="Text 24"/>
          <p:cNvSpPr/>
          <p:nvPr/>
        </p:nvSpPr>
        <p:spPr>
          <a:xfrm>
            <a:off x="5260702" y="1898452"/>
            <a:ext cx="1680874"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weaviate client = weaviate.Client(</a:t>
            </a:r>
            <a:endParaRPr lang="en-US" sz="780" dirty="0"/>
          </a:p>
        </p:txBody>
      </p:sp>
      <p:sp>
        <p:nvSpPr>
          <p:cNvPr id="29" name="Text 25"/>
          <p:cNvSpPr/>
          <p:nvPr/>
        </p:nvSpPr>
        <p:spPr>
          <a:xfrm>
            <a:off x="6941576" y="1898452"/>
            <a:ext cx="1132005"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"http://localhost:8080"</a:t>
            </a:r>
            <a:endParaRPr lang="en-US" sz="780" dirty="0"/>
          </a:p>
        </p:txBody>
      </p:sp>
      <p:sp>
        <p:nvSpPr>
          <p:cNvPr id="30" name="Text 26"/>
          <p:cNvSpPr/>
          <p:nvPr/>
        </p:nvSpPr>
        <p:spPr>
          <a:xfrm>
            <a:off x="8073582" y="1898452"/>
            <a:ext cx="32147"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31" name="Text 27"/>
          <p:cNvSpPr/>
          <p:nvPr/>
        </p:nvSpPr>
        <p:spPr>
          <a:xfrm>
            <a:off x="4893469" y="2059186"/>
            <a:ext cx="1485621"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response = ( client.query .get(</a:t>
            </a:r>
            <a:endParaRPr lang="en-US" sz="780" dirty="0"/>
          </a:p>
        </p:txBody>
      </p:sp>
      <p:sp>
        <p:nvSpPr>
          <p:cNvPr id="32" name="Text 28"/>
          <p:cNvSpPr/>
          <p:nvPr/>
        </p:nvSpPr>
        <p:spPr>
          <a:xfrm>
            <a:off x="6379090" y="2059186"/>
            <a:ext cx="397455"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"Article"</a:t>
            </a:r>
            <a:endParaRPr lang="en-US" sz="780" dirty="0"/>
          </a:p>
        </p:txBody>
      </p:sp>
      <p:sp>
        <p:nvSpPr>
          <p:cNvPr id="33" name="Text 29"/>
          <p:cNvSpPr/>
          <p:nvPr/>
        </p:nvSpPr>
        <p:spPr>
          <a:xfrm>
            <a:off x="6776545" y="2059186"/>
            <a:ext cx="91836"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 [</a:t>
            </a:r>
            <a:endParaRPr lang="en-US" sz="780" dirty="0"/>
          </a:p>
        </p:txBody>
      </p:sp>
      <p:sp>
        <p:nvSpPr>
          <p:cNvPr id="34" name="Text 30"/>
          <p:cNvSpPr/>
          <p:nvPr/>
        </p:nvSpPr>
        <p:spPr>
          <a:xfrm>
            <a:off x="6868381" y="2059186"/>
            <a:ext cx="279471"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"title"</a:t>
            </a:r>
            <a:endParaRPr lang="en-US" sz="780" dirty="0"/>
          </a:p>
        </p:txBody>
      </p:sp>
      <p:sp>
        <p:nvSpPr>
          <p:cNvPr id="35" name="Text 31"/>
          <p:cNvSpPr/>
          <p:nvPr/>
        </p:nvSpPr>
        <p:spPr>
          <a:xfrm>
            <a:off x="7147852" y="2059186"/>
            <a:ext cx="56592"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36" name="Text 32"/>
          <p:cNvSpPr/>
          <p:nvPr/>
        </p:nvSpPr>
        <p:spPr>
          <a:xfrm>
            <a:off x="7204444" y="2059186"/>
            <a:ext cx="469674"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"content"</a:t>
            </a:r>
            <a:endParaRPr lang="en-US" sz="780" dirty="0"/>
          </a:p>
        </p:txBody>
      </p:sp>
      <p:sp>
        <p:nvSpPr>
          <p:cNvPr id="37" name="Text 33"/>
          <p:cNvSpPr/>
          <p:nvPr/>
        </p:nvSpPr>
        <p:spPr>
          <a:xfrm>
            <a:off x="7674118" y="2059186"/>
            <a:ext cx="95269"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38" name="Shape 34"/>
          <p:cNvSpPr/>
          <p:nvPr/>
        </p:nvSpPr>
        <p:spPr>
          <a:xfrm>
            <a:off x="7769386" y="2059186"/>
            <a:ext cx="649802" cy="160734"/>
          </a:xfrm>
          <a:prstGeom prst="rect">
            <a:avLst/>
          </a:prstGeom>
          <a:solidFill>
            <a:srgbClr val="FF4F00">
              <a:alpha val="10000"/>
            </a:srgbClr>
          </a:solidFill>
          <a:ln/>
        </p:spPr>
        <p:txBody>
          <a:bodyPr/>
          <a:lstStyle/>
          <a:p>
            <a:endParaRPr lang="ru-KZ"/>
          </a:p>
        </p:txBody>
      </p:sp>
      <p:sp>
        <p:nvSpPr>
          <p:cNvPr id="39" name="Shape 35"/>
          <p:cNvSpPr/>
          <p:nvPr/>
        </p:nvSpPr>
        <p:spPr>
          <a:xfrm>
            <a:off x="7769386" y="2205633"/>
            <a:ext cx="649802" cy="14288"/>
          </a:xfrm>
          <a:prstGeom prst="rect">
            <a:avLst/>
          </a:prstGeom>
          <a:solidFill>
            <a:srgbClr val="FF4F00"/>
          </a:solidFill>
          <a:ln/>
        </p:spPr>
        <p:txBody>
          <a:bodyPr/>
          <a:lstStyle/>
          <a:p>
            <a:endParaRPr lang="ru-KZ"/>
          </a:p>
        </p:txBody>
      </p:sp>
      <p:sp>
        <p:nvSpPr>
          <p:cNvPr id="40" name="Text 36"/>
          <p:cNvSpPr/>
          <p:nvPr/>
        </p:nvSpPr>
        <p:spPr>
          <a:xfrm>
            <a:off x="7769386" y="2059186"/>
            <a:ext cx="649802"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.with_hybrid(</a:t>
            </a:r>
            <a:endParaRPr lang="en-US" sz="780" dirty="0"/>
          </a:p>
        </p:txBody>
      </p:sp>
      <p:sp>
        <p:nvSpPr>
          <p:cNvPr id="41" name="Shape 37"/>
          <p:cNvSpPr/>
          <p:nvPr/>
        </p:nvSpPr>
        <p:spPr>
          <a:xfrm>
            <a:off x="4893469" y="2219920"/>
            <a:ext cx="1344337" cy="160734"/>
          </a:xfrm>
          <a:prstGeom prst="rect">
            <a:avLst/>
          </a:prstGeom>
          <a:solidFill>
            <a:srgbClr val="FF4F00">
              <a:alpha val="10000"/>
            </a:srgbClr>
          </a:solidFill>
          <a:ln/>
        </p:spPr>
        <p:txBody>
          <a:bodyPr/>
          <a:lstStyle/>
          <a:p>
            <a:endParaRPr lang="ru-KZ"/>
          </a:p>
        </p:txBody>
      </p:sp>
      <p:sp>
        <p:nvSpPr>
          <p:cNvPr id="42" name="Shape 38"/>
          <p:cNvSpPr/>
          <p:nvPr/>
        </p:nvSpPr>
        <p:spPr>
          <a:xfrm>
            <a:off x="4893469" y="2366367"/>
            <a:ext cx="1344337" cy="14288"/>
          </a:xfrm>
          <a:prstGeom prst="rect">
            <a:avLst/>
          </a:prstGeom>
          <a:solidFill>
            <a:srgbClr val="FF4F00"/>
          </a:solidFill>
          <a:ln/>
        </p:spPr>
        <p:txBody>
          <a:bodyPr/>
          <a:lstStyle/>
          <a:p>
            <a:endParaRPr lang="ru-KZ"/>
          </a:p>
        </p:txBody>
      </p:sp>
      <p:sp>
        <p:nvSpPr>
          <p:cNvPr id="43" name="Text 39"/>
          <p:cNvSpPr/>
          <p:nvPr/>
        </p:nvSpPr>
        <p:spPr>
          <a:xfrm>
            <a:off x="4893469" y="2219920"/>
            <a:ext cx="352778"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query=</a:t>
            </a:r>
            <a:endParaRPr lang="en-US" sz="780" dirty="0"/>
          </a:p>
        </p:txBody>
      </p:sp>
      <p:sp>
        <p:nvSpPr>
          <p:cNvPr id="44" name="Text 40"/>
          <p:cNvSpPr/>
          <p:nvPr/>
        </p:nvSpPr>
        <p:spPr>
          <a:xfrm>
            <a:off x="5246247" y="2219920"/>
            <a:ext cx="962816"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"machine learning"</a:t>
            </a:r>
            <a:endParaRPr lang="en-US" sz="780" dirty="0"/>
          </a:p>
        </p:txBody>
      </p:sp>
      <p:sp>
        <p:nvSpPr>
          <p:cNvPr id="45" name="Text 41"/>
          <p:cNvSpPr/>
          <p:nvPr/>
        </p:nvSpPr>
        <p:spPr>
          <a:xfrm>
            <a:off x="6209063" y="2219920"/>
            <a:ext cx="28742"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46" name="Shape 42"/>
          <p:cNvSpPr/>
          <p:nvPr/>
        </p:nvSpPr>
        <p:spPr>
          <a:xfrm>
            <a:off x="6265683" y="2219920"/>
            <a:ext cx="582662" cy="160734"/>
          </a:xfrm>
          <a:prstGeom prst="rect">
            <a:avLst/>
          </a:prstGeom>
          <a:solidFill>
            <a:srgbClr val="FF4F00">
              <a:alpha val="10000"/>
            </a:srgbClr>
          </a:solidFill>
          <a:ln/>
        </p:spPr>
        <p:txBody>
          <a:bodyPr/>
          <a:lstStyle/>
          <a:p>
            <a:endParaRPr lang="ru-KZ"/>
          </a:p>
        </p:txBody>
      </p:sp>
      <p:sp>
        <p:nvSpPr>
          <p:cNvPr id="47" name="Shape 43"/>
          <p:cNvSpPr/>
          <p:nvPr/>
        </p:nvSpPr>
        <p:spPr>
          <a:xfrm>
            <a:off x="6265683" y="2366367"/>
            <a:ext cx="582662" cy="14288"/>
          </a:xfrm>
          <a:prstGeom prst="rect">
            <a:avLst/>
          </a:prstGeom>
          <a:solidFill>
            <a:srgbClr val="FF4F00"/>
          </a:solidFill>
          <a:ln/>
        </p:spPr>
        <p:txBody>
          <a:bodyPr/>
          <a:lstStyle/>
          <a:p>
            <a:endParaRPr lang="ru-KZ"/>
          </a:p>
        </p:txBody>
      </p:sp>
      <p:sp>
        <p:nvSpPr>
          <p:cNvPr id="48" name="Text 44"/>
          <p:cNvSpPr/>
          <p:nvPr/>
        </p:nvSpPr>
        <p:spPr>
          <a:xfrm>
            <a:off x="6265683" y="2219920"/>
            <a:ext cx="341309"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alpha=</a:t>
            </a:r>
            <a:endParaRPr lang="en-US" sz="780" dirty="0"/>
          </a:p>
        </p:txBody>
      </p:sp>
      <p:sp>
        <p:nvSpPr>
          <p:cNvPr id="49" name="Text 45"/>
          <p:cNvSpPr/>
          <p:nvPr/>
        </p:nvSpPr>
        <p:spPr>
          <a:xfrm>
            <a:off x="6606992" y="2219920"/>
            <a:ext cx="212610"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098658"/>
                </a:solidFill>
              </a:rPr>
              <a:t>0.75</a:t>
            </a:r>
            <a:endParaRPr lang="en-US" sz="780" dirty="0"/>
          </a:p>
        </p:txBody>
      </p:sp>
      <p:sp>
        <p:nvSpPr>
          <p:cNvPr id="50" name="Text 46"/>
          <p:cNvSpPr/>
          <p:nvPr/>
        </p:nvSpPr>
        <p:spPr>
          <a:xfrm>
            <a:off x="6819602" y="2219920"/>
            <a:ext cx="28742"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51" name="Text 47"/>
          <p:cNvSpPr/>
          <p:nvPr/>
        </p:nvSpPr>
        <p:spPr>
          <a:xfrm>
            <a:off x="6876222" y="2219920"/>
            <a:ext cx="1302172" cy="146447"/>
          </a:xfrm>
          <a:prstGeom prst="rect">
            <a:avLst/>
          </a:prstGeom>
          <a:noFill/>
          <a:ln/>
        </p:spPr>
        <p:txBody>
          <a:bodyPr wrap="none" lIns="0" tIns="0" rIns="0" bIns="0" rtlCol="0" anchor="t">
            <a:spAutoFit/>
          </a:bodyPr>
          <a:lstStyle/>
          <a:p>
            <a:pPr marL="0" indent="0" algn="l">
              <a:lnSpc>
                <a:spcPts val="1300"/>
              </a:lnSpc>
              <a:buNone/>
            </a:pPr>
            <a:r>
              <a:rPr lang="en-US" sz="780" i="1" dirty="0">
                <a:solidFill>
                  <a:srgbClr val="008000"/>
                </a:solidFill>
              </a:rPr>
              <a:t># 75% Vector, 25% Keyword</a:t>
            </a:r>
            <a:endParaRPr lang="en-US" sz="780" dirty="0"/>
          </a:p>
        </p:txBody>
      </p:sp>
      <p:sp>
        <p:nvSpPr>
          <p:cNvPr id="52" name="Shape 48"/>
          <p:cNvSpPr/>
          <p:nvPr/>
        </p:nvSpPr>
        <p:spPr>
          <a:xfrm>
            <a:off x="4893469" y="2380655"/>
            <a:ext cx="1705849" cy="160734"/>
          </a:xfrm>
          <a:prstGeom prst="rect">
            <a:avLst/>
          </a:prstGeom>
          <a:solidFill>
            <a:srgbClr val="FF4F00">
              <a:alpha val="10000"/>
            </a:srgbClr>
          </a:solidFill>
          <a:ln/>
        </p:spPr>
        <p:txBody>
          <a:bodyPr/>
          <a:lstStyle/>
          <a:p>
            <a:endParaRPr lang="ru-KZ"/>
          </a:p>
        </p:txBody>
      </p:sp>
      <p:sp>
        <p:nvSpPr>
          <p:cNvPr id="53" name="Shape 49"/>
          <p:cNvSpPr/>
          <p:nvPr/>
        </p:nvSpPr>
        <p:spPr>
          <a:xfrm>
            <a:off x="4893469" y="2527102"/>
            <a:ext cx="1705849" cy="14288"/>
          </a:xfrm>
          <a:prstGeom prst="rect">
            <a:avLst/>
          </a:prstGeom>
          <a:solidFill>
            <a:srgbClr val="FF4F00"/>
          </a:solidFill>
          <a:ln/>
        </p:spPr>
        <p:txBody>
          <a:bodyPr/>
          <a:lstStyle/>
          <a:p>
            <a:endParaRPr lang="ru-KZ"/>
          </a:p>
        </p:txBody>
      </p:sp>
      <p:sp>
        <p:nvSpPr>
          <p:cNvPr id="54" name="Text 50"/>
          <p:cNvSpPr/>
          <p:nvPr/>
        </p:nvSpPr>
        <p:spPr>
          <a:xfrm>
            <a:off x="4893469" y="2380655"/>
            <a:ext cx="641654"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fusion_type=</a:t>
            </a:r>
            <a:endParaRPr lang="en-US" sz="780" dirty="0"/>
          </a:p>
        </p:txBody>
      </p:sp>
      <p:sp>
        <p:nvSpPr>
          <p:cNvPr id="55" name="Text 51"/>
          <p:cNvSpPr/>
          <p:nvPr/>
        </p:nvSpPr>
        <p:spPr>
          <a:xfrm>
            <a:off x="5535123" y="2380655"/>
            <a:ext cx="1064196"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A31515"/>
                </a:solidFill>
              </a:rPr>
              <a:t>"relativeScoreFusion"</a:t>
            </a:r>
            <a:endParaRPr lang="en-US" sz="780" dirty="0"/>
          </a:p>
        </p:txBody>
      </p:sp>
      <p:sp>
        <p:nvSpPr>
          <p:cNvPr id="56" name="Shape 52"/>
          <p:cNvSpPr/>
          <p:nvPr/>
        </p:nvSpPr>
        <p:spPr>
          <a:xfrm>
            <a:off x="6627195" y="2380655"/>
            <a:ext cx="32147" cy="160734"/>
          </a:xfrm>
          <a:prstGeom prst="rect">
            <a:avLst/>
          </a:prstGeom>
          <a:solidFill>
            <a:srgbClr val="FF4F00">
              <a:alpha val="10000"/>
            </a:srgbClr>
          </a:solidFill>
          <a:ln/>
        </p:spPr>
        <p:txBody>
          <a:bodyPr/>
          <a:lstStyle/>
          <a:p>
            <a:endParaRPr lang="ru-KZ"/>
          </a:p>
        </p:txBody>
      </p:sp>
      <p:sp>
        <p:nvSpPr>
          <p:cNvPr id="57" name="Shape 53"/>
          <p:cNvSpPr/>
          <p:nvPr/>
        </p:nvSpPr>
        <p:spPr>
          <a:xfrm>
            <a:off x="6627195" y="2527102"/>
            <a:ext cx="32147" cy="14288"/>
          </a:xfrm>
          <a:prstGeom prst="rect">
            <a:avLst/>
          </a:prstGeom>
          <a:solidFill>
            <a:srgbClr val="FF4F00"/>
          </a:solidFill>
          <a:ln/>
        </p:spPr>
        <p:txBody>
          <a:bodyPr/>
          <a:lstStyle/>
          <a:p>
            <a:endParaRPr lang="ru-KZ"/>
          </a:p>
        </p:txBody>
      </p:sp>
      <p:sp>
        <p:nvSpPr>
          <p:cNvPr id="58" name="Text 54"/>
          <p:cNvSpPr/>
          <p:nvPr/>
        </p:nvSpPr>
        <p:spPr>
          <a:xfrm>
            <a:off x="6627195" y="2380655"/>
            <a:ext cx="32147" cy="160734"/>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a:t>
            </a:r>
            <a:endParaRPr lang="en-US" sz="780" dirty="0"/>
          </a:p>
        </p:txBody>
      </p:sp>
      <p:sp>
        <p:nvSpPr>
          <p:cNvPr id="59" name="Text 55"/>
          <p:cNvSpPr/>
          <p:nvPr/>
        </p:nvSpPr>
        <p:spPr>
          <a:xfrm>
            <a:off x="6659342" y="2380655"/>
            <a:ext cx="574904"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.with_limit(</a:t>
            </a:r>
            <a:endParaRPr lang="en-US" sz="780" dirty="0"/>
          </a:p>
        </p:txBody>
      </p:sp>
      <p:sp>
        <p:nvSpPr>
          <p:cNvPr id="60" name="Text 56"/>
          <p:cNvSpPr/>
          <p:nvPr/>
        </p:nvSpPr>
        <p:spPr>
          <a:xfrm>
            <a:off x="7234247" y="2380655"/>
            <a:ext cx="61308"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098658"/>
                </a:solidFill>
              </a:rPr>
              <a:t>5</a:t>
            </a:r>
            <a:endParaRPr lang="en-US" sz="780" dirty="0"/>
          </a:p>
        </p:txBody>
      </p:sp>
      <p:sp>
        <p:nvSpPr>
          <p:cNvPr id="61" name="Text 57"/>
          <p:cNvSpPr/>
          <p:nvPr/>
        </p:nvSpPr>
        <p:spPr>
          <a:xfrm>
            <a:off x="7295555" y="2380655"/>
            <a:ext cx="371642"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 .do() )</a:t>
            </a:r>
            <a:endParaRPr lang="en-US" sz="780" dirty="0"/>
          </a:p>
        </p:txBody>
      </p:sp>
      <p:sp>
        <p:nvSpPr>
          <p:cNvPr id="62" name="Text 58"/>
          <p:cNvSpPr/>
          <p:nvPr/>
        </p:nvSpPr>
        <p:spPr>
          <a:xfrm>
            <a:off x="7667197" y="2380655"/>
            <a:ext cx="242720"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795E26"/>
                </a:solidFill>
              </a:rPr>
              <a:t>print</a:t>
            </a:r>
            <a:endParaRPr lang="en-US" sz="780" dirty="0"/>
          </a:p>
        </p:txBody>
      </p:sp>
      <p:sp>
        <p:nvSpPr>
          <p:cNvPr id="63" name="Text 59"/>
          <p:cNvSpPr/>
          <p:nvPr/>
        </p:nvSpPr>
        <p:spPr>
          <a:xfrm>
            <a:off x="7909917" y="2380655"/>
            <a:ext cx="526907" cy="146447"/>
          </a:xfrm>
          <a:prstGeom prst="rect">
            <a:avLst/>
          </a:prstGeom>
          <a:noFill/>
          <a:ln/>
        </p:spPr>
        <p:txBody>
          <a:bodyPr wrap="none" lIns="0" tIns="0" rIns="0" bIns="0" rtlCol="0" anchor="t">
            <a:spAutoFit/>
          </a:bodyPr>
          <a:lstStyle/>
          <a:p>
            <a:pPr marL="0" indent="0" algn="l">
              <a:lnSpc>
                <a:spcPts val="1300"/>
              </a:lnSpc>
              <a:buNone/>
            </a:pPr>
            <a:r>
              <a:rPr lang="en-US" sz="780" dirty="0">
                <a:solidFill>
                  <a:srgbClr val="333333"/>
                </a:solidFill>
              </a:rPr>
              <a:t>(response)</a:t>
            </a:r>
            <a:endParaRPr lang="en-US" sz="780" dirty="0"/>
          </a:p>
        </p:txBody>
      </p:sp>
      <p:sp>
        <p:nvSpPr>
          <p:cNvPr id="64" name="Shape 60"/>
          <p:cNvSpPr/>
          <p:nvPr/>
        </p:nvSpPr>
        <p:spPr>
          <a:xfrm>
            <a:off x="4714875" y="4618434"/>
            <a:ext cx="4000500" cy="525066"/>
          </a:xfrm>
          <a:prstGeom prst="rect">
            <a:avLst/>
          </a:prstGeom>
          <a:solidFill>
            <a:srgbClr val="EFEFEF"/>
          </a:solidFill>
          <a:ln/>
        </p:spPr>
        <p:txBody>
          <a:bodyPr/>
          <a:lstStyle/>
          <a:p>
            <a:endParaRPr lang="ru-KZ"/>
          </a:p>
        </p:txBody>
      </p:sp>
      <p:sp>
        <p:nvSpPr>
          <p:cNvPr id="65" name="Shape 61"/>
          <p:cNvSpPr/>
          <p:nvPr/>
        </p:nvSpPr>
        <p:spPr>
          <a:xfrm>
            <a:off x="4714875" y="4618434"/>
            <a:ext cx="21431" cy="525066"/>
          </a:xfrm>
          <a:prstGeom prst="rect">
            <a:avLst/>
          </a:prstGeom>
          <a:solidFill>
            <a:srgbClr val="FF4F00"/>
          </a:solidFill>
          <a:ln/>
        </p:spPr>
        <p:txBody>
          <a:bodyPr/>
          <a:lstStyle/>
          <a:p>
            <a:endParaRPr lang="ru-KZ"/>
          </a:p>
        </p:txBody>
      </p:sp>
      <p:sp>
        <p:nvSpPr>
          <p:cNvPr id="66" name="Text 62"/>
          <p:cNvSpPr/>
          <p:nvPr/>
        </p:nvSpPr>
        <p:spPr>
          <a:xfrm>
            <a:off x="4714875" y="4618434"/>
            <a:ext cx="4000500" cy="525066"/>
          </a:xfrm>
          <a:prstGeom prst="rect">
            <a:avLst/>
          </a:prstGeom>
          <a:noFill/>
          <a:ln/>
        </p:spPr>
        <p:txBody>
          <a:bodyPr wrap="square" lIns="127508" tIns="127508" rIns="127508" bIns="127508" rtlCol="0" anchor="t">
            <a:spAutoFit/>
          </a:bodyPr>
          <a:lstStyle/>
          <a:p>
            <a:pPr marL="0" indent="0" algn="l">
              <a:lnSpc>
                <a:spcPts val="1100"/>
              </a:lnSpc>
              <a:buNone/>
            </a:pPr>
            <a:r>
              <a:rPr lang="en-US" sz="834" dirty="0">
                <a:solidFill>
                  <a:srgbClr val="555555"/>
                </a:solidFill>
              </a:rPr>
              <a:t>Современные векторные БД (Weaviate, Qdrant) имеют встроенный Hybrid Search. Достаточно одного вызова.</a:t>
            </a:r>
            <a:endParaRPr lang="en-US" sz="834"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428625" y="428625"/>
            <a:ext cx="8286750" cy="637580"/>
          </a:xfrm>
          <a:prstGeom prst="rect">
            <a:avLst/>
          </a:prstGeom>
          <a:solidFill>
            <a:srgbClr val="000000">
              <a:alpha val="0"/>
            </a:srgbClr>
          </a:solidFill>
          <a:ln/>
        </p:spPr>
        <p:txBody>
          <a:bodyPr/>
          <a:lstStyle/>
          <a:p>
            <a:endParaRPr lang="ru-KZ"/>
          </a:p>
        </p:txBody>
      </p:sp>
      <p:sp>
        <p:nvSpPr>
          <p:cNvPr id="5" name="Shape 1"/>
          <p:cNvSpPr/>
          <p:nvPr/>
        </p:nvSpPr>
        <p:spPr>
          <a:xfrm>
            <a:off x="428625" y="1037630"/>
            <a:ext cx="8286750" cy="28575"/>
          </a:xfrm>
          <a:prstGeom prst="rect">
            <a:avLst/>
          </a:prstGeom>
          <a:solidFill>
            <a:srgbClr val="1A1A1A"/>
          </a:solidFill>
          <a:ln/>
        </p:spPr>
        <p:txBody>
          <a:bodyPr/>
          <a:lstStyle/>
          <a:p>
            <a:endParaRPr lang="ru-KZ"/>
          </a:p>
        </p:txBody>
      </p:sp>
      <p:sp>
        <p:nvSpPr>
          <p:cNvPr id="6" name="Text 2"/>
          <p:cNvSpPr/>
          <p:nvPr/>
        </p:nvSpPr>
        <p:spPr>
          <a:xfrm>
            <a:off x="428625" y="428625"/>
            <a:ext cx="8286750" cy="466130"/>
          </a:xfrm>
          <a:prstGeom prst="rect">
            <a:avLst/>
          </a:prstGeom>
          <a:noFill/>
          <a:ln/>
        </p:spPr>
        <p:txBody>
          <a:bodyPr wrap="none" lIns="0" tIns="0" rIns="0" bIns="0" rtlCol="0" anchor="t">
            <a:spAutoFit/>
          </a:bodyPr>
          <a:lstStyle/>
          <a:p>
            <a:pPr marL="0" indent="0" algn="l">
              <a:lnSpc>
                <a:spcPts val="3200"/>
              </a:lnSpc>
              <a:buNone/>
            </a:pPr>
            <a:r>
              <a:rPr lang="en-US" sz="2436" b="1" kern="0" spc="-1" dirty="0">
                <a:solidFill>
                  <a:srgbClr val="1A1A1A"/>
                </a:solidFill>
              </a:rPr>
              <a:t>Заключение и рекомендации</a:t>
            </a:r>
            <a:endParaRPr lang="en-US" sz="2436" dirty="0"/>
          </a:p>
        </p:txBody>
      </p:sp>
      <p:sp>
        <p:nvSpPr>
          <p:cNvPr id="7" name="Text 3"/>
          <p:cNvSpPr/>
          <p:nvPr/>
        </p:nvSpPr>
        <p:spPr>
          <a:xfrm>
            <a:off x="428625" y="1394817"/>
            <a:ext cx="3857625" cy="233958"/>
          </a:xfrm>
          <a:prstGeom prst="rect">
            <a:avLst/>
          </a:prstGeom>
          <a:noFill/>
          <a:ln/>
        </p:spPr>
        <p:txBody>
          <a:bodyPr wrap="none" lIns="127508" tIns="0" rIns="0" bIns="0" rtlCol="0" anchor="t">
            <a:spAutoFit/>
          </a:bodyPr>
          <a:lstStyle/>
          <a:p>
            <a:pPr marL="0" indent="0" algn="l">
              <a:lnSpc>
                <a:spcPts val="1600"/>
              </a:lnSpc>
              <a:buNone/>
            </a:pPr>
            <a:r>
              <a:rPr lang="en-US" sz="1193" b="1" dirty="0">
                <a:solidFill>
                  <a:srgbClr val="555555"/>
                </a:solidFill>
              </a:rPr>
              <a:t>Ключевые выводы</a:t>
            </a:r>
            <a:endParaRPr lang="en-US" sz="1193" dirty="0"/>
          </a:p>
        </p:txBody>
      </p:sp>
      <p:sp>
        <p:nvSpPr>
          <p:cNvPr id="8" name="Text 4"/>
          <p:cNvSpPr/>
          <p:nvPr/>
        </p:nvSpPr>
        <p:spPr>
          <a:xfrm>
            <a:off x="428625" y="1843088"/>
            <a:ext cx="117063" cy="220005"/>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FF4F00"/>
                </a:solidFill>
              </a:rPr>
              <a:t>✓</a:t>
            </a:r>
            <a:endParaRPr lang="en-US" sz="1090" dirty="0"/>
          </a:p>
        </p:txBody>
      </p:sp>
      <p:sp>
        <p:nvSpPr>
          <p:cNvPr id="9" name="Text 5"/>
          <p:cNvSpPr/>
          <p:nvPr/>
        </p:nvSpPr>
        <p:spPr>
          <a:xfrm>
            <a:off x="642938" y="1844873"/>
            <a:ext cx="433620" cy="214313"/>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1A1A1A"/>
                </a:solidFill>
              </a:rPr>
              <a:t>BM25</a:t>
            </a:r>
            <a:endParaRPr lang="en-US" sz="1090" dirty="0"/>
          </a:p>
        </p:txBody>
      </p:sp>
      <p:sp>
        <p:nvSpPr>
          <p:cNvPr id="10" name="Text 6"/>
          <p:cNvSpPr/>
          <p:nvPr/>
        </p:nvSpPr>
        <p:spPr>
          <a:xfrm>
            <a:off x="642938" y="1844873"/>
            <a:ext cx="2906111" cy="434318"/>
          </a:xfrm>
          <a:prstGeom prst="rect">
            <a:avLst/>
          </a:prstGeom>
          <a:noFill/>
          <a:ln/>
        </p:spPr>
        <p:txBody>
          <a:bodyPr wrap="square" lIns="0" tIns="0" rIns="0" bIns="0" rtlCol="0" anchor="t">
            <a:spAutoFit/>
          </a:bodyPr>
          <a:lstStyle/>
          <a:p>
            <a:pPr marL="0" indent="0" algn="l">
              <a:lnSpc>
                <a:spcPts val="1700"/>
              </a:lnSpc>
              <a:buNone/>
            </a:pPr>
            <a:r>
              <a:rPr lang="en-US" sz="1159" dirty="0">
                <a:solidFill>
                  <a:srgbClr val="1A1A1A"/>
                </a:solidFill>
              </a:rPr>
              <a:t>незаменим для точного поиска (артикулы, имена), но слеп к смыслу.</a:t>
            </a:r>
            <a:endParaRPr lang="en-US" sz="1159" dirty="0"/>
          </a:p>
        </p:txBody>
      </p:sp>
      <p:sp>
        <p:nvSpPr>
          <p:cNvPr id="11" name="Text 7"/>
          <p:cNvSpPr/>
          <p:nvPr/>
        </p:nvSpPr>
        <p:spPr>
          <a:xfrm>
            <a:off x="428625" y="2461692"/>
            <a:ext cx="117063" cy="220005"/>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FF4F00"/>
                </a:solidFill>
              </a:rPr>
              <a:t>✓</a:t>
            </a:r>
            <a:endParaRPr lang="en-US" sz="1090" dirty="0"/>
          </a:p>
        </p:txBody>
      </p:sp>
      <p:sp>
        <p:nvSpPr>
          <p:cNvPr id="12" name="Text 8"/>
          <p:cNvSpPr/>
          <p:nvPr/>
        </p:nvSpPr>
        <p:spPr>
          <a:xfrm>
            <a:off x="642938" y="2463478"/>
            <a:ext cx="1077060" cy="214313"/>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1A1A1A"/>
                </a:solidFill>
              </a:rPr>
              <a:t>Vector Search</a:t>
            </a:r>
            <a:endParaRPr lang="en-US" sz="1090" dirty="0"/>
          </a:p>
        </p:txBody>
      </p:sp>
      <p:sp>
        <p:nvSpPr>
          <p:cNvPr id="13" name="Text 9"/>
          <p:cNvSpPr/>
          <p:nvPr/>
        </p:nvSpPr>
        <p:spPr>
          <a:xfrm>
            <a:off x="642938" y="2463478"/>
            <a:ext cx="3387840" cy="434318"/>
          </a:xfrm>
          <a:prstGeom prst="rect">
            <a:avLst/>
          </a:prstGeom>
          <a:noFill/>
          <a:ln/>
        </p:spPr>
        <p:txBody>
          <a:bodyPr wrap="square" lIns="0" tIns="0" rIns="0" bIns="0" rtlCol="0" anchor="t">
            <a:spAutoFit/>
          </a:bodyPr>
          <a:lstStyle/>
          <a:p>
            <a:pPr marL="0" indent="0" algn="l">
              <a:lnSpc>
                <a:spcPts val="1700"/>
              </a:lnSpc>
              <a:buNone/>
            </a:pPr>
            <a:r>
              <a:rPr lang="en-US" sz="1159" dirty="0">
                <a:solidFill>
                  <a:srgbClr val="1A1A1A"/>
                </a:solidFill>
              </a:rPr>
              <a:t>понимает контекст, но может галлюцинировать на специфике.</a:t>
            </a:r>
            <a:endParaRPr lang="en-US" sz="1159" dirty="0"/>
          </a:p>
        </p:txBody>
      </p:sp>
      <p:sp>
        <p:nvSpPr>
          <p:cNvPr id="14" name="Text 10"/>
          <p:cNvSpPr/>
          <p:nvPr/>
        </p:nvSpPr>
        <p:spPr>
          <a:xfrm>
            <a:off x="428625" y="3080296"/>
            <a:ext cx="117063" cy="220005"/>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FF4F00"/>
                </a:solidFill>
              </a:rPr>
              <a:t>✓</a:t>
            </a:r>
            <a:endParaRPr lang="en-US" sz="1090" dirty="0"/>
          </a:p>
        </p:txBody>
      </p:sp>
      <p:sp>
        <p:nvSpPr>
          <p:cNvPr id="15" name="Text 11"/>
          <p:cNvSpPr/>
          <p:nvPr/>
        </p:nvSpPr>
        <p:spPr>
          <a:xfrm>
            <a:off x="642938" y="3082082"/>
            <a:ext cx="1095449" cy="214313"/>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1A1A1A"/>
                </a:solidFill>
              </a:rPr>
              <a:t>Hybrid Search</a:t>
            </a:r>
            <a:endParaRPr lang="en-US" sz="1090" dirty="0"/>
          </a:p>
        </p:txBody>
      </p:sp>
      <p:sp>
        <p:nvSpPr>
          <p:cNvPr id="16" name="Text 12"/>
          <p:cNvSpPr/>
          <p:nvPr/>
        </p:nvSpPr>
        <p:spPr>
          <a:xfrm>
            <a:off x="642938" y="3082082"/>
            <a:ext cx="3478671" cy="434318"/>
          </a:xfrm>
          <a:prstGeom prst="rect">
            <a:avLst/>
          </a:prstGeom>
          <a:noFill/>
          <a:ln/>
        </p:spPr>
        <p:txBody>
          <a:bodyPr wrap="square" lIns="0" tIns="0" rIns="0" bIns="0" rtlCol="0" anchor="t">
            <a:spAutoFit/>
          </a:bodyPr>
          <a:lstStyle/>
          <a:p>
            <a:pPr marL="0" indent="0" algn="l">
              <a:lnSpc>
                <a:spcPts val="1700"/>
              </a:lnSpc>
              <a:buNone/>
            </a:pPr>
            <a:r>
              <a:rPr lang="en-US" sz="1159" dirty="0">
                <a:solidFill>
                  <a:srgbClr val="1A1A1A"/>
                </a:solidFill>
              </a:rPr>
              <a:t>объединяет сильные стороны обоих методов.</a:t>
            </a:r>
            <a:endParaRPr lang="en-US" sz="1159" dirty="0"/>
          </a:p>
        </p:txBody>
      </p:sp>
      <p:sp>
        <p:nvSpPr>
          <p:cNvPr id="17" name="Text 13"/>
          <p:cNvSpPr/>
          <p:nvPr/>
        </p:nvSpPr>
        <p:spPr>
          <a:xfrm>
            <a:off x="428625" y="3698900"/>
            <a:ext cx="117063" cy="220005"/>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FF4F00"/>
                </a:solidFill>
              </a:rPr>
              <a:t>✓</a:t>
            </a:r>
            <a:endParaRPr lang="en-US" sz="1090" dirty="0"/>
          </a:p>
        </p:txBody>
      </p:sp>
      <p:sp>
        <p:nvSpPr>
          <p:cNvPr id="18" name="Text 14"/>
          <p:cNvSpPr/>
          <p:nvPr/>
        </p:nvSpPr>
        <p:spPr>
          <a:xfrm>
            <a:off x="642938" y="3700686"/>
            <a:ext cx="293759" cy="214313"/>
          </a:xfrm>
          <a:prstGeom prst="rect">
            <a:avLst/>
          </a:prstGeom>
          <a:noFill/>
          <a:ln/>
        </p:spPr>
        <p:txBody>
          <a:bodyPr wrap="none" lIns="0" tIns="0" rIns="0" bIns="0" rtlCol="0" anchor="t">
            <a:spAutoFit/>
          </a:bodyPr>
          <a:lstStyle/>
          <a:p>
            <a:pPr marL="0" indent="0" algn="l">
              <a:lnSpc>
                <a:spcPts val="1700"/>
              </a:lnSpc>
              <a:buNone/>
            </a:pPr>
            <a:r>
              <a:rPr lang="en-US" sz="1090" b="1" dirty="0">
                <a:solidFill>
                  <a:srgbClr val="1A1A1A"/>
                </a:solidFill>
              </a:rPr>
              <a:t>RRF</a:t>
            </a:r>
            <a:endParaRPr lang="en-US" sz="1090" dirty="0"/>
          </a:p>
        </p:txBody>
      </p:sp>
      <p:sp>
        <p:nvSpPr>
          <p:cNvPr id="19" name="Text 15"/>
          <p:cNvSpPr/>
          <p:nvPr/>
        </p:nvSpPr>
        <p:spPr>
          <a:xfrm>
            <a:off x="642938" y="3700686"/>
            <a:ext cx="3435893" cy="434318"/>
          </a:xfrm>
          <a:prstGeom prst="rect">
            <a:avLst/>
          </a:prstGeom>
          <a:noFill/>
          <a:ln/>
        </p:spPr>
        <p:txBody>
          <a:bodyPr wrap="square" lIns="0" tIns="0" rIns="0" bIns="0" rtlCol="0" anchor="t">
            <a:spAutoFit/>
          </a:bodyPr>
          <a:lstStyle/>
          <a:p>
            <a:pPr marL="0" indent="0" algn="l">
              <a:lnSpc>
                <a:spcPts val="1700"/>
              </a:lnSpc>
              <a:buNone/>
            </a:pPr>
            <a:r>
              <a:rPr lang="en-US" sz="1159" dirty="0">
                <a:solidFill>
                  <a:srgbClr val="1A1A1A"/>
                </a:solidFill>
              </a:rPr>
              <a:t>— лучший алгоритм слияния, не требующий сложной нормализации скоров.</a:t>
            </a:r>
            <a:endParaRPr lang="en-US" sz="1159" dirty="0"/>
          </a:p>
        </p:txBody>
      </p:sp>
      <p:sp>
        <p:nvSpPr>
          <p:cNvPr id="20" name="Text 16"/>
          <p:cNvSpPr/>
          <p:nvPr/>
        </p:nvSpPr>
        <p:spPr>
          <a:xfrm>
            <a:off x="4857750" y="1394817"/>
            <a:ext cx="3857625" cy="233958"/>
          </a:xfrm>
          <a:prstGeom prst="rect">
            <a:avLst/>
          </a:prstGeom>
          <a:noFill/>
          <a:ln/>
        </p:spPr>
        <p:txBody>
          <a:bodyPr wrap="none" lIns="127508" tIns="0" rIns="0" bIns="0" rtlCol="0" anchor="t">
            <a:spAutoFit/>
          </a:bodyPr>
          <a:lstStyle/>
          <a:p>
            <a:pPr marL="0" indent="0" algn="l">
              <a:lnSpc>
                <a:spcPts val="1600"/>
              </a:lnSpc>
              <a:buNone/>
            </a:pPr>
            <a:r>
              <a:rPr lang="en-US" sz="1193" b="1" dirty="0">
                <a:solidFill>
                  <a:srgbClr val="555555"/>
                </a:solidFill>
              </a:rPr>
              <a:t>Best Practices</a:t>
            </a:r>
            <a:endParaRPr lang="en-US" sz="1193" dirty="0"/>
          </a:p>
        </p:txBody>
      </p:sp>
      <p:sp>
        <p:nvSpPr>
          <p:cNvPr id="21" name="Shape 17"/>
          <p:cNvSpPr/>
          <p:nvPr/>
        </p:nvSpPr>
        <p:spPr>
          <a:xfrm>
            <a:off x="4857750" y="1843088"/>
            <a:ext cx="3857625" cy="1885950"/>
          </a:xfrm>
          <a:prstGeom prst="rect">
            <a:avLst/>
          </a:prstGeom>
          <a:solidFill>
            <a:srgbClr val="FFFFFF"/>
          </a:solidFill>
          <a:ln w="9144">
            <a:solidFill>
              <a:srgbClr val="E0E0E0"/>
            </a:solidFill>
            <a:prstDash val="solid"/>
          </a:ln>
        </p:spPr>
        <p:txBody>
          <a:bodyPr/>
          <a:lstStyle/>
          <a:p>
            <a:endParaRPr lang="ru-KZ"/>
          </a:p>
        </p:txBody>
      </p:sp>
      <p:pic>
        <p:nvPicPr>
          <p:cNvPr id="22" name="Image 1" descr="preencoded.png"/>
          <p:cNvPicPr>
            <a:picLocks noChangeAspect="1"/>
          </p:cNvPicPr>
          <p:nvPr/>
        </p:nvPicPr>
        <p:blipFill>
          <a:blip r:embed="rId4"/>
          <a:stretch>
            <a:fillRect/>
          </a:stretch>
        </p:blipFill>
        <p:spPr>
          <a:xfrm>
            <a:off x="5072063" y="2085975"/>
            <a:ext cx="142875" cy="142875"/>
          </a:xfrm>
          <a:prstGeom prst="rect">
            <a:avLst/>
          </a:prstGeom>
        </p:spPr>
      </p:pic>
      <p:sp>
        <p:nvSpPr>
          <p:cNvPr id="23" name="Text 18"/>
          <p:cNvSpPr/>
          <p:nvPr/>
        </p:nvSpPr>
        <p:spPr>
          <a:xfrm>
            <a:off x="5322094" y="2057400"/>
            <a:ext cx="317896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3333"/>
                </a:solidFill>
              </a:rPr>
              <a:t>Используйте </a:t>
            </a:r>
            <a:r>
              <a:rPr lang="en-US" sz="885" b="1" dirty="0">
                <a:solidFill>
                  <a:srgbClr val="333333"/>
                </a:solidFill>
              </a:rPr>
              <a:t>Hybrid Search</a:t>
            </a:r>
            <a:r>
              <a:rPr lang="en-US" sz="942" dirty="0">
                <a:solidFill>
                  <a:srgbClr val="333333"/>
                </a:solidFill>
              </a:rPr>
              <a:t> по умолчанию для всех RAG-систем в продакшене.</a:t>
            </a:r>
            <a:endParaRPr lang="en-US" sz="942" dirty="0"/>
          </a:p>
        </p:txBody>
      </p:sp>
      <p:pic>
        <p:nvPicPr>
          <p:cNvPr id="24" name="Image 2" descr="preencoded.png"/>
          <p:cNvPicPr>
            <a:picLocks noChangeAspect="1"/>
          </p:cNvPicPr>
          <p:nvPr/>
        </p:nvPicPr>
        <p:blipFill>
          <a:blip r:embed="rId5"/>
          <a:stretch>
            <a:fillRect/>
          </a:stretch>
        </p:blipFill>
        <p:spPr>
          <a:xfrm>
            <a:off x="5072063" y="2614613"/>
            <a:ext cx="142875" cy="142875"/>
          </a:xfrm>
          <a:prstGeom prst="rect">
            <a:avLst/>
          </a:prstGeom>
        </p:spPr>
      </p:pic>
      <p:sp>
        <p:nvSpPr>
          <p:cNvPr id="25" name="Text 19"/>
          <p:cNvSpPr/>
          <p:nvPr/>
        </p:nvSpPr>
        <p:spPr>
          <a:xfrm>
            <a:off x="5322094" y="2586038"/>
            <a:ext cx="317896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3333"/>
                </a:solidFill>
              </a:rPr>
              <a:t>Начинайте с </a:t>
            </a:r>
            <a:r>
              <a:rPr lang="en-US" sz="885" b="1" dirty="0">
                <a:solidFill>
                  <a:srgbClr val="333333"/>
                </a:solidFill>
              </a:rPr>
              <a:t>Alpha = 0.75</a:t>
            </a:r>
            <a:r>
              <a:rPr lang="en-US" sz="942" dirty="0">
                <a:solidFill>
                  <a:srgbClr val="333333"/>
                </a:solidFill>
              </a:rPr>
              <a:t> (акцент на семантику) и корректируйте по метрикам.</a:t>
            </a:r>
            <a:endParaRPr lang="en-US" sz="942" dirty="0"/>
          </a:p>
        </p:txBody>
      </p:sp>
      <p:pic>
        <p:nvPicPr>
          <p:cNvPr id="26" name="Image 3" descr="preencoded.png"/>
          <p:cNvPicPr>
            <a:picLocks noChangeAspect="1"/>
          </p:cNvPicPr>
          <p:nvPr/>
        </p:nvPicPr>
        <p:blipFill>
          <a:blip r:embed="rId6"/>
          <a:stretch>
            <a:fillRect/>
          </a:stretch>
        </p:blipFill>
        <p:spPr>
          <a:xfrm>
            <a:off x="5072063" y="3143250"/>
            <a:ext cx="142875" cy="142875"/>
          </a:xfrm>
          <a:prstGeom prst="rect">
            <a:avLst/>
          </a:prstGeom>
        </p:spPr>
      </p:pic>
      <p:sp>
        <p:nvSpPr>
          <p:cNvPr id="27" name="Text 20"/>
          <p:cNvSpPr/>
          <p:nvPr/>
        </p:nvSpPr>
        <p:spPr>
          <a:xfrm>
            <a:off x="5322094" y="3114675"/>
            <a:ext cx="3178969" cy="385763"/>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333333"/>
                </a:solidFill>
              </a:rPr>
              <a:t>Добавьте </a:t>
            </a:r>
            <a:r>
              <a:rPr lang="en-US" sz="885" b="1" dirty="0">
                <a:solidFill>
                  <a:srgbClr val="333333"/>
                </a:solidFill>
              </a:rPr>
              <a:t>Re-ranking</a:t>
            </a:r>
            <a:r>
              <a:rPr lang="en-US" sz="942" dirty="0">
                <a:solidFill>
                  <a:srgbClr val="333333"/>
                </a:solidFill>
              </a:rPr>
              <a:t> (Cohere/BGE) после RRF для финальной сортировки топ-10 результатов.</a:t>
            </a:r>
            <a:endParaRPr lang="en-US" sz="942" dirty="0"/>
          </a:p>
        </p:txBody>
      </p:sp>
      <p:sp>
        <p:nvSpPr>
          <p:cNvPr id="28" name="Shape 21"/>
          <p:cNvSpPr/>
          <p:nvPr/>
        </p:nvSpPr>
        <p:spPr>
          <a:xfrm>
            <a:off x="4857750" y="4000500"/>
            <a:ext cx="3857625" cy="1403747"/>
          </a:xfrm>
          <a:prstGeom prst="rect">
            <a:avLst/>
          </a:prstGeom>
          <a:solidFill>
            <a:srgbClr val="1A1A1A"/>
          </a:solidFill>
          <a:ln/>
        </p:spPr>
        <p:txBody>
          <a:bodyPr/>
          <a:lstStyle/>
          <a:p>
            <a:endParaRPr lang="ru-KZ"/>
          </a:p>
        </p:txBody>
      </p:sp>
      <p:sp>
        <p:nvSpPr>
          <p:cNvPr id="29" name="Text 22"/>
          <p:cNvSpPr/>
          <p:nvPr/>
        </p:nvSpPr>
        <p:spPr>
          <a:xfrm>
            <a:off x="5143500" y="4286250"/>
            <a:ext cx="3286125" cy="135731"/>
          </a:xfrm>
          <a:prstGeom prst="rect">
            <a:avLst/>
          </a:prstGeom>
          <a:noFill/>
          <a:ln/>
        </p:spPr>
        <p:txBody>
          <a:bodyPr wrap="none" lIns="0" tIns="0" rIns="0" bIns="0" rtlCol="0" anchor="t">
            <a:spAutoFit/>
          </a:bodyPr>
          <a:lstStyle/>
          <a:p>
            <a:pPr marL="0" indent="0" algn="l">
              <a:lnSpc>
                <a:spcPts val="900"/>
              </a:lnSpc>
              <a:buNone/>
            </a:pPr>
            <a:r>
              <a:rPr lang="en-US" sz="683" b="1" kern="0" spc="2" dirty="0">
                <a:solidFill>
                  <a:srgbClr val="FF4F00"/>
                </a:solidFill>
              </a:rPr>
              <a:t>Следующая лекция</a:t>
            </a:r>
            <a:endParaRPr lang="en-US" sz="683" dirty="0"/>
          </a:p>
        </p:txBody>
      </p:sp>
      <p:sp>
        <p:nvSpPr>
          <p:cNvPr id="30" name="Text 23"/>
          <p:cNvSpPr/>
          <p:nvPr/>
        </p:nvSpPr>
        <p:spPr>
          <a:xfrm>
            <a:off x="5143500" y="4493419"/>
            <a:ext cx="3286125" cy="62507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FFFF"/>
                </a:solidFill>
              </a:rPr>
              <a:t>Продвинутые паттерны RAG: Agentic &amp; Graph RAG</a:t>
            </a:r>
            <a:endParaRPr lang="en-US" sz="1602" dirty="0"/>
          </a:p>
        </p:txBody>
      </p:sp>
      <p:pic>
        <p:nvPicPr>
          <p:cNvPr id="31" name="Image 4" descr="preencoded.png"/>
          <p:cNvPicPr>
            <a:picLocks noChangeAspect="1"/>
          </p:cNvPicPr>
          <p:nvPr/>
        </p:nvPicPr>
        <p:blipFill>
          <a:blip r:embed="rId7"/>
          <a:stretch>
            <a:fillRect/>
          </a:stretch>
        </p:blipFill>
        <p:spPr>
          <a:xfrm>
            <a:off x="8229600" y="4590752"/>
            <a:ext cx="200025" cy="228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2872</Words>
  <Application>Microsoft Macintosh PowerPoint</Application>
  <PresentationFormat>Экран (16:9)</PresentationFormat>
  <Paragraphs>196</Paragraphs>
  <Slides>16</Slides>
  <Notes>10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16</vt:i4>
      </vt:variant>
    </vt:vector>
  </HeadingPairs>
  <TitlesOfParts>
    <vt:vector size="19" baseType="lpstr">
      <vt:lpstr>Arial</vt:lpstr>
      <vt:lpstr>Google Sans</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Қалжанов Нұрлыхан Ерланұлы</cp:lastModifiedBy>
  <cp:revision>8</cp:revision>
  <dcterms:created xsi:type="dcterms:W3CDTF">2026-01-02T12:38:15Z</dcterms:created>
  <dcterms:modified xsi:type="dcterms:W3CDTF">2026-01-02T14:07:55Z</dcterms:modified>
</cp:coreProperties>
</file>