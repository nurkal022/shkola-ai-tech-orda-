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79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>
        <p:scale>
          <a:sx n="94" d="100"/>
          <a:sy n="94" d="100"/>
        </p:scale>
        <p:origin x="3216" y="2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61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044411"/>
            <a:ext cx="5072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Лекция 7 | Курс по ИИ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428625" y="1421243"/>
            <a:ext cx="5072063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A1A1A"/>
                </a:solidFill>
              </a:rPr>
              <a:t>Подготовка данных
и чанкинг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428625" y="3261457"/>
            <a:ext cx="50720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6" dirty="0">
                <a:solidFill>
                  <a:srgbClr val="333333"/>
                </a:solidFill>
              </a:rPr>
              <a:t>в RAG-системах</a:t>
            </a:r>
            <a:endParaRPr lang="en-US" sz="2256" dirty="0"/>
          </a:p>
        </p:txBody>
      </p:sp>
      <p:sp>
        <p:nvSpPr>
          <p:cNvPr id="6" name="Shape 3"/>
          <p:cNvSpPr/>
          <p:nvPr/>
        </p:nvSpPr>
        <p:spPr>
          <a:xfrm>
            <a:off x="5929313" y="0"/>
            <a:ext cx="3214688" cy="514350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047" y="1425764"/>
            <a:ext cx="2893219" cy="22919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Почему чанкинг критичен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466255"/>
            <a:ext cx="3143250" cy="3630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Эффективность RAG-системы зависит не только от качества моделей, но и от того, как мы подготавливаем и структурируем данные.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171950" y="1466255"/>
            <a:ext cx="4543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Качество поиска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171950" y="1771650"/>
            <a:ext cx="45434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Правильный чанкинг определяет, насколько хорошо система сможет найти релевантную информацию. Плохо подготовленные данные приводят к потере информации и фрагментированным ответам.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71950" y="2914650"/>
            <a:ext cx="4543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Баланс контекста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171950" y="3220045"/>
            <a:ext cx="45434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Модели встраивания имеют ограничение на длину контекста. Необходимо найти оптимальный баланс между сохранением смысла и эффективностью поиска.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71950" y="4148733"/>
            <a:ext cx="4543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Разнородность данных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171950" y="4454128"/>
            <a:ext cx="45434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Документы имеют разные структуры (таблицы, списки, абзацы). Универсальный подход часто неэффективен и требует адаптации.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Основные вызовы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23380"/>
            <a:ext cx="3929063" cy="9172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28625" y="1323380"/>
            <a:ext cx="42863" cy="91724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571500" y="1466255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Потеря контекста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1737717"/>
            <a:ext cx="3643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Разбиение текста может нарушить логические связи. Слишком мелкие чанки теряют смысл.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28625" y="2454939"/>
            <a:ext cx="3929063" cy="9172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428625" y="2454939"/>
            <a:ext cx="42863" cy="91724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571500" y="2597814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Граничные эффекты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571500" y="2869276"/>
            <a:ext cx="3643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Информация разделяется между чанками. Решение — использование перекрытия (overlap).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28625" y="3586497"/>
            <a:ext cx="3929063" cy="9172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428625" y="3586497"/>
            <a:ext cx="42863" cy="91724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571500" y="3729372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Разнородность структур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71500" y="4000835"/>
            <a:ext cx="3643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Текст, таблицы, код требуют разных подходов. Универсальный метод часто неэффективен.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28625" y="4718056"/>
            <a:ext cx="3929063" cy="9172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Shape 16"/>
          <p:cNvSpPr/>
          <p:nvPr/>
        </p:nvSpPr>
        <p:spPr>
          <a:xfrm>
            <a:off x="428625" y="4718056"/>
            <a:ext cx="42863" cy="91724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571500" y="4860931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Масштабируемость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571500" y="5132394"/>
            <a:ext cx="3643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Необходимы эффективные алгоритмы для обработки миллионов документов без замедления.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4786313" y="1323380"/>
            <a:ext cx="3929063" cy="357187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323380"/>
            <a:ext cx="3929063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98048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Стратегия 1: Fixed-Size Chunking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1194792"/>
            <a:ext cx="71437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Документ разбивается на фрагменты фиксированного размера (например, 512 токенов) с перекрытием. Это самый простой, быстрый и предсказуемый метод обработки данных.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843671"/>
            <a:ext cx="1230734" cy="24467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Преимущества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28625" y="2195501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Простая и быстрая реализация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456248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Предсказуемое распределение размеров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716994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Эффективно для однородных текстов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857750" y="1843671"/>
            <a:ext cx="960834" cy="244673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Недостатки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857750" y="2195501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Разрывает предложения и абзацы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857750" y="2456248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Игнорирует семантическую структуру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857750" y="2716994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Риск потери контекста на границах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1139253" y="2977740"/>
            <a:ext cx="5418944" cy="2195501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119" y="3073609"/>
            <a:ext cx="5208145" cy="2069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Стратегия 2: Семантическое разделение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323380"/>
            <a:ext cx="4286250" cy="12144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28625" y="1323380"/>
            <a:ext cx="42863" cy="12144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607219" y="1501973"/>
            <a:ext cx="392906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Суть метода:</a:t>
            </a:r>
            <a:r>
              <a:rPr lang="en-US" sz="1050" dirty="0">
                <a:solidFill>
                  <a:srgbClr val="333333"/>
                </a:solidFill>
              </a:rPr>
              <a:t> Чанки создаются на основе логической структуры документа — абзацы, предложения, заголовки. Система анализирует структуру и разбивает текст в местах естественных разрывов.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2752130"/>
            <a:ext cx="20359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Преимущества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28625" y="3053953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3055739"/>
            <a:ext cx="1653639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Сохраняет семантическое единство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3499712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71500" y="3501498"/>
            <a:ext cx="154126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Чанки содержат полные мысли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28625" y="3945471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3947257"/>
            <a:ext cx="1810410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Высокая точность поиска по смыслу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678906" y="2752130"/>
            <a:ext cx="20359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Недостатки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2678906" y="3053953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2821781" y="3055739"/>
            <a:ext cx="17450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Требует сложного парсинга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2678906" y="3319695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2821781" y="3321481"/>
            <a:ext cx="1512215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Медленнее на больших объёмах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2678906" y="3765454"/>
            <a:ext cx="48332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•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821781" y="3767240"/>
            <a:ext cx="1651211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Непредсказуемый размер чанков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28625" y="4762705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Когда использовать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28625" y="4953800"/>
            <a:ext cx="42567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Для документов с чёткой структурой: научные статьи, технические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428625" y="5128822"/>
            <a:ext cx="2687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отчёты, учебники, законодательные акты.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5143500" y="1323380"/>
            <a:ext cx="3571875" cy="357187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094" y="1501973"/>
            <a:ext cx="3214688" cy="32146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346091" y="4707731"/>
            <a:ext cx="12264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Document Structure Hierarchy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80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98048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kern="0" spc="-1" dirty="0">
                <a:solidFill>
                  <a:srgbClr val="1A1A1A"/>
                </a:solidFill>
              </a:rPr>
              <a:t>Стратегия 3: Рекурсивное разделение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1194792"/>
            <a:ext cx="38147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Суть метода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460897"/>
            <a:ext cx="381476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Иерархическое разбиение: сначала крупные логические блоки (разделы), затем подразделы, абзацы, и в конце — по размеру. Гибрид структуры и размера.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2630128"/>
            <a:ext cx="1835944" cy="22502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Преимущества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2926593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35781" y="2926593"/>
            <a:ext cx="11891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Сохраняет иерархию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313912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35781" y="3139120"/>
            <a:ext cx="12562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Адаптивность к типам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28625" y="3351647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35781" y="3351647"/>
            <a:ext cx="10254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Баланс семантики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2407444" y="2630128"/>
            <a:ext cx="1835944" cy="22502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Недостатки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407444" y="2926593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514600" y="2926593"/>
            <a:ext cx="1189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Сложная реализация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2407444" y="3139120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2514600" y="3139120"/>
            <a:ext cx="10610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Требует настройки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407444" y="3351647"/>
            <a:ext cx="42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•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514600" y="3351647"/>
            <a:ext cx="11748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Медленнее простого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428625" y="4193353"/>
            <a:ext cx="3814763" cy="71616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428625" y="4193353"/>
            <a:ext cx="28575" cy="71616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535781" y="4300510"/>
            <a:ext cx="3600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Когда использовать: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535781" y="4491605"/>
            <a:ext cx="36004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Для сложных документов с глубокой иерархией (книги, технические спецификации, отчёты).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4600575" y="1194792"/>
            <a:ext cx="4114800" cy="371475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94" y="1337667"/>
            <a:ext cx="382190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76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7692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53586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4500"/>
                </a:solidFill>
              </a:rPr>
              <a:t>04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178802" y="467916"/>
            <a:ext cx="5082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Metadata-Aware Chunking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1362670"/>
            <a:ext cx="3929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666666"/>
                </a:solidFill>
              </a:rPr>
              <a:t>Суть метода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28625" y="1625203"/>
            <a:ext cx="3929063" cy="130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86" dirty="0">
                <a:solidFill>
                  <a:srgbClr val="1A1A1A"/>
                </a:solidFill>
              </a:rPr>
              <a:t>При разделении сохраняются и используются метаданные документа (автор, дата, источник, раздел). Каждый чанк содержит контекст исходного документа.</a:t>
            </a:r>
            <a:endParaRPr lang="en-US" sz="1486" dirty="0"/>
          </a:p>
        </p:txBody>
      </p:sp>
      <p:sp>
        <p:nvSpPr>
          <p:cNvPr id="9" name="Shape 6"/>
          <p:cNvSpPr/>
          <p:nvPr/>
        </p:nvSpPr>
        <p:spPr>
          <a:xfrm>
            <a:off x="428625" y="3223617"/>
            <a:ext cx="3929063" cy="149125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642938" y="3437930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4500"/>
                </a:solidFill>
              </a:rPr>
              <a:t>Когда использовать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42938" y="3700463"/>
            <a:ext cx="350043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Идеально для корпоративных баз знаний, научных архивов и документов со сложной атрибуцией, где важна фильтрация по источнику.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0" y="1362670"/>
            <a:ext cx="36861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Преимущества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029200" y="1739503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72075" y="1739503"/>
            <a:ext cx="333713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Улучшает фильтрацию и поиск по метаданным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0" y="2019895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172075" y="2019895"/>
            <a:ext cx="30766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Помогает отследить источник информации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0" y="2300288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72075" y="2300288"/>
            <a:ext cx="313270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Позволяет применять разные стратегии для разделов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0" y="2775347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72075" y="2775347"/>
            <a:ext cx="30532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Упрощает обновление и версионирование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29200" y="3341489"/>
            <a:ext cx="36861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Недостатки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5029200" y="3718322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172075" y="3718322"/>
            <a:ext cx="35290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Требует наличия структурированных метаданных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0" y="3998714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172075" y="3998714"/>
            <a:ext cx="22604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Увеличивает объём хранилища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0" y="4279106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•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172075" y="4279106"/>
            <a:ext cx="25726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Усложняет процесс индексирования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Размер чанка: компромиссы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23380"/>
            <a:ext cx="2350294" cy="6322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Маленькие
</a:t>
            </a:r>
            <a:r>
              <a:rPr lang="en-US" sz="1050" dirty="0">
                <a:solidFill>
                  <a:srgbClr val="666666"/>
                </a:solidFill>
              </a:rPr>
              <a:t>128-256 токенов</a:t>
            </a:r>
            <a:endParaRPr lang="en-US" sz="1397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127052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650" y="2098477"/>
            <a:ext cx="185154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Точный поиск, меньше шума</a:t>
            </a:r>
            <a:endParaRPr lang="en-US" sz="942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14225"/>
            <a:ext cx="71438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5788" y="2385650"/>
            <a:ext cx="110546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Потеря контекста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701398"/>
            <a:ext cx="71438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5788" y="2672823"/>
            <a:ext cx="177812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Больше чанков для индекса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428625" y="3752255"/>
            <a:ext cx="2350294" cy="6965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8"/>
          <p:cNvSpPr/>
          <p:nvPr/>
        </p:nvSpPr>
        <p:spPr>
          <a:xfrm>
            <a:off x="535781" y="3859411"/>
            <a:ext cx="21359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Подходит для:</a:t>
            </a:r>
            <a:endParaRPr lang="en-US" sz="683" dirty="0"/>
          </a:p>
        </p:txBody>
      </p:sp>
      <p:sp>
        <p:nvSpPr>
          <p:cNvPr id="15" name="Text 9"/>
          <p:cNvSpPr/>
          <p:nvPr/>
        </p:nvSpPr>
        <p:spPr>
          <a:xfrm>
            <a:off x="535781" y="4030861"/>
            <a:ext cx="12886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FAQ, коротких ответов,</a:t>
            </a:r>
            <a:endParaRPr lang="en-US" sz="834" dirty="0"/>
          </a:p>
        </p:txBody>
      </p:sp>
      <p:sp>
        <p:nvSpPr>
          <p:cNvPr id="16" name="Text 10"/>
          <p:cNvSpPr/>
          <p:nvPr/>
        </p:nvSpPr>
        <p:spPr>
          <a:xfrm>
            <a:off x="535781" y="4186238"/>
            <a:ext cx="14454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фактологического поиска</a:t>
            </a:r>
            <a:endParaRPr lang="en-US" sz="834" dirty="0"/>
          </a:p>
        </p:txBody>
      </p:sp>
      <p:sp>
        <p:nvSpPr>
          <p:cNvPr id="17" name="Text 11"/>
          <p:cNvSpPr/>
          <p:nvPr/>
        </p:nvSpPr>
        <p:spPr>
          <a:xfrm>
            <a:off x="3286125" y="1323380"/>
            <a:ext cx="2350294" cy="6322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Средние
</a:t>
            </a:r>
            <a:r>
              <a:rPr lang="en-US" sz="1050" dirty="0">
                <a:solidFill>
                  <a:srgbClr val="666666"/>
                </a:solidFill>
              </a:rPr>
              <a:t>512-1024 токена</a:t>
            </a:r>
            <a:endParaRPr lang="en-US" sz="1397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2127052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486150" y="2098477"/>
            <a:ext cx="182299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Баланс контекста и точности</a:t>
            </a:r>
            <a:endParaRPr lang="en-US" sz="942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125" y="2414225"/>
            <a:ext cx="114300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486150" y="2385650"/>
            <a:ext cx="191608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Стандарт для многих моделей</a:t>
            </a:r>
            <a:endParaRPr lang="en-US" sz="942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125" y="2701398"/>
            <a:ext cx="71438" cy="1143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443288" y="2672823"/>
            <a:ext cx="21931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Может быть велик для простых вопросов</a:t>
            </a:r>
            <a:endParaRPr lang="en-US" sz="942" dirty="0"/>
          </a:p>
        </p:txBody>
      </p:sp>
      <p:sp>
        <p:nvSpPr>
          <p:cNvPr id="24" name="Shape 15"/>
          <p:cNvSpPr/>
          <p:nvPr/>
        </p:nvSpPr>
        <p:spPr>
          <a:xfrm>
            <a:off x="3286125" y="3752255"/>
            <a:ext cx="2350294" cy="6965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16"/>
          <p:cNvSpPr/>
          <p:nvPr/>
        </p:nvSpPr>
        <p:spPr>
          <a:xfrm>
            <a:off x="3393281" y="3859411"/>
            <a:ext cx="21359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Подходит для:</a:t>
            </a:r>
            <a:endParaRPr lang="en-US" sz="683" dirty="0"/>
          </a:p>
        </p:txBody>
      </p:sp>
      <p:sp>
        <p:nvSpPr>
          <p:cNvPr id="26" name="Text 17"/>
          <p:cNvSpPr/>
          <p:nvPr/>
        </p:nvSpPr>
        <p:spPr>
          <a:xfrm>
            <a:off x="3393281" y="4030861"/>
            <a:ext cx="17995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Большинства RAG-приложений,</a:t>
            </a:r>
            <a:endParaRPr lang="en-US" sz="834" dirty="0"/>
          </a:p>
        </p:txBody>
      </p:sp>
      <p:sp>
        <p:nvSpPr>
          <p:cNvPr id="27" name="Text 18"/>
          <p:cNvSpPr/>
          <p:nvPr/>
        </p:nvSpPr>
        <p:spPr>
          <a:xfrm>
            <a:off x="3393281" y="4186238"/>
            <a:ext cx="10699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общих документов</a:t>
            </a:r>
            <a:endParaRPr lang="en-US" sz="834" dirty="0"/>
          </a:p>
        </p:txBody>
      </p:sp>
      <p:sp>
        <p:nvSpPr>
          <p:cNvPr id="28" name="Text 19"/>
          <p:cNvSpPr/>
          <p:nvPr/>
        </p:nvSpPr>
        <p:spPr>
          <a:xfrm>
            <a:off x="6143625" y="1323380"/>
            <a:ext cx="2571750" cy="63222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Большие
</a:t>
            </a:r>
            <a:r>
              <a:rPr lang="en-US" sz="1050" dirty="0">
                <a:solidFill>
                  <a:srgbClr val="666666"/>
                </a:solidFill>
              </a:rPr>
              <a:t>2048+ токенов</a:t>
            </a:r>
            <a:endParaRPr lang="en-US" sz="1397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5" y="2127052"/>
            <a:ext cx="114300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43650" y="2098477"/>
            <a:ext cx="181515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Полный контекст, цельность</a:t>
            </a:r>
            <a:endParaRPr lang="en-US" sz="942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5" y="2414225"/>
            <a:ext cx="71438" cy="1143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300788" y="2385650"/>
            <a:ext cx="2414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Включает нерелевантную информацию</a:t>
            </a:r>
            <a:endParaRPr lang="en-US" sz="942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2881415"/>
            <a:ext cx="71438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00788" y="2852840"/>
            <a:ext cx="141396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Медленнее обработка</a:t>
            </a:r>
            <a:endParaRPr lang="en-US" sz="942" dirty="0"/>
          </a:p>
        </p:txBody>
      </p:sp>
      <p:sp>
        <p:nvSpPr>
          <p:cNvPr id="35" name="Shape 23"/>
          <p:cNvSpPr/>
          <p:nvPr/>
        </p:nvSpPr>
        <p:spPr>
          <a:xfrm>
            <a:off x="6143625" y="3752255"/>
            <a:ext cx="2571750" cy="6965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Text 24"/>
          <p:cNvSpPr/>
          <p:nvPr/>
        </p:nvSpPr>
        <p:spPr>
          <a:xfrm>
            <a:off x="6250781" y="3859411"/>
            <a:ext cx="2357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Подходит для:</a:t>
            </a:r>
            <a:endParaRPr lang="en-US" sz="683" dirty="0"/>
          </a:p>
        </p:txBody>
      </p:sp>
      <p:sp>
        <p:nvSpPr>
          <p:cNvPr id="37" name="Text 25"/>
          <p:cNvSpPr/>
          <p:nvPr/>
        </p:nvSpPr>
        <p:spPr>
          <a:xfrm>
            <a:off x="6250781" y="4030861"/>
            <a:ext cx="19722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Глубокого анализа, суммаризации,</a:t>
            </a:r>
            <a:endParaRPr lang="en-US" sz="834" dirty="0"/>
          </a:p>
        </p:txBody>
      </p:sp>
      <p:sp>
        <p:nvSpPr>
          <p:cNvPr id="38" name="Text 26"/>
          <p:cNvSpPr/>
          <p:nvPr/>
        </p:nvSpPr>
        <p:spPr>
          <a:xfrm>
            <a:off x="6250781" y="4186238"/>
            <a:ext cx="1046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сложных запросов</a:t>
            </a:r>
            <a:endParaRPr lang="en-US" sz="834" dirty="0"/>
          </a:p>
        </p:txBody>
      </p:sp>
      <p:sp>
        <p:nvSpPr>
          <p:cNvPr id="39" name="Shape 27"/>
          <p:cNvSpPr/>
          <p:nvPr/>
        </p:nvSpPr>
        <p:spPr>
          <a:xfrm>
            <a:off x="428625" y="4663083"/>
            <a:ext cx="8286750" cy="48041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0" name="Text 28"/>
          <p:cNvSpPr/>
          <p:nvPr/>
        </p:nvSpPr>
        <p:spPr>
          <a:xfrm>
            <a:off x="642938" y="4805958"/>
            <a:ext cx="12733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Рекомендация:</a:t>
            </a:r>
            <a:endParaRPr lang="en-US" sz="987" dirty="0"/>
          </a:p>
        </p:txBody>
      </p:sp>
      <p:sp>
        <p:nvSpPr>
          <p:cNvPr id="41" name="Text 29"/>
          <p:cNvSpPr/>
          <p:nvPr/>
        </p:nvSpPr>
        <p:spPr>
          <a:xfrm>
            <a:off x="2059130" y="4805958"/>
            <a:ext cx="46517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Начните со 512 токенов и экспериментируйте на вашем датасете.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Перекрытие (Overlap)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94817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Проблема и Решение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735931"/>
            <a:ext cx="38576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Информация может быть разделена между двумя чанками, что приводит к потере контекста. Решение — последующий чанк начинается со смещением назад.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8625" y="3021806"/>
            <a:ext cx="3857625" cy="1428750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642938" y="3236119"/>
            <a:ext cx="2400300" cy="26194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750094" y="3299213"/>
            <a:ext cx="6993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Чанк 1 (0-512)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2443163" y="3236119"/>
            <a:ext cx="600075" cy="261947"/>
          </a:xfrm>
          <a:prstGeom prst="rect">
            <a:avLst/>
          </a:prstGeom>
          <a:solidFill>
            <a:srgbClr val="FF4500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1157288" y="3605222"/>
            <a:ext cx="2400300" cy="26194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1264444" y="3668316"/>
            <a:ext cx="8138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Чанк 2 (384-896)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2957513" y="3605222"/>
            <a:ext cx="600075" cy="261947"/>
          </a:xfrm>
          <a:prstGeom prst="rect">
            <a:avLst/>
          </a:prstGeom>
          <a:solidFill>
            <a:srgbClr val="FF4500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1671638" y="3974325"/>
            <a:ext cx="2400300" cy="26194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1778794" y="4037419"/>
            <a:ext cx="8710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Чанк 3 (768-1280)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3471863" y="3974325"/>
            <a:ext cx="600075" cy="261947"/>
          </a:xfrm>
          <a:prstGeom prst="rect">
            <a:avLst/>
          </a:prstGeom>
          <a:solidFill>
            <a:srgbClr val="FF4500">
              <a:alpha val="4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3654921" y="4263033"/>
            <a:ext cx="55989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4500"/>
                </a:solidFill>
              </a:rPr>
              <a:t>Overlap Area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5029200" y="1394817"/>
            <a:ext cx="3686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10-20% Перекрытия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5029200" y="1644848"/>
            <a:ext cx="36861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Оптимальный баланс. Снижает потерю информации на границах без существенного дублирования.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029200" y="2183476"/>
            <a:ext cx="3686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30-50% Перекрытия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5029200" y="2433507"/>
            <a:ext cx="36861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Обеспечивает лучший контекст, но значительно увеличивает объём данных и индекс.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029200" y="2972135"/>
            <a:ext cx="3686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50%+ Перекрытия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5029200" y="3222166"/>
            <a:ext cx="36861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Избыточно. Замедляет поиск и увеличивает расходы без значительного прироста качества.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4857750" y="4159448"/>
            <a:ext cx="3857625" cy="98405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5036344" y="4338042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Рекомендация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5036344" y="4564856"/>
            <a:ext cx="3500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Используйте 10-20% перекрытия как стартовую точку для большинства задач.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Специальные случаи: Таблицы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251942"/>
            <a:ext cx="71437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Таблицы и структурированные данные требуют особого подхода. Простое разбиение по строкам может разорвать связь между заголовками и данными, делая чанки бесполезными.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2429182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1. Преобразование в текст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2750651"/>
            <a:ext cx="25717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Таблица конвертируется в описание на естественном языке ("Таблица показывает...").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3286125" y="2429182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2. Сохранение структуры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3286125" y="2750651"/>
            <a:ext cx="2571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Каждая таблица выделяется в отдельный чанк с сохранением HTML/Markdown разметки и метаданных.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143625" y="2429182"/>
            <a:ext cx="2571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3. Гибридный подход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6143625" y="2750651"/>
            <a:ext cx="2571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Создается текстовое описание для поиска (embedding), а оригинальная таблица сохраняется в метаданных для LLM.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6143625" y="3613593"/>
            <a:ext cx="882448" cy="18752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6143625" y="3613593"/>
            <a:ext cx="882448" cy="187523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Рекомендация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28625" y="4086867"/>
            <a:ext cx="8286750" cy="1491258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642938" y="4301179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Исходные данные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642938" y="4527993"/>
            <a:ext cx="3557588" cy="8358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Shape 15"/>
          <p:cNvSpPr/>
          <p:nvPr/>
        </p:nvSpPr>
        <p:spPr>
          <a:xfrm>
            <a:off x="642938" y="4527993"/>
            <a:ext cx="28575" cy="83581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642938" y="4527993"/>
            <a:ext cx="3557588" cy="8358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| Месяц | Продажи |
 |-------|---------|
 | Янв | 50,000 |
 | Фев | 55,000 |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486275" y="4707480"/>
            <a:ext cx="1714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999999"/>
                </a:solidFill>
              </a:rPr>
              <a:t>→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4943475" y="4456556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Преобразование для поиска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4943475" y="4683370"/>
            <a:ext cx="3557588" cy="5250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4943475" y="4683370"/>
            <a:ext cx="28575" cy="52506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4943475" y="4683370"/>
            <a:ext cx="3557588" cy="5250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"В январе продажи составили 50 000, в феврале 55 000. Тренд показывает рост."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Специальные случаи: Код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00075" y="1394817"/>
            <a:ext cx="43290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666666"/>
                </a:solidFill>
              </a:rPr>
              <a:t>Проблема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00075" y="1660922"/>
            <a:ext cx="432908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1A1A1A"/>
                </a:solidFill>
              </a:rPr>
              <a:t>Код имеет жесткую синтаксическую структуру. Разбиение посередине функции или класса делает фрагмент бесполезным для LLM.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4" y="2554783"/>
            <a:ext cx="45005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A1A1A"/>
                </a:solidFill>
              </a:rPr>
              <a:t>Стратегии разбиения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4" y="2797978"/>
            <a:ext cx="4500535" cy="70544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571499" y="2940853"/>
            <a:ext cx="42147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1. Синтаксическое разбиение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499" y="3171239"/>
            <a:ext cx="42147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Разделение строго по границам функций, классов и методов.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4" y="3536310"/>
            <a:ext cx="4500535" cy="88046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571499" y="3679185"/>
            <a:ext cx="42147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2. Контекстное разбиение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71499" y="3909571"/>
            <a:ext cx="4214785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Каждая функция сохраняется вместе с предшествующими комментариями и документацией.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28624" y="4434637"/>
            <a:ext cx="4500535" cy="71973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571499" y="4577512"/>
            <a:ext cx="42147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3. Иерархическое разбиение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571499" y="4807898"/>
            <a:ext cx="42147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Модуль → Класс → Метод. Сохранение пути к коду.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500660" y="1394817"/>
            <a:ext cx="3214688" cy="180915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5714972" y="1609130"/>
            <a:ext cx="27860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Инструменты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714972" y="1946672"/>
            <a:ext cx="2786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Tree-sitter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714972" y="2207419"/>
            <a:ext cx="2786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AST Analysis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714972" y="2468166"/>
            <a:ext cx="2786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LangChain CodeSplitter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714972" y="2728913"/>
            <a:ext cx="2786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LlamaIndex CodeSplitter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5693541" y="3682603"/>
            <a:ext cx="2828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Рекомендация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693541" y="3929063"/>
            <a:ext cx="2828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Для кодовых баз всегда используйте </a:t>
            </a:r>
            <a:r>
              <a:rPr lang="en-US" sz="845" dirty="0">
                <a:solidFill>
                  <a:srgbClr val="000000"/>
                </a:solidFill>
              </a:rPr>
              <a:t>AST-парсинг</a:t>
            </a:r>
            <a:r>
              <a:rPr lang="en-US" sz="942" dirty="0">
                <a:solidFill>
                  <a:srgbClr val="000000"/>
                </a:solidFill>
              </a:rPr>
              <a:t>. Никогда не используйте простое разбиение по символам.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Оценка качества чанкинга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23380"/>
            <a:ext cx="3857625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Ключевые метрики</a:t>
            </a:r>
            <a:endParaRPr lang="en-US" sz="119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860947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9876" y="1814513"/>
            <a:ext cx="36263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Релевантность (Precision)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659876" y="2044898"/>
            <a:ext cx="3626374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Какой процент найденных чанков действительно полезен для ответа?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604232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59" y="2557797"/>
            <a:ext cx="35729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Полнота (Recall)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713259" y="2788183"/>
            <a:ext cx="357299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Найдены ли все необходимые фрагменты информации?</a:t>
            </a:r>
            <a:endParaRPr lang="en-US" sz="942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347517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4375" y="3301082"/>
            <a:ext cx="32914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Уровень шума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714375" y="3531468"/>
            <a:ext cx="329148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Сколько лишней информации попадает в контекст?</a:t>
            </a:r>
            <a:endParaRPr lang="en-US" sz="942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923649"/>
            <a:ext cx="150019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4375" y="3877215"/>
            <a:ext cx="29409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Скорость поиска</a:t>
            </a:r>
            <a:endParaRPr lang="en-US" sz="987" dirty="0"/>
          </a:p>
        </p:txBody>
      </p:sp>
      <p:sp>
        <p:nvSpPr>
          <p:cNvPr id="18" name="Text 11"/>
          <p:cNvSpPr/>
          <p:nvPr/>
        </p:nvSpPr>
        <p:spPr>
          <a:xfrm>
            <a:off x="714375" y="4107600"/>
            <a:ext cx="2940937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Время извлечения чанков из векторной базы.</a:t>
            </a:r>
            <a:endParaRPr lang="en-US" sz="942" dirty="0"/>
          </a:p>
        </p:txBody>
      </p:sp>
      <p:sp>
        <p:nvSpPr>
          <p:cNvPr id="19" name="Text 12"/>
          <p:cNvSpPr/>
          <p:nvPr/>
        </p:nvSpPr>
        <p:spPr>
          <a:xfrm>
            <a:off x="4857750" y="1323380"/>
            <a:ext cx="3857625" cy="3125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Процесс тестирования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4857750" y="1814513"/>
            <a:ext cx="285750" cy="575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E0E0E0"/>
                </a:solidFill>
              </a:rPr>
              <a:t>01</a:t>
            </a:r>
            <a:endParaRPr lang="en-US" sz="1602" dirty="0"/>
          </a:p>
        </p:txBody>
      </p:sp>
      <p:sp>
        <p:nvSpPr>
          <p:cNvPr id="21" name="Text 14"/>
          <p:cNvSpPr/>
          <p:nvPr/>
        </p:nvSpPr>
        <p:spPr>
          <a:xfrm>
            <a:off x="5286375" y="1814513"/>
            <a:ext cx="3429000" cy="575770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Создание Golden Dataset</a:t>
            </a:r>
            <a:r>
              <a:rPr lang="en-US" sz="942" dirty="0">
                <a:solidFill>
                  <a:srgbClr val="333333"/>
                </a:solidFill>
              </a:rPr>
              <a:t>
 Подготовьте набор пар "Вопрос — Идеальный ответ" и ссылки на исходные документы.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4857750" y="2568876"/>
            <a:ext cx="285750" cy="575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E0E0E0"/>
                </a:solidFill>
              </a:rPr>
              <a:t>02</a:t>
            </a:r>
            <a:endParaRPr lang="en-US" sz="1602" dirty="0"/>
          </a:p>
        </p:txBody>
      </p:sp>
      <p:sp>
        <p:nvSpPr>
          <p:cNvPr id="23" name="Text 16"/>
          <p:cNvSpPr/>
          <p:nvPr/>
        </p:nvSpPr>
        <p:spPr>
          <a:xfrm>
            <a:off x="5286375" y="2568876"/>
            <a:ext cx="3429000" cy="575770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Проверка Retrieval</a:t>
            </a:r>
            <a:r>
              <a:rPr lang="en-US" sz="942" dirty="0">
                <a:solidFill>
                  <a:srgbClr val="333333"/>
                </a:solidFill>
              </a:rPr>
              <a:t>
 Запустите поиск и проверьте, попадают ли правильные чанки в топ выдачи (Top-K).</a:t>
            </a:r>
            <a:endParaRPr lang="en-US" sz="885" dirty="0"/>
          </a:p>
        </p:txBody>
      </p:sp>
      <p:sp>
        <p:nvSpPr>
          <p:cNvPr id="24" name="Text 17"/>
          <p:cNvSpPr/>
          <p:nvPr/>
        </p:nvSpPr>
        <p:spPr>
          <a:xfrm>
            <a:off x="4857750" y="3323239"/>
            <a:ext cx="285750" cy="575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E0E0E0"/>
                </a:solidFill>
              </a:rPr>
              <a:t>03</a:t>
            </a:r>
            <a:endParaRPr lang="en-US" sz="1602" dirty="0"/>
          </a:p>
        </p:txBody>
      </p:sp>
      <p:sp>
        <p:nvSpPr>
          <p:cNvPr id="25" name="Text 18"/>
          <p:cNvSpPr/>
          <p:nvPr/>
        </p:nvSpPr>
        <p:spPr>
          <a:xfrm>
            <a:off x="5286375" y="3323239"/>
            <a:ext cx="3429000" cy="575770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Сравнение стратегий</a:t>
            </a:r>
            <a:r>
              <a:rPr lang="en-US" sz="942" dirty="0">
                <a:solidFill>
                  <a:srgbClr val="333333"/>
                </a:solidFill>
              </a:rPr>
              <a:t>
 Протестируйте разные размеры (256 vs 512) и методы (Fixed vs Semantic) на одних вопросах.</a:t>
            </a:r>
            <a:endParaRPr lang="en-US" sz="885" dirty="0"/>
          </a:p>
        </p:txBody>
      </p:sp>
      <p:sp>
        <p:nvSpPr>
          <p:cNvPr id="26" name="Shape 19"/>
          <p:cNvSpPr/>
          <p:nvPr/>
        </p:nvSpPr>
        <p:spPr>
          <a:xfrm>
            <a:off x="428625" y="4453347"/>
            <a:ext cx="8286750" cy="569714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Text 20"/>
          <p:cNvSpPr/>
          <p:nvPr/>
        </p:nvSpPr>
        <p:spPr>
          <a:xfrm>
            <a:off x="571500" y="4660516"/>
            <a:ext cx="14619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Инструменты оценки:</a:t>
            </a:r>
            <a:endParaRPr lang="en-US" sz="784" dirty="0"/>
          </a:p>
        </p:txBody>
      </p:sp>
      <p:sp>
        <p:nvSpPr>
          <p:cNvPr id="28" name="Shape 21"/>
          <p:cNvSpPr/>
          <p:nvPr/>
        </p:nvSpPr>
        <p:spPr>
          <a:xfrm>
            <a:off x="2247714" y="4596222"/>
            <a:ext cx="567286" cy="283964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2"/>
          <p:cNvSpPr/>
          <p:nvPr/>
        </p:nvSpPr>
        <p:spPr>
          <a:xfrm>
            <a:off x="2247714" y="4596222"/>
            <a:ext cx="567286" cy="28396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Ragas</a:t>
            </a:r>
            <a:endParaRPr lang="en-US" sz="834" dirty="0"/>
          </a:p>
        </p:txBody>
      </p:sp>
      <p:sp>
        <p:nvSpPr>
          <p:cNvPr id="30" name="Shape 23"/>
          <p:cNvSpPr/>
          <p:nvPr/>
        </p:nvSpPr>
        <p:spPr>
          <a:xfrm>
            <a:off x="3015025" y="4596222"/>
            <a:ext cx="1459976" cy="283964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4"/>
          <p:cNvSpPr/>
          <p:nvPr/>
        </p:nvSpPr>
        <p:spPr>
          <a:xfrm>
            <a:off x="3015025" y="4596222"/>
            <a:ext cx="1459976" cy="28396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LlamaIndex Evaluation</a:t>
            </a:r>
            <a:endParaRPr lang="en-US" sz="834" dirty="0"/>
          </a:p>
        </p:txBody>
      </p:sp>
      <p:sp>
        <p:nvSpPr>
          <p:cNvPr id="32" name="Shape 25"/>
          <p:cNvSpPr/>
          <p:nvPr/>
        </p:nvSpPr>
        <p:spPr>
          <a:xfrm>
            <a:off x="4675026" y="4596222"/>
            <a:ext cx="668331" cy="283964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26"/>
          <p:cNvSpPr/>
          <p:nvPr/>
        </p:nvSpPr>
        <p:spPr>
          <a:xfrm>
            <a:off x="4675026" y="4596222"/>
            <a:ext cx="668331" cy="28396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TruLens</a:t>
            </a:r>
            <a:endParaRPr lang="en-US" sz="83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Инструменты и библиотеки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00075" y="1251942"/>
            <a:ext cx="44148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LangChain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600075" y="1501973"/>
            <a:ext cx="44148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Встроенные разделители (Character, Recursive) и интеграции.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00075" y="1824865"/>
            <a:ext cx="44148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LlamaIndex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600075" y="2074897"/>
            <a:ext cx="44148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Продвинутые стратегии с семантическим анализом узлов.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600075" y="2397789"/>
            <a:ext cx="44148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Unstructured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600075" y="2647820"/>
            <a:ext cx="441483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Обработка сложных форматов (PDF, HTML, Word) перед чанкингом.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5" y="3473648"/>
            <a:ext cx="4586288" cy="163591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Shape 10"/>
          <p:cNvSpPr/>
          <p:nvPr/>
        </p:nvSpPr>
        <p:spPr>
          <a:xfrm>
            <a:off x="3950940" y="3387923"/>
            <a:ext cx="921097" cy="157163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3950940" y="3387923"/>
            <a:ext cx="921097" cy="157163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Python Example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571500" y="3616523"/>
            <a:ext cx="4300538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from langchain.text_splitter import RecursiveCharacterTextSplitter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splitter = RecursiveCharacterTextSplitter(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    chunk_size=512,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    chunk_overlap=50,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    separators=["\n\n", "\n", " ", ""]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)</a:t>
            </a: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endParaRPr lang="en-US" sz="727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chunks = splitter.split_text(document)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5372100" y="1251942"/>
            <a:ext cx="3343275" cy="3857625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1394817"/>
            <a:ext cx="305752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Best Practices и рекомендации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251942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50094" y="1282303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Начните с простого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50094" y="1512689"/>
            <a:ext cx="367903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Используйте фиксированный размер (512 токенов) с 10-20% перекрытием как базу.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025588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50094" y="2055949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Учитывайте структуру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50094" y="2286335"/>
            <a:ext cx="367903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Если документ структурирован, используйте семантическое разделение.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279923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03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750094" y="2829595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Сохраняйте метаданные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50094" y="3059981"/>
            <a:ext cx="367903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Всегда прикрепляйте источник, дату и контекст к каждому чанку.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714875" y="1251942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04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036344" y="1282303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Специальные случаи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5036344" y="1512689"/>
            <a:ext cx="367903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Таблицы и код требуют отдельных стратегий (AST, гибридный подход).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714875" y="2025588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05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5036344" y="2055949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Оценивайте качество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036344" y="2286335"/>
            <a:ext cx="367903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Регулярно измеряйте Precision и Recall на тестовых вопросах.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714875" y="279923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06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5036344" y="2829595"/>
            <a:ext cx="36790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Экспериментируйте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36344" y="3059981"/>
            <a:ext cx="367903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Нет универсального решения. Тестируйте разные параметры на ваших данных.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428625" y="3715755"/>
            <a:ext cx="8286750" cy="3836696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3787192"/>
            <a:ext cx="8143875" cy="36938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Практический пример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05496"/>
            <a:ext cx="2881945" cy="38933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428625" y="1105496"/>
            <a:ext cx="2881945" cy="38933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Задача: Чанкинг научной статьи (10 стр.)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1637706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85813" y="1668067"/>
            <a:ext cx="4051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Анализ структуры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85813" y="1898452"/>
            <a:ext cx="4051706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Выделение разделов: Аннотация, Введение, Методология, Результаты.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2418495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02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85813" y="2448856"/>
            <a:ext cx="4051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Выбор стратегии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85813" y="2679242"/>
            <a:ext cx="4051706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Рекурсивное разделение (Recursive Chunking) для сохранения иерархии.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28625" y="3199285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03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785813" y="3229646"/>
            <a:ext cx="4051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Параметры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785813" y="3460032"/>
            <a:ext cx="4051706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Размер: 512 токенов. Перекрытие: 50 токенов. Разделители: Абзацы (\n\n).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28625" y="398007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04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85813" y="4010435"/>
            <a:ext cx="4051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Метаданные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785813" y="4240821"/>
            <a:ext cx="4051706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Добавление к каждому чанку: Название раздела, Номер страницы.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28625" y="4580484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05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785813" y="4610845"/>
            <a:ext cx="40517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Результат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785813" y="4841231"/>
            <a:ext cx="405170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~20 семантически цельных чанков, готовых к точному поиску.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5266144" y="1251942"/>
            <a:ext cx="3449231" cy="38576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34" y="1394817"/>
            <a:ext cx="3155166" cy="334506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214114" y="4811316"/>
            <a:ext cx="15615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Data Flow Visualization</a:t>
            </a:r>
            <a:endParaRPr lang="en-US" sz="78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Заключение и следующие шаги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1394817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FF4500"/>
                </a:solidFill>
              </a:rPr>
              <a:t>Ключевые выводы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1843088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■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642938" y="1809155"/>
            <a:ext cx="3463407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Чанкинг — фундамент RAG. Качество поиска напрямую зависит от стратегии разделения.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28625" y="2425973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■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642938" y="2392040"/>
            <a:ext cx="3472839" cy="65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Нет универсального решения. Оптимальная стратегия зависит от структуры ваших документов.</a:t>
            </a:r>
            <a:endParaRPr lang="en-US" sz="1159" dirty="0"/>
          </a:p>
        </p:txBody>
      </p:sp>
      <p:sp>
        <p:nvSpPr>
          <p:cNvPr id="11" name="Text 8"/>
          <p:cNvSpPr/>
          <p:nvPr/>
        </p:nvSpPr>
        <p:spPr>
          <a:xfrm>
            <a:off x="428625" y="3228863"/>
            <a:ext cx="1000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■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42938" y="3194931"/>
            <a:ext cx="2885210" cy="654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Баланс критичен. Необходимо найти компромисс между размером чанка, перекрытием и семантикой.</a:t>
            </a:r>
            <a:endParaRPr lang="en-US" sz="1159" dirty="0"/>
          </a:p>
        </p:txBody>
      </p:sp>
      <p:sp>
        <p:nvSpPr>
          <p:cNvPr id="26" name="Shape 23"/>
          <p:cNvSpPr/>
          <p:nvPr/>
        </p:nvSpPr>
        <p:spPr>
          <a:xfrm>
            <a:off x="478631" y="4067473"/>
            <a:ext cx="8286750" cy="105906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4672013"/>
            <a:ext cx="357188" cy="28575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214438" y="4496098"/>
            <a:ext cx="7286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Практическое задание</a:t>
            </a:r>
            <a:endParaRPr lang="en-US" sz="987" dirty="0"/>
          </a:p>
        </p:txBody>
      </p:sp>
      <p:sp>
        <p:nvSpPr>
          <p:cNvPr id="29" name="Text 25"/>
          <p:cNvSpPr/>
          <p:nvPr/>
        </p:nvSpPr>
        <p:spPr>
          <a:xfrm>
            <a:off x="1214438" y="4726484"/>
            <a:ext cx="7286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Возьмите ваш датасет и протестируйте 3 разные стратегии чанкинга. Сравните качество поиска на 10 тестовых вопросах.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68C26-678A-FFE2-82AC-267EC0C068D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137710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текстовых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3A6D6E-C9B9-827C-CCE7-AACC7C7FB6D0}"/>
              </a:ext>
            </a:extLst>
          </p:cNvPr>
          <p:cNvSpPr txBox="1">
            <a:spLocks/>
          </p:cNvSpPr>
          <p:nvPr/>
        </p:nvSpPr>
        <p:spPr>
          <a:xfrm>
            <a:off x="391539" y="1377109"/>
            <a:ext cx="8588604" cy="4059663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подготовки (предобработки) текстовых данных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приведение к одному регистру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«нетекстовой» информации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пунктуации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токенизация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стоп-слов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редких и частых слов</a:t>
            </a: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стемминг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лемматизация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Times New Roman" panose="02020603050405020304" pitchFamily="18" charset="0"/>
              <a:buChar char="–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векторизация</a:t>
            </a:r>
          </a:p>
        </p:txBody>
      </p:sp>
    </p:spTree>
    <p:extLst>
      <p:ext uri="{BB962C8B-B14F-4D97-AF65-F5344CB8AC3E}">
        <p14:creationId xmlns:p14="http://schemas.microsoft.com/office/powerpoint/2010/main" val="3428407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9BBCE-C515-6C72-1D77-C3FD94D53A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пунктуации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5700CF-6D16-23CF-FF2A-679763A2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70" y="1296184"/>
            <a:ext cx="6537748" cy="384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55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48AA2-3CAE-5DA3-2B28-615820E05E46}"/>
              </a:ext>
            </a:extLst>
          </p:cNvPr>
          <p:cNvSpPr>
            <a:spLocks noGrp="1"/>
          </p:cNvSpPr>
          <p:nvPr/>
        </p:nvSpPr>
        <p:spPr>
          <a:xfrm>
            <a:off x="434014" y="0"/>
            <a:ext cx="1051560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 и пунктуация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BC93BF-61B9-48B3-37EB-DCE7CD872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69" y="1194251"/>
            <a:ext cx="6651368" cy="394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64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5D02B-12D5-BC3D-38A4-AE804695A3FA}"/>
              </a:ext>
            </a:extLst>
          </p:cNvPr>
          <p:cNvSpPr>
            <a:spLocks noGrp="1"/>
          </p:cNvSpPr>
          <p:nvPr/>
        </p:nvSpPr>
        <p:spPr>
          <a:xfrm>
            <a:off x="936434" y="0"/>
            <a:ext cx="1051560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ru-RU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Лемматизация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стемминг</a:t>
            </a:r>
            <a:endParaRPr lang="ru-RU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BADEB1-48E0-0971-BF33-8F7C19AE0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11" y="1181543"/>
            <a:ext cx="6828896" cy="393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80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8F3F1-CB34-9FE1-72C2-2C59CBD5D6D7}"/>
              </a:ext>
            </a:extLst>
          </p:cNvPr>
          <p:cNvSpPr txBox="1">
            <a:spLocks/>
          </p:cNvSpPr>
          <p:nvPr/>
        </p:nvSpPr>
        <p:spPr>
          <a:xfrm>
            <a:off x="-858398" y="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словаря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6AF9A2-9750-65E1-020A-1606EFBE7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175" y="886079"/>
            <a:ext cx="6538182" cy="425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57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7D77D-4AFB-2148-78A9-B4DDE1C03C80}"/>
              </a:ext>
            </a:extLst>
          </p:cNvPr>
          <p:cNvSpPr txBox="1">
            <a:spLocks/>
          </p:cNvSpPr>
          <p:nvPr/>
        </p:nvSpPr>
        <p:spPr>
          <a:xfrm>
            <a:off x="-770263" y="0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словаря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B1D280-E13A-4639-872F-3A318A18F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939" y="861247"/>
            <a:ext cx="7047265" cy="428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44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0FEF7FB-B946-D1D5-81AC-6C8113F99D24}"/>
              </a:ext>
            </a:extLst>
          </p:cNvPr>
          <p:cNvSpPr/>
          <p:nvPr/>
        </p:nvSpPr>
        <p:spPr>
          <a:xfrm>
            <a:off x="5680097" y="2327556"/>
            <a:ext cx="3339504" cy="2815943"/>
          </a:xfrm>
          <a:custGeom>
            <a:avLst/>
            <a:gdLst/>
            <a:ahLst/>
            <a:cxnLst/>
            <a:rect l="l" t="t" r="r" b="b"/>
            <a:pathLst>
              <a:path w="6675782" h="5303020">
                <a:moveTo>
                  <a:pt x="0" y="0"/>
                </a:moveTo>
                <a:lnTo>
                  <a:pt x="6675782" y="0"/>
                </a:lnTo>
                <a:lnTo>
                  <a:pt x="6675782" y="5303020"/>
                </a:lnTo>
                <a:lnTo>
                  <a:pt x="0" y="5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99" t="-2472" r="-7926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54B9D590-4029-0932-9F7C-6A46517DF047}"/>
              </a:ext>
            </a:extLst>
          </p:cNvPr>
          <p:cNvSpPr/>
          <p:nvPr/>
        </p:nvSpPr>
        <p:spPr>
          <a:xfrm>
            <a:off x="124399" y="2327557"/>
            <a:ext cx="3346980" cy="2815943"/>
          </a:xfrm>
          <a:custGeom>
            <a:avLst/>
            <a:gdLst/>
            <a:ahLst/>
            <a:cxnLst/>
            <a:rect l="l" t="t" r="r" b="b"/>
            <a:pathLst>
              <a:path w="6690726" h="5303020">
                <a:moveTo>
                  <a:pt x="0" y="0"/>
                </a:moveTo>
                <a:lnTo>
                  <a:pt x="6690726" y="0"/>
                </a:lnTo>
                <a:lnTo>
                  <a:pt x="6690726" y="5303020"/>
                </a:lnTo>
                <a:lnTo>
                  <a:pt x="0" y="5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26388F7-2E4D-19F9-201A-CCC29EDDAE01}"/>
              </a:ext>
            </a:extLst>
          </p:cNvPr>
          <p:cNvSpPr txBox="1"/>
          <p:nvPr/>
        </p:nvSpPr>
        <p:spPr>
          <a:xfrm>
            <a:off x="5486400" y="246349"/>
            <a:ext cx="3468137" cy="58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Лемматизация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901AE4C6-E218-BEAA-7D52-0A5770DBE515}"/>
              </a:ext>
            </a:extLst>
          </p:cNvPr>
          <p:cNvSpPr txBox="1"/>
          <p:nvPr/>
        </p:nvSpPr>
        <p:spPr>
          <a:xfrm>
            <a:off x="363557" y="246349"/>
            <a:ext cx="2454192" cy="58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Стемминг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02119347-2EA6-95E4-FB6C-BC853B126B3D}"/>
              </a:ext>
            </a:extLst>
          </p:cNvPr>
          <p:cNvSpPr txBox="1"/>
          <p:nvPr/>
        </p:nvSpPr>
        <p:spPr>
          <a:xfrm>
            <a:off x="0" y="1279968"/>
            <a:ext cx="3346980" cy="866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6" dirty="0" err="1">
                <a:solidFill>
                  <a:srgbClr val="000000"/>
                </a:solidFill>
                <a:latin typeface="Open Sans"/>
              </a:rPr>
              <a:t>Урезает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слово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до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их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основ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, не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всегда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оставляя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действительные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слова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.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8E8A5824-7C83-D6B7-2D6E-589820D919DB}"/>
              </a:ext>
            </a:extLst>
          </p:cNvPr>
          <p:cNvSpPr txBox="1"/>
          <p:nvPr/>
        </p:nvSpPr>
        <p:spPr>
          <a:xfrm>
            <a:off x="5486400" y="1006510"/>
            <a:ext cx="3726898" cy="1161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6" dirty="0" err="1">
                <a:solidFill>
                  <a:srgbClr val="000000"/>
                </a:solidFill>
                <a:latin typeface="Open Sans"/>
              </a:rPr>
              <a:t>Учитывает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контекст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и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преобразует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слово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в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его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значимую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базовую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форму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,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которая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называется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леммой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0907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5EE6B6F-B682-B041-506D-E5F4FAC3B227}"/>
              </a:ext>
            </a:extLst>
          </p:cNvPr>
          <p:cNvSpPr/>
          <p:nvPr/>
        </p:nvSpPr>
        <p:spPr>
          <a:xfrm>
            <a:off x="292634" y="2372970"/>
            <a:ext cx="1765050" cy="460112"/>
          </a:xfrm>
          <a:custGeom>
            <a:avLst/>
            <a:gdLst/>
            <a:ahLst/>
            <a:cxnLst/>
            <a:rect l="l" t="t" r="r" b="b"/>
            <a:pathLst>
              <a:path w="3042299" h="819394">
                <a:moveTo>
                  <a:pt x="0" y="0"/>
                </a:moveTo>
                <a:lnTo>
                  <a:pt x="3042299" y="0"/>
                </a:lnTo>
                <a:lnTo>
                  <a:pt x="3042299" y="819394"/>
                </a:lnTo>
                <a:lnTo>
                  <a:pt x="0" y="819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02" t="-23502" r="-23652" b="-31337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1A275223-C306-E5B8-1353-60AE4EDF2923}"/>
              </a:ext>
            </a:extLst>
          </p:cNvPr>
          <p:cNvSpPr/>
          <p:nvPr/>
        </p:nvSpPr>
        <p:spPr>
          <a:xfrm>
            <a:off x="-77189" y="3070723"/>
            <a:ext cx="9298378" cy="2077272"/>
          </a:xfrm>
          <a:custGeom>
            <a:avLst/>
            <a:gdLst/>
            <a:ahLst/>
            <a:cxnLst/>
            <a:rect l="l" t="t" r="r" b="b"/>
            <a:pathLst>
              <a:path w="16026990" h="3699326">
                <a:moveTo>
                  <a:pt x="0" y="0"/>
                </a:moveTo>
                <a:lnTo>
                  <a:pt x="16026990" y="0"/>
                </a:lnTo>
                <a:lnTo>
                  <a:pt x="16026990" y="3699326"/>
                </a:lnTo>
                <a:lnTo>
                  <a:pt x="0" y="3699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8" b="-1529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EBF6DD19-93AA-615E-35F0-6E743FDAC491}"/>
              </a:ext>
            </a:extLst>
          </p:cNvPr>
          <p:cNvSpPr/>
          <p:nvPr/>
        </p:nvSpPr>
        <p:spPr>
          <a:xfrm>
            <a:off x="2573934" y="2499591"/>
            <a:ext cx="6354970" cy="246807"/>
          </a:xfrm>
          <a:custGeom>
            <a:avLst/>
            <a:gdLst/>
            <a:ahLst/>
            <a:cxnLst/>
            <a:rect l="l" t="t" r="r" b="b"/>
            <a:pathLst>
              <a:path w="10953635" h="439528">
                <a:moveTo>
                  <a:pt x="0" y="0"/>
                </a:moveTo>
                <a:lnTo>
                  <a:pt x="10953635" y="0"/>
                </a:lnTo>
                <a:lnTo>
                  <a:pt x="10953635" y="439528"/>
                </a:lnTo>
                <a:lnTo>
                  <a:pt x="0" y="439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651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C208FD7-481B-D54D-1C97-A6DE059B6883}"/>
              </a:ext>
            </a:extLst>
          </p:cNvPr>
          <p:cNvSpPr txBox="1"/>
          <p:nvPr/>
        </p:nvSpPr>
        <p:spPr>
          <a:xfrm>
            <a:off x="539827" y="229966"/>
            <a:ext cx="8193829" cy="1842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Подготовка</a:t>
            </a:r>
            <a:r>
              <a:rPr lang="en-US" sz="34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текста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  <a:p>
            <a:pPr algn="ctr">
              <a:lnSpc>
                <a:spcPts val="4853"/>
              </a:lnSpc>
            </a:pPr>
            <a:r>
              <a:rPr lang="en-US" sz="3466" dirty="0">
                <a:solidFill>
                  <a:srgbClr val="000000"/>
                </a:solidFill>
                <a:latin typeface="Open Sans Bold"/>
              </a:rPr>
              <a:t> к </a:t>
            </a: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стеммингу</a:t>
            </a:r>
            <a:r>
              <a:rPr lang="en-US" sz="3466" dirty="0">
                <a:solidFill>
                  <a:srgbClr val="000000"/>
                </a:solidFill>
                <a:latin typeface="Open Sans Bold"/>
              </a:rPr>
              <a:t>/</a:t>
            </a: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лемматизации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  <a:p>
            <a:pPr algn="ctr">
              <a:lnSpc>
                <a:spcPts val="4853"/>
              </a:lnSpc>
            </a:pPr>
            <a:endParaRPr lang="en-US" sz="34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10246567-CCA0-8069-8144-22E5422D5D96}"/>
              </a:ext>
            </a:extLst>
          </p:cNvPr>
          <p:cNvSpPr txBox="1"/>
          <p:nvPr/>
        </p:nvSpPr>
        <p:spPr>
          <a:xfrm>
            <a:off x="2919470" y="2014306"/>
            <a:ext cx="3643891" cy="382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266" dirty="0" err="1">
                <a:solidFill>
                  <a:srgbClr val="000000"/>
                </a:solidFill>
                <a:latin typeface="Open Sans Bold"/>
              </a:rPr>
              <a:t>Токенизация</a:t>
            </a:r>
            <a:r>
              <a:rPr lang="en-US" sz="22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2266" dirty="0" err="1">
                <a:solidFill>
                  <a:srgbClr val="000000"/>
                </a:solidFill>
                <a:latin typeface="Open Sans Bold"/>
              </a:rPr>
              <a:t>текста</a:t>
            </a:r>
            <a:endParaRPr lang="en-US" sz="2266" dirty="0">
              <a:solidFill>
                <a:srgbClr val="000000"/>
              </a:solidFill>
              <a:latin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908885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4667ADD1-FF41-A097-5275-124AD6803934}"/>
              </a:ext>
            </a:extLst>
          </p:cNvPr>
          <p:cNvSpPr/>
          <p:nvPr/>
        </p:nvSpPr>
        <p:spPr>
          <a:xfrm>
            <a:off x="3094709" y="2225794"/>
            <a:ext cx="6049291" cy="380697"/>
          </a:xfrm>
          <a:custGeom>
            <a:avLst/>
            <a:gdLst/>
            <a:ahLst/>
            <a:cxnLst/>
            <a:rect l="l" t="t" r="r" b="b"/>
            <a:pathLst>
              <a:path w="9073936" h="571046">
                <a:moveTo>
                  <a:pt x="0" y="0"/>
                </a:moveTo>
                <a:lnTo>
                  <a:pt x="9073936" y="0"/>
                </a:lnTo>
                <a:lnTo>
                  <a:pt x="9073936" y="571046"/>
                </a:lnTo>
                <a:lnTo>
                  <a:pt x="0" y="57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420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CC24910E-5ED5-E1A0-C08B-53E88F49A546}"/>
              </a:ext>
            </a:extLst>
          </p:cNvPr>
          <p:cNvSpPr/>
          <p:nvPr/>
        </p:nvSpPr>
        <p:spPr>
          <a:xfrm>
            <a:off x="21607" y="3486839"/>
            <a:ext cx="9122393" cy="1656661"/>
          </a:xfrm>
          <a:custGeom>
            <a:avLst/>
            <a:gdLst/>
            <a:ahLst/>
            <a:cxnLst/>
            <a:rect l="l" t="t" r="r" b="b"/>
            <a:pathLst>
              <a:path w="16586722" h="3317455">
                <a:moveTo>
                  <a:pt x="0" y="0"/>
                </a:moveTo>
                <a:lnTo>
                  <a:pt x="16586722" y="0"/>
                </a:lnTo>
                <a:lnTo>
                  <a:pt x="16586722" y="3317455"/>
                </a:lnTo>
                <a:lnTo>
                  <a:pt x="0" y="3317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2" r="-562" b="-1791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44045AF2-D5D0-F4C2-7EBA-F7436475B350}"/>
              </a:ext>
            </a:extLst>
          </p:cNvPr>
          <p:cNvSpPr/>
          <p:nvPr/>
        </p:nvSpPr>
        <p:spPr>
          <a:xfrm>
            <a:off x="21607" y="2691314"/>
            <a:ext cx="4550393" cy="571547"/>
          </a:xfrm>
          <a:custGeom>
            <a:avLst/>
            <a:gdLst/>
            <a:ahLst/>
            <a:cxnLst/>
            <a:rect l="l" t="t" r="r" b="b"/>
            <a:pathLst>
              <a:path w="6825590" h="857321">
                <a:moveTo>
                  <a:pt x="0" y="0"/>
                </a:moveTo>
                <a:lnTo>
                  <a:pt x="6825591" y="0"/>
                </a:lnTo>
                <a:lnTo>
                  <a:pt x="6825591" y="857320"/>
                </a:lnTo>
                <a:lnTo>
                  <a:pt x="0" y="85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9F97197-D57F-914E-2502-2D9746B54EF8}"/>
              </a:ext>
            </a:extLst>
          </p:cNvPr>
          <p:cNvSpPr txBox="1"/>
          <p:nvPr/>
        </p:nvSpPr>
        <p:spPr>
          <a:xfrm>
            <a:off x="1" y="229965"/>
            <a:ext cx="9499600" cy="1829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2800" dirty="0" err="1">
                <a:solidFill>
                  <a:srgbClr val="000000"/>
                </a:solidFill>
                <a:latin typeface="Open Sans Bold"/>
              </a:rPr>
              <a:t>Подготовка</a:t>
            </a:r>
            <a:r>
              <a:rPr lang="en-US" sz="2800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Bold"/>
              </a:rPr>
              <a:t>текста</a:t>
            </a:r>
            <a:r>
              <a:rPr lang="en-US" sz="2800" dirty="0">
                <a:solidFill>
                  <a:srgbClr val="000000"/>
                </a:solidFill>
                <a:latin typeface="Open Sans Bold"/>
              </a:rPr>
              <a:t> </a:t>
            </a:r>
          </a:p>
          <a:p>
            <a:pPr algn="ctr">
              <a:lnSpc>
                <a:spcPts val="4853"/>
              </a:lnSpc>
            </a:pPr>
            <a:r>
              <a:rPr lang="en-US" sz="2800" dirty="0">
                <a:solidFill>
                  <a:srgbClr val="000000"/>
                </a:solidFill>
                <a:latin typeface="Open Sans Bold"/>
              </a:rPr>
              <a:t>к </a:t>
            </a:r>
            <a:r>
              <a:rPr lang="en-US" sz="2800" dirty="0" err="1">
                <a:solidFill>
                  <a:srgbClr val="000000"/>
                </a:solidFill>
                <a:latin typeface="Open Sans Bold"/>
              </a:rPr>
              <a:t>стеммингу</a:t>
            </a:r>
            <a:r>
              <a:rPr lang="en-US" sz="2800" dirty="0">
                <a:solidFill>
                  <a:srgbClr val="000000"/>
                </a:solidFill>
                <a:latin typeface="Open Sans Bold"/>
              </a:rPr>
              <a:t>/</a:t>
            </a:r>
            <a:r>
              <a:rPr lang="en-US" sz="2800" dirty="0" err="1">
                <a:solidFill>
                  <a:srgbClr val="000000"/>
                </a:solidFill>
                <a:latin typeface="Open Sans Bold"/>
              </a:rPr>
              <a:t>лемматизации</a:t>
            </a:r>
            <a:endParaRPr lang="en-US" sz="2800" dirty="0">
              <a:solidFill>
                <a:srgbClr val="000000"/>
              </a:solidFill>
              <a:latin typeface="Open Sans Bold"/>
            </a:endParaRPr>
          </a:p>
          <a:p>
            <a:pPr algn="ctr">
              <a:lnSpc>
                <a:spcPts val="4853"/>
              </a:lnSpc>
            </a:pPr>
            <a:endParaRPr lang="en-US" sz="2800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E6250D09-5E5F-A117-6BBB-B3B088CEE5C6}"/>
              </a:ext>
            </a:extLst>
          </p:cNvPr>
          <p:cNvSpPr txBox="1"/>
          <p:nvPr/>
        </p:nvSpPr>
        <p:spPr>
          <a:xfrm>
            <a:off x="4263870" y="1795071"/>
            <a:ext cx="3012976" cy="784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266" dirty="0" err="1">
                <a:solidFill>
                  <a:srgbClr val="000000"/>
                </a:solidFill>
                <a:latin typeface="Open Sans Bold"/>
              </a:rPr>
              <a:t>Удаление</a:t>
            </a:r>
            <a:r>
              <a:rPr lang="en-US" sz="22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2266" dirty="0" err="1">
                <a:solidFill>
                  <a:srgbClr val="000000"/>
                </a:solidFill>
                <a:latin typeface="Open Sans Bold"/>
              </a:rPr>
              <a:t>стоп-слов</a:t>
            </a:r>
            <a:endParaRPr lang="en-US" sz="2266" dirty="0">
              <a:solidFill>
                <a:srgbClr val="000000"/>
              </a:solidFill>
              <a:latin typeface="Open Sans Bold"/>
            </a:endParaRPr>
          </a:p>
          <a:p>
            <a:pPr algn="ctr">
              <a:lnSpc>
                <a:spcPts val="3173"/>
              </a:lnSpc>
            </a:pPr>
            <a:endParaRPr lang="en-US" sz="2266" dirty="0">
              <a:solidFill>
                <a:srgbClr val="000000"/>
              </a:solidFill>
              <a:latin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641978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CC53B6BC-4451-7002-AE68-E8BDDDCCFDA2}"/>
              </a:ext>
            </a:extLst>
          </p:cNvPr>
          <p:cNvSpPr/>
          <p:nvPr/>
        </p:nvSpPr>
        <p:spPr>
          <a:xfrm>
            <a:off x="533425" y="1593512"/>
            <a:ext cx="2090156" cy="419499"/>
          </a:xfrm>
          <a:custGeom>
            <a:avLst/>
            <a:gdLst/>
            <a:ahLst/>
            <a:cxnLst/>
            <a:rect l="l" t="t" r="r" b="b"/>
            <a:pathLst>
              <a:path w="4725292" h="1099354">
                <a:moveTo>
                  <a:pt x="0" y="0"/>
                </a:moveTo>
                <a:lnTo>
                  <a:pt x="4725292" y="0"/>
                </a:lnTo>
                <a:lnTo>
                  <a:pt x="4725292" y="1099354"/>
                </a:lnTo>
                <a:lnTo>
                  <a:pt x="0" y="1099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 sz="105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AA251F90-0ACA-1904-9A71-C39812C376D8}"/>
              </a:ext>
            </a:extLst>
          </p:cNvPr>
          <p:cNvSpPr/>
          <p:nvPr/>
        </p:nvSpPr>
        <p:spPr>
          <a:xfrm>
            <a:off x="2864590" y="1609377"/>
            <a:ext cx="3413909" cy="522776"/>
          </a:xfrm>
          <a:custGeom>
            <a:avLst/>
            <a:gdLst/>
            <a:ahLst/>
            <a:cxnLst/>
            <a:rect l="l" t="t" r="r" b="b"/>
            <a:pathLst>
              <a:path w="9273628" h="1399116">
                <a:moveTo>
                  <a:pt x="0" y="0"/>
                </a:moveTo>
                <a:lnTo>
                  <a:pt x="9273627" y="0"/>
                </a:lnTo>
                <a:lnTo>
                  <a:pt x="9273627" y="1399116"/>
                </a:lnTo>
                <a:lnTo>
                  <a:pt x="0" y="1399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 sz="1050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7021A904-C56A-A74C-E4DA-62B1EFAC14AD}"/>
              </a:ext>
            </a:extLst>
          </p:cNvPr>
          <p:cNvSpPr/>
          <p:nvPr/>
        </p:nvSpPr>
        <p:spPr>
          <a:xfrm>
            <a:off x="298831" y="2881787"/>
            <a:ext cx="2687732" cy="246850"/>
          </a:xfrm>
          <a:custGeom>
            <a:avLst/>
            <a:gdLst/>
            <a:ahLst/>
            <a:cxnLst/>
            <a:rect l="l" t="t" r="r" b="b"/>
            <a:pathLst>
              <a:path w="6076254" h="722997">
                <a:moveTo>
                  <a:pt x="0" y="0"/>
                </a:moveTo>
                <a:lnTo>
                  <a:pt x="6076254" y="0"/>
                </a:lnTo>
                <a:lnTo>
                  <a:pt x="6076254" y="722997"/>
                </a:lnTo>
                <a:lnTo>
                  <a:pt x="0" y="722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 sz="1050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6F805893-5223-F4E1-9354-6102F38506D1}"/>
              </a:ext>
            </a:extLst>
          </p:cNvPr>
          <p:cNvSpPr/>
          <p:nvPr/>
        </p:nvSpPr>
        <p:spPr>
          <a:xfrm>
            <a:off x="3572914" y="3879795"/>
            <a:ext cx="3689142" cy="522776"/>
          </a:xfrm>
          <a:custGeom>
            <a:avLst/>
            <a:gdLst/>
            <a:ahLst/>
            <a:cxnLst/>
            <a:rect l="l" t="t" r="r" b="b"/>
            <a:pathLst>
              <a:path w="8340178" h="1520183">
                <a:moveTo>
                  <a:pt x="0" y="0"/>
                </a:moveTo>
                <a:lnTo>
                  <a:pt x="8340177" y="0"/>
                </a:lnTo>
                <a:lnTo>
                  <a:pt x="8340177" y="1520183"/>
                </a:lnTo>
                <a:lnTo>
                  <a:pt x="0" y="1520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739" b="-4739"/>
            </a:stretch>
          </a:blipFill>
        </p:spPr>
        <p:txBody>
          <a:bodyPr/>
          <a:lstStyle/>
          <a:p>
            <a:endParaRPr lang="LID4096" sz="105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1DFE9D78-AF1C-2372-BDFE-F358984E7BCF}"/>
              </a:ext>
            </a:extLst>
          </p:cNvPr>
          <p:cNvSpPr txBox="1"/>
          <p:nvPr/>
        </p:nvSpPr>
        <p:spPr>
          <a:xfrm>
            <a:off x="1642697" y="0"/>
            <a:ext cx="5323931" cy="56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2800" dirty="0" err="1">
                <a:solidFill>
                  <a:srgbClr val="000000"/>
                </a:solidFill>
                <a:latin typeface="Open Sans Bold"/>
              </a:rPr>
              <a:t>Алгоритмы</a:t>
            </a:r>
            <a:r>
              <a:rPr lang="en-US" sz="2800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Bold"/>
              </a:rPr>
              <a:t>стемминга</a:t>
            </a:r>
            <a:endParaRPr lang="en-US" sz="2800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F518A565-F595-2C8D-78CA-1C0402A1B14D}"/>
              </a:ext>
            </a:extLst>
          </p:cNvPr>
          <p:cNvSpPr txBox="1"/>
          <p:nvPr/>
        </p:nvSpPr>
        <p:spPr>
          <a:xfrm>
            <a:off x="0" y="1002136"/>
            <a:ext cx="3413909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2000" dirty="0">
                <a:solidFill>
                  <a:srgbClr val="000000"/>
                </a:solidFill>
                <a:latin typeface="Open Sans Bold"/>
              </a:rPr>
              <a:t>The </a:t>
            </a:r>
            <a:r>
              <a:rPr lang="en-US" sz="2000" dirty="0" err="1">
                <a:solidFill>
                  <a:srgbClr val="000000"/>
                </a:solidFill>
                <a:latin typeface="Open Sans Bold"/>
              </a:rPr>
              <a:t>LancasterStemmer</a:t>
            </a:r>
            <a:endParaRPr lang="en-US" sz="2000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3DD316D6-6242-BAAB-02E7-9EDEAB7F1E4B}"/>
              </a:ext>
            </a:extLst>
          </p:cNvPr>
          <p:cNvSpPr txBox="1"/>
          <p:nvPr/>
        </p:nvSpPr>
        <p:spPr>
          <a:xfrm>
            <a:off x="3191839" y="1087625"/>
            <a:ext cx="2225646" cy="367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dirty="0">
                <a:solidFill>
                  <a:srgbClr val="000000"/>
                </a:solidFill>
                <a:latin typeface="Open Sans Bold"/>
              </a:rPr>
              <a:t>The </a:t>
            </a:r>
            <a:r>
              <a:rPr lang="en-US" dirty="0" err="1">
                <a:solidFill>
                  <a:srgbClr val="000000"/>
                </a:solidFill>
                <a:latin typeface="Open Sans Bold"/>
              </a:rPr>
              <a:t>PorterStemmer</a:t>
            </a:r>
            <a:endParaRPr lang="en-US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B07AE91-7F1E-524B-C200-1CD4A1B3A3CC}"/>
              </a:ext>
            </a:extLst>
          </p:cNvPr>
          <p:cNvSpPr txBox="1"/>
          <p:nvPr/>
        </p:nvSpPr>
        <p:spPr>
          <a:xfrm>
            <a:off x="6278499" y="1149400"/>
            <a:ext cx="2439988" cy="367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dirty="0">
                <a:solidFill>
                  <a:srgbClr val="000000"/>
                </a:solidFill>
                <a:latin typeface="Open Sans Bold"/>
              </a:rPr>
              <a:t>The </a:t>
            </a:r>
            <a:r>
              <a:rPr lang="en-US" dirty="0" err="1">
                <a:solidFill>
                  <a:srgbClr val="000000"/>
                </a:solidFill>
                <a:latin typeface="Open Sans Bold"/>
              </a:rPr>
              <a:t>SnowballStemmer</a:t>
            </a:r>
            <a:endParaRPr lang="en-US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F6AE0F70-6865-216B-FFE6-31004B4CE636}"/>
              </a:ext>
            </a:extLst>
          </p:cNvPr>
          <p:cNvSpPr txBox="1"/>
          <p:nvPr/>
        </p:nvSpPr>
        <p:spPr>
          <a:xfrm>
            <a:off x="836925" y="2132153"/>
            <a:ext cx="1295041" cy="562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Абстрактный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класс</a:t>
            </a:r>
            <a:endParaRPr lang="en-US" sz="14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BA1DEFA9-74D7-F367-141B-9679CAA58E5D}"/>
              </a:ext>
            </a:extLst>
          </p:cNvPr>
          <p:cNvSpPr txBox="1"/>
          <p:nvPr/>
        </p:nvSpPr>
        <p:spPr>
          <a:xfrm>
            <a:off x="5987263" y="3317269"/>
            <a:ext cx="2917134" cy="562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400" dirty="0" err="1">
                <a:solidFill>
                  <a:srgbClr val="000000"/>
                </a:solidFill>
                <a:latin typeface="Open Sans"/>
              </a:rPr>
              <a:t>Экземпляры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каждого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из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классов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Stemmers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BDB65AE8-E650-3020-781C-2A635D4B2509}"/>
              </a:ext>
            </a:extLst>
          </p:cNvPr>
          <p:cNvSpPr txBox="1"/>
          <p:nvPr/>
        </p:nvSpPr>
        <p:spPr>
          <a:xfrm>
            <a:off x="234637" y="3508443"/>
            <a:ext cx="2687732" cy="1152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400" dirty="0" err="1">
                <a:solidFill>
                  <a:srgbClr val="000000"/>
                </a:solidFill>
                <a:latin typeface="Open Sans"/>
              </a:rPr>
              <a:t>Функция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стемминга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которая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использует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стеммер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передаваемый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в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качестве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параметра</a:t>
            </a:r>
            <a:endParaRPr lang="en-US" sz="14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61F1EFDF-1E6F-9A6F-4A4C-95C201F5A569}"/>
              </a:ext>
            </a:extLst>
          </p:cNvPr>
          <p:cNvSpPr txBox="1"/>
          <p:nvPr/>
        </p:nvSpPr>
        <p:spPr>
          <a:xfrm>
            <a:off x="5412519" y="4473340"/>
            <a:ext cx="3491878" cy="562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Передача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стеммера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и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очищенного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</a:p>
          <a:p>
            <a:pPr algn="ctr">
              <a:lnSpc>
                <a:spcPts val="2333"/>
              </a:lnSpc>
            </a:pPr>
            <a:r>
              <a:rPr lang="en-US" sz="1400" dirty="0" err="1">
                <a:solidFill>
                  <a:srgbClr val="000000"/>
                </a:solidFill>
                <a:latin typeface="Open Sans"/>
              </a:rPr>
              <a:t>текста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в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Open Sans"/>
              </a:rPr>
              <a:t>функцию</a:t>
            </a:r>
            <a:r>
              <a:rPr lang="en-US" sz="1400" dirty="0">
                <a:solidFill>
                  <a:srgbClr val="000000"/>
                </a:solidFill>
                <a:latin typeface="Open Sans"/>
              </a:rPr>
              <a:t>  stem</a:t>
            </a:r>
          </a:p>
        </p:txBody>
      </p:sp>
    </p:spTree>
    <p:extLst>
      <p:ext uri="{BB962C8B-B14F-4D97-AF65-F5344CB8AC3E}">
        <p14:creationId xmlns:p14="http://schemas.microsoft.com/office/powerpoint/2010/main" val="2976036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BE5ABE17-DDDF-4B66-2369-58697FC99E04}"/>
              </a:ext>
            </a:extLst>
          </p:cNvPr>
          <p:cNvSpPr/>
          <p:nvPr/>
        </p:nvSpPr>
        <p:spPr>
          <a:xfrm>
            <a:off x="887104" y="1951628"/>
            <a:ext cx="2333768" cy="3191872"/>
          </a:xfrm>
          <a:custGeom>
            <a:avLst/>
            <a:gdLst/>
            <a:ahLst/>
            <a:cxnLst/>
            <a:rect l="l" t="t" r="r" b="b"/>
            <a:pathLst>
              <a:path w="5578368" h="7165610">
                <a:moveTo>
                  <a:pt x="0" y="0"/>
                </a:moveTo>
                <a:lnTo>
                  <a:pt x="5578368" y="0"/>
                </a:lnTo>
                <a:lnTo>
                  <a:pt x="5578368" y="7165610"/>
                </a:lnTo>
                <a:lnTo>
                  <a:pt x="0" y="716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806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E9BC67DF-D9BB-7980-C1A4-2D5AAA737BF5}"/>
              </a:ext>
            </a:extLst>
          </p:cNvPr>
          <p:cNvSpPr/>
          <p:nvPr/>
        </p:nvSpPr>
        <p:spPr>
          <a:xfrm>
            <a:off x="5007841" y="1951628"/>
            <a:ext cx="2994074" cy="3191871"/>
          </a:xfrm>
          <a:custGeom>
            <a:avLst/>
            <a:gdLst/>
            <a:ahLst/>
            <a:cxnLst/>
            <a:rect l="l" t="t" r="r" b="b"/>
            <a:pathLst>
              <a:path w="5761360" h="7165610">
                <a:moveTo>
                  <a:pt x="0" y="0"/>
                </a:moveTo>
                <a:lnTo>
                  <a:pt x="5761361" y="0"/>
                </a:lnTo>
                <a:lnTo>
                  <a:pt x="5761361" y="7165610"/>
                </a:lnTo>
                <a:lnTo>
                  <a:pt x="0" y="7165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A58D024-3430-8E00-14FA-5D23B37724CD}"/>
              </a:ext>
            </a:extLst>
          </p:cNvPr>
          <p:cNvSpPr txBox="1"/>
          <p:nvPr/>
        </p:nvSpPr>
        <p:spPr>
          <a:xfrm>
            <a:off x="1665609" y="145667"/>
            <a:ext cx="5535859" cy="572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Алгоритмы</a:t>
            </a:r>
            <a:r>
              <a:rPr lang="en-US" sz="34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стемминга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692E2FC-646B-B186-06D3-D81F7F5540C7}"/>
              </a:ext>
            </a:extLst>
          </p:cNvPr>
          <p:cNvSpPr txBox="1"/>
          <p:nvPr/>
        </p:nvSpPr>
        <p:spPr>
          <a:xfrm>
            <a:off x="2362197" y="1118026"/>
            <a:ext cx="4142681" cy="433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2666" dirty="0" err="1">
                <a:solidFill>
                  <a:srgbClr val="000000"/>
                </a:solidFill>
                <a:latin typeface="Open Sans Bold"/>
              </a:rPr>
              <a:t>Результаты</a:t>
            </a:r>
            <a:r>
              <a:rPr lang="en-US" sz="26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2666" dirty="0" err="1">
                <a:solidFill>
                  <a:srgbClr val="000000"/>
                </a:solidFill>
                <a:latin typeface="Open Sans Bold"/>
              </a:rPr>
              <a:t>стемминга</a:t>
            </a:r>
            <a:endParaRPr lang="en-US" sz="2666" dirty="0">
              <a:solidFill>
                <a:srgbClr val="000000"/>
              </a:solidFill>
              <a:latin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822584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4124DE9C-5C4A-A030-98B0-135FDAA0C0D7}"/>
              </a:ext>
            </a:extLst>
          </p:cNvPr>
          <p:cNvSpPr/>
          <p:nvPr/>
        </p:nvSpPr>
        <p:spPr>
          <a:xfrm>
            <a:off x="2356472" y="1645771"/>
            <a:ext cx="3611140" cy="3279068"/>
          </a:xfrm>
          <a:custGeom>
            <a:avLst/>
            <a:gdLst/>
            <a:ahLst/>
            <a:cxnLst/>
            <a:rect l="l" t="t" r="r" b="b"/>
            <a:pathLst>
              <a:path w="8772606" h="7235627">
                <a:moveTo>
                  <a:pt x="0" y="0"/>
                </a:moveTo>
                <a:lnTo>
                  <a:pt x="8772606" y="0"/>
                </a:lnTo>
                <a:lnTo>
                  <a:pt x="8772606" y="7235627"/>
                </a:lnTo>
                <a:lnTo>
                  <a:pt x="0" y="72356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FB07DE12-2784-3C2F-7079-01723A45F2BE}"/>
              </a:ext>
            </a:extLst>
          </p:cNvPr>
          <p:cNvSpPr txBox="1"/>
          <p:nvPr/>
        </p:nvSpPr>
        <p:spPr>
          <a:xfrm>
            <a:off x="1595340" y="191889"/>
            <a:ext cx="5485059" cy="572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Алгоритмы</a:t>
            </a:r>
            <a:r>
              <a:rPr lang="en-US" sz="34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стемминга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6D8422A-6D36-AA3C-6BBB-7958AFDBCB03}"/>
              </a:ext>
            </a:extLst>
          </p:cNvPr>
          <p:cNvSpPr txBox="1"/>
          <p:nvPr/>
        </p:nvSpPr>
        <p:spPr>
          <a:xfrm>
            <a:off x="2356472" y="983014"/>
            <a:ext cx="3962797" cy="44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2666" dirty="0" err="1">
                <a:solidFill>
                  <a:srgbClr val="000000"/>
                </a:solidFill>
                <a:latin typeface="Open Sans Bold"/>
              </a:rPr>
              <a:t>Скорость</a:t>
            </a:r>
            <a:r>
              <a:rPr lang="en-US" sz="26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2666" dirty="0" err="1">
                <a:solidFill>
                  <a:srgbClr val="000000"/>
                </a:solidFill>
                <a:latin typeface="Open Sans Bold"/>
              </a:rPr>
              <a:t>выполнения</a:t>
            </a:r>
            <a:endParaRPr lang="en-US" sz="2666" dirty="0">
              <a:solidFill>
                <a:srgbClr val="000000"/>
              </a:solidFill>
              <a:latin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329693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7FB467C2-AF52-E112-97F2-9A998F21F744}"/>
              </a:ext>
            </a:extLst>
          </p:cNvPr>
          <p:cNvSpPr/>
          <p:nvPr/>
        </p:nvSpPr>
        <p:spPr>
          <a:xfrm>
            <a:off x="20001" y="2066785"/>
            <a:ext cx="3980485" cy="643135"/>
          </a:xfrm>
          <a:custGeom>
            <a:avLst/>
            <a:gdLst/>
            <a:ahLst/>
            <a:cxnLst/>
            <a:rect l="l" t="t" r="r" b="b"/>
            <a:pathLst>
              <a:path w="5970728" h="964703">
                <a:moveTo>
                  <a:pt x="0" y="0"/>
                </a:moveTo>
                <a:lnTo>
                  <a:pt x="5970728" y="0"/>
                </a:lnTo>
                <a:lnTo>
                  <a:pt x="5970728" y="964703"/>
                </a:lnTo>
                <a:lnTo>
                  <a:pt x="0" y="964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5AC179C5-FB41-43C6-C35E-7008FD301911}"/>
              </a:ext>
            </a:extLst>
          </p:cNvPr>
          <p:cNvSpPr/>
          <p:nvPr/>
        </p:nvSpPr>
        <p:spPr>
          <a:xfrm>
            <a:off x="4761150" y="2115998"/>
            <a:ext cx="4362849" cy="765625"/>
          </a:xfrm>
          <a:custGeom>
            <a:avLst/>
            <a:gdLst/>
            <a:ahLst/>
            <a:cxnLst/>
            <a:rect l="l" t="t" r="r" b="b"/>
            <a:pathLst>
              <a:path w="6544274" h="1148438">
                <a:moveTo>
                  <a:pt x="0" y="0"/>
                </a:moveTo>
                <a:lnTo>
                  <a:pt x="6544274" y="0"/>
                </a:lnTo>
                <a:lnTo>
                  <a:pt x="6544274" y="1148438"/>
                </a:lnTo>
                <a:lnTo>
                  <a:pt x="0" y="1148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30953B13-683A-AD7A-65EC-62781069D1ED}"/>
              </a:ext>
            </a:extLst>
          </p:cNvPr>
          <p:cNvSpPr/>
          <p:nvPr/>
        </p:nvSpPr>
        <p:spPr>
          <a:xfrm>
            <a:off x="2415548" y="4100820"/>
            <a:ext cx="5312169" cy="449491"/>
          </a:xfrm>
          <a:custGeom>
            <a:avLst/>
            <a:gdLst/>
            <a:ahLst/>
            <a:cxnLst/>
            <a:rect l="l" t="t" r="r" b="b"/>
            <a:pathLst>
              <a:path w="7968254" h="674237">
                <a:moveTo>
                  <a:pt x="0" y="0"/>
                </a:moveTo>
                <a:lnTo>
                  <a:pt x="7968254" y="0"/>
                </a:lnTo>
                <a:lnTo>
                  <a:pt x="7968254" y="674237"/>
                </a:lnTo>
                <a:lnTo>
                  <a:pt x="0" y="674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91E88EF-6727-3108-FCE0-2FB307AB9C4E}"/>
              </a:ext>
            </a:extLst>
          </p:cNvPr>
          <p:cNvSpPr txBox="1"/>
          <p:nvPr/>
        </p:nvSpPr>
        <p:spPr>
          <a:xfrm>
            <a:off x="1068573" y="118776"/>
            <a:ext cx="6443761" cy="572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Алгоритмы</a:t>
            </a:r>
            <a:r>
              <a:rPr lang="en-US" sz="34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лемматизации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FF28F647-7DB1-FEE8-B993-1D25B61F12EB}"/>
              </a:ext>
            </a:extLst>
          </p:cNvPr>
          <p:cNvSpPr txBox="1"/>
          <p:nvPr/>
        </p:nvSpPr>
        <p:spPr>
          <a:xfrm>
            <a:off x="1801030" y="773782"/>
            <a:ext cx="4279404" cy="90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2666" dirty="0">
                <a:solidFill>
                  <a:srgbClr val="000000"/>
                </a:solidFill>
                <a:latin typeface="Open Sans Bold"/>
              </a:rPr>
              <a:t>WordNet </a:t>
            </a:r>
            <a:r>
              <a:rPr lang="en-US" sz="2666" dirty="0" err="1">
                <a:solidFill>
                  <a:srgbClr val="000000"/>
                </a:solidFill>
                <a:latin typeface="Open Sans Bold"/>
              </a:rPr>
              <a:t>Лемматизатор</a:t>
            </a:r>
            <a:endParaRPr lang="en-US" sz="2666" dirty="0">
              <a:solidFill>
                <a:srgbClr val="000000"/>
              </a:solidFill>
              <a:latin typeface="Open Sans Bold"/>
            </a:endParaRPr>
          </a:p>
          <a:p>
            <a:pPr algn="ctr">
              <a:lnSpc>
                <a:spcPts val="3733"/>
              </a:lnSpc>
            </a:pPr>
            <a:endParaRPr lang="en-US" sz="26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1D4540BC-9D5C-8B39-1EB1-E52291C5391F}"/>
              </a:ext>
            </a:extLst>
          </p:cNvPr>
          <p:cNvSpPr txBox="1"/>
          <p:nvPr/>
        </p:nvSpPr>
        <p:spPr>
          <a:xfrm>
            <a:off x="4761150" y="3039284"/>
            <a:ext cx="3980485" cy="27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6" dirty="0" err="1">
                <a:solidFill>
                  <a:srgbClr val="000000"/>
                </a:solidFill>
                <a:latin typeface="Open Sans"/>
              </a:rPr>
              <a:t>Экземпляр</a:t>
            </a:r>
            <a:r>
              <a:rPr lang="en-US" sz="1666" dirty="0">
                <a:solidFill>
                  <a:srgbClr val="000000"/>
                </a:solidFill>
                <a:latin typeface="Open Sans"/>
              </a:rPr>
              <a:t> </a:t>
            </a:r>
            <a:r>
              <a:rPr lang="en-US" sz="1666" dirty="0" err="1">
                <a:solidFill>
                  <a:srgbClr val="000000"/>
                </a:solidFill>
                <a:latin typeface="Open Sans"/>
              </a:rPr>
              <a:t>лемматизатора</a:t>
            </a:r>
            <a:endParaRPr lang="en-US" sz="1666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524791BD-CB3D-9DCF-305A-3C0C7FBD995C}"/>
              </a:ext>
            </a:extLst>
          </p:cNvPr>
          <p:cNvSpPr txBox="1"/>
          <p:nvPr/>
        </p:nvSpPr>
        <p:spPr>
          <a:xfrm>
            <a:off x="1521983" y="3054850"/>
            <a:ext cx="1787128" cy="27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6">
                <a:solidFill>
                  <a:srgbClr val="000000"/>
                </a:solidFill>
                <a:latin typeface="Open Sans"/>
              </a:rPr>
              <a:t>Загрузка словаря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3BC5091-3E4D-236C-C9A1-54887F52C688}"/>
              </a:ext>
            </a:extLst>
          </p:cNvPr>
          <p:cNvSpPr txBox="1"/>
          <p:nvPr/>
        </p:nvSpPr>
        <p:spPr>
          <a:xfrm>
            <a:off x="3871864" y="4817011"/>
            <a:ext cx="2480568" cy="27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6">
                <a:solidFill>
                  <a:srgbClr val="000000"/>
                </a:solidFill>
                <a:latin typeface="Open Sans"/>
              </a:rPr>
              <a:t>Функция лемматизации</a:t>
            </a:r>
          </a:p>
        </p:txBody>
      </p:sp>
    </p:spTree>
    <p:extLst>
      <p:ext uri="{BB962C8B-B14F-4D97-AF65-F5344CB8AC3E}">
        <p14:creationId xmlns:p14="http://schemas.microsoft.com/office/powerpoint/2010/main" val="2506922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42420-E606-1415-31A2-17B3F9EA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C0744AC-DBE1-88AC-D4A9-28B378546096}"/>
              </a:ext>
            </a:extLst>
          </p:cNvPr>
          <p:cNvSpPr/>
          <p:nvPr/>
        </p:nvSpPr>
        <p:spPr>
          <a:xfrm>
            <a:off x="3024499" y="1199954"/>
            <a:ext cx="2407309" cy="3867559"/>
          </a:xfrm>
          <a:custGeom>
            <a:avLst/>
            <a:gdLst/>
            <a:ahLst/>
            <a:cxnLst/>
            <a:rect l="l" t="t" r="r" b="b"/>
            <a:pathLst>
              <a:path w="5390103" h="7508201">
                <a:moveTo>
                  <a:pt x="0" y="0"/>
                </a:moveTo>
                <a:lnTo>
                  <a:pt x="5390103" y="0"/>
                </a:lnTo>
                <a:lnTo>
                  <a:pt x="5390103" y="7508202"/>
                </a:lnTo>
                <a:lnTo>
                  <a:pt x="0" y="7508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" b="-153"/>
            </a:stretch>
          </a:blipFill>
        </p:spPr>
        <p:txBody>
          <a:bodyPr/>
          <a:lstStyle/>
          <a:p>
            <a:endParaRPr lang="LID4096" sz="120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34905539-3B70-F7C6-6CBB-6288363F527A}"/>
              </a:ext>
            </a:extLst>
          </p:cNvPr>
          <p:cNvSpPr txBox="1"/>
          <p:nvPr/>
        </p:nvSpPr>
        <p:spPr>
          <a:xfrm>
            <a:off x="1350119" y="75987"/>
            <a:ext cx="6443761" cy="572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Алгоритмы</a:t>
            </a:r>
            <a:r>
              <a:rPr lang="en-US" sz="34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3466" dirty="0" err="1">
                <a:solidFill>
                  <a:srgbClr val="000000"/>
                </a:solidFill>
                <a:latin typeface="Open Sans Bold"/>
              </a:rPr>
              <a:t>лемматизации</a:t>
            </a:r>
            <a:endParaRPr lang="en-US" sz="3466" dirty="0">
              <a:solidFill>
                <a:srgbClr val="000000"/>
              </a:solidFill>
              <a:latin typeface="Open Sans Bold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7E9EE4E-3F90-F15F-6821-06412A348071}"/>
              </a:ext>
            </a:extLst>
          </p:cNvPr>
          <p:cNvSpPr txBox="1"/>
          <p:nvPr/>
        </p:nvSpPr>
        <p:spPr>
          <a:xfrm>
            <a:off x="1451073" y="648451"/>
            <a:ext cx="6241851" cy="433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2666" dirty="0" err="1">
                <a:solidFill>
                  <a:srgbClr val="000000"/>
                </a:solidFill>
                <a:latin typeface="Open Sans Bold"/>
              </a:rPr>
              <a:t>Результат</a:t>
            </a:r>
            <a:r>
              <a:rPr lang="en-US" sz="2666" dirty="0">
                <a:solidFill>
                  <a:srgbClr val="000000"/>
                </a:solidFill>
                <a:latin typeface="Open Sans Bold"/>
              </a:rPr>
              <a:t> </a:t>
            </a:r>
            <a:r>
              <a:rPr lang="en-US" sz="2666" dirty="0" err="1">
                <a:solidFill>
                  <a:srgbClr val="000000"/>
                </a:solidFill>
                <a:latin typeface="Open Sans Bold"/>
              </a:rPr>
              <a:t>лемматизации</a:t>
            </a:r>
            <a:r>
              <a:rPr lang="en-US" sz="2666" dirty="0">
                <a:solidFill>
                  <a:srgbClr val="000000"/>
                </a:solidFill>
                <a:latin typeface="Open Sans Bold"/>
              </a:rPr>
              <a:t> WordNet</a:t>
            </a:r>
          </a:p>
        </p:txBody>
      </p:sp>
    </p:spTree>
    <p:extLst>
      <p:ext uri="{BB962C8B-B14F-4D97-AF65-F5344CB8AC3E}">
        <p14:creationId xmlns:p14="http://schemas.microsoft.com/office/powerpoint/2010/main" val="114984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1495</Words>
  <Application>Microsoft Macintosh PowerPoint</Application>
  <PresentationFormat>Экран (16:9)</PresentationFormat>
  <Paragraphs>307</Paragraphs>
  <Slides>30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Open Sans</vt:lpstr>
      <vt:lpstr>Open Sans Bold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Қалжанов Нұрлыхан Ерланұлы</cp:lastModifiedBy>
  <cp:revision>5</cp:revision>
  <dcterms:created xsi:type="dcterms:W3CDTF">2025-12-12T12:49:16Z</dcterms:created>
  <dcterms:modified xsi:type="dcterms:W3CDTF">2025-12-12T14:05:46Z</dcterms:modified>
</cp:coreProperties>
</file>