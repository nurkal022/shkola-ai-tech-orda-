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86"/>
    <p:restoredTop sz="94610"/>
  </p:normalViewPr>
  <p:slideViewPr>
    <p:cSldViewPr snapToGrid="0" snapToObjects="1">
      <p:cViewPr>
        <p:scale>
          <a:sx n="161" d="100"/>
          <a:sy n="161" d="100"/>
        </p:scale>
        <p:origin x="136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760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Приветствую всех на нашей одиннадцатой лекции, где мы погрузимся в оптимизацию производительности RAG-систем. Сегодня мы узнаем, как превратить экспериментальную RAG-систему в надежный production-сервис. Мы сфокусируемся на трех ключевых столпах оптимизации: Re-ranking для точности поиска, Caching для скорости ответов и A/B-Testing для принятия решений, основанных на данных. Эти методы помогут нам масштабировать RAG-системы, делая их быстрее, точнее и экономичнее. Давайте начнем с понимания основных проблем, которые возникают при масштабировании RAG.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масштабировании RAG-систем мы сталкиваемся с тремя основными вызовами: латентностью, стоимостью и качеством. RAG-пайплайн, включающий поиск в базе данных, вызов LLM API и генерацию ответа, может занимать от 2 до 5 секунд, что слишком долго для интерактивных приложений. Каждый вызов LLM API стоит денег, и при большом количестве пользователей это становится значительной статьей расходов. И, наконец, качество: не все извлеченные документы одинаково релевантны, и шум в контексте может сбить LLM с толку, снижая точность ответов до 60-70%. Чтобы решить проблему качества, мы используем двухэтапный поиск, о котором поговорим далее.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Чтобы улучшить качество поиска и снизить шум, мы применяем двухэтапный подход: Retrieve и Re-rank. На первом этапе, Retrieve, мы выполняем быстрый и широкий поиск, ориентированный на полноту, чтобы получить, скажем, 50 потенциально релевантных документов. Нам лучше получить больше документов, чем пропустить нужный. Затем, на втором этапе, Re-rank, мы проводим точную фильтрацию, выбирая только самые релевантные документы, например, топ-5, для передачи в LLM. Этот этап ориентирован на точность. В результате мы получаем лучшее качество ответов при сохранении приемлемой скорости, поскольку LLM работает только с наиболее релевантной информацией. А теперь давайте подробнее рассмотрим, как работает Re-rank.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Re-rank мы часто используем Cross-Encoder модели, которые значительно превосходят Bi-Encoder по точности. В отличие от Bi-Encoder, где запрос и документ обрабатываются отдельно, Cross-Encoder совместно обрабатывает пару (запрос, документ), что позволяет ему лучше улавливать семантические связи. Хотя Cross-Encoder медленнее, занимая 10-50 мс на документ по сравнению с 1 мс у Bi-Encoder, его точность достигает 85-95%, что критично для финального ранжирования. Среди популярных моделей выделяются Cohere Rerank, bge-reranker-large и ms-marco-MiniLM-L-12-v2, каждая из которых предлагает свой баланс между скоростью и точностью. Теперь, когда мы улучшили качество, давайте поговорим о скорости с помощью кеширования.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Семантическое кеширование — это мощный инструмент для ускорения RAG-систем и снижения затрат. Когда пользователь вводит запрос, мы сначала создаем его эмбеддинг и ищем похожие запросы в кеше, используя метрику косинусного сходства. Если найден похожий запрос с высоким порогом сходства, например, 0.98, мы возвращаем ответ из кеша мгновенно, что занимает менее 100 мс. Это значительно снижает латентность и количество вызовов платных LLM API. Однако есть и риски: кеш может устареть, если данные изменились, а неправильная настройка порога сходства может привести к нерелевантным ответам или, наоборот, к малому количеству попаданий. В следующем слайде мы рассмотрим архитектуру кеширования более детально.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давайте посмотрим, как это работает на практике, углубившись в архитектуру кеширования. Кеширование запросов — это мощный инструмент для оптимизации RAG-систем, который значительно улучшает производительность и снижает затраты. Когда пользователь вводит запрос, мы сначала создаем его эмбеддинг, а затем ищем похожие запросы в кеше. Если мы находим совпадение, это называется Cache Hit, и мы мгновенно возвращаем ответ из кеша, что занимает около 50 миллисекунд вместо обычных 2-5 секунд. Если же запроса в кеше нет, это Cache Miss, и тогда запускается полный RAG-пайплайн. Это не только ускоряет работу, но и экономит ресурсы, поскольку мы избегаем дорогостоящих вызовов LLM API. Типичный показатель Cache Hit составляет 15-30%, что уже дает существенную экономию. А теперь давайте перейдем к тому, как мы можем измерять эффективность таких оптимизаций и новых функций.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мы поговорили о кешировании, а теперь давайте обсудим, как мы можем объективно оценить эффективность наших изменений, будь то кеширование или другие улучшения в RAG-системе. A/B-тестирование — это золотой стандарт для оценки новых функций и оптимизаций. Мы можем тестировать различные аспекты RAG-системы: от выбора модели LLM, например, GPT-4o против Gemini, до стратегий поиска и использования ре-ранкеров. Ключевые принципы A/B-тестирования включают разделение пользователей на контрольную и тестовую группы, обеспечение статистической значимости результатов и сбор пользовательской обратной связи. Важно проводить тесты достаточно долго, минимум 1-2 недели, чтобы собрать репрезентативные данные. Но как мы измеряем успех этих тестов? Какие метрики нам нужны? Давайте рассмотрим это подробнее.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только что обсудили, что A/B-тестирование помогает нам понять, как изменения влияют на систему, но для этого нам нужны четкие метрики. Метрики для A/B-тестов делятся на бизнес-метрики и пользовательские метрики. Бизнес-метрики показывают, как изменения влияют на ключевые показатели компании, такие как конверсия, удержание пользователей и стоимость на запрос. Например, если новая версия чат-бота увеличивает конверсию с 45% до 52%, это явный успех. Пользовательские метрики отражают удовлетворенность и вовлеченность пользователей. Это может быть явная обратная связь, такая как Thumbs Up/Down, или косвенные показатели, например, кликабельность ссылок на источники или частота копирования ответов. Эти метрики помогают нам понять, насколько полезным и надежным стал наш RAG-система для конечного пользователя. Теперь, когда мы знаем, что тестировать и как измерять, давайте рассмотрим сам процесс A/B-тестирования.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Теперь, когда мы понимаем, какие метрики важны, давайте рассмотрим сам процесс A/B-тестирования. Это не просто сравнение двух версий, а строгий научный подход к принятию решений. Начинаем с гипотезы, где чётко формулируем, что хотим проверить и какой результат ожидаем. Например, мы можем предположить, что новый re-ranker повысит удовлетворённость пользователей на 10%. Затем мы разделяем наш трафик на две группы: контрольную, которая видит старую версию, и тестовую, которая видит новую. Важно, чтобы группы были репрезентативными. После этого мы собираем данные в течение достаточного времени, обычно это одна-две недели, чтобы исключить случайные флуктуации. На этапе анализа мы используем статистические методы, такие как t-тест, чтобы определить, является ли наблюдаемая разница статистически значимой. Если p-value меньше 0.05, мы можем с уверенностью сказать, что изменения не случайны. И только после этого мы принимаем решение: если результат значим и положителен, мы выкатываем новую версию на 100% пользователей; в противном случае мы отклоняем изменение или отправляем его на доработку. Помните, что размер выборки и длительность теста критичны для достоверности результатов, и всегда тестируйте только одно изменение за раз. Далее мы перейдём к практической реализации этих концепций.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Переходя от теории к практике, давайте посмотрим, как эти концепции реализуются в коде. Для re-ranking в LangChain это очень просто: мы инициализируем компрессор, например, CohereRerank, и оборачиваем им наш базовый ретривер. LangChain сам позаботится о том, чтобы сначала получить документы, а затем переранжировать их. Это позволяет нам использовать мощные модели re-ranking всего в несколько строк кода. Для семантического кеширования мы можем использовать Redis. Здесь мы сначала встраиваем запрос пользователя, затем ищем похожие запросы в кеше, используя пороговое значение, например, 0.98. Если находим достаточно похожий запрос, возвращаем ответ из кеша, что значительно снижает нагрузку и задержку. Если нет, запускаем полный RAG-пайплайн. И наконец, для A/B-тестирования, такие платформы как Statsig позволяют нам управлять экспериментами с помощью фича-флагов. Мы проверяем, в какой группе находится пользователь, и в зависимости от этого показываем ему либо старую, либо новую версию функционала. Это даёт нам возможность легко включать и выключать новые функции, а также собирать метрики для оценки их эффективности. Теперь, когда мы увидели, как это работает на практике, давайте подведём итоги и дадим рекомендации.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Итак, мы подошли к заключению нашей лекции. Мы выяснили, что re-ranking значительно повышает точность поиска, улучшая релевантность ответов на 20-35%. Это делает его обязательным компонентом для продакшн-систем. Семантическое кеширование, в свою очередь, является мощным инструментом для снижения латентности и стоимости, сокращая их на 80-95% при успешном попадании в кеш. И, конечно, A/B-тестирование — это единственный надёжный способ валидировать наши гипотезы на реальных пользователях, позволяя принимать решения на основе данных, а не предположений. В качестве лучших практик я рекомендую реализовать двухэтапный поиск, добавить семантический кеш для частых запросов, настроить мониторинг и метрики качества, а также всегда запускать A/B-тесты перед выкатом в продакшн. И не забывайте постоянно собирать пользовательскую обратную связь. На следующей лекции мы углубимся в тему Agentic RAG, где системы сами будут решать, как и что искать, открывая новые горизонты в разработке интеллектуальных ассистентов.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7065225" cy="5129213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Text 1"/>
          <p:cNvSpPr/>
          <p:nvPr/>
        </p:nvSpPr>
        <p:spPr>
          <a:xfrm>
            <a:off x="571500" y="1471082"/>
            <a:ext cx="59222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FF4F00"/>
                </a:solidFill>
              </a:rPr>
              <a:t>Лекция 11</a:t>
            </a:r>
            <a:endParaRPr lang="en-US" sz="1193" dirty="0"/>
          </a:p>
        </p:txBody>
      </p:sp>
      <p:sp>
        <p:nvSpPr>
          <p:cNvPr id="6" name="Text 2"/>
          <p:cNvSpPr/>
          <p:nvPr/>
        </p:nvSpPr>
        <p:spPr>
          <a:xfrm>
            <a:off x="571500" y="1847915"/>
            <a:ext cx="5922225" cy="1697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FFFFFF"/>
                </a:solidFill>
              </a:rPr>
              <a:t>Оптимизация производительности RAG</a:t>
            </a:r>
            <a:endParaRPr lang="en-US" sz="3731" dirty="0"/>
          </a:p>
        </p:txBody>
      </p:sp>
      <p:sp>
        <p:nvSpPr>
          <p:cNvPr id="8" name="Text 4"/>
          <p:cNvSpPr/>
          <p:nvPr/>
        </p:nvSpPr>
        <p:spPr>
          <a:xfrm>
            <a:off x="7384774" y="571500"/>
            <a:ext cx="1731879" cy="194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Три столпа оптимизации: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754569" y="1363771"/>
            <a:ext cx="599377" cy="27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Re-ranking</a:t>
            </a:r>
            <a:endParaRPr lang="en-US" sz="987" dirty="0"/>
          </a:p>
        </p:txBody>
      </p:sp>
      <p:sp>
        <p:nvSpPr>
          <p:cNvPr id="11" name="Text 7"/>
          <p:cNvSpPr/>
          <p:nvPr/>
        </p:nvSpPr>
        <p:spPr>
          <a:xfrm>
            <a:off x="7808286" y="1992421"/>
            <a:ext cx="407163" cy="2738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Caching</a:t>
            </a:r>
            <a:endParaRPr lang="en-US" sz="987" dirty="0"/>
          </a:p>
        </p:txBody>
      </p:sp>
      <p:sp>
        <p:nvSpPr>
          <p:cNvPr id="13" name="Text 9"/>
          <p:cNvSpPr/>
          <p:nvPr/>
        </p:nvSpPr>
        <p:spPr>
          <a:xfrm>
            <a:off x="7808286" y="2781403"/>
            <a:ext cx="1040744" cy="273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A/B-Testing</a:t>
            </a:r>
            <a:endParaRPr lang="en-US" sz="987" dirty="0"/>
          </a:p>
        </p:txBody>
      </p:sp>
      <p:sp>
        <p:nvSpPr>
          <p:cNvPr id="15" name="Shape 11"/>
          <p:cNvSpPr/>
          <p:nvPr/>
        </p:nvSpPr>
        <p:spPr>
          <a:xfrm>
            <a:off x="7636725" y="3882628"/>
            <a:ext cx="1479928" cy="11680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Shape 12"/>
          <p:cNvSpPr/>
          <p:nvPr/>
        </p:nvSpPr>
        <p:spPr>
          <a:xfrm>
            <a:off x="7636725" y="3882628"/>
            <a:ext cx="1479928" cy="7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7" name="Text 13"/>
          <p:cNvSpPr/>
          <p:nvPr/>
        </p:nvSpPr>
        <p:spPr>
          <a:xfrm>
            <a:off x="7636725" y="3882628"/>
            <a:ext cx="1479928" cy="1168003"/>
          </a:xfrm>
          <a:prstGeom prst="rect">
            <a:avLst/>
          </a:prstGeom>
          <a:noFill/>
          <a:ln/>
        </p:spPr>
        <p:txBody>
          <a:bodyPr wrap="square" lIns="0" tIns="340233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Как превратить экспериментальную RAG-систему в надежный production-сервис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Проблемы масштабирования RAG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428625" y="1394817"/>
            <a:ext cx="2571750" cy="37486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1723430"/>
            <a:ext cx="257175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14375" y="2252067"/>
            <a:ext cx="2000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Латентность</a:t>
            </a:r>
            <a:endParaRPr lang="en-US" sz="1397" dirty="0"/>
          </a:p>
        </p:txBody>
      </p:sp>
      <p:sp>
        <p:nvSpPr>
          <p:cNvPr id="10" name="Text 5"/>
          <p:cNvSpPr/>
          <p:nvPr/>
        </p:nvSpPr>
        <p:spPr>
          <a:xfrm>
            <a:off x="714375" y="2632472"/>
            <a:ext cx="2000250" cy="1410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RAG-пайплайн требует времени: поиск в БД, вызов LLM API, генерация ответа.</a:t>
            </a:r>
            <a:endParaRPr lang="en-US" sz="942" dirty="0"/>
          </a:p>
        </p:txBody>
      </p:sp>
      <p:sp>
        <p:nvSpPr>
          <p:cNvPr id="11" name="Shape 6"/>
          <p:cNvSpPr/>
          <p:nvPr/>
        </p:nvSpPr>
        <p:spPr>
          <a:xfrm>
            <a:off x="714375" y="4257675"/>
            <a:ext cx="2000250" cy="6000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7"/>
          <p:cNvSpPr/>
          <p:nvPr/>
        </p:nvSpPr>
        <p:spPr>
          <a:xfrm>
            <a:off x="714375" y="4257675"/>
            <a:ext cx="28575" cy="60007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3" name="Text 8"/>
          <p:cNvSpPr/>
          <p:nvPr/>
        </p:nvSpPr>
        <p:spPr>
          <a:xfrm>
            <a:off x="821531" y="4364831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Типичное время</a:t>
            </a:r>
            <a:endParaRPr lang="en-US" sz="621" dirty="0"/>
          </a:p>
        </p:txBody>
      </p:sp>
      <p:sp>
        <p:nvSpPr>
          <p:cNvPr id="14" name="Text 9"/>
          <p:cNvSpPr/>
          <p:nvPr/>
        </p:nvSpPr>
        <p:spPr>
          <a:xfrm>
            <a:off x="821531" y="4516636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2-5 сек</a:t>
            </a:r>
            <a:endParaRPr lang="en-US" sz="1193" dirty="0"/>
          </a:p>
        </p:txBody>
      </p:sp>
      <p:sp>
        <p:nvSpPr>
          <p:cNvPr id="15" name="Shape 10"/>
          <p:cNvSpPr/>
          <p:nvPr/>
        </p:nvSpPr>
        <p:spPr>
          <a:xfrm>
            <a:off x="3286125" y="1394817"/>
            <a:ext cx="2571750" cy="37486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1723430"/>
            <a:ext cx="214313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571875" y="2252067"/>
            <a:ext cx="2000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Стоимость</a:t>
            </a:r>
            <a:endParaRPr lang="en-US" sz="1397" dirty="0"/>
          </a:p>
        </p:txBody>
      </p:sp>
      <p:sp>
        <p:nvSpPr>
          <p:cNvPr id="18" name="Text 12"/>
          <p:cNvSpPr/>
          <p:nvPr/>
        </p:nvSpPr>
        <p:spPr>
          <a:xfrm>
            <a:off x="3571875" y="2632472"/>
            <a:ext cx="2000250" cy="1410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Каждый вызов LLM API стоит денег. При масштабе это становится значительной статьей расходов.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3571875" y="4257675"/>
            <a:ext cx="2000250" cy="6000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0" name="Shape 14"/>
          <p:cNvSpPr/>
          <p:nvPr/>
        </p:nvSpPr>
        <p:spPr>
          <a:xfrm>
            <a:off x="3571875" y="4257675"/>
            <a:ext cx="28575" cy="60007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Text 15"/>
          <p:cNvSpPr/>
          <p:nvPr/>
        </p:nvSpPr>
        <p:spPr>
          <a:xfrm>
            <a:off x="3679031" y="4364831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Стоимость за 1M токенов</a:t>
            </a:r>
            <a:endParaRPr lang="en-US" sz="621" dirty="0"/>
          </a:p>
        </p:txBody>
      </p:sp>
      <p:sp>
        <p:nvSpPr>
          <p:cNvPr id="22" name="Text 16"/>
          <p:cNvSpPr/>
          <p:nvPr/>
        </p:nvSpPr>
        <p:spPr>
          <a:xfrm>
            <a:off x="3679031" y="4516636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$0.5-$15</a:t>
            </a:r>
            <a:endParaRPr lang="en-US" sz="1193" dirty="0"/>
          </a:p>
        </p:txBody>
      </p:sp>
      <p:sp>
        <p:nvSpPr>
          <p:cNvPr id="23" name="Shape 17"/>
          <p:cNvSpPr/>
          <p:nvPr/>
        </p:nvSpPr>
        <p:spPr>
          <a:xfrm>
            <a:off x="6143625" y="1394817"/>
            <a:ext cx="2571750" cy="37486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75" y="1723430"/>
            <a:ext cx="342900" cy="3429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29375" y="2252067"/>
            <a:ext cx="20002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Качество</a:t>
            </a:r>
            <a:endParaRPr lang="en-US" sz="1397" dirty="0"/>
          </a:p>
        </p:txBody>
      </p:sp>
      <p:sp>
        <p:nvSpPr>
          <p:cNvPr id="26" name="Text 19"/>
          <p:cNvSpPr/>
          <p:nvPr/>
        </p:nvSpPr>
        <p:spPr>
          <a:xfrm>
            <a:off x="6429375" y="2632472"/>
            <a:ext cx="2000250" cy="1410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Не все извлеченные документы одинаково релевантны. Шум в контексте может сбить LLM с толку.</a:t>
            </a:r>
            <a:endParaRPr lang="en-US" sz="942" dirty="0"/>
          </a:p>
        </p:txBody>
      </p:sp>
      <p:sp>
        <p:nvSpPr>
          <p:cNvPr id="27" name="Shape 20"/>
          <p:cNvSpPr/>
          <p:nvPr/>
        </p:nvSpPr>
        <p:spPr>
          <a:xfrm>
            <a:off x="6429375" y="4257675"/>
            <a:ext cx="2000250" cy="6000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Shape 21"/>
          <p:cNvSpPr/>
          <p:nvPr/>
        </p:nvSpPr>
        <p:spPr>
          <a:xfrm>
            <a:off x="6429375" y="4257675"/>
            <a:ext cx="28575" cy="60007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Text 22"/>
          <p:cNvSpPr/>
          <p:nvPr/>
        </p:nvSpPr>
        <p:spPr>
          <a:xfrm>
            <a:off x="6536531" y="4364831"/>
            <a:ext cx="1785938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1" dirty="0">
                <a:solidFill>
                  <a:srgbClr val="999999"/>
                </a:solidFill>
              </a:rPr>
              <a:t>Точность без оптимизации</a:t>
            </a:r>
            <a:endParaRPr lang="en-US" sz="621" dirty="0"/>
          </a:p>
        </p:txBody>
      </p:sp>
      <p:sp>
        <p:nvSpPr>
          <p:cNvPr id="30" name="Text 23"/>
          <p:cNvSpPr/>
          <p:nvPr/>
        </p:nvSpPr>
        <p:spPr>
          <a:xfrm>
            <a:off x="6536531" y="4516636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4F00"/>
                </a:solidFill>
              </a:rPr>
              <a:t>60-70%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Двухэтапный поиск: Retrieve &amp; Re-rank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428625" y="1691283"/>
            <a:ext cx="4286250" cy="7768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607219" y="1901130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1965424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07281" y="1877020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Stage 1: Retrieve</a:t>
            </a:r>
            <a:endParaRPr lang="en-US" sz="1090" dirty="0"/>
          </a:p>
        </p:txBody>
      </p:sp>
      <p:sp>
        <p:nvSpPr>
          <p:cNvPr id="11" name="Text 6"/>
          <p:cNvSpPr/>
          <p:nvPr/>
        </p:nvSpPr>
        <p:spPr>
          <a:xfrm>
            <a:off x="1107281" y="2127052"/>
            <a:ext cx="3429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Быстрый, широкий поиск. Получаем Top-50.</a:t>
            </a:r>
            <a:endParaRPr lang="en-US" sz="834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7456" y="2564606"/>
            <a:ext cx="128588" cy="17145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28625" y="2837855"/>
            <a:ext cx="4286250" cy="7768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8"/>
          <p:cNvSpPr/>
          <p:nvPr/>
        </p:nvSpPr>
        <p:spPr>
          <a:xfrm>
            <a:off x="607219" y="3047702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Text 9"/>
          <p:cNvSpPr/>
          <p:nvPr/>
        </p:nvSpPr>
        <p:spPr>
          <a:xfrm>
            <a:off x="1107281" y="3023592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Stage 2: Re-rank</a:t>
            </a:r>
            <a:endParaRPr lang="en-US" sz="1090" dirty="0"/>
          </a:p>
        </p:txBody>
      </p:sp>
      <p:sp>
        <p:nvSpPr>
          <p:cNvPr id="16" name="Text 10"/>
          <p:cNvSpPr/>
          <p:nvPr/>
        </p:nvSpPr>
        <p:spPr>
          <a:xfrm>
            <a:off x="1107281" y="3273623"/>
            <a:ext cx="3429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Точная фильтрация. Выбираем Top-5.</a:t>
            </a:r>
            <a:endParaRPr lang="en-US" sz="834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7456" y="3711178"/>
            <a:ext cx="128588" cy="171450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428625" y="3984427"/>
            <a:ext cx="4286250" cy="77688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Shape 12"/>
          <p:cNvSpPr/>
          <p:nvPr/>
        </p:nvSpPr>
        <p:spPr>
          <a:xfrm>
            <a:off x="607219" y="4194274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3" y="4258568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107281" y="4170164"/>
            <a:ext cx="34290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LLM Generation</a:t>
            </a:r>
            <a:endParaRPr lang="en-US" sz="1090" dirty="0"/>
          </a:p>
        </p:txBody>
      </p:sp>
      <p:sp>
        <p:nvSpPr>
          <p:cNvPr id="22" name="Text 14"/>
          <p:cNvSpPr/>
          <p:nvPr/>
        </p:nvSpPr>
        <p:spPr>
          <a:xfrm>
            <a:off x="1107281" y="4420195"/>
            <a:ext cx="3429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Генерируем ответ на основе лучших документов.</a:t>
            </a:r>
            <a:endParaRPr lang="en-US" sz="834" dirty="0"/>
          </a:p>
        </p:txBody>
      </p:sp>
      <p:sp>
        <p:nvSpPr>
          <p:cNvPr id="23" name="Shape 15"/>
          <p:cNvSpPr/>
          <p:nvPr/>
        </p:nvSpPr>
        <p:spPr>
          <a:xfrm>
            <a:off x="5143500" y="1896666"/>
            <a:ext cx="3571875" cy="267354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7831" y="2246709"/>
            <a:ext cx="128588" cy="171450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822156" y="2189559"/>
            <a:ext cx="26074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Recall-focused</a:t>
            </a:r>
            <a:endParaRPr lang="en-US" sz="885" dirty="0"/>
          </a:p>
        </p:txBody>
      </p:sp>
      <p:sp>
        <p:nvSpPr>
          <p:cNvPr id="26" name="Text 17"/>
          <p:cNvSpPr/>
          <p:nvPr/>
        </p:nvSpPr>
        <p:spPr>
          <a:xfrm>
            <a:off x="5822156" y="2400300"/>
            <a:ext cx="2607469" cy="466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Retrieve оптимизирован на полноту. Лучше получить 50 документов, чем пропустить нужный.</a:t>
            </a:r>
            <a:endParaRPr lang="en-US" sz="834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0" y="3137892"/>
            <a:ext cx="171450" cy="1714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822156" y="3080742"/>
            <a:ext cx="26074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Precision-focused</a:t>
            </a:r>
            <a:endParaRPr lang="en-US" sz="885" dirty="0"/>
          </a:p>
        </p:txBody>
      </p:sp>
      <p:sp>
        <p:nvSpPr>
          <p:cNvPr id="29" name="Text 19"/>
          <p:cNvSpPr/>
          <p:nvPr/>
        </p:nvSpPr>
        <p:spPr>
          <a:xfrm>
            <a:off x="5822156" y="3291483"/>
            <a:ext cx="260746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Re-rank фильтрует шум. Выбирает только самые релевантные документы для LLM.</a:t>
            </a:r>
            <a:endParaRPr lang="en-US" sz="834" dirty="0"/>
          </a:p>
        </p:txBody>
      </p:sp>
      <p:sp>
        <p:nvSpPr>
          <p:cNvPr id="30" name="Text 20"/>
          <p:cNvSpPr/>
          <p:nvPr/>
        </p:nvSpPr>
        <p:spPr>
          <a:xfrm>
            <a:off x="5429250" y="3816548"/>
            <a:ext cx="3000375" cy="460772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555555"/>
                </a:solidFill>
              </a:rPr>
              <a:t>Результат:</a:t>
            </a:r>
            <a:r>
              <a:rPr lang="en-US" sz="834" dirty="0">
                <a:solidFill>
                  <a:srgbClr val="555555"/>
                </a:solidFill>
              </a:rPr>
              <a:t> Лучшее качество при сохранении скорости.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Cross-Encoder Re-rankers</a:t>
            </a:r>
            <a:endParaRPr lang="en-US" sz="2436" dirty="0"/>
          </a:p>
        </p:txBody>
      </p:sp>
      <p:sp>
        <p:nvSpPr>
          <p:cNvPr id="7" name="Text 3"/>
          <p:cNvSpPr/>
          <p:nvPr/>
        </p:nvSpPr>
        <p:spPr>
          <a:xfrm>
            <a:off x="428625" y="1323380"/>
            <a:ext cx="39647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Bi-Encoder vs Cross-Encoder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428625" y="1735931"/>
            <a:ext cx="3964781" cy="128688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9" name="Text 5"/>
          <p:cNvSpPr/>
          <p:nvPr/>
        </p:nvSpPr>
        <p:spPr>
          <a:xfrm>
            <a:off x="571500" y="1878806"/>
            <a:ext cx="857250" cy="986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Архитектура</a:t>
            </a:r>
            <a:endParaRPr lang="en-US" sz="683" dirty="0"/>
          </a:p>
        </p:txBody>
      </p:sp>
      <p:sp>
        <p:nvSpPr>
          <p:cNvPr id="10" name="Shape 6"/>
          <p:cNvSpPr/>
          <p:nvPr/>
        </p:nvSpPr>
        <p:spPr>
          <a:xfrm>
            <a:off x="1571625" y="1878806"/>
            <a:ext cx="1268016" cy="98684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Shape 7"/>
          <p:cNvSpPr/>
          <p:nvPr/>
        </p:nvSpPr>
        <p:spPr>
          <a:xfrm>
            <a:off x="1571625" y="1878806"/>
            <a:ext cx="28575" cy="98684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1678781" y="1985963"/>
            <a:ext cx="1053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Bi-Encoder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1678781" y="2198489"/>
            <a:ext cx="1053703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Отдельные эмбеддинги для запроса и документа</a:t>
            </a:r>
            <a:endParaRPr lang="en-US" sz="727" dirty="0"/>
          </a:p>
        </p:txBody>
      </p:sp>
      <p:sp>
        <p:nvSpPr>
          <p:cNvPr id="14" name="Shape 10"/>
          <p:cNvSpPr/>
          <p:nvPr/>
        </p:nvSpPr>
        <p:spPr>
          <a:xfrm>
            <a:off x="2982516" y="1878806"/>
            <a:ext cx="1268016" cy="84684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1"/>
          <p:cNvSpPr/>
          <p:nvPr/>
        </p:nvSpPr>
        <p:spPr>
          <a:xfrm>
            <a:off x="2982516" y="1878806"/>
            <a:ext cx="28575" cy="84684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6" name="Text 12"/>
          <p:cNvSpPr/>
          <p:nvPr/>
        </p:nvSpPr>
        <p:spPr>
          <a:xfrm>
            <a:off x="3089672" y="1985963"/>
            <a:ext cx="1053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Cross-Encoder</a:t>
            </a:r>
            <a:endParaRPr lang="en-US" sz="784" dirty="0"/>
          </a:p>
        </p:txBody>
      </p:sp>
      <p:sp>
        <p:nvSpPr>
          <p:cNvPr id="17" name="Text 13"/>
          <p:cNvSpPr/>
          <p:nvPr/>
        </p:nvSpPr>
        <p:spPr>
          <a:xfrm>
            <a:off x="3089672" y="2198489"/>
            <a:ext cx="1053703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Совместная обработка пары (query, doc)</a:t>
            </a:r>
            <a:endParaRPr lang="en-US" sz="727" dirty="0"/>
          </a:p>
        </p:txBody>
      </p:sp>
      <p:sp>
        <p:nvSpPr>
          <p:cNvPr id="18" name="Shape 14"/>
          <p:cNvSpPr/>
          <p:nvPr/>
        </p:nvSpPr>
        <p:spPr>
          <a:xfrm>
            <a:off x="428625" y="2975679"/>
            <a:ext cx="3964781" cy="100687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9" name="Text 15"/>
          <p:cNvSpPr/>
          <p:nvPr/>
        </p:nvSpPr>
        <p:spPr>
          <a:xfrm>
            <a:off x="571500" y="3118554"/>
            <a:ext cx="857250" cy="70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Скорость</a:t>
            </a:r>
            <a:endParaRPr lang="en-US" sz="683" dirty="0"/>
          </a:p>
        </p:txBody>
      </p:sp>
      <p:sp>
        <p:nvSpPr>
          <p:cNvPr id="20" name="Shape 16"/>
          <p:cNvSpPr/>
          <p:nvPr/>
        </p:nvSpPr>
        <p:spPr>
          <a:xfrm>
            <a:off x="1571625" y="3118554"/>
            <a:ext cx="1268016" cy="70684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1" name="Shape 17"/>
          <p:cNvSpPr/>
          <p:nvPr/>
        </p:nvSpPr>
        <p:spPr>
          <a:xfrm>
            <a:off x="1571625" y="3118554"/>
            <a:ext cx="28575" cy="7068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2" name="Text 18"/>
          <p:cNvSpPr/>
          <p:nvPr/>
        </p:nvSpPr>
        <p:spPr>
          <a:xfrm>
            <a:off x="1678781" y="3225710"/>
            <a:ext cx="1053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⚡ Быстро</a:t>
            </a:r>
            <a:endParaRPr lang="en-US" sz="784" dirty="0"/>
          </a:p>
        </p:txBody>
      </p:sp>
      <p:sp>
        <p:nvSpPr>
          <p:cNvPr id="23" name="Text 19"/>
          <p:cNvSpPr/>
          <p:nvPr/>
        </p:nvSpPr>
        <p:spPr>
          <a:xfrm>
            <a:off x="1678781" y="3438237"/>
            <a:ext cx="105370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~1 мс на документ</a:t>
            </a:r>
            <a:endParaRPr lang="en-US" sz="727" dirty="0"/>
          </a:p>
        </p:txBody>
      </p:sp>
      <p:sp>
        <p:nvSpPr>
          <p:cNvPr id="24" name="Shape 20"/>
          <p:cNvSpPr/>
          <p:nvPr/>
        </p:nvSpPr>
        <p:spPr>
          <a:xfrm>
            <a:off x="2982516" y="3118554"/>
            <a:ext cx="1268016" cy="70684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21"/>
          <p:cNvSpPr/>
          <p:nvPr/>
        </p:nvSpPr>
        <p:spPr>
          <a:xfrm>
            <a:off x="2982516" y="3118554"/>
            <a:ext cx="28575" cy="70684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Text 22"/>
          <p:cNvSpPr/>
          <p:nvPr/>
        </p:nvSpPr>
        <p:spPr>
          <a:xfrm>
            <a:off x="3089672" y="3225710"/>
            <a:ext cx="1053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🐢 Медленно</a:t>
            </a:r>
            <a:endParaRPr lang="en-US" sz="784" dirty="0"/>
          </a:p>
        </p:txBody>
      </p:sp>
      <p:sp>
        <p:nvSpPr>
          <p:cNvPr id="27" name="Text 23"/>
          <p:cNvSpPr/>
          <p:nvPr/>
        </p:nvSpPr>
        <p:spPr>
          <a:xfrm>
            <a:off x="3089672" y="3438237"/>
            <a:ext cx="10537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~10-50 мс на документ</a:t>
            </a:r>
            <a:endParaRPr lang="en-US" sz="727" dirty="0"/>
          </a:p>
        </p:txBody>
      </p:sp>
      <p:sp>
        <p:nvSpPr>
          <p:cNvPr id="28" name="Shape 24"/>
          <p:cNvSpPr/>
          <p:nvPr/>
        </p:nvSpPr>
        <p:spPr>
          <a:xfrm>
            <a:off x="428625" y="4075426"/>
            <a:ext cx="3964781" cy="100687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Text 25"/>
          <p:cNvSpPr/>
          <p:nvPr/>
        </p:nvSpPr>
        <p:spPr>
          <a:xfrm>
            <a:off x="571500" y="4218301"/>
            <a:ext cx="857250" cy="70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999999"/>
                </a:solidFill>
              </a:rPr>
              <a:t>Точность</a:t>
            </a:r>
            <a:endParaRPr lang="en-US" sz="683" dirty="0"/>
          </a:p>
        </p:txBody>
      </p:sp>
      <p:sp>
        <p:nvSpPr>
          <p:cNvPr id="30" name="Shape 26"/>
          <p:cNvSpPr/>
          <p:nvPr/>
        </p:nvSpPr>
        <p:spPr>
          <a:xfrm>
            <a:off x="1571625" y="4218301"/>
            <a:ext cx="1268016" cy="70684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Shape 27"/>
          <p:cNvSpPr/>
          <p:nvPr/>
        </p:nvSpPr>
        <p:spPr>
          <a:xfrm>
            <a:off x="1571625" y="4218301"/>
            <a:ext cx="28575" cy="7068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28"/>
          <p:cNvSpPr/>
          <p:nvPr/>
        </p:nvSpPr>
        <p:spPr>
          <a:xfrm>
            <a:off x="1678781" y="4325457"/>
            <a:ext cx="1053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70-80%</a:t>
            </a:r>
            <a:endParaRPr lang="en-US" sz="784" dirty="0"/>
          </a:p>
        </p:txBody>
      </p:sp>
      <p:sp>
        <p:nvSpPr>
          <p:cNvPr id="33" name="Text 29"/>
          <p:cNvSpPr/>
          <p:nvPr/>
        </p:nvSpPr>
        <p:spPr>
          <a:xfrm>
            <a:off x="1678781" y="4537983"/>
            <a:ext cx="1053703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Хорошо для поиска</a:t>
            </a:r>
            <a:endParaRPr lang="en-US" sz="727" dirty="0"/>
          </a:p>
        </p:txBody>
      </p:sp>
      <p:sp>
        <p:nvSpPr>
          <p:cNvPr id="34" name="Shape 30"/>
          <p:cNvSpPr/>
          <p:nvPr/>
        </p:nvSpPr>
        <p:spPr>
          <a:xfrm>
            <a:off x="2982516" y="4218301"/>
            <a:ext cx="1268016" cy="706841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Shape 31"/>
          <p:cNvSpPr/>
          <p:nvPr/>
        </p:nvSpPr>
        <p:spPr>
          <a:xfrm>
            <a:off x="2982516" y="4218301"/>
            <a:ext cx="28575" cy="70684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Text 32"/>
          <p:cNvSpPr/>
          <p:nvPr/>
        </p:nvSpPr>
        <p:spPr>
          <a:xfrm>
            <a:off x="3089672" y="4325457"/>
            <a:ext cx="10537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85-95%</a:t>
            </a:r>
            <a:endParaRPr lang="en-US" sz="784" dirty="0"/>
          </a:p>
        </p:txBody>
      </p:sp>
      <p:sp>
        <p:nvSpPr>
          <p:cNvPr id="37" name="Text 33"/>
          <p:cNvSpPr/>
          <p:nvPr/>
        </p:nvSpPr>
        <p:spPr>
          <a:xfrm>
            <a:off x="3089672" y="4537983"/>
            <a:ext cx="1053703" cy="28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Отлично для ранжирования</a:t>
            </a:r>
            <a:endParaRPr lang="en-US" sz="727" dirty="0"/>
          </a:p>
        </p:txBody>
      </p:sp>
      <p:sp>
        <p:nvSpPr>
          <p:cNvPr id="38" name="Text 34"/>
          <p:cNvSpPr/>
          <p:nvPr/>
        </p:nvSpPr>
        <p:spPr>
          <a:xfrm>
            <a:off x="4750594" y="1323380"/>
            <a:ext cx="396478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Популярные модели</a:t>
            </a:r>
            <a:endParaRPr lang="en-US" sz="1193" dirty="0"/>
          </a:p>
        </p:txBody>
      </p:sp>
      <p:sp>
        <p:nvSpPr>
          <p:cNvPr id="39" name="Shape 35"/>
          <p:cNvSpPr/>
          <p:nvPr/>
        </p:nvSpPr>
        <p:spPr>
          <a:xfrm>
            <a:off x="4750594" y="1735931"/>
            <a:ext cx="3964781" cy="99476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0" name="Shape 36"/>
          <p:cNvSpPr/>
          <p:nvPr/>
        </p:nvSpPr>
        <p:spPr>
          <a:xfrm>
            <a:off x="4750594" y="1735931"/>
            <a:ext cx="396478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Shape 37"/>
          <p:cNvSpPr/>
          <p:nvPr/>
        </p:nvSpPr>
        <p:spPr>
          <a:xfrm>
            <a:off x="8708231" y="1735931"/>
            <a:ext cx="7144" cy="99476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Shape 38"/>
          <p:cNvSpPr/>
          <p:nvPr/>
        </p:nvSpPr>
        <p:spPr>
          <a:xfrm>
            <a:off x="4750594" y="2723555"/>
            <a:ext cx="396478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3" name="Shape 39"/>
          <p:cNvSpPr/>
          <p:nvPr/>
        </p:nvSpPr>
        <p:spPr>
          <a:xfrm>
            <a:off x="4750594" y="1735931"/>
            <a:ext cx="28575" cy="994767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4" name="Text 40"/>
          <p:cNvSpPr/>
          <p:nvPr/>
        </p:nvSpPr>
        <p:spPr>
          <a:xfrm>
            <a:off x="4893469" y="1878806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Cohere Rerank</a:t>
            </a:r>
            <a:endParaRPr lang="en-US" sz="885" dirty="0"/>
          </a:p>
        </p:txBody>
      </p:sp>
      <p:sp>
        <p:nvSpPr>
          <p:cNvPr id="45" name="Text 41"/>
          <p:cNvSpPr/>
          <p:nvPr/>
        </p:nvSpPr>
        <p:spPr>
          <a:xfrm>
            <a:off x="4893469" y="2110978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Коммерческая, очень быстрая и точная. API-based.</a:t>
            </a:r>
            <a:endParaRPr lang="en-US" sz="727" dirty="0"/>
          </a:p>
        </p:txBody>
      </p:sp>
      <p:sp>
        <p:nvSpPr>
          <p:cNvPr id="46" name="Shape 42"/>
          <p:cNvSpPr/>
          <p:nvPr/>
        </p:nvSpPr>
        <p:spPr>
          <a:xfrm>
            <a:off x="4893469" y="2332434"/>
            <a:ext cx="1803797" cy="24110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7" name="Text 43"/>
          <p:cNvSpPr/>
          <p:nvPr/>
        </p:nvSpPr>
        <p:spPr>
          <a:xfrm>
            <a:off x="4893469" y="2332434"/>
            <a:ext cx="1803797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Точность:</a:t>
            </a:r>
            <a:r>
              <a:rPr lang="en-US" sz="674" dirty="0">
                <a:solidFill>
                  <a:srgbClr val="666666"/>
                </a:solidFill>
              </a:rPr>
              <a:t> 92%</a:t>
            </a:r>
            <a:endParaRPr lang="en-US" sz="634" dirty="0"/>
          </a:p>
        </p:txBody>
      </p:sp>
      <p:sp>
        <p:nvSpPr>
          <p:cNvPr id="48" name="Shape 44"/>
          <p:cNvSpPr/>
          <p:nvPr/>
        </p:nvSpPr>
        <p:spPr>
          <a:xfrm>
            <a:off x="6768703" y="2332434"/>
            <a:ext cx="1803797" cy="24110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9" name="Text 45"/>
          <p:cNvSpPr/>
          <p:nvPr/>
        </p:nvSpPr>
        <p:spPr>
          <a:xfrm>
            <a:off x="6768703" y="2332434"/>
            <a:ext cx="1803797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Скорость:</a:t>
            </a:r>
            <a:r>
              <a:rPr lang="en-US" sz="674" dirty="0">
                <a:solidFill>
                  <a:srgbClr val="666666"/>
                </a:solidFill>
              </a:rPr>
              <a:t> 200ms</a:t>
            </a:r>
            <a:endParaRPr lang="en-US" sz="634" dirty="0"/>
          </a:p>
        </p:txBody>
      </p:sp>
      <p:sp>
        <p:nvSpPr>
          <p:cNvPr id="50" name="Shape 46"/>
          <p:cNvSpPr/>
          <p:nvPr/>
        </p:nvSpPr>
        <p:spPr>
          <a:xfrm>
            <a:off x="4750594" y="2823567"/>
            <a:ext cx="3964781" cy="99476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1" name="Shape 47"/>
          <p:cNvSpPr/>
          <p:nvPr/>
        </p:nvSpPr>
        <p:spPr>
          <a:xfrm>
            <a:off x="4750594" y="2823567"/>
            <a:ext cx="396478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2" name="Shape 48"/>
          <p:cNvSpPr/>
          <p:nvPr/>
        </p:nvSpPr>
        <p:spPr>
          <a:xfrm>
            <a:off x="8708231" y="2823567"/>
            <a:ext cx="7144" cy="99476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3" name="Shape 49"/>
          <p:cNvSpPr/>
          <p:nvPr/>
        </p:nvSpPr>
        <p:spPr>
          <a:xfrm>
            <a:off x="4750594" y="3811191"/>
            <a:ext cx="396478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Shape 50"/>
          <p:cNvSpPr/>
          <p:nvPr/>
        </p:nvSpPr>
        <p:spPr>
          <a:xfrm>
            <a:off x="4750594" y="2823567"/>
            <a:ext cx="28575" cy="994767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5" name="Text 51"/>
          <p:cNvSpPr/>
          <p:nvPr/>
        </p:nvSpPr>
        <p:spPr>
          <a:xfrm>
            <a:off x="4893469" y="2966442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bge-reranker-large</a:t>
            </a:r>
            <a:endParaRPr lang="en-US" sz="885" dirty="0"/>
          </a:p>
        </p:txBody>
      </p:sp>
      <p:sp>
        <p:nvSpPr>
          <p:cNvPr id="56" name="Text 52"/>
          <p:cNvSpPr/>
          <p:nvPr/>
        </p:nvSpPr>
        <p:spPr>
          <a:xfrm>
            <a:off x="4893469" y="3198614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Open-source от BAAI. Одна из лучших по качеству.</a:t>
            </a:r>
            <a:endParaRPr lang="en-US" sz="727" dirty="0"/>
          </a:p>
        </p:txBody>
      </p:sp>
      <p:sp>
        <p:nvSpPr>
          <p:cNvPr id="57" name="Shape 53"/>
          <p:cNvSpPr/>
          <p:nvPr/>
        </p:nvSpPr>
        <p:spPr>
          <a:xfrm>
            <a:off x="4893469" y="3420070"/>
            <a:ext cx="1803797" cy="24110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8" name="Text 54"/>
          <p:cNvSpPr/>
          <p:nvPr/>
        </p:nvSpPr>
        <p:spPr>
          <a:xfrm>
            <a:off x="4893469" y="3420070"/>
            <a:ext cx="1803797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Точность:</a:t>
            </a:r>
            <a:r>
              <a:rPr lang="en-US" sz="674" dirty="0">
                <a:solidFill>
                  <a:srgbClr val="666666"/>
                </a:solidFill>
              </a:rPr>
              <a:t> 90%</a:t>
            </a:r>
            <a:endParaRPr lang="en-US" sz="634" dirty="0"/>
          </a:p>
        </p:txBody>
      </p:sp>
      <p:sp>
        <p:nvSpPr>
          <p:cNvPr id="59" name="Shape 55"/>
          <p:cNvSpPr/>
          <p:nvPr/>
        </p:nvSpPr>
        <p:spPr>
          <a:xfrm>
            <a:off x="6768703" y="3420070"/>
            <a:ext cx="1803797" cy="24110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0" name="Text 56"/>
          <p:cNvSpPr/>
          <p:nvPr/>
        </p:nvSpPr>
        <p:spPr>
          <a:xfrm>
            <a:off x="6768703" y="3420070"/>
            <a:ext cx="1803797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Размер:</a:t>
            </a:r>
            <a:r>
              <a:rPr lang="en-US" sz="674" dirty="0">
                <a:solidFill>
                  <a:srgbClr val="666666"/>
                </a:solidFill>
              </a:rPr>
              <a:t> 1.2GB</a:t>
            </a:r>
            <a:endParaRPr lang="en-US" sz="634" dirty="0"/>
          </a:p>
        </p:txBody>
      </p:sp>
      <p:sp>
        <p:nvSpPr>
          <p:cNvPr id="61" name="Shape 57"/>
          <p:cNvSpPr/>
          <p:nvPr/>
        </p:nvSpPr>
        <p:spPr>
          <a:xfrm>
            <a:off x="4750594" y="3911203"/>
            <a:ext cx="3964781" cy="99476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2" name="Shape 58"/>
          <p:cNvSpPr/>
          <p:nvPr/>
        </p:nvSpPr>
        <p:spPr>
          <a:xfrm>
            <a:off x="4750594" y="3911203"/>
            <a:ext cx="396478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3" name="Shape 59"/>
          <p:cNvSpPr/>
          <p:nvPr/>
        </p:nvSpPr>
        <p:spPr>
          <a:xfrm>
            <a:off x="8708231" y="3911203"/>
            <a:ext cx="7144" cy="994767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4" name="Shape 60"/>
          <p:cNvSpPr/>
          <p:nvPr/>
        </p:nvSpPr>
        <p:spPr>
          <a:xfrm>
            <a:off x="4750594" y="4898827"/>
            <a:ext cx="3964781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5" name="Shape 61"/>
          <p:cNvSpPr/>
          <p:nvPr/>
        </p:nvSpPr>
        <p:spPr>
          <a:xfrm>
            <a:off x="4750594" y="3911203"/>
            <a:ext cx="28575" cy="994767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6" name="Text 62"/>
          <p:cNvSpPr/>
          <p:nvPr/>
        </p:nvSpPr>
        <p:spPr>
          <a:xfrm>
            <a:off x="4893469" y="4054078"/>
            <a:ext cx="36790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ms-marco-MiniLM-L-12-v2</a:t>
            </a:r>
            <a:endParaRPr lang="en-US" sz="885" dirty="0"/>
          </a:p>
        </p:txBody>
      </p:sp>
      <p:sp>
        <p:nvSpPr>
          <p:cNvPr id="67" name="Text 63"/>
          <p:cNvSpPr/>
          <p:nvPr/>
        </p:nvSpPr>
        <p:spPr>
          <a:xfrm>
            <a:off x="4893469" y="4286250"/>
            <a:ext cx="36790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Маленькая и быстрая. Хороший компромисс.</a:t>
            </a:r>
            <a:endParaRPr lang="en-US" sz="727" dirty="0"/>
          </a:p>
        </p:txBody>
      </p:sp>
      <p:sp>
        <p:nvSpPr>
          <p:cNvPr id="68" name="Shape 64"/>
          <p:cNvSpPr/>
          <p:nvPr/>
        </p:nvSpPr>
        <p:spPr>
          <a:xfrm>
            <a:off x="4893469" y="4507706"/>
            <a:ext cx="1803797" cy="24110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9" name="Text 65"/>
          <p:cNvSpPr/>
          <p:nvPr/>
        </p:nvSpPr>
        <p:spPr>
          <a:xfrm>
            <a:off x="4893469" y="4507706"/>
            <a:ext cx="1803797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Точность:</a:t>
            </a:r>
            <a:r>
              <a:rPr lang="en-US" sz="674" dirty="0">
                <a:solidFill>
                  <a:srgbClr val="666666"/>
                </a:solidFill>
              </a:rPr>
              <a:t> 85%</a:t>
            </a:r>
            <a:endParaRPr lang="en-US" sz="634" dirty="0"/>
          </a:p>
        </p:txBody>
      </p:sp>
      <p:sp>
        <p:nvSpPr>
          <p:cNvPr id="70" name="Shape 66"/>
          <p:cNvSpPr/>
          <p:nvPr/>
        </p:nvSpPr>
        <p:spPr>
          <a:xfrm>
            <a:off x="6768703" y="4507706"/>
            <a:ext cx="1803797" cy="241102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1" name="Text 67"/>
          <p:cNvSpPr/>
          <p:nvPr/>
        </p:nvSpPr>
        <p:spPr>
          <a:xfrm>
            <a:off x="6768703" y="4507706"/>
            <a:ext cx="1803797" cy="241102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Размер:</a:t>
            </a:r>
            <a:r>
              <a:rPr lang="en-US" sz="674" dirty="0">
                <a:solidFill>
                  <a:srgbClr val="666666"/>
                </a:solidFill>
              </a:rPr>
              <a:t> 33MB</a:t>
            </a:r>
            <a:endParaRPr lang="en-US" sz="6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4342158" cy="50006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Семантическое кеширование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438810" y="1142300"/>
            <a:ext cx="4153560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581685" y="1285175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65" y="1363756"/>
            <a:ext cx="225028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6029" y="1297676"/>
            <a:ext cx="3403467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1. Входящий запрос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1046029" y="1494129"/>
            <a:ext cx="3403467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Пользователь вводит вопрос</a:t>
            </a:r>
            <a:endParaRPr lang="en-US" sz="727" dirty="0"/>
          </a:p>
        </p:txBody>
      </p:sp>
      <p:sp>
        <p:nvSpPr>
          <p:cNvPr id="13" name="Shape 7"/>
          <p:cNvSpPr/>
          <p:nvPr/>
        </p:nvSpPr>
        <p:spPr>
          <a:xfrm>
            <a:off x="438810" y="1892200"/>
            <a:ext cx="4153560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8"/>
          <p:cNvSpPr/>
          <p:nvPr/>
        </p:nvSpPr>
        <p:spPr>
          <a:xfrm>
            <a:off x="581685" y="2035075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768" y="2113657"/>
            <a:ext cx="175022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46029" y="2047577"/>
            <a:ext cx="3403467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2. Создание эмбеддинга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1046029" y="2244030"/>
            <a:ext cx="3403467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Превращаем запрос в вектор</a:t>
            </a:r>
            <a:endParaRPr lang="en-US" sz="727" dirty="0"/>
          </a:p>
        </p:txBody>
      </p:sp>
      <p:sp>
        <p:nvSpPr>
          <p:cNvPr id="19" name="Shape 11"/>
          <p:cNvSpPr/>
          <p:nvPr/>
        </p:nvSpPr>
        <p:spPr>
          <a:xfrm>
            <a:off x="448995" y="2644197"/>
            <a:ext cx="4153560" cy="657225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2"/>
          <p:cNvSpPr/>
          <p:nvPr/>
        </p:nvSpPr>
        <p:spPr>
          <a:xfrm>
            <a:off x="591870" y="2787072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953" y="2865653"/>
            <a:ext cx="175022" cy="2000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56214" y="2799574"/>
            <a:ext cx="3403467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3. Поиск в кеше</a:t>
            </a:r>
            <a:endParaRPr lang="en-US" sz="885" dirty="0"/>
          </a:p>
        </p:txBody>
      </p:sp>
      <p:sp>
        <p:nvSpPr>
          <p:cNvPr id="23" name="Text 14"/>
          <p:cNvSpPr/>
          <p:nvPr/>
        </p:nvSpPr>
        <p:spPr>
          <a:xfrm>
            <a:off x="1056214" y="2996027"/>
            <a:ext cx="3403467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Ищем похожие запросы (cosine similarity &gt; 0.98)</a:t>
            </a:r>
            <a:endParaRPr lang="en-US" sz="727" dirty="0"/>
          </a:p>
        </p:txBody>
      </p:sp>
      <p:sp>
        <p:nvSpPr>
          <p:cNvPr id="25" name="Shape 15"/>
          <p:cNvSpPr/>
          <p:nvPr/>
        </p:nvSpPr>
        <p:spPr>
          <a:xfrm>
            <a:off x="438810" y="3464525"/>
            <a:ext cx="4153560" cy="671513"/>
          </a:xfrm>
          <a:prstGeom prst="rect">
            <a:avLst/>
          </a:prstGeom>
          <a:solidFill>
            <a:srgbClr val="FFF8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266" y="3671694"/>
            <a:ext cx="200025" cy="2286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046029" y="3619901"/>
            <a:ext cx="3403467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F00"/>
                </a:solidFill>
              </a:rPr>
              <a:t>Cache Hit?</a:t>
            </a:r>
            <a:endParaRPr lang="en-US" sz="885" dirty="0"/>
          </a:p>
        </p:txBody>
      </p:sp>
      <p:sp>
        <p:nvSpPr>
          <p:cNvPr id="28" name="Text 17"/>
          <p:cNvSpPr/>
          <p:nvPr/>
        </p:nvSpPr>
        <p:spPr>
          <a:xfrm>
            <a:off x="1046029" y="3816354"/>
            <a:ext cx="3403467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333333"/>
                </a:solidFill>
              </a:rPr>
              <a:t>Найден похожий запрос?</a:t>
            </a:r>
            <a:endParaRPr lang="en-US" sz="727" dirty="0"/>
          </a:p>
        </p:txBody>
      </p:sp>
      <p:sp>
        <p:nvSpPr>
          <p:cNvPr id="29" name="Shape 18"/>
          <p:cNvSpPr/>
          <p:nvPr/>
        </p:nvSpPr>
        <p:spPr>
          <a:xfrm>
            <a:off x="438810" y="4214619"/>
            <a:ext cx="2041048" cy="657225"/>
          </a:xfrm>
          <a:prstGeom prst="rect">
            <a:avLst/>
          </a:prstGeom>
          <a:solidFill>
            <a:srgbClr val="FFF8F0"/>
          </a:solidFill>
          <a:ln w="9144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0" name="Shape 19"/>
          <p:cNvSpPr/>
          <p:nvPr/>
        </p:nvSpPr>
        <p:spPr>
          <a:xfrm>
            <a:off x="581685" y="4364637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266" y="4443219"/>
            <a:ext cx="200025" cy="200025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046029" y="4377139"/>
            <a:ext cx="1290954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F00"/>
                </a:solidFill>
              </a:rPr>
              <a:t>Да: Hit</a:t>
            </a:r>
            <a:endParaRPr lang="en-US" sz="885" dirty="0"/>
          </a:p>
        </p:txBody>
      </p:sp>
      <p:sp>
        <p:nvSpPr>
          <p:cNvPr id="33" name="Text 21"/>
          <p:cNvSpPr/>
          <p:nvPr/>
        </p:nvSpPr>
        <p:spPr>
          <a:xfrm>
            <a:off x="1046029" y="4573592"/>
            <a:ext cx="1290954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Вернуть ответ из кеша</a:t>
            </a:r>
            <a:endParaRPr lang="en-US" sz="727" dirty="0"/>
          </a:p>
        </p:txBody>
      </p:sp>
      <p:sp>
        <p:nvSpPr>
          <p:cNvPr id="34" name="Shape 22"/>
          <p:cNvSpPr/>
          <p:nvPr/>
        </p:nvSpPr>
        <p:spPr>
          <a:xfrm>
            <a:off x="2551295" y="4214619"/>
            <a:ext cx="2041075" cy="657225"/>
          </a:xfrm>
          <a:prstGeom prst="rect">
            <a:avLst/>
          </a:prstGeom>
          <a:solidFill>
            <a:srgbClr val="F5F5F5"/>
          </a:solidFill>
          <a:ln w="9144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23"/>
          <p:cNvSpPr/>
          <p:nvPr/>
        </p:nvSpPr>
        <p:spPr>
          <a:xfrm>
            <a:off x="2694170" y="4357494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10256" y="4436075"/>
            <a:ext cx="125016" cy="200025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3158514" y="4369995"/>
            <a:ext cx="1290982" cy="14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99999"/>
                </a:solidFill>
              </a:rPr>
              <a:t>Нет: Miss</a:t>
            </a:r>
            <a:endParaRPr lang="en-US" sz="885" dirty="0"/>
          </a:p>
        </p:txBody>
      </p:sp>
      <p:sp>
        <p:nvSpPr>
          <p:cNvPr id="38" name="Text 25"/>
          <p:cNvSpPr/>
          <p:nvPr/>
        </p:nvSpPr>
        <p:spPr>
          <a:xfrm>
            <a:off x="3158514" y="4566448"/>
            <a:ext cx="1290982" cy="111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Запустить RAG</a:t>
            </a:r>
            <a:endParaRPr lang="en-US" sz="727" dirty="0"/>
          </a:p>
        </p:txBody>
      </p:sp>
      <p:sp>
        <p:nvSpPr>
          <p:cNvPr id="39" name="Text 26"/>
          <p:cNvSpPr/>
          <p:nvPr/>
        </p:nvSpPr>
        <p:spPr>
          <a:xfrm>
            <a:off x="5069390" y="288429"/>
            <a:ext cx="3776002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Преимущества</a:t>
            </a:r>
            <a:endParaRPr lang="en-US" sz="987" dirty="0"/>
          </a:p>
        </p:txBody>
      </p:sp>
      <p:sp>
        <p:nvSpPr>
          <p:cNvPr id="40" name="Shape 27"/>
          <p:cNvSpPr/>
          <p:nvPr/>
        </p:nvSpPr>
        <p:spPr>
          <a:xfrm>
            <a:off x="5069390" y="654546"/>
            <a:ext cx="3776002" cy="5357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Shape 28"/>
          <p:cNvSpPr/>
          <p:nvPr/>
        </p:nvSpPr>
        <p:spPr>
          <a:xfrm>
            <a:off x="5069390" y="654546"/>
            <a:ext cx="28575" cy="53578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2" name="Text 29"/>
          <p:cNvSpPr/>
          <p:nvPr/>
        </p:nvSpPr>
        <p:spPr>
          <a:xfrm>
            <a:off x="5176546" y="761702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333333"/>
                </a:solidFill>
              </a:rPr>
              <a:t>⚡ Скорость</a:t>
            </a:r>
            <a:endParaRPr lang="en-US" sz="734" dirty="0"/>
          </a:p>
        </p:txBody>
      </p:sp>
      <p:sp>
        <p:nvSpPr>
          <p:cNvPr id="43" name="Text 30"/>
          <p:cNvSpPr/>
          <p:nvPr/>
        </p:nvSpPr>
        <p:spPr>
          <a:xfrm>
            <a:off x="5176546" y="933152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Ответ из кеша возвращается мгновенно (&lt; 100 мс)</a:t>
            </a:r>
            <a:endParaRPr lang="en-US" sz="780" dirty="0"/>
          </a:p>
        </p:txBody>
      </p:sp>
      <p:sp>
        <p:nvSpPr>
          <p:cNvPr id="44" name="Shape 31"/>
          <p:cNvSpPr/>
          <p:nvPr/>
        </p:nvSpPr>
        <p:spPr>
          <a:xfrm>
            <a:off x="5069390" y="1276052"/>
            <a:ext cx="3776002" cy="5357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5" name="Shape 32"/>
          <p:cNvSpPr/>
          <p:nvPr/>
        </p:nvSpPr>
        <p:spPr>
          <a:xfrm>
            <a:off x="5069390" y="1276052"/>
            <a:ext cx="28575" cy="53578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6" name="Text 33"/>
          <p:cNvSpPr/>
          <p:nvPr/>
        </p:nvSpPr>
        <p:spPr>
          <a:xfrm>
            <a:off x="5176546" y="1383208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333333"/>
                </a:solidFill>
              </a:rPr>
              <a:t>💰 Стоимость</a:t>
            </a:r>
            <a:endParaRPr lang="en-US" sz="734" dirty="0"/>
          </a:p>
        </p:txBody>
      </p:sp>
      <p:sp>
        <p:nvSpPr>
          <p:cNvPr id="47" name="Text 34"/>
          <p:cNvSpPr/>
          <p:nvPr/>
        </p:nvSpPr>
        <p:spPr>
          <a:xfrm>
            <a:off x="5176546" y="1554658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Меньше вызовов платных LLM API</a:t>
            </a:r>
            <a:endParaRPr lang="en-US" sz="780" dirty="0"/>
          </a:p>
        </p:txBody>
      </p:sp>
      <p:sp>
        <p:nvSpPr>
          <p:cNvPr id="48" name="Shape 35"/>
          <p:cNvSpPr/>
          <p:nvPr/>
        </p:nvSpPr>
        <p:spPr>
          <a:xfrm>
            <a:off x="5069390" y="1897558"/>
            <a:ext cx="3776002" cy="5357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9" name="Shape 36"/>
          <p:cNvSpPr/>
          <p:nvPr/>
        </p:nvSpPr>
        <p:spPr>
          <a:xfrm>
            <a:off x="5069390" y="1897558"/>
            <a:ext cx="28575" cy="53578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0" name="Text 37"/>
          <p:cNvSpPr/>
          <p:nvPr/>
        </p:nvSpPr>
        <p:spPr>
          <a:xfrm>
            <a:off x="5176546" y="2004715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333333"/>
                </a:solidFill>
              </a:rPr>
              <a:t>📉 Нагрузка</a:t>
            </a:r>
            <a:endParaRPr lang="en-US" sz="734" dirty="0"/>
          </a:p>
        </p:txBody>
      </p:sp>
      <p:sp>
        <p:nvSpPr>
          <p:cNvPr id="51" name="Text 38"/>
          <p:cNvSpPr/>
          <p:nvPr/>
        </p:nvSpPr>
        <p:spPr>
          <a:xfrm>
            <a:off x="5176546" y="2176165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333333"/>
                </a:solidFill>
              </a:rPr>
              <a:t>Снижается нагрузка на основную RAG-систему</a:t>
            </a:r>
            <a:endParaRPr lang="en-US" sz="780" dirty="0"/>
          </a:p>
        </p:txBody>
      </p:sp>
      <p:sp>
        <p:nvSpPr>
          <p:cNvPr id="52" name="Text 39"/>
          <p:cNvSpPr/>
          <p:nvPr/>
        </p:nvSpPr>
        <p:spPr>
          <a:xfrm>
            <a:off x="5069390" y="2611933"/>
            <a:ext cx="3776002" cy="280392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Риски</a:t>
            </a:r>
            <a:endParaRPr lang="en-US" sz="987" dirty="0"/>
          </a:p>
        </p:txBody>
      </p:sp>
      <p:sp>
        <p:nvSpPr>
          <p:cNvPr id="53" name="Shape 40"/>
          <p:cNvSpPr/>
          <p:nvPr/>
        </p:nvSpPr>
        <p:spPr>
          <a:xfrm>
            <a:off x="5069390" y="2978051"/>
            <a:ext cx="3776002" cy="5357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4" name="Shape 41"/>
          <p:cNvSpPr/>
          <p:nvPr/>
        </p:nvSpPr>
        <p:spPr>
          <a:xfrm>
            <a:off x="5069390" y="2978051"/>
            <a:ext cx="28575" cy="535781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5" name="Text 42"/>
          <p:cNvSpPr/>
          <p:nvPr/>
        </p:nvSpPr>
        <p:spPr>
          <a:xfrm>
            <a:off x="5176546" y="3085207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🔄 Протухание кеша</a:t>
            </a:r>
            <a:endParaRPr lang="en-US" sz="734" dirty="0"/>
          </a:p>
        </p:txBody>
      </p:sp>
      <p:sp>
        <p:nvSpPr>
          <p:cNvPr id="56" name="Text 43"/>
          <p:cNvSpPr/>
          <p:nvPr/>
        </p:nvSpPr>
        <p:spPr>
          <a:xfrm>
            <a:off x="5176546" y="3256657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Если данные изменились, ответ может быть неактуален</a:t>
            </a:r>
            <a:endParaRPr lang="en-US" sz="780" dirty="0"/>
          </a:p>
        </p:txBody>
      </p:sp>
      <p:sp>
        <p:nvSpPr>
          <p:cNvPr id="57" name="Shape 44"/>
          <p:cNvSpPr/>
          <p:nvPr/>
        </p:nvSpPr>
        <p:spPr>
          <a:xfrm>
            <a:off x="5069390" y="3599557"/>
            <a:ext cx="3776002" cy="685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8" name="Shape 45"/>
          <p:cNvSpPr/>
          <p:nvPr/>
        </p:nvSpPr>
        <p:spPr>
          <a:xfrm>
            <a:off x="5069390" y="3599557"/>
            <a:ext cx="28575" cy="6858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9" name="Text 46"/>
          <p:cNvSpPr/>
          <p:nvPr/>
        </p:nvSpPr>
        <p:spPr>
          <a:xfrm>
            <a:off x="5176546" y="3706713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⚙️ Настройка порога</a:t>
            </a:r>
            <a:endParaRPr lang="en-US" sz="734" dirty="0"/>
          </a:p>
        </p:txBody>
      </p:sp>
      <p:sp>
        <p:nvSpPr>
          <p:cNvPr id="60" name="Text 47"/>
          <p:cNvSpPr/>
          <p:nvPr/>
        </p:nvSpPr>
        <p:spPr>
          <a:xfrm>
            <a:off x="5176546" y="3878163"/>
            <a:ext cx="356169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Слишком низкий → нерелевантные ответы. Слишком высокий → мало попаданий</a:t>
            </a:r>
            <a:endParaRPr lang="en-US" sz="780" dirty="0"/>
          </a:p>
        </p:txBody>
      </p:sp>
      <p:sp>
        <p:nvSpPr>
          <p:cNvPr id="61" name="Shape 48"/>
          <p:cNvSpPr/>
          <p:nvPr/>
        </p:nvSpPr>
        <p:spPr>
          <a:xfrm>
            <a:off x="5069390" y="4371082"/>
            <a:ext cx="3776002" cy="53578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2" name="Shape 49"/>
          <p:cNvSpPr/>
          <p:nvPr/>
        </p:nvSpPr>
        <p:spPr>
          <a:xfrm>
            <a:off x="5069390" y="4371082"/>
            <a:ext cx="28575" cy="535781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3" name="Text 50"/>
          <p:cNvSpPr/>
          <p:nvPr/>
        </p:nvSpPr>
        <p:spPr>
          <a:xfrm>
            <a:off x="5176546" y="4478238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34" b="1" dirty="0">
                <a:solidFill>
                  <a:srgbClr val="555555"/>
                </a:solidFill>
              </a:rPr>
              <a:t>💾 Размер кеша</a:t>
            </a:r>
            <a:endParaRPr lang="en-US" sz="734" dirty="0"/>
          </a:p>
        </p:txBody>
      </p:sp>
      <p:sp>
        <p:nvSpPr>
          <p:cNvPr id="64" name="Text 51"/>
          <p:cNvSpPr/>
          <p:nvPr/>
        </p:nvSpPr>
        <p:spPr>
          <a:xfrm>
            <a:off x="5176546" y="4649688"/>
            <a:ext cx="35616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Требует дополнительной инфраструктуры (Redis, Qdrant)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Архитектура кеширования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428625" y="1522512"/>
            <a:ext cx="4481922" cy="621506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571500" y="1672530"/>
            <a:ext cx="321469" cy="32146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723" y="1733252"/>
            <a:ext cx="175022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0125" y="1677888"/>
            <a:ext cx="37675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1. Query Input</a:t>
            </a:r>
            <a:endParaRPr lang="en-US" sz="885" dirty="0"/>
          </a:p>
        </p:txBody>
      </p:sp>
      <p:sp>
        <p:nvSpPr>
          <p:cNvPr id="11" name="Text 6"/>
          <p:cNvSpPr/>
          <p:nvPr/>
        </p:nvSpPr>
        <p:spPr>
          <a:xfrm>
            <a:off x="1000125" y="1852910"/>
            <a:ext cx="37675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Пользователь задает вопрос</a:t>
            </a:r>
            <a:endParaRPr lang="en-US" sz="727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366" y="2231529"/>
            <a:ext cx="96441" cy="12858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28625" y="2454771"/>
            <a:ext cx="4481922" cy="621506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4" name="Shape 8"/>
          <p:cNvSpPr/>
          <p:nvPr/>
        </p:nvSpPr>
        <p:spPr>
          <a:xfrm>
            <a:off x="571500" y="2604790"/>
            <a:ext cx="321469" cy="32146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723" y="2665512"/>
            <a:ext cx="175022" cy="20002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0125" y="2610148"/>
            <a:ext cx="37675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2. Embed Query</a:t>
            </a:r>
            <a:endParaRPr lang="en-US" sz="885" dirty="0"/>
          </a:p>
        </p:txBody>
      </p:sp>
      <p:sp>
        <p:nvSpPr>
          <p:cNvPr id="17" name="Text 10"/>
          <p:cNvSpPr/>
          <p:nvPr/>
        </p:nvSpPr>
        <p:spPr>
          <a:xfrm>
            <a:off x="1000125" y="2785170"/>
            <a:ext cx="37675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777777"/>
                </a:solidFill>
              </a:rPr>
              <a:t>Создаем эмбеддинг запроса</a:t>
            </a:r>
            <a:endParaRPr lang="en-US" sz="727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1366" y="3163788"/>
            <a:ext cx="96441" cy="128588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28625" y="3387030"/>
            <a:ext cx="4481922" cy="635794"/>
          </a:xfrm>
          <a:prstGeom prst="rect">
            <a:avLst/>
          </a:prstGeom>
          <a:solidFill>
            <a:srgbClr val="FFF5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0" name="Shape 12"/>
          <p:cNvSpPr/>
          <p:nvPr/>
        </p:nvSpPr>
        <p:spPr>
          <a:xfrm>
            <a:off x="571500" y="3544193"/>
            <a:ext cx="321469" cy="321469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723" y="3604915"/>
            <a:ext cx="175022" cy="200025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000125" y="3549551"/>
            <a:ext cx="376754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F00"/>
                </a:solidFill>
              </a:rPr>
              <a:t>3. Search Cache</a:t>
            </a:r>
            <a:endParaRPr lang="en-US" sz="885" dirty="0"/>
          </a:p>
        </p:txBody>
      </p:sp>
      <p:sp>
        <p:nvSpPr>
          <p:cNvPr id="23" name="Text 14"/>
          <p:cNvSpPr/>
          <p:nvPr/>
        </p:nvSpPr>
        <p:spPr>
          <a:xfrm>
            <a:off x="1000125" y="3724573"/>
            <a:ext cx="37675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Ищем похожий запрос в кеше</a:t>
            </a:r>
            <a:endParaRPr lang="en-US" sz="727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1366" y="4103191"/>
            <a:ext cx="96441" cy="128588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428625" y="4362152"/>
            <a:ext cx="2187383" cy="5536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6" name="Shape 16"/>
          <p:cNvSpPr/>
          <p:nvPr/>
        </p:nvSpPr>
        <p:spPr>
          <a:xfrm>
            <a:off x="428625" y="4362152"/>
            <a:ext cx="218738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7" name="Shape 17"/>
          <p:cNvSpPr/>
          <p:nvPr/>
        </p:nvSpPr>
        <p:spPr>
          <a:xfrm>
            <a:off x="2608864" y="4362152"/>
            <a:ext cx="7144" cy="55364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8" name="Shape 18"/>
          <p:cNvSpPr/>
          <p:nvPr/>
        </p:nvSpPr>
        <p:spPr>
          <a:xfrm>
            <a:off x="428625" y="4908649"/>
            <a:ext cx="218738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9" name="Shape 19"/>
          <p:cNvSpPr/>
          <p:nvPr/>
        </p:nvSpPr>
        <p:spPr>
          <a:xfrm>
            <a:off x="428625" y="4362152"/>
            <a:ext cx="28575" cy="55364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0" name="Shape 20"/>
          <p:cNvSpPr/>
          <p:nvPr/>
        </p:nvSpPr>
        <p:spPr>
          <a:xfrm>
            <a:off x="557213" y="4513957"/>
            <a:ext cx="250031" cy="25003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503" y="4553248"/>
            <a:ext cx="171450" cy="1714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892969" y="4497884"/>
            <a:ext cx="15944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Cache Hit</a:t>
            </a:r>
            <a:endParaRPr lang="en-US" sz="784" dirty="0"/>
          </a:p>
        </p:txBody>
      </p:sp>
      <p:sp>
        <p:nvSpPr>
          <p:cNvPr id="33" name="Text 22"/>
          <p:cNvSpPr/>
          <p:nvPr/>
        </p:nvSpPr>
        <p:spPr>
          <a:xfrm>
            <a:off x="892969" y="4653260"/>
            <a:ext cx="15944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777777"/>
                </a:solidFill>
              </a:rPr>
              <a:t>Возвращаем ответ из кеша</a:t>
            </a:r>
            <a:endParaRPr lang="en-US" sz="674" dirty="0"/>
          </a:p>
        </p:txBody>
      </p:sp>
      <p:sp>
        <p:nvSpPr>
          <p:cNvPr id="34" name="Shape 23"/>
          <p:cNvSpPr/>
          <p:nvPr/>
        </p:nvSpPr>
        <p:spPr>
          <a:xfrm>
            <a:off x="2723164" y="4362152"/>
            <a:ext cx="2187383" cy="55364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5" name="Shape 24"/>
          <p:cNvSpPr/>
          <p:nvPr/>
        </p:nvSpPr>
        <p:spPr>
          <a:xfrm>
            <a:off x="2723164" y="4362152"/>
            <a:ext cx="218738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Shape 25"/>
          <p:cNvSpPr/>
          <p:nvPr/>
        </p:nvSpPr>
        <p:spPr>
          <a:xfrm>
            <a:off x="4903403" y="4362152"/>
            <a:ext cx="7144" cy="55364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Shape 26"/>
          <p:cNvSpPr/>
          <p:nvPr/>
        </p:nvSpPr>
        <p:spPr>
          <a:xfrm>
            <a:off x="2723164" y="4908649"/>
            <a:ext cx="2187383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8" name="Shape 27"/>
          <p:cNvSpPr/>
          <p:nvPr/>
        </p:nvSpPr>
        <p:spPr>
          <a:xfrm>
            <a:off x="2723164" y="4362152"/>
            <a:ext cx="28575" cy="553641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9" name="Shape 28"/>
          <p:cNvSpPr/>
          <p:nvPr/>
        </p:nvSpPr>
        <p:spPr>
          <a:xfrm>
            <a:off x="2851752" y="4513957"/>
            <a:ext cx="250031" cy="25003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91042" y="4553248"/>
            <a:ext cx="171450" cy="17145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187508" y="4497884"/>
            <a:ext cx="15944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Cache Miss</a:t>
            </a:r>
            <a:endParaRPr lang="en-US" sz="784" dirty="0"/>
          </a:p>
        </p:txBody>
      </p:sp>
      <p:sp>
        <p:nvSpPr>
          <p:cNvPr id="42" name="Text 30"/>
          <p:cNvSpPr/>
          <p:nvPr/>
        </p:nvSpPr>
        <p:spPr>
          <a:xfrm>
            <a:off x="3187508" y="4653260"/>
            <a:ext cx="159445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777777"/>
                </a:solidFill>
              </a:rPr>
              <a:t>Запускаем RAG пайплайн</a:t>
            </a:r>
            <a:endParaRPr lang="en-US" sz="674" dirty="0"/>
          </a:p>
        </p:txBody>
      </p:sp>
      <p:sp>
        <p:nvSpPr>
          <p:cNvPr id="43" name="Shape 31"/>
          <p:cNvSpPr/>
          <p:nvPr/>
        </p:nvSpPr>
        <p:spPr>
          <a:xfrm>
            <a:off x="5267734" y="1360884"/>
            <a:ext cx="3447641" cy="3745111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4" name="Text 32"/>
          <p:cNvSpPr/>
          <p:nvPr/>
        </p:nvSpPr>
        <p:spPr>
          <a:xfrm>
            <a:off x="5517766" y="1618059"/>
            <a:ext cx="2947578" cy="316111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На Cache Hit</a:t>
            </a:r>
            <a:endParaRPr lang="en-US" sz="987" dirty="0"/>
          </a:p>
        </p:txBody>
      </p:sp>
      <p:sp>
        <p:nvSpPr>
          <p:cNvPr id="45" name="Text 33"/>
          <p:cNvSpPr/>
          <p:nvPr/>
        </p:nvSpPr>
        <p:spPr>
          <a:xfrm>
            <a:off x="5517766" y="2112764"/>
            <a:ext cx="29475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Латентность</a:t>
            </a:r>
            <a:endParaRPr lang="en-US" sz="634" dirty="0"/>
          </a:p>
        </p:txBody>
      </p:sp>
      <p:sp>
        <p:nvSpPr>
          <p:cNvPr id="46" name="Text 34"/>
          <p:cNvSpPr/>
          <p:nvPr/>
        </p:nvSpPr>
        <p:spPr>
          <a:xfrm>
            <a:off x="5517766" y="2296716"/>
            <a:ext cx="294757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~50ms</a:t>
            </a:r>
            <a:endParaRPr lang="en-US" sz="1397" dirty="0"/>
          </a:p>
        </p:txBody>
      </p:sp>
      <p:sp>
        <p:nvSpPr>
          <p:cNvPr id="47" name="Text 35"/>
          <p:cNvSpPr/>
          <p:nvPr/>
        </p:nvSpPr>
        <p:spPr>
          <a:xfrm>
            <a:off x="5517766" y="2627114"/>
            <a:ext cx="29475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Вместо 2-5 сек</a:t>
            </a:r>
            <a:endParaRPr lang="en-US" sz="727" dirty="0"/>
          </a:p>
        </p:txBody>
      </p:sp>
      <p:sp>
        <p:nvSpPr>
          <p:cNvPr id="48" name="Text 36"/>
          <p:cNvSpPr/>
          <p:nvPr/>
        </p:nvSpPr>
        <p:spPr>
          <a:xfrm>
            <a:off x="5517766" y="2941439"/>
            <a:ext cx="29475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Стоимость</a:t>
            </a:r>
            <a:endParaRPr lang="en-US" sz="634" dirty="0"/>
          </a:p>
        </p:txBody>
      </p:sp>
      <p:sp>
        <p:nvSpPr>
          <p:cNvPr id="49" name="Text 37"/>
          <p:cNvSpPr/>
          <p:nvPr/>
        </p:nvSpPr>
        <p:spPr>
          <a:xfrm>
            <a:off x="5517766" y="3125391"/>
            <a:ext cx="294757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-95%</a:t>
            </a:r>
            <a:endParaRPr lang="en-US" sz="1397" dirty="0"/>
          </a:p>
        </p:txBody>
      </p:sp>
      <p:sp>
        <p:nvSpPr>
          <p:cNvPr id="50" name="Text 38"/>
          <p:cNvSpPr/>
          <p:nvPr/>
        </p:nvSpPr>
        <p:spPr>
          <a:xfrm>
            <a:off x="5517766" y="3455789"/>
            <a:ext cx="29475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Нет вызова LLM API</a:t>
            </a:r>
            <a:endParaRPr lang="en-US" sz="727" dirty="0"/>
          </a:p>
        </p:txBody>
      </p:sp>
      <p:sp>
        <p:nvSpPr>
          <p:cNvPr id="51" name="Text 39"/>
          <p:cNvSpPr/>
          <p:nvPr/>
        </p:nvSpPr>
        <p:spPr>
          <a:xfrm>
            <a:off x="5517766" y="3770114"/>
            <a:ext cx="29475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999999"/>
                </a:solidFill>
              </a:rPr>
              <a:t>Нагрузка</a:t>
            </a:r>
            <a:endParaRPr lang="en-US" sz="634" dirty="0"/>
          </a:p>
        </p:txBody>
      </p:sp>
      <p:sp>
        <p:nvSpPr>
          <p:cNvPr id="52" name="Text 40"/>
          <p:cNvSpPr/>
          <p:nvPr/>
        </p:nvSpPr>
        <p:spPr>
          <a:xfrm>
            <a:off x="5517766" y="3954066"/>
            <a:ext cx="2947578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4F00"/>
                </a:solidFill>
              </a:rPr>
              <a:t>-80%</a:t>
            </a:r>
            <a:endParaRPr lang="en-US" sz="1397" dirty="0"/>
          </a:p>
        </p:txBody>
      </p:sp>
      <p:sp>
        <p:nvSpPr>
          <p:cNvPr id="53" name="Text 41"/>
          <p:cNvSpPr/>
          <p:nvPr/>
        </p:nvSpPr>
        <p:spPr>
          <a:xfrm>
            <a:off x="5517766" y="4284464"/>
            <a:ext cx="29475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Только поиск в кеше</a:t>
            </a:r>
            <a:endParaRPr lang="en-US" sz="727" dirty="0"/>
          </a:p>
        </p:txBody>
      </p:sp>
      <p:sp>
        <p:nvSpPr>
          <p:cNvPr id="54" name="Text 42"/>
          <p:cNvSpPr/>
          <p:nvPr/>
        </p:nvSpPr>
        <p:spPr>
          <a:xfrm>
            <a:off x="5517766" y="4598789"/>
            <a:ext cx="2947578" cy="250031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Типичный hit rate:</a:t>
            </a:r>
            <a:r>
              <a:rPr lang="en-US" sz="727" dirty="0">
                <a:solidFill>
                  <a:srgbClr val="555555"/>
                </a:solidFill>
              </a:rPr>
              <a:t> 15-30% в зависимости от домена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A/B-тестирование RAG</a:t>
            </a:r>
            <a:endParaRPr lang="en-US" sz="2436" dirty="0"/>
          </a:p>
        </p:txBody>
      </p:sp>
      <p:sp>
        <p:nvSpPr>
          <p:cNvPr id="7" name="Text 3"/>
          <p:cNvSpPr/>
          <p:nvPr/>
        </p:nvSpPr>
        <p:spPr>
          <a:xfrm>
            <a:off x="428625" y="1323380"/>
            <a:ext cx="3964781" cy="36254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Что тестировать</a:t>
            </a:r>
            <a:endParaRPr lang="en-US" sz="1193" dirty="0"/>
          </a:p>
        </p:txBody>
      </p:sp>
      <p:sp>
        <p:nvSpPr>
          <p:cNvPr id="8" name="Shape 4"/>
          <p:cNvSpPr/>
          <p:nvPr/>
        </p:nvSpPr>
        <p:spPr>
          <a:xfrm>
            <a:off x="428625" y="1864519"/>
            <a:ext cx="3964781" cy="646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>
            <a:off x="428625" y="1864519"/>
            <a:ext cx="28575" cy="646509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2064544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4406" y="2007394"/>
            <a:ext cx="185787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Модель LLM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964406" y="2218134"/>
            <a:ext cx="185787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GPT-4o vs Gemini 2.5 Flash vs Claude</a:t>
            </a:r>
            <a:endParaRPr lang="en-US" sz="780" dirty="0"/>
          </a:p>
        </p:txBody>
      </p:sp>
      <p:sp>
        <p:nvSpPr>
          <p:cNvPr id="13" name="Shape 8"/>
          <p:cNvSpPr/>
          <p:nvPr/>
        </p:nvSpPr>
        <p:spPr>
          <a:xfrm>
            <a:off x="428625" y="2689622"/>
            <a:ext cx="3964781" cy="646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4" name="Shape 9"/>
          <p:cNvSpPr/>
          <p:nvPr/>
        </p:nvSpPr>
        <p:spPr>
          <a:xfrm>
            <a:off x="428625" y="2689622"/>
            <a:ext cx="28575" cy="646509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" y="2889647"/>
            <a:ext cx="171450" cy="1714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4406" y="2832497"/>
            <a:ext cx="215791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Промпт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964406" y="3043238"/>
            <a:ext cx="215791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Chain-of-Thought vs Zero-Shot vs Few-Shot</a:t>
            </a:r>
            <a:endParaRPr lang="en-US" sz="780" dirty="0"/>
          </a:p>
        </p:txBody>
      </p:sp>
      <p:sp>
        <p:nvSpPr>
          <p:cNvPr id="18" name="Shape 12"/>
          <p:cNvSpPr/>
          <p:nvPr/>
        </p:nvSpPr>
        <p:spPr>
          <a:xfrm>
            <a:off x="428625" y="3514725"/>
            <a:ext cx="3964781" cy="646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9" name="Shape 13"/>
          <p:cNvSpPr/>
          <p:nvPr/>
        </p:nvSpPr>
        <p:spPr>
          <a:xfrm>
            <a:off x="428625" y="3514725"/>
            <a:ext cx="28575" cy="646509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3714750"/>
            <a:ext cx="171450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64406" y="3657600"/>
            <a:ext cx="176766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Стратегия поиска</a:t>
            </a:r>
            <a:endParaRPr lang="en-US" sz="885" dirty="0"/>
          </a:p>
        </p:txBody>
      </p:sp>
      <p:sp>
        <p:nvSpPr>
          <p:cNvPr id="22" name="Text 15"/>
          <p:cNvSpPr/>
          <p:nvPr/>
        </p:nvSpPr>
        <p:spPr>
          <a:xfrm>
            <a:off x="964406" y="3868341"/>
            <a:ext cx="176766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Hybrid vs Vector-only vs BM25-only</a:t>
            </a:r>
            <a:endParaRPr lang="en-US" sz="780" dirty="0"/>
          </a:p>
        </p:txBody>
      </p:sp>
      <p:sp>
        <p:nvSpPr>
          <p:cNvPr id="23" name="Shape 16"/>
          <p:cNvSpPr/>
          <p:nvPr/>
        </p:nvSpPr>
        <p:spPr>
          <a:xfrm>
            <a:off x="428625" y="4339828"/>
            <a:ext cx="3964781" cy="64650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4" name="Shape 17"/>
          <p:cNvSpPr/>
          <p:nvPr/>
        </p:nvSpPr>
        <p:spPr>
          <a:xfrm>
            <a:off x="428625" y="4339828"/>
            <a:ext cx="28575" cy="646509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Text 18"/>
          <p:cNvSpPr/>
          <p:nvPr/>
        </p:nvSpPr>
        <p:spPr>
          <a:xfrm>
            <a:off x="964406" y="4482703"/>
            <a:ext cx="196955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Re-ranker</a:t>
            </a:r>
            <a:endParaRPr lang="en-US" sz="885" dirty="0"/>
          </a:p>
        </p:txBody>
      </p:sp>
      <p:sp>
        <p:nvSpPr>
          <p:cNvPr id="26" name="Text 19"/>
          <p:cNvSpPr/>
          <p:nvPr/>
        </p:nvSpPr>
        <p:spPr>
          <a:xfrm>
            <a:off x="964406" y="4693444"/>
            <a:ext cx="196955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Cohere Rerank vs BGE vs без Re-ranker</a:t>
            </a:r>
            <a:endParaRPr lang="en-US" sz="780" dirty="0"/>
          </a:p>
        </p:txBody>
      </p:sp>
      <p:sp>
        <p:nvSpPr>
          <p:cNvPr id="27" name="Text 20"/>
          <p:cNvSpPr/>
          <p:nvPr/>
        </p:nvSpPr>
        <p:spPr>
          <a:xfrm>
            <a:off x="4750594" y="1323380"/>
            <a:ext cx="3964781" cy="362545"/>
          </a:xfrm>
          <a:prstGeom prst="rect">
            <a:avLst/>
          </a:prstGeom>
          <a:noFill/>
          <a:ln/>
        </p:spPr>
        <p:txBody>
          <a:bodyPr wrap="square" lIns="0" tIns="0" rIns="0" bIns="1275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Ключевые принципы</a:t>
            </a:r>
            <a:endParaRPr lang="en-US" sz="1193" dirty="0"/>
          </a:p>
        </p:txBody>
      </p:sp>
      <p:sp>
        <p:nvSpPr>
          <p:cNvPr id="28" name="Shape 21"/>
          <p:cNvSpPr/>
          <p:nvPr/>
        </p:nvSpPr>
        <p:spPr>
          <a:xfrm>
            <a:off x="4750594" y="1864519"/>
            <a:ext cx="3964781" cy="66079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4552" y="2085975"/>
            <a:ext cx="175022" cy="2000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57813" y="2007394"/>
            <a:ext cx="296471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Control vs Treatment</a:t>
            </a:r>
            <a:endParaRPr lang="en-US" sz="885" dirty="0"/>
          </a:p>
        </p:txBody>
      </p:sp>
      <p:sp>
        <p:nvSpPr>
          <p:cNvPr id="31" name="Text 23"/>
          <p:cNvSpPr/>
          <p:nvPr/>
        </p:nvSpPr>
        <p:spPr>
          <a:xfrm>
            <a:off x="5357813" y="2218134"/>
            <a:ext cx="296471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90% пользователей видят старую версию, 10% — новую</a:t>
            </a:r>
            <a:endParaRPr lang="en-US" sz="780" dirty="0"/>
          </a:p>
        </p:txBody>
      </p:sp>
      <p:sp>
        <p:nvSpPr>
          <p:cNvPr id="32" name="Shape 24"/>
          <p:cNvSpPr/>
          <p:nvPr/>
        </p:nvSpPr>
        <p:spPr>
          <a:xfrm>
            <a:off x="4750594" y="2689622"/>
            <a:ext cx="3964781" cy="66079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2050" y="2911078"/>
            <a:ext cx="200025" cy="20002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357813" y="2832497"/>
            <a:ext cx="235113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Статистическая значимость</a:t>
            </a:r>
            <a:endParaRPr lang="en-US" sz="885" dirty="0"/>
          </a:p>
        </p:txBody>
      </p:sp>
      <p:sp>
        <p:nvSpPr>
          <p:cNvPr id="35" name="Text 26"/>
          <p:cNvSpPr/>
          <p:nvPr/>
        </p:nvSpPr>
        <p:spPr>
          <a:xfrm>
            <a:off x="5357813" y="3043238"/>
            <a:ext cx="23511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p-value &lt; 0.05, достаточный размер выборки</a:t>
            </a:r>
            <a:endParaRPr lang="en-US" sz="780" dirty="0"/>
          </a:p>
        </p:txBody>
      </p:sp>
      <p:sp>
        <p:nvSpPr>
          <p:cNvPr id="36" name="Shape 27"/>
          <p:cNvSpPr/>
          <p:nvPr/>
        </p:nvSpPr>
        <p:spPr>
          <a:xfrm>
            <a:off x="4750594" y="3514725"/>
            <a:ext cx="3964781" cy="66079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72050" y="3736181"/>
            <a:ext cx="200025" cy="20002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357813" y="3657600"/>
            <a:ext cx="29425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Пользовательская обратная связь</a:t>
            </a:r>
            <a:endParaRPr lang="en-US" sz="885" dirty="0"/>
          </a:p>
        </p:txBody>
      </p:sp>
      <p:sp>
        <p:nvSpPr>
          <p:cNvPr id="39" name="Text 29"/>
          <p:cNvSpPr/>
          <p:nvPr/>
        </p:nvSpPr>
        <p:spPr>
          <a:xfrm>
            <a:off x="5357813" y="3868341"/>
            <a:ext cx="294252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Thumbs Up/Down, CTR на источники, Follow-up вопросы</a:t>
            </a:r>
            <a:endParaRPr lang="en-US" sz="780" dirty="0"/>
          </a:p>
        </p:txBody>
      </p:sp>
      <p:sp>
        <p:nvSpPr>
          <p:cNvPr id="40" name="Shape 30"/>
          <p:cNvSpPr/>
          <p:nvPr/>
        </p:nvSpPr>
        <p:spPr>
          <a:xfrm>
            <a:off x="4750594" y="4339828"/>
            <a:ext cx="3964781" cy="66079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4552" y="4561284"/>
            <a:ext cx="175022" cy="20002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357813" y="4482703"/>
            <a:ext cx="31155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Достаточная длительность</a:t>
            </a:r>
            <a:endParaRPr lang="en-US" sz="885" dirty="0"/>
          </a:p>
        </p:txBody>
      </p:sp>
      <p:sp>
        <p:nvSpPr>
          <p:cNvPr id="43" name="Text 32"/>
          <p:cNvSpPr/>
          <p:nvPr/>
        </p:nvSpPr>
        <p:spPr>
          <a:xfrm>
            <a:off x="5357813" y="4693444"/>
            <a:ext cx="311556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Минимум 1-2 недели для сбора репрезентативных данных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Метрики для A/B-тестов</a:t>
            </a:r>
            <a:endParaRPr lang="en-US" sz="2436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355527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71513" y="1323380"/>
            <a:ext cx="16401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Бизнес-метрики</a:t>
            </a:r>
            <a:endParaRPr lang="en-US" sz="1193" dirty="0"/>
          </a:p>
        </p:txBody>
      </p:sp>
      <p:sp>
        <p:nvSpPr>
          <p:cNvPr id="9" name="Shape 4"/>
          <p:cNvSpPr/>
          <p:nvPr/>
        </p:nvSpPr>
        <p:spPr>
          <a:xfrm>
            <a:off x="428625" y="1900238"/>
            <a:ext cx="4000500" cy="101262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0" name="Shape 5"/>
          <p:cNvSpPr/>
          <p:nvPr/>
        </p:nvSpPr>
        <p:spPr>
          <a:xfrm>
            <a:off x="571500" y="2043113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1" name="Text 6"/>
          <p:cNvSpPr/>
          <p:nvPr/>
        </p:nvSpPr>
        <p:spPr>
          <a:xfrm>
            <a:off x="1035844" y="2043113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Конверсия</a:t>
            </a:r>
            <a:endParaRPr lang="en-US" sz="885" dirty="0"/>
          </a:p>
        </p:txBody>
      </p:sp>
      <p:sp>
        <p:nvSpPr>
          <p:cNvPr id="12" name="Text 7"/>
          <p:cNvSpPr/>
          <p:nvPr/>
        </p:nvSpPr>
        <p:spPr>
          <a:xfrm>
            <a:off x="1035844" y="2253853"/>
            <a:ext cx="32504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% пользователей, выполнивших целевое действие (нашли ответ, закрыли тикет).</a:t>
            </a:r>
            <a:endParaRPr lang="en-US" sz="780" dirty="0"/>
          </a:p>
        </p:txBody>
      </p:sp>
      <p:sp>
        <p:nvSpPr>
          <p:cNvPr id="13" name="Text 8"/>
          <p:cNvSpPr/>
          <p:nvPr/>
        </p:nvSpPr>
        <p:spPr>
          <a:xfrm>
            <a:off x="1035844" y="2611041"/>
            <a:ext cx="32504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Baseline: 45% → Treatment: 52% (+7%)</a:t>
            </a:r>
            <a:endParaRPr lang="en-US" sz="727" dirty="0"/>
          </a:p>
        </p:txBody>
      </p:sp>
      <p:sp>
        <p:nvSpPr>
          <p:cNvPr id="14" name="Shape 9"/>
          <p:cNvSpPr/>
          <p:nvPr/>
        </p:nvSpPr>
        <p:spPr>
          <a:xfrm>
            <a:off x="428625" y="3041452"/>
            <a:ext cx="4000500" cy="8626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15" name="Shape 10"/>
          <p:cNvSpPr/>
          <p:nvPr/>
        </p:nvSpPr>
        <p:spPr>
          <a:xfrm>
            <a:off x="571500" y="3184327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" y="3262908"/>
            <a:ext cx="200025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5844" y="3184327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Retention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1035844" y="3395067"/>
            <a:ext cx="32504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Возвращаются ли пользователи к чат-боту через неделю?</a:t>
            </a:r>
            <a:endParaRPr lang="en-US" sz="780" dirty="0"/>
          </a:p>
        </p:txBody>
      </p:sp>
      <p:sp>
        <p:nvSpPr>
          <p:cNvPr id="19" name="Text 13"/>
          <p:cNvSpPr/>
          <p:nvPr/>
        </p:nvSpPr>
        <p:spPr>
          <a:xfrm>
            <a:off x="1035844" y="3602236"/>
            <a:ext cx="32504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Baseline: 32% → Treatment: 38% (+6%)</a:t>
            </a:r>
            <a:endParaRPr lang="en-US" sz="727" dirty="0"/>
          </a:p>
        </p:txBody>
      </p:sp>
      <p:sp>
        <p:nvSpPr>
          <p:cNvPr id="20" name="Shape 14"/>
          <p:cNvSpPr/>
          <p:nvPr/>
        </p:nvSpPr>
        <p:spPr>
          <a:xfrm>
            <a:off x="428625" y="4032647"/>
            <a:ext cx="4000500" cy="8626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571500" y="4175522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081" y="4254103"/>
            <a:ext cx="200025" cy="20002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035844" y="4175522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Стоимость на запрос</a:t>
            </a:r>
            <a:endParaRPr lang="en-US" sz="885" dirty="0"/>
          </a:p>
        </p:txBody>
      </p:sp>
      <p:sp>
        <p:nvSpPr>
          <p:cNvPr id="24" name="Text 17"/>
          <p:cNvSpPr/>
          <p:nvPr/>
        </p:nvSpPr>
        <p:spPr>
          <a:xfrm>
            <a:off x="1035844" y="4386263"/>
            <a:ext cx="32504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Средняя стоимость обработки одного запроса (токены, API).</a:t>
            </a:r>
            <a:endParaRPr lang="en-US" sz="780" dirty="0"/>
          </a:p>
        </p:txBody>
      </p:sp>
      <p:sp>
        <p:nvSpPr>
          <p:cNvPr id="25" name="Text 18"/>
          <p:cNvSpPr/>
          <p:nvPr/>
        </p:nvSpPr>
        <p:spPr>
          <a:xfrm>
            <a:off x="1035844" y="4593431"/>
            <a:ext cx="32504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Baseline: $0.015 → Treatment: $0.012 (-20%)</a:t>
            </a:r>
            <a:endParaRPr lang="en-US" sz="727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4875" y="1355527"/>
            <a:ext cx="214313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000625" y="1323380"/>
            <a:ext cx="280888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Пользовательские метрики</a:t>
            </a:r>
            <a:endParaRPr lang="en-US" sz="1193" dirty="0"/>
          </a:p>
        </p:txBody>
      </p:sp>
      <p:sp>
        <p:nvSpPr>
          <p:cNvPr id="28" name="Shape 20"/>
          <p:cNvSpPr/>
          <p:nvPr/>
        </p:nvSpPr>
        <p:spPr>
          <a:xfrm>
            <a:off x="4714875" y="1900238"/>
            <a:ext cx="4000500" cy="8626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9" name="Shape 21"/>
          <p:cNvSpPr/>
          <p:nvPr/>
        </p:nvSpPr>
        <p:spPr>
          <a:xfrm>
            <a:off x="4857750" y="2043113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6331" y="2121694"/>
            <a:ext cx="200025" cy="200025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322094" y="2043113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Thumbs Up / Down</a:t>
            </a:r>
            <a:endParaRPr lang="en-US" sz="885" dirty="0"/>
          </a:p>
        </p:txBody>
      </p:sp>
      <p:sp>
        <p:nvSpPr>
          <p:cNvPr id="32" name="Text 23"/>
          <p:cNvSpPr/>
          <p:nvPr/>
        </p:nvSpPr>
        <p:spPr>
          <a:xfrm>
            <a:off x="5322094" y="2253853"/>
            <a:ext cx="32504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Явная обратная связь. Нравится ли ответ пользователю?</a:t>
            </a:r>
            <a:endParaRPr lang="en-US" sz="780" dirty="0"/>
          </a:p>
        </p:txBody>
      </p:sp>
      <p:sp>
        <p:nvSpPr>
          <p:cNvPr id="33" name="Text 24"/>
          <p:cNvSpPr/>
          <p:nvPr/>
        </p:nvSpPr>
        <p:spPr>
          <a:xfrm>
            <a:off x="5322094" y="2461022"/>
            <a:ext cx="32504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Baseline: 68% 👍 → Treatment: 75% 👍</a:t>
            </a:r>
            <a:endParaRPr lang="en-US" sz="727" dirty="0"/>
          </a:p>
        </p:txBody>
      </p:sp>
      <p:sp>
        <p:nvSpPr>
          <p:cNvPr id="34" name="Shape 25"/>
          <p:cNvSpPr/>
          <p:nvPr/>
        </p:nvSpPr>
        <p:spPr>
          <a:xfrm>
            <a:off x="4714875" y="2891433"/>
            <a:ext cx="4000500" cy="1012627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5" name="Shape 26"/>
          <p:cNvSpPr/>
          <p:nvPr/>
        </p:nvSpPr>
        <p:spPr>
          <a:xfrm>
            <a:off x="4857750" y="3034308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1328" y="3112889"/>
            <a:ext cx="250031" cy="200025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322094" y="3034308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CTR на источники</a:t>
            </a:r>
            <a:endParaRPr lang="en-US" sz="885" dirty="0"/>
          </a:p>
        </p:txBody>
      </p:sp>
      <p:sp>
        <p:nvSpPr>
          <p:cNvPr id="38" name="Text 28"/>
          <p:cNvSpPr/>
          <p:nvPr/>
        </p:nvSpPr>
        <p:spPr>
          <a:xfrm>
            <a:off x="5322094" y="3245048"/>
            <a:ext cx="325040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Кликают ли пользователи на ссылки-источники? (показатель доверия)</a:t>
            </a:r>
            <a:endParaRPr lang="en-US" sz="780" dirty="0"/>
          </a:p>
        </p:txBody>
      </p:sp>
      <p:sp>
        <p:nvSpPr>
          <p:cNvPr id="39" name="Text 29"/>
          <p:cNvSpPr/>
          <p:nvPr/>
        </p:nvSpPr>
        <p:spPr>
          <a:xfrm>
            <a:off x="5322094" y="3602236"/>
            <a:ext cx="32504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Baseline: 22% → Treatment: 31% (+41%)</a:t>
            </a:r>
            <a:endParaRPr lang="en-US" sz="727" dirty="0"/>
          </a:p>
        </p:txBody>
      </p:sp>
      <p:sp>
        <p:nvSpPr>
          <p:cNvPr id="40" name="Shape 30"/>
          <p:cNvSpPr/>
          <p:nvPr/>
        </p:nvSpPr>
        <p:spPr>
          <a:xfrm>
            <a:off x="4714875" y="4032647"/>
            <a:ext cx="4000500" cy="8626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1" name="Shape 31"/>
          <p:cNvSpPr/>
          <p:nvPr/>
        </p:nvSpPr>
        <p:spPr>
          <a:xfrm>
            <a:off x="4857750" y="4175522"/>
            <a:ext cx="357188" cy="357188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6331" y="4254103"/>
            <a:ext cx="200025" cy="200025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5322094" y="4175522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Copy-Paste Rate</a:t>
            </a:r>
            <a:endParaRPr lang="en-US" sz="885" dirty="0"/>
          </a:p>
        </p:txBody>
      </p:sp>
      <p:sp>
        <p:nvSpPr>
          <p:cNvPr id="44" name="Text 33"/>
          <p:cNvSpPr/>
          <p:nvPr/>
        </p:nvSpPr>
        <p:spPr>
          <a:xfrm>
            <a:off x="5322094" y="4386263"/>
            <a:ext cx="32504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Копируют ли пользователи ответ? (показатель полезности)</a:t>
            </a:r>
            <a:endParaRPr lang="en-US" sz="780" dirty="0"/>
          </a:p>
        </p:txBody>
      </p:sp>
      <p:sp>
        <p:nvSpPr>
          <p:cNvPr id="45" name="Text 34"/>
          <p:cNvSpPr/>
          <p:nvPr/>
        </p:nvSpPr>
        <p:spPr>
          <a:xfrm>
            <a:off x="5322094" y="4593431"/>
            <a:ext cx="32504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999999"/>
                </a:solidFill>
              </a:rPr>
              <a:t>Baseline: 18% → Treatment: 25% (+39%)</a:t>
            </a:r>
            <a:endParaRPr lang="en-US" sz="72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Процесс A/B-тестирования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428625" y="1323380"/>
            <a:ext cx="1573383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Text 4"/>
          <p:cNvSpPr/>
          <p:nvPr/>
        </p:nvSpPr>
        <p:spPr>
          <a:xfrm>
            <a:off x="607219" y="1501973"/>
            <a:ext cx="12019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F00"/>
                </a:solidFill>
              </a:rPr>
              <a:t>1</a:t>
            </a:r>
            <a:endParaRPr lang="en-US" sz="2436" dirty="0"/>
          </a:p>
        </p:txBody>
      </p:sp>
      <p:sp>
        <p:nvSpPr>
          <p:cNvPr id="9" name="Text 5"/>
          <p:cNvSpPr/>
          <p:nvPr/>
        </p:nvSpPr>
        <p:spPr>
          <a:xfrm>
            <a:off x="607219" y="1952030"/>
            <a:ext cx="120190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Гипотеза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607219" y="2230636"/>
            <a:ext cx="1201908" cy="8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Четко сформулируйте, что вы хотите проверить и какой результат ожидаете.</a:t>
            </a:r>
            <a:endParaRPr lang="en-US" sz="780" dirty="0"/>
          </a:p>
        </p:txBody>
      </p:sp>
      <p:sp>
        <p:nvSpPr>
          <p:cNvPr id="11" name="Shape 7"/>
          <p:cNvSpPr/>
          <p:nvPr/>
        </p:nvSpPr>
        <p:spPr>
          <a:xfrm>
            <a:off x="607219" y="3216473"/>
            <a:ext cx="1201908" cy="714375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Shape 8"/>
          <p:cNvSpPr/>
          <p:nvPr/>
        </p:nvSpPr>
        <p:spPr>
          <a:xfrm>
            <a:off x="607219" y="3216473"/>
            <a:ext cx="21431" cy="71437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944" y="3320058"/>
            <a:ext cx="75009" cy="100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103" y="3302198"/>
            <a:ext cx="5514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"Re-ranker</a:t>
            </a:r>
            <a:endParaRPr lang="en-US" sz="683" dirty="0"/>
          </a:p>
        </p:txBody>
      </p:sp>
      <p:sp>
        <p:nvSpPr>
          <p:cNvPr id="15" name="Text 10"/>
          <p:cNvSpPr/>
          <p:nvPr/>
        </p:nvSpPr>
        <p:spPr>
          <a:xfrm>
            <a:off x="692944" y="3437930"/>
            <a:ext cx="44037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повысит</a:t>
            </a:r>
            <a:endParaRPr lang="en-US" sz="683" dirty="0"/>
          </a:p>
        </p:txBody>
      </p:sp>
      <p:sp>
        <p:nvSpPr>
          <p:cNvPr id="16" name="Text 11"/>
          <p:cNvSpPr/>
          <p:nvPr/>
        </p:nvSpPr>
        <p:spPr>
          <a:xfrm>
            <a:off x="692944" y="3573661"/>
            <a:ext cx="100902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удовлетворенность</a:t>
            </a:r>
            <a:endParaRPr lang="en-US" sz="683" dirty="0"/>
          </a:p>
        </p:txBody>
      </p:sp>
      <p:sp>
        <p:nvSpPr>
          <p:cNvPr id="17" name="Text 12"/>
          <p:cNvSpPr/>
          <p:nvPr/>
        </p:nvSpPr>
        <p:spPr>
          <a:xfrm>
            <a:off x="692944" y="3709392"/>
            <a:ext cx="3968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на 10%"</a:t>
            </a:r>
            <a:endParaRPr lang="en-US" sz="683" dirty="0"/>
          </a:p>
        </p:txBody>
      </p:sp>
      <p:sp>
        <p:nvSpPr>
          <p:cNvPr id="18" name="Shape 13"/>
          <p:cNvSpPr/>
          <p:nvPr/>
        </p:nvSpPr>
        <p:spPr>
          <a:xfrm>
            <a:off x="1957388" y="2630686"/>
            <a:ext cx="171450" cy="171450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80605" y="2644973"/>
            <a:ext cx="125016" cy="14287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114550" y="1323380"/>
            <a:ext cx="1543050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Text 15"/>
          <p:cNvSpPr/>
          <p:nvPr/>
        </p:nvSpPr>
        <p:spPr>
          <a:xfrm>
            <a:off x="2293144" y="1501973"/>
            <a:ext cx="1185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F00"/>
                </a:solidFill>
              </a:rPr>
              <a:t>2</a:t>
            </a:r>
            <a:endParaRPr lang="en-US" sz="2436" dirty="0"/>
          </a:p>
        </p:txBody>
      </p:sp>
      <p:sp>
        <p:nvSpPr>
          <p:cNvPr id="22" name="Text 16"/>
          <p:cNvSpPr/>
          <p:nvPr/>
        </p:nvSpPr>
        <p:spPr>
          <a:xfrm>
            <a:off x="2293144" y="1952030"/>
            <a:ext cx="11858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Разделение</a:t>
            </a:r>
            <a:endParaRPr lang="en-US" sz="987" dirty="0"/>
          </a:p>
        </p:txBody>
      </p:sp>
      <p:sp>
        <p:nvSpPr>
          <p:cNvPr id="23" name="Text 17"/>
          <p:cNvSpPr/>
          <p:nvPr/>
        </p:nvSpPr>
        <p:spPr>
          <a:xfrm>
            <a:off x="2293144" y="2230636"/>
            <a:ext cx="1185863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Разделите трафик на две группы: Control (старая версия) и Treatment (новая).</a:t>
            </a:r>
            <a:endParaRPr lang="en-US" sz="780" dirty="0"/>
          </a:p>
        </p:txBody>
      </p:sp>
      <p:sp>
        <p:nvSpPr>
          <p:cNvPr id="24" name="Shape 18"/>
          <p:cNvSpPr/>
          <p:nvPr/>
        </p:nvSpPr>
        <p:spPr>
          <a:xfrm>
            <a:off x="2293144" y="3487936"/>
            <a:ext cx="1185863" cy="44291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25" name="Shape 19"/>
          <p:cNvSpPr/>
          <p:nvPr/>
        </p:nvSpPr>
        <p:spPr>
          <a:xfrm>
            <a:off x="2293144" y="3487936"/>
            <a:ext cx="21431" cy="442913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8869" y="3591520"/>
            <a:ext cx="87511" cy="10001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523530" y="3573661"/>
            <a:ext cx="64360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90% Control,</a:t>
            </a:r>
            <a:endParaRPr lang="en-US" sz="683" dirty="0"/>
          </a:p>
        </p:txBody>
      </p:sp>
      <p:sp>
        <p:nvSpPr>
          <p:cNvPr id="28" name="Text 21"/>
          <p:cNvSpPr/>
          <p:nvPr/>
        </p:nvSpPr>
        <p:spPr>
          <a:xfrm>
            <a:off x="2378869" y="3709392"/>
            <a:ext cx="73870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10% Treatment</a:t>
            </a:r>
            <a:endParaRPr lang="en-US" sz="683" dirty="0"/>
          </a:p>
        </p:txBody>
      </p:sp>
      <p:sp>
        <p:nvSpPr>
          <p:cNvPr id="29" name="Shape 22"/>
          <p:cNvSpPr/>
          <p:nvPr/>
        </p:nvSpPr>
        <p:spPr>
          <a:xfrm>
            <a:off x="3643313" y="2630686"/>
            <a:ext cx="171450" cy="171450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530" y="2644973"/>
            <a:ext cx="125016" cy="142875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3800475" y="1323380"/>
            <a:ext cx="1543050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2" name="Text 24"/>
          <p:cNvSpPr/>
          <p:nvPr/>
        </p:nvSpPr>
        <p:spPr>
          <a:xfrm>
            <a:off x="3979069" y="1501973"/>
            <a:ext cx="1185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F00"/>
                </a:solidFill>
              </a:rPr>
              <a:t>3</a:t>
            </a:r>
            <a:endParaRPr lang="en-US" sz="2436" dirty="0"/>
          </a:p>
        </p:txBody>
      </p:sp>
      <p:sp>
        <p:nvSpPr>
          <p:cNvPr id="33" name="Text 25"/>
          <p:cNvSpPr/>
          <p:nvPr/>
        </p:nvSpPr>
        <p:spPr>
          <a:xfrm>
            <a:off x="3979069" y="1952030"/>
            <a:ext cx="11858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Сбор данных</a:t>
            </a:r>
            <a:endParaRPr lang="en-US" sz="987" dirty="0"/>
          </a:p>
        </p:txBody>
      </p:sp>
      <p:sp>
        <p:nvSpPr>
          <p:cNvPr id="34" name="Text 26"/>
          <p:cNvSpPr/>
          <p:nvPr/>
        </p:nvSpPr>
        <p:spPr>
          <a:xfrm>
            <a:off x="3979069" y="2230636"/>
            <a:ext cx="1185863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Собирайте метрики в течение достаточного времени для репрезентативности.</a:t>
            </a:r>
            <a:endParaRPr lang="en-US" sz="780" dirty="0"/>
          </a:p>
        </p:txBody>
      </p:sp>
      <p:sp>
        <p:nvSpPr>
          <p:cNvPr id="35" name="Shape 27"/>
          <p:cNvSpPr/>
          <p:nvPr/>
        </p:nvSpPr>
        <p:spPr>
          <a:xfrm>
            <a:off x="3979069" y="3487936"/>
            <a:ext cx="1185863" cy="44291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6" name="Shape 28"/>
          <p:cNvSpPr/>
          <p:nvPr/>
        </p:nvSpPr>
        <p:spPr>
          <a:xfrm>
            <a:off x="3979069" y="3487936"/>
            <a:ext cx="21431" cy="442913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794" y="3591520"/>
            <a:ext cx="87511" cy="10001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209455" y="3573661"/>
            <a:ext cx="5745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1-2 недели</a:t>
            </a:r>
            <a:endParaRPr lang="en-US" sz="683" dirty="0"/>
          </a:p>
        </p:txBody>
      </p:sp>
      <p:sp>
        <p:nvSpPr>
          <p:cNvPr id="39" name="Text 30"/>
          <p:cNvSpPr/>
          <p:nvPr/>
        </p:nvSpPr>
        <p:spPr>
          <a:xfrm>
            <a:off x="4064794" y="3709392"/>
            <a:ext cx="5003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минимум</a:t>
            </a:r>
            <a:endParaRPr lang="en-US" sz="683" dirty="0"/>
          </a:p>
        </p:txBody>
      </p:sp>
      <p:sp>
        <p:nvSpPr>
          <p:cNvPr id="40" name="Shape 31"/>
          <p:cNvSpPr/>
          <p:nvPr/>
        </p:nvSpPr>
        <p:spPr>
          <a:xfrm>
            <a:off x="5329238" y="2630686"/>
            <a:ext cx="171450" cy="171450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2455" y="2644973"/>
            <a:ext cx="125016" cy="142875"/>
          </a:xfrm>
          <a:prstGeom prst="rect">
            <a:avLst/>
          </a:prstGeom>
        </p:spPr>
      </p:pic>
      <p:sp>
        <p:nvSpPr>
          <p:cNvPr id="42" name="Shape 32"/>
          <p:cNvSpPr/>
          <p:nvPr/>
        </p:nvSpPr>
        <p:spPr>
          <a:xfrm>
            <a:off x="5486400" y="1323380"/>
            <a:ext cx="1543050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43" name="Text 33"/>
          <p:cNvSpPr/>
          <p:nvPr/>
        </p:nvSpPr>
        <p:spPr>
          <a:xfrm>
            <a:off x="5664994" y="1501973"/>
            <a:ext cx="1185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F00"/>
                </a:solidFill>
              </a:rPr>
              <a:t>4</a:t>
            </a:r>
            <a:endParaRPr lang="en-US" sz="2436" dirty="0"/>
          </a:p>
        </p:txBody>
      </p:sp>
      <p:sp>
        <p:nvSpPr>
          <p:cNvPr id="44" name="Text 34"/>
          <p:cNvSpPr/>
          <p:nvPr/>
        </p:nvSpPr>
        <p:spPr>
          <a:xfrm>
            <a:off x="5664994" y="1952030"/>
            <a:ext cx="11858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Анализ</a:t>
            </a:r>
            <a:endParaRPr lang="en-US" sz="987" dirty="0"/>
          </a:p>
        </p:txBody>
      </p:sp>
      <p:sp>
        <p:nvSpPr>
          <p:cNvPr id="45" name="Text 35"/>
          <p:cNvSpPr/>
          <p:nvPr/>
        </p:nvSpPr>
        <p:spPr>
          <a:xfrm>
            <a:off x="5664994" y="2230636"/>
            <a:ext cx="1185863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Используйте статистические методы (t-test) для определения значимости разницы.</a:t>
            </a:r>
            <a:endParaRPr lang="en-US" sz="780" dirty="0"/>
          </a:p>
        </p:txBody>
      </p:sp>
      <p:sp>
        <p:nvSpPr>
          <p:cNvPr id="46" name="Shape 36"/>
          <p:cNvSpPr/>
          <p:nvPr/>
        </p:nvSpPr>
        <p:spPr>
          <a:xfrm>
            <a:off x="5664994" y="3623667"/>
            <a:ext cx="1185863" cy="307181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7" name="Shape 37"/>
          <p:cNvSpPr/>
          <p:nvPr/>
        </p:nvSpPr>
        <p:spPr>
          <a:xfrm>
            <a:off x="5664994" y="3623667"/>
            <a:ext cx="21431" cy="30718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48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50719" y="3727252"/>
            <a:ext cx="100013" cy="100013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5907881" y="3709392"/>
            <a:ext cx="7401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p-value &lt; 0.05?</a:t>
            </a:r>
            <a:endParaRPr lang="en-US" sz="683" dirty="0"/>
          </a:p>
        </p:txBody>
      </p:sp>
      <p:sp>
        <p:nvSpPr>
          <p:cNvPr id="50" name="Shape 39"/>
          <p:cNvSpPr/>
          <p:nvPr/>
        </p:nvSpPr>
        <p:spPr>
          <a:xfrm>
            <a:off x="7015163" y="2630686"/>
            <a:ext cx="171450" cy="171450"/>
          </a:xfrm>
          <a:prstGeom prst="rect">
            <a:avLst/>
          </a:prstGeom>
          <a:solidFill>
            <a:srgbClr val="F2F2F2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8380" y="2644973"/>
            <a:ext cx="125016" cy="142875"/>
          </a:xfrm>
          <a:prstGeom prst="rect">
            <a:avLst/>
          </a:prstGeom>
        </p:spPr>
      </p:pic>
      <p:sp>
        <p:nvSpPr>
          <p:cNvPr id="52" name="Shape 40"/>
          <p:cNvSpPr/>
          <p:nvPr/>
        </p:nvSpPr>
        <p:spPr>
          <a:xfrm>
            <a:off x="7172325" y="1323380"/>
            <a:ext cx="1543050" cy="2786063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53" name="Text 41"/>
          <p:cNvSpPr/>
          <p:nvPr/>
        </p:nvSpPr>
        <p:spPr>
          <a:xfrm>
            <a:off x="7350919" y="1501973"/>
            <a:ext cx="1185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36" b="1" dirty="0">
                <a:solidFill>
                  <a:srgbClr val="FF4F00"/>
                </a:solidFill>
              </a:rPr>
              <a:t>5</a:t>
            </a:r>
            <a:endParaRPr lang="en-US" sz="2436" dirty="0"/>
          </a:p>
        </p:txBody>
      </p:sp>
      <p:sp>
        <p:nvSpPr>
          <p:cNvPr id="54" name="Text 42"/>
          <p:cNvSpPr/>
          <p:nvPr/>
        </p:nvSpPr>
        <p:spPr>
          <a:xfrm>
            <a:off x="7350919" y="1952030"/>
            <a:ext cx="118586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Решение</a:t>
            </a:r>
            <a:endParaRPr lang="en-US" sz="987" dirty="0"/>
          </a:p>
        </p:txBody>
      </p:sp>
      <p:sp>
        <p:nvSpPr>
          <p:cNvPr id="55" name="Text 43"/>
          <p:cNvSpPr/>
          <p:nvPr/>
        </p:nvSpPr>
        <p:spPr>
          <a:xfrm>
            <a:off x="7350919" y="2230636"/>
            <a:ext cx="1185863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Если результат значим, выкатите на 100%. Иначе отклоните или переделайте.</a:t>
            </a:r>
            <a:endParaRPr lang="en-US" sz="780" dirty="0"/>
          </a:p>
        </p:txBody>
      </p:sp>
      <p:sp>
        <p:nvSpPr>
          <p:cNvPr id="56" name="Shape 44"/>
          <p:cNvSpPr/>
          <p:nvPr/>
        </p:nvSpPr>
        <p:spPr>
          <a:xfrm>
            <a:off x="7350919" y="3487936"/>
            <a:ext cx="1185863" cy="442913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7" name="Shape 45"/>
          <p:cNvSpPr/>
          <p:nvPr/>
        </p:nvSpPr>
        <p:spPr>
          <a:xfrm>
            <a:off x="7350919" y="3487936"/>
            <a:ext cx="21431" cy="442913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5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6644" y="3591520"/>
            <a:ext cx="100013" cy="100013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7593806" y="3573661"/>
            <a:ext cx="6018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Rollout или</a:t>
            </a:r>
            <a:endParaRPr lang="en-US" sz="683" dirty="0"/>
          </a:p>
        </p:txBody>
      </p:sp>
      <p:sp>
        <p:nvSpPr>
          <p:cNvPr id="60" name="Text 47"/>
          <p:cNvSpPr/>
          <p:nvPr/>
        </p:nvSpPr>
        <p:spPr>
          <a:xfrm>
            <a:off x="7436644" y="3709392"/>
            <a:ext cx="30026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Reject</a:t>
            </a:r>
            <a:endParaRPr lang="en-US" sz="683" dirty="0"/>
          </a:p>
        </p:txBody>
      </p:sp>
      <p:sp>
        <p:nvSpPr>
          <p:cNvPr id="61" name="Shape 48"/>
          <p:cNvSpPr/>
          <p:nvPr/>
        </p:nvSpPr>
        <p:spPr>
          <a:xfrm>
            <a:off x="428625" y="4395192"/>
            <a:ext cx="2666991" cy="7483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2" name="Shape 49"/>
          <p:cNvSpPr/>
          <p:nvPr/>
        </p:nvSpPr>
        <p:spPr>
          <a:xfrm>
            <a:off x="571500" y="4538067"/>
            <a:ext cx="321469" cy="32146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7219" y="4598789"/>
            <a:ext cx="250031" cy="200025"/>
          </a:xfrm>
          <a:prstGeom prst="rect">
            <a:avLst/>
          </a:prstGeom>
        </p:spPr>
      </p:pic>
      <p:sp>
        <p:nvSpPr>
          <p:cNvPr id="64" name="Text 50"/>
          <p:cNvSpPr/>
          <p:nvPr/>
        </p:nvSpPr>
        <p:spPr>
          <a:xfrm>
            <a:off x="1000125" y="4545211"/>
            <a:ext cx="19526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Размер выборки</a:t>
            </a:r>
            <a:endParaRPr lang="en-US" sz="784" dirty="0"/>
          </a:p>
        </p:txBody>
      </p:sp>
      <p:sp>
        <p:nvSpPr>
          <p:cNvPr id="65" name="Text 51"/>
          <p:cNvSpPr/>
          <p:nvPr/>
        </p:nvSpPr>
        <p:spPr>
          <a:xfrm>
            <a:off x="1000125" y="4722019"/>
            <a:ext cx="195261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Больше пользователей = точнее результаты</a:t>
            </a:r>
            <a:endParaRPr lang="en-US" sz="727" dirty="0"/>
          </a:p>
        </p:txBody>
      </p:sp>
      <p:sp>
        <p:nvSpPr>
          <p:cNvPr id="66" name="Shape 52"/>
          <p:cNvSpPr/>
          <p:nvPr/>
        </p:nvSpPr>
        <p:spPr>
          <a:xfrm>
            <a:off x="3238491" y="4395192"/>
            <a:ext cx="2666991" cy="7483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67" name="Shape 53"/>
          <p:cNvSpPr/>
          <p:nvPr/>
        </p:nvSpPr>
        <p:spPr>
          <a:xfrm>
            <a:off x="3381366" y="4538067"/>
            <a:ext cx="321469" cy="32146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54589" y="4598789"/>
            <a:ext cx="175022" cy="200025"/>
          </a:xfrm>
          <a:prstGeom prst="rect">
            <a:avLst/>
          </a:prstGeom>
        </p:spPr>
      </p:pic>
      <p:sp>
        <p:nvSpPr>
          <p:cNvPr id="69" name="Text 54"/>
          <p:cNvSpPr/>
          <p:nvPr/>
        </p:nvSpPr>
        <p:spPr>
          <a:xfrm>
            <a:off x="3809991" y="4613077"/>
            <a:ext cx="17759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Длительность</a:t>
            </a:r>
            <a:endParaRPr lang="en-US" sz="784" dirty="0"/>
          </a:p>
        </p:txBody>
      </p:sp>
      <p:sp>
        <p:nvSpPr>
          <p:cNvPr id="70" name="Text 55"/>
          <p:cNvSpPr/>
          <p:nvPr/>
        </p:nvSpPr>
        <p:spPr>
          <a:xfrm>
            <a:off x="3809991" y="4789884"/>
            <a:ext cx="177594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Минимум 1 неделя, лучше 2 недели</a:t>
            </a:r>
            <a:endParaRPr lang="en-US" sz="727" dirty="0"/>
          </a:p>
        </p:txBody>
      </p:sp>
      <p:sp>
        <p:nvSpPr>
          <p:cNvPr id="71" name="Shape 56"/>
          <p:cNvSpPr/>
          <p:nvPr/>
        </p:nvSpPr>
        <p:spPr>
          <a:xfrm>
            <a:off x="6048356" y="4395192"/>
            <a:ext cx="2667019" cy="74830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Shape 57"/>
          <p:cNvSpPr/>
          <p:nvPr/>
        </p:nvSpPr>
        <p:spPr>
          <a:xfrm>
            <a:off x="6191231" y="4552355"/>
            <a:ext cx="321469" cy="321469"/>
          </a:xfrm>
          <a:prstGeom prst="rect">
            <a:avLst/>
          </a:prstGeom>
          <a:solidFill>
            <a:srgbClr val="F2F2F2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73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64455" y="4613077"/>
            <a:ext cx="175022" cy="200025"/>
          </a:xfrm>
          <a:prstGeom prst="rect">
            <a:avLst/>
          </a:prstGeom>
        </p:spPr>
      </p:pic>
      <p:sp>
        <p:nvSpPr>
          <p:cNvPr id="74" name="Text 58"/>
          <p:cNvSpPr/>
          <p:nvPr/>
        </p:nvSpPr>
        <p:spPr>
          <a:xfrm>
            <a:off x="6619856" y="4552355"/>
            <a:ext cx="19526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Одна переменная</a:t>
            </a:r>
            <a:endParaRPr lang="en-US" sz="784" dirty="0"/>
          </a:p>
        </p:txBody>
      </p:sp>
      <p:sp>
        <p:nvSpPr>
          <p:cNvPr id="75" name="Text 59"/>
          <p:cNvSpPr/>
          <p:nvPr/>
        </p:nvSpPr>
        <p:spPr>
          <a:xfrm>
            <a:off x="6619856" y="4729163"/>
            <a:ext cx="1952644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555555"/>
                </a:solidFill>
              </a:rPr>
              <a:t>Тестируйте только одно изменение за раз</a:t>
            </a:r>
            <a:endParaRPr lang="en-US" sz="727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28625" y="428625"/>
            <a:ext cx="8286750" cy="63758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5" name="Shape 1"/>
          <p:cNvSpPr/>
          <p:nvPr/>
        </p:nvSpPr>
        <p:spPr>
          <a:xfrm>
            <a:off x="428625" y="1037630"/>
            <a:ext cx="8286750" cy="28575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Text 2"/>
          <p:cNvSpPr/>
          <p:nvPr/>
        </p:nvSpPr>
        <p:spPr>
          <a:xfrm>
            <a:off x="428625" y="428625"/>
            <a:ext cx="828675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kern="0" spc="-1" dirty="0">
                <a:solidFill>
                  <a:srgbClr val="1A1A1A"/>
                </a:solidFill>
              </a:rPr>
              <a:t>Практическая реализация</a:t>
            </a:r>
            <a:endParaRPr lang="en-US" sz="2436" dirty="0"/>
          </a:p>
        </p:txBody>
      </p:sp>
      <p:sp>
        <p:nvSpPr>
          <p:cNvPr id="7" name="Shape 3"/>
          <p:cNvSpPr/>
          <p:nvPr/>
        </p:nvSpPr>
        <p:spPr>
          <a:xfrm>
            <a:off x="428625" y="1323380"/>
            <a:ext cx="2643188" cy="38201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8" name="Shape 4"/>
          <p:cNvSpPr/>
          <p:nvPr/>
        </p:nvSpPr>
        <p:spPr>
          <a:xfrm>
            <a:off x="428625" y="1323380"/>
            <a:ext cx="2643188" cy="391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9" name="Shape 5"/>
          <p:cNvSpPr/>
          <p:nvPr/>
        </p:nvSpPr>
        <p:spPr>
          <a:xfrm>
            <a:off x="428625" y="1693069"/>
            <a:ext cx="2643188" cy="2143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Text 6"/>
          <p:cNvSpPr/>
          <p:nvPr/>
        </p:nvSpPr>
        <p:spPr>
          <a:xfrm>
            <a:off x="535781" y="1430536"/>
            <a:ext cx="176646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</a:rPr>
              <a:t>Re-ranking (LangChain)</a:t>
            </a:r>
            <a:endParaRPr lang="en-US" sz="784" dirty="0"/>
          </a:p>
        </p:txBody>
      </p:sp>
      <p:sp>
        <p:nvSpPr>
          <p:cNvPr id="11" name="Shape 7"/>
          <p:cNvSpPr/>
          <p:nvPr/>
        </p:nvSpPr>
        <p:spPr>
          <a:xfrm>
            <a:off x="428625" y="1693069"/>
            <a:ext cx="2643188" cy="2000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2" name="Text 8"/>
          <p:cNvSpPr/>
          <p:nvPr/>
        </p:nvSpPr>
        <p:spPr>
          <a:xfrm>
            <a:off x="535781" y="1805583"/>
            <a:ext cx="1789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from</a:t>
            </a:r>
            <a:endParaRPr lang="en-US" sz="568" dirty="0"/>
          </a:p>
        </p:txBody>
      </p:sp>
      <p:sp>
        <p:nvSpPr>
          <p:cNvPr id="13" name="Text 9"/>
          <p:cNvSpPr/>
          <p:nvPr/>
        </p:nvSpPr>
        <p:spPr>
          <a:xfrm>
            <a:off x="714738" y="1805583"/>
            <a:ext cx="77576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langchain.retrievers</a:t>
            </a:r>
            <a:endParaRPr lang="en-US" sz="568" dirty="0"/>
          </a:p>
        </p:txBody>
      </p:sp>
      <p:sp>
        <p:nvSpPr>
          <p:cNvPr id="14" name="Text 10"/>
          <p:cNvSpPr/>
          <p:nvPr/>
        </p:nvSpPr>
        <p:spPr>
          <a:xfrm>
            <a:off x="1490504" y="1805583"/>
            <a:ext cx="25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import</a:t>
            </a:r>
            <a:endParaRPr lang="en-US" sz="568" dirty="0"/>
          </a:p>
        </p:txBody>
      </p:sp>
      <p:sp>
        <p:nvSpPr>
          <p:cNvPr id="15" name="Text 11"/>
          <p:cNvSpPr/>
          <p:nvPr/>
        </p:nvSpPr>
        <p:spPr>
          <a:xfrm>
            <a:off x="535781" y="1923455"/>
            <a:ext cx="123977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ContextualCompressionRetriever</a:t>
            </a:r>
            <a:endParaRPr lang="en-US" sz="568" dirty="0"/>
          </a:p>
        </p:txBody>
      </p:sp>
      <p:sp>
        <p:nvSpPr>
          <p:cNvPr id="16" name="Text 12"/>
          <p:cNvSpPr/>
          <p:nvPr/>
        </p:nvSpPr>
        <p:spPr>
          <a:xfrm>
            <a:off x="1775557" y="1923455"/>
            <a:ext cx="1789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from</a:t>
            </a:r>
            <a:endParaRPr lang="en-US" sz="568" dirty="0"/>
          </a:p>
        </p:txBody>
      </p:sp>
      <p:sp>
        <p:nvSpPr>
          <p:cNvPr id="17" name="Text 13"/>
          <p:cNvSpPr/>
          <p:nvPr/>
        </p:nvSpPr>
        <p:spPr>
          <a:xfrm>
            <a:off x="535781" y="2041327"/>
            <a:ext cx="16633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langchain.retrievers.document_compressors</a:t>
            </a:r>
            <a:endParaRPr lang="en-US" sz="568" dirty="0"/>
          </a:p>
        </p:txBody>
      </p:sp>
      <p:sp>
        <p:nvSpPr>
          <p:cNvPr id="18" name="Text 14"/>
          <p:cNvSpPr/>
          <p:nvPr/>
        </p:nvSpPr>
        <p:spPr>
          <a:xfrm>
            <a:off x="2199131" y="2041327"/>
            <a:ext cx="25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import</a:t>
            </a:r>
            <a:endParaRPr lang="en-US" sz="568" dirty="0"/>
          </a:p>
        </p:txBody>
      </p:sp>
      <p:sp>
        <p:nvSpPr>
          <p:cNvPr id="19" name="Text 15"/>
          <p:cNvSpPr/>
          <p:nvPr/>
        </p:nvSpPr>
        <p:spPr>
          <a:xfrm>
            <a:off x="535781" y="2159198"/>
            <a:ext cx="54443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CohereRerank</a:t>
            </a:r>
            <a:endParaRPr lang="en-US" sz="568" dirty="0"/>
          </a:p>
        </p:txBody>
      </p:sp>
      <p:sp>
        <p:nvSpPr>
          <p:cNvPr id="20" name="Text 16"/>
          <p:cNvSpPr/>
          <p:nvPr/>
        </p:nvSpPr>
        <p:spPr>
          <a:xfrm>
            <a:off x="1080213" y="2159198"/>
            <a:ext cx="111515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Инициализируем re-ranker</a:t>
            </a:r>
            <a:endParaRPr lang="en-US" sz="568" dirty="0"/>
          </a:p>
        </p:txBody>
      </p:sp>
      <p:sp>
        <p:nvSpPr>
          <p:cNvPr id="21" name="Text 17"/>
          <p:cNvSpPr/>
          <p:nvPr/>
        </p:nvSpPr>
        <p:spPr>
          <a:xfrm>
            <a:off x="535781" y="2159198"/>
            <a:ext cx="2182946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compressor = CohereRerank( model=</a:t>
            </a:r>
            <a:endParaRPr lang="en-US" sz="568" dirty="0"/>
          </a:p>
        </p:txBody>
      </p:sp>
      <p:sp>
        <p:nvSpPr>
          <p:cNvPr id="22" name="Text 18"/>
          <p:cNvSpPr/>
          <p:nvPr/>
        </p:nvSpPr>
        <p:spPr>
          <a:xfrm>
            <a:off x="1382650" y="2277070"/>
            <a:ext cx="7719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"rerank-english-v2.0"</a:t>
            </a:r>
            <a:endParaRPr lang="en-US" sz="568" dirty="0"/>
          </a:p>
        </p:txBody>
      </p:sp>
      <p:sp>
        <p:nvSpPr>
          <p:cNvPr id="23" name="Text 19"/>
          <p:cNvSpPr/>
          <p:nvPr/>
        </p:nvSpPr>
        <p:spPr>
          <a:xfrm>
            <a:off x="2154566" y="2277070"/>
            <a:ext cx="29414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, top_n=</a:t>
            </a:r>
            <a:endParaRPr lang="en-US" sz="568" dirty="0"/>
          </a:p>
        </p:txBody>
      </p:sp>
      <p:sp>
        <p:nvSpPr>
          <p:cNvPr id="24" name="Text 20"/>
          <p:cNvSpPr/>
          <p:nvPr/>
        </p:nvSpPr>
        <p:spPr>
          <a:xfrm>
            <a:off x="2448716" y="2277070"/>
            <a:ext cx="4495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5</a:t>
            </a:r>
            <a:endParaRPr lang="en-US" sz="568" dirty="0"/>
          </a:p>
        </p:txBody>
      </p:sp>
      <p:sp>
        <p:nvSpPr>
          <p:cNvPr id="25" name="Text 21"/>
          <p:cNvSpPr/>
          <p:nvPr/>
        </p:nvSpPr>
        <p:spPr>
          <a:xfrm>
            <a:off x="2493671" y="2277070"/>
            <a:ext cx="6446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</a:t>
            </a:r>
            <a:endParaRPr lang="en-US" sz="568" dirty="0"/>
          </a:p>
        </p:txBody>
      </p:sp>
      <p:sp>
        <p:nvSpPr>
          <p:cNvPr id="26" name="Text 22"/>
          <p:cNvSpPr/>
          <p:nvPr/>
        </p:nvSpPr>
        <p:spPr>
          <a:xfrm>
            <a:off x="535781" y="2277070"/>
            <a:ext cx="207313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Оборачиваем retriever</a:t>
            </a:r>
            <a:endParaRPr lang="en-US" sz="568" dirty="0"/>
          </a:p>
        </p:txBody>
      </p:sp>
      <p:sp>
        <p:nvSpPr>
          <p:cNvPr id="27" name="Text 23"/>
          <p:cNvSpPr/>
          <p:nvPr/>
        </p:nvSpPr>
        <p:spPr>
          <a:xfrm>
            <a:off x="535781" y="2394942"/>
            <a:ext cx="24011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compression_retriever = \ ContextualCompressionRetriever( base_compressor=compressor, base_retriever=vector_retriever )</a:t>
            </a:r>
            <a:endParaRPr lang="en-US" sz="568" dirty="0"/>
          </a:p>
        </p:txBody>
      </p:sp>
      <p:sp>
        <p:nvSpPr>
          <p:cNvPr id="28" name="Text 24"/>
          <p:cNvSpPr/>
          <p:nvPr/>
        </p:nvSpPr>
        <p:spPr>
          <a:xfrm>
            <a:off x="1751140" y="2630686"/>
            <a:ext cx="53946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Используем</a:t>
            </a:r>
            <a:endParaRPr lang="en-US" sz="568" dirty="0"/>
          </a:p>
        </p:txBody>
      </p:sp>
      <p:sp>
        <p:nvSpPr>
          <p:cNvPr id="29" name="Text 25"/>
          <p:cNvSpPr/>
          <p:nvPr/>
        </p:nvSpPr>
        <p:spPr>
          <a:xfrm>
            <a:off x="535781" y="2630686"/>
            <a:ext cx="2039262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docs = compression_retriever.get_relevant_documents( query )</a:t>
            </a:r>
            <a:endParaRPr lang="en-US" sz="568" dirty="0"/>
          </a:p>
        </p:txBody>
      </p:sp>
      <p:sp>
        <p:nvSpPr>
          <p:cNvPr id="30" name="Shape 26"/>
          <p:cNvSpPr/>
          <p:nvPr/>
        </p:nvSpPr>
        <p:spPr>
          <a:xfrm>
            <a:off x="428625" y="3693319"/>
            <a:ext cx="2643188" cy="590057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1" name="Shape 27"/>
          <p:cNvSpPr/>
          <p:nvPr/>
        </p:nvSpPr>
        <p:spPr>
          <a:xfrm>
            <a:off x="428625" y="3693319"/>
            <a:ext cx="2643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2" name="Text 28"/>
          <p:cNvSpPr/>
          <p:nvPr/>
        </p:nvSpPr>
        <p:spPr>
          <a:xfrm>
            <a:off x="535781" y="3779044"/>
            <a:ext cx="24288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4F00"/>
                </a:solidFill>
              </a:rPr>
              <a:t>✓ Ключевое:</a:t>
            </a:r>
            <a:endParaRPr lang="en-US" sz="634" dirty="0"/>
          </a:p>
        </p:txBody>
      </p:sp>
      <p:sp>
        <p:nvSpPr>
          <p:cNvPr id="33" name="Text 29"/>
          <p:cNvSpPr/>
          <p:nvPr/>
        </p:nvSpPr>
        <p:spPr>
          <a:xfrm>
            <a:off x="535781" y="3930486"/>
            <a:ext cx="2103140" cy="119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000"/>
              </a:lnSpc>
            </a:pPr>
            <a:r>
              <a:rPr lang="en-US" sz="674" dirty="0">
                <a:solidFill>
                  <a:srgbClr val="333333"/>
                </a:solidFill>
              </a:rPr>
              <a:t>Один вызов — LangChain сам управляет retrieve +</a:t>
            </a:r>
            <a:r>
              <a:rPr lang="ru-RU" sz="674" dirty="0">
                <a:solidFill>
                  <a:srgbClr val="333333"/>
                </a:solidFill>
              </a:rPr>
              <a:t> </a:t>
            </a:r>
            <a:r>
              <a:rPr lang="en-US" sz="674" dirty="0">
                <a:solidFill>
                  <a:srgbClr val="333333"/>
                </a:solidFill>
              </a:rPr>
              <a:t>re-rank</a:t>
            </a:r>
            <a:endParaRPr lang="en-US" sz="674" dirty="0"/>
          </a:p>
        </p:txBody>
      </p:sp>
      <p:sp>
        <p:nvSpPr>
          <p:cNvPr id="34" name="Text 30"/>
          <p:cNvSpPr/>
          <p:nvPr/>
        </p:nvSpPr>
        <p:spPr>
          <a:xfrm>
            <a:off x="535781" y="3930486"/>
            <a:ext cx="2419080" cy="119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endParaRPr lang="en-US" sz="674" dirty="0"/>
          </a:p>
        </p:txBody>
      </p:sp>
      <p:sp>
        <p:nvSpPr>
          <p:cNvPr id="35" name="Shape 31"/>
          <p:cNvSpPr/>
          <p:nvPr/>
        </p:nvSpPr>
        <p:spPr>
          <a:xfrm>
            <a:off x="3250406" y="1323380"/>
            <a:ext cx="2643188" cy="38201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6" name="Shape 32"/>
          <p:cNvSpPr/>
          <p:nvPr/>
        </p:nvSpPr>
        <p:spPr>
          <a:xfrm>
            <a:off x="3250406" y="1323380"/>
            <a:ext cx="2643188" cy="391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37" name="Shape 33"/>
          <p:cNvSpPr/>
          <p:nvPr/>
        </p:nvSpPr>
        <p:spPr>
          <a:xfrm>
            <a:off x="3250406" y="1693069"/>
            <a:ext cx="2643188" cy="2143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563" y="1451967"/>
            <a:ext cx="107156" cy="11430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464719" y="1430536"/>
            <a:ext cx="16647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</a:rPr>
              <a:t>Semantic Cache (Redis)</a:t>
            </a:r>
            <a:endParaRPr lang="en-US" sz="784" dirty="0"/>
          </a:p>
        </p:txBody>
      </p:sp>
      <p:sp>
        <p:nvSpPr>
          <p:cNvPr id="40" name="Shape 35"/>
          <p:cNvSpPr/>
          <p:nvPr/>
        </p:nvSpPr>
        <p:spPr>
          <a:xfrm>
            <a:off x="3250406" y="1693069"/>
            <a:ext cx="2643188" cy="2000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41" name="Text 36"/>
          <p:cNvSpPr/>
          <p:nvPr/>
        </p:nvSpPr>
        <p:spPr>
          <a:xfrm>
            <a:off x="3357563" y="1805583"/>
            <a:ext cx="1789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from</a:t>
            </a:r>
            <a:endParaRPr lang="en-US" sz="568" dirty="0"/>
          </a:p>
        </p:txBody>
      </p:sp>
      <p:sp>
        <p:nvSpPr>
          <p:cNvPr id="42" name="Text 37"/>
          <p:cNvSpPr/>
          <p:nvPr/>
        </p:nvSpPr>
        <p:spPr>
          <a:xfrm>
            <a:off x="3536519" y="1805583"/>
            <a:ext cx="7130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redis import Redis</a:t>
            </a:r>
            <a:endParaRPr lang="en-US" sz="568" dirty="0"/>
          </a:p>
        </p:txBody>
      </p:sp>
      <p:sp>
        <p:nvSpPr>
          <p:cNvPr id="43" name="Text 38"/>
          <p:cNvSpPr/>
          <p:nvPr/>
        </p:nvSpPr>
        <p:spPr>
          <a:xfrm>
            <a:off x="4249582" y="1805583"/>
            <a:ext cx="1789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from</a:t>
            </a:r>
            <a:endParaRPr lang="en-US" sz="568" dirty="0"/>
          </a:p>
        </p:txBody>
      </p:sp>
      <p:sp>
        <p:nvSpPr>
          <p:cNvPr id="44" name="Text 39"/>
          <p:cNvSpPr/>
          <p:nvPr/>
        </p:nvSpPr>
        <p:spPr>
          <a:xfrm>
            <a:off x="4428539" y="1805583"/>
            <a:ext cx="89402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sentence_transformers</a:t>
            </a:r>
            <a:endParaRPr lang="en-US" sz="568" dirty="0"/>
          </a:p>
        </p:txBody>
      </p:sp>
      <p:sp>
        <p:nvSpPr>
          <p:cNvPr id="45" name="Text 40"/>
          <p:cNvSpPr/>
          <p:nvPr/>
        </p:nvSpPr>
        <p:spPr>
          <a:xfrm>
            <a:off x="5322568" y="1805583"/>
            <a:ext cx="25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import</a:t>
            </a:r>
            <a:endParaRPr lang="en-US" sz="568" dirty="0"/>
          </a:p>
        </p:txBody>
      </p:sp>
      <p:sp>
        <p:nvSpPr>
          <p:cNvPr id="46" name="Text 41"/>
          <p:cNvSpPr/>
          <p:nvPr/>
        </p:nvSpPr>
        <p:spPr>
          <a:xfrm>
            <a:off x="3357563" y="1923455"/>
            <a:ext cx="197923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SentenceTransformer model = SentenceTransformer(</a:t>
            </a:r>
            <a:endParaRPr lang="en-US" sz="568" dirty="0"/>
          </a:p>
        </p:txBody>
      </p:sp>
      <p:sp>
        <p:nvSpPr>
          <p:cNvPr id="47" name="Text 42"/>
          <p:cNvSpPr/>
          <p:nvPr/>
        </p:nvSpPr>
        <p:spPr>
          <a:xfrm>
            <a:off x="3357563" y="1923455"/>
            <a:ext cx="2416234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"all-MiniLM-L6-v2"</a:t>
            </a:r>
            <a:endParaRPr lang="en-US" sz="568" dirty="0"/>
          </a:p>
        </p:txBody>
      </p:sp>
      <p:sp>
        <p:nvSpPr>
          <p:cNvPr id="48" name="Text 43"/>
          <p:cNvSpPr/>
          <p:nvPr/>
        </p:nvSpPr>
        <p:spPr>
          <a:xfrm>
            <a:off x="3585939" y="2041327"/>
            <a:ext cx="83314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 redis_client = Redis()</a:t>
            </a:r>
            <a:endParaRPr lang="en-US" sz="568" dirty="0"/>
          </a:p>
        </p:txBody>
      </p:sp>
      <p:sp>
        <p:nvSpPr>
          <p:cNvPr id="49" name="Text 44"/>
          <p:cNvSpPr/>
          <p:nvPr/>
        </p:nvSpPr>
        <p:spPr>
          <a:xfrm>
            <a:off x="4419079" y="2041327"/>
            <a:ext cx="59134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Поиск в кеше</a:t>
            </a:r>
            <a:endParaRPr lang="en-US" sz="568" dirty="0"/>
          </a:p>
        </p:txBody>
      </p:sp>
      <p:sp>
        <p:nvSpPr>
          <p:cNvPr id="50" name="Text 45"/>
          <p:cNvSpPr/>
          <p:nvPr/>
        </p:nvSpPr>
        <p:spPr>
          <a:xfrm>
            <a:off x="3357563" y="2041327"/>
            <a:ext cx="2411574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query_embedding = model.encode(query) similar_queries = redis_client.ft(</a:t>
            </a:r>
            <a:endParaRPr lang="en-US" sz="568" dirty="0"/>
          </a:p>
        </p:txBody>
      </p:sp>
      <p:sp>
        <p:nvSpPr>
          <p:cNvPr id="51" name="Text 46"/>
          <p:cNvSpPr/>
          <p:nvPr/>
        </p:nvSpPr>
        <p:spPr>
          <a:xfrm>
            <a:off x="5346064" y="2159198"/>
            <a:ext cx="41687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"cache_idx"</a:t>
            </a:r>
            <a:endParaRPr lang="en-US" sz="568" dirty="0"/>
          </a:p>
        </p:txBody>
      </p:sp>
      <p:sp>
        <p:nvSpPr>
          <p:cNvPr id="52" name="Text 47"/>
          <p:cNvSpPr/>
          <p:nvPr/>
        </p:nvSpPr>
        <p:spPr>
          <a:xfrm>
            <a:off x="3357563" y="2277070"/>
            <a:ext cx="13995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).search( query_embedding, params={</a:t>
            </a:r>
            <a:endParaRPr lang="en-US" sz="568" dirty="0"/>
          </a:p>
        </p:txBody>
      </p:sp>
      <p:sp>
        <p:nvSpPr>
          <p:cNvPr id="53" name="Text 48"/>
          <p:cNvSpPr/>
          <p:nvPr/>
        </p:nvSpPr>
        <p:spPr>
          <a:xfrm>
            <a:off x="4757096" y="2277070"/>
            <a:ext cx="41860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"threshold"</a:t>
            </a:r>
            <a:endParaRPr lang="en-US" sz="568" dirty="0"/>
          </a:p>
        </p:txBody>
      </p:sp>
      <p:sp>
        <p:nvSpPr>
          <p:cNvPr id="54" name="Text 49"/>
          <p:cNvSpPr/>
          <p:nvPr/>
        </p:nvSpPr>
        <p:spPr>
          <a:xfrm>
            <a:off x="5175703" y="2277070"/>
            <a:ext cx="4149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:</a:t>
            </a:r>
            <a:endParaRPr lang="en-US" sz="568" dirty="0"/>
          </a:p>
        </p:txBody>
      </p:sp>
      <p:sp>
        <p:nvSpPr>
          <p:cNvPr id="55" name="Text 50"/>
          <p:cNvSpPr/>
          <p:nvPr/>
        </p:nvSpPr>
        <p:spPr>
          <a:xfrm>
            <a:off x="5217198" y="2277070"/>
            <a:ext cx="15590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0.98</a:t>
            </a:r>
            <a:endParaRPr lang="en-US" sz="568" dirty="0"/>
          </a:p>
        </p:txBody>
      </p:sp>
      <p:sp>
        <p:nvSpPr>
          <p:cNvPr id="56" name="Text 51"/>
          <p:cNvSpPr/>
          <p:nvPr/>
        </p:nvSpPr>
        <p:spPr>
          <a:xfrm>
            <a:off x="5373105" y="2277070"/>
            <a:ext cx="9432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} )</a:t>
            </a:r>
            <a:endParaRPr lang="en-US" sz="568" dirty="0"/>
          </a:p>
        </p:txBody>
      </p:sp>
      <p:sp>
        <p:nvSpPr>
          <p:cNvPr id="57" name="Text 52"/>
          <p:cNvSpPr/>
          <p:nvPr/>
        </p:nvSpPr>
        <p:spPr>
          <a:xfrm>
            <a:off x="5467424" y="2277070"/>
            <a:ext cx="473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if</a:t>
            </a:r>
            <a:endParaRPr lang="en-US" sz="568" dirty="0"/>
          </a:p>
        </p:txBody>
      </p:sp>
      <p:sp>
        <p:nvSpPr>
          <p:cNvPr id="58" name="Text 53"/>
          <p:cNvSpPr/>
          <p:nvPr/>
        </p:nvSpPr>
        <p:spPr>
          <a:xfrm>
            <a:off x="3357563" y="2394942"/>
            <a:ext cx="60077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similar_queries:</a:t>
            </a:r>
            <a:endParaRPr lang="en-US" sz="568" dirty="0"/>
          </a:p>
        </p:txBody>
      </p:sp>
      <p:sp>
        <p:nvSpPr>
          <p:cNvPr id="59" name="Text 54"/>
          <p:cNvSpPr/>
          <p:nvPr/>
        </p:nvSpPr>
        <p:spPr>
          <a:xfrm>
            <a:off x="3958335" y="2394942"/>
            <a:ext cx="23317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return</a:t>
            </a:r>
            <a:endParaRPr lang="en-US" sz="568" dirty="0"/>
          </a:p>
        </p:txBody>
      </p:sp>
      <p:sp>
        <p:nvSpPr>
          <p:cNvPr id="60" name="Text 55"/>
          <p:cNvSpPr/>
          <p:nvPr/>
        </p:nvSpPr>
        <p:spPr>
          <a:xfrm>
            <a:off x="4191512" y="2394942"/>
            <a:ext cx="12074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redis_client.get( similar_queries[</a:t>
            </a:r>
            <a:endParaRPr lang="en-US" sz="568" dirty="0"/>
          </a:p>
        </p:txBody>
      </p:sp>
      <p:sp>
        <p:nvSpPr>
          <p:cNvPr id="61" name="Text 56"/>
          <p:cNvSpPr/>
          <p:nvPr/>
        </p:nvSpPr>
        <p:spPr>
          <a:xfrm>
            <a:off x="5399001" y="2394942"/>
            <a:ext cx="4495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0</a:t>
            </a:r>
            <a:endParaRPr lang="en-US" sz="568" dirty="0"/>
          </a:p>
        </p:txBody>
      </p:sp>
      <p:sp>
        <p:nvSpPr>
          <p:cNvPr id="62" name="Text 57"/>
          <p:cNvSpPr/>
          <p:nvPr/>
        </p:nvSpPr>
        <p:spPr>
          <a:xfrm>
            <a:off x="5443956" y="2394942"/>
            <a:ext cx="1595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].id )</a:t>
            </a:r>
            <a:endParaRPr lang="en-US" sz="568" dirty="0"/>
          </a:p>
        </p:txBody>
      </p:sp>
      <p:sp>
        <p:nvSpPr>
          <p:cNvPr id="63" name="Text 58"/>
          <p:cNvSpPr/>
          <p:nvPr/>
        </p:nvSpPr>
        <p:spPr>
          <a:xfrm>
            <a:off x="3357563" y="2512814"/>
            <a:ext cx="14655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else</a:t>
            </a:r>
            <a:endParaRPr lang="en-US" sz="568" dirty="0"/>
          </a:p>
        </p:txBody>
      </p:sp>
      <p:sp>
        <p:nvSpPr>
          <p:cNvPr id="64" name="Text 59"/>
          <p:cNvSpPr/>
          <p:nvPr/>
        </p:nvSpPr>
        <p:spPr>
          <a:xfrm>
            <a:off x="3504121" y="2512814"/>
            <a:ext cx="4149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:</a:t>
            </a:r>
            <a:endParaRPr lang="en-US" sz="568" dirty="0"/>
          </a:p>
        </p:txBody>
      </p:sp>
      <p:sp>
        <p:nvSpPr>
          <p:cNvPr id="65" name="Text 60"/>
          <p:cNvSpPr/>
          <p:nvPr/>
        </p:nvSpPr>
        <p:spPr>
          <a:xfrm>
            <a:off x="3545616" y="2512814"/>
            <a:ext cx="6354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Запустить RAG</a:t>
            </a:r>
            <a:endParaRPr lang="en-US" sz="568" dirty="0"/>
          </a:p>
        </p:txBody>
      </p:sp>
      <p:sp>
        <p:nvSpPr>
          <p:cNvPr id="66" name="Text 61"/>
          <p:cNvSpPr/>
          <p:nvPr/>
        </p:nvSpPr>
        <p:spPr>
          <a:xfrm>
            <a:off x="4181103" y="2512814"/>
            <a:ext cx="108883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answer = rag_pipeline(query)</a:t>
            </a:r>
            <a:endParaRPr lang="en-US" sz="568" dirty="0"/>
          </a:p>
        </p:txBody>
      </p:sp>
      <p:sp>
        <p:nvSpPr>
          <p:cNvPr id="67" name="Shape 62"/>
          <p:cNvSpPr/>
          <p:nvPr/>
        </p:nvSpPr>
        <p:spPr>
          <a:xfrm>
            <a:off x="3250406" y="3693319"/>
            <a:ext cx="2643188" cy="460046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8" name="Shape 63"/>
          <p:cNvSpPr/>
          <p:nvPr/>
        </p:nvSpPr>
        <p:spPr>
          <a:xfrm>
            <a:off x="3250406" y="3693319"/>
            <a:ext cx="2643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9" name="Text 64"/>
          <p:cNvSpPr/>
          <p:nvPr/>
        </p:nvSpPr>
        <p:spPr>
          <a:xfrm>
            <a:off x="3357563" y="3779044"/>
            <a:ext cx="24288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4F00"/>
                </a:solidFill>
              </a:rPr>
              <a:t>✓ Ключевое:</a:t>
            </a:r>
            <a:endParaRPr lang="en-US" sz="634" dirty="0"/>
          </a:p>
        </p:txBody>
      </p:sp>
      <p:sp>
        <p:nvSpPr>
          <p:cNvPr id="70" name="Text 65"/>
          <p:cNvSpPr/>
          <p:nvPr/>
        </p:nvSpPr>
        <p:spPr>
          <a:xfrm>
            <a:off x="3357563" y="3930486"/>
            <a:ext cx="219533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Threshold 0.98 — очень строгий, но безопасный</a:t>
            </a:r>
            <a:endParaRPr lang="en-US" sz="674" dirty="0"/>
          </a:p>
        </p:txBody>
      </p:sp>
      <p:sp>
        <p:nvSpPr>
          <p:cNvPr id="71" name="Shape 66"/>
          <p:cNvSpPr/>
          <p:nvPr/>
        </p:nvSpPr>
        <p:spPr>
          <a:xfrm>
            <a:off x="6072188" y="1323380"/>
            <a:ext cx="2643188" cy="3820120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72" name="Shape 67"/>
          <p:cNvSpPr/>
          <p:nvPr/>
        </p:nvSpPr>
        <p:spPr>
          <a:xfrm>
            <a:off x="6072188" y="1323380"/>
            <a:ext cx="2643188" cy="3911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3" name="Shape 68"/>
          <p:cNvSpPr/>
          <p:nvPr/>
        </p:nvSpPr>
        <p:spPr>
          <a:xfrm>
            <a:off x="6072188" y="1693069"/>
            <a:ext cx="2643188" cy="21431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7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344" y="1451967"/>
            <a:ext cx="121444" cy="114300"/>
          </a:xfrm>
          <a:prstGeom prst="rect">
            <a:avLst/>
          </a:prstGeom>
        </p:spPr>
      </p:pic>
      <p:sp>
        <p:nvSpPr>
          <p:cNvPr id="75" name="Text 69"/>
          <p:cNvSpPr/>
          <p:nvPr/>
        </p:nvSpPr>
        <p:spPr>
          <a:xfrm>
            <a:off x="6300788" y="1430536"/>
            <a:ext cx="150384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</a:rPr>
              <a:t>A/B-testing (Statsig)</a:t>
            </a:r>
            <a:endParaRPr lang="en-US" sz="784" dirty="0"/>
          </a:p>
        </p:txBody>
      </p:sp>
      <p:sp>
        <p:nvSpPr>
          <p:cNvPr id="76" name="Shape 70"/>
          <p:cNvSpPr/>
          <p:nvPr/>
        </p:nvSpPr>
        <p:spPr>
          <a:xfrm>
            <a:off x="6072188" y="1693069"/>
            <a:ext cx="2643188" cy="200025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7" name="Text 71"/>
          <p:cNvSpPr/>
          <p:nvPr/>
        </p:nvSpPr>
        <p:spPr>
          <a:xfrm>
            <a:off x="6179344" y="1805583"/>
            <a:ext cx="1789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from</a:t>
            </a:r>
            <a:endParaRPr lang="en-US" sz="568" dirty="0"/>
          </a:p>
        </p:txBody>
      </p:sp>
      <p:sp>
        <p:nvSpPr>
          <p:cNvPr id="78" name="Text 72"/>
          <p:cNvSpPr/>
          <p:nvPr/>
        </p:nvSpPr>
        <p:spPr>
          <a:xfrm>
            <a:off x="6358300" y="1805583"/>
            <a:ext cx="2855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statsig</a:t>
            </a:r>
            <a:endParaRPr lang="en-US" sz="568" dirty="0"/>
          </a:p>
        </p:txBody>
      </p:sp>
      <p:sp>
        <p:nvSpPr>
          <p:cNvPr id="79" name="Text 73"/>
          <p:cNvSpPr/>
          <p:nvPr/>
        </p:nvSpPr>
        <p:spPr>
          <a:xfrm>
            <a:off x="6643883" y="1805583"/>
            <a:ext cx="2504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import</a:t>
            </a:r>
            <a:endParaRPr lang="en-US" sz="568" dirty="0"/>
          </a:p>
        </p:txBody>
      </p:sp>
      <p:sp>
        <p:nvSpPr>
          <p:cNvPr id="80" name="Text 74"/>
          <p:cNvSpPr/>
          <p:nvPr/>
        </p:nvSpPr>
        <p:spPr>
          <a:xfrm>
            <a:off x="6894333" y="1805583"/>
            <a:ext cx="89896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statsig statsig.initialize(</a:t>
            </a:r>
            <a:endParaRPr lang="en-US" sz="568" dirty="0"/>
          </a:p>
        </p:txBody>
      </p:sp>
      <p:sp>
        <p:nvSpPr>
          <p:cNvPr id="81" name="Text 75"/>
          <p:cNvSpPr/>
          <p:nvPr/>
        </p:nvSpPr>
        <p:spPr>
          <a:xfrm>
            <a:off x="7793301" y="1805583"/>
            <a:ext cx="60649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"YOUR_API_KEY"</a:t>
            </a:r>
            <a:endParaRPr lang="en-US" sz="568" dirty="0"/>
          </a:p>
        </p:txBody>
      </p:sp>
      <p:sp>
        <p:nvSpPr>
          <p:cNvPr id="82" name="Text 76"/>
          <p:cNvSpPr/>
          <p:nvPr/>
        </p:nvSpPr>
        <p:spPr>
          <a:xfrm>
            <a:off x="8399794" y="1805583"/>
            <a:ext cx="6446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</a:t>
            </a:r>
            <a:endParaRPr lang="en-US" sz="568" dirty="0"/>
          </a:p>
        </p:txBody>
      </p:sp>
      <p:sp>
        <p:nvSpPr>
          <p:cNvPr id="83" name="Text 77"/>
          <p:cNvSpPr/>
          <p:nvPr/>
        </p:nvSpPr>
        <p:spPr>
          <a:xfrm>
            <a:off x="6179344" y="1805583"/>
            <a:ext cx="233569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Проверяем, в какой группе пользователь</a:t>
            </a:r>
            <a:endParaRPr lang="en-US" sz="568" dirty="0"/>
          </a:p>
        </p:txBody>
      </p:sp>
      <p:sp>
        <p:nvSpPr>
          <p:cNvPr id="84" name="Text 78"/>
          <p:cNvSpPr/>
          <p:nvPr/>
        </p:nvSpPr>
        <p:spPr>
          <a:xfrm>
            <a:off x="7790343" y="1923455"/>
            <a:ext cx="2990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user = {</a:t>
            </a:r>
            <a:endParaRPr lang="en-US" sz="568" dirty="0"/>
          </a:p>
        </p:txBody>
      </p:sp>
      <p:sp>
        <p:nvSpPr>
          <p:cNvPr id="85" name="Text 79"/>
          <p:cNvSpPr/>
          <p:nvPr/>
        </p:nvSpPr>
        <p:spPr>
          <a:xfrm>
            <a:off x="8089432" y="1923455"/>
            <a:ext cx="3087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"userID"</a:t>
            </a:r>
            <a:endParaRPr lang="en-US" sz="568" dirty="0"/>
          </a:p>
        </p:txBody>
      </p:sp>
      <p:sp>
        <p:nvSpPr>
          <p:cNvPr id="86" name="Text 80"/>
          <p:cNvSpPr/>
          <p:nvPr/>
        </p:nvSpPr>
        <p:spPr>
          <a:xfrm>
            <a:off x="6179344" y="1923455"/>
            <a:ext cx="2239928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: user_id} experiment = statsig.get_experiment( user,</a:t>
            </a:r>
            <a:endParaRPr lang="en-US" sz="568" dirty="0"/>
          </a:p>
        </p:txBody>
      </p:sp>
      <p:sp>
        <p:nvSpPr>
          <p:cNvPr id="87" name="Text 81"/>
          <p:cNvSpPr/>
          <p:nvPr/>
        </p:nvSpPr>
        <p:spPr>
          <a:xfrm>
            <a:off x="6179344" y="2159198"/>
            <a:ext cx="71258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"rag_reranker_test"</a:t>
            </a:r>
            <a:endParaRPr lang="en-US" sz="568" dirty="0"/>
          </a:p>
        </p:txBody>
      </p:sp>
      <p:sp>
        <p:nvSpPr>
          <p:cNvPr id="88" name="Text 82"/>
          <p:cNvSpPr/>
          <p:nvPr/>
        </p:nvSpPr>
        <p:spPr>
          <a:xfrm>
            <a:off x="6891933" y="2159198"/>
            <a:ext cx="6446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</a:t>
            </a:r>
            <a:endParaRPr lang="en-US" sz="568" dirty="0"/>
          </a:p>
        </p:txBody>
      </p:sp>
      <p:sp>
        <p:nvSpPr>
          <p:cNvPr id="89" name="Text 83"/>
          <p:cNvSpPr/>
          <p:nvPr/>
        </p:nvSpPr>
        <p:spPr>
          <a:xfrm>
            <a:off x="6956394" y="2159198"/>
            <a:ext cx="4732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if</a:t>
            </a:r>
            <a:endParaRPr lang="en-US" sz="568" dirty="0"/>
          </a:p>
        </p:txBody>
      </p:sp>
      <p:sp>
        <p:nvSpPr>
          <p:cNvPr id="90" name="Text 84"/>
          <p:cNvSpPr/>
          <p:nvPr/>
        </p:nvSpPr>
        <p:spPr>
          <a:xfrm>
            <a:off x="7003721" y="2159198"/>
            <a:ext cx="61051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experiment.get(</a:t>
            </a:r>
            <a:endParaRPr lang="en-US" sz="568" dirty="0"/>
          </a:p>
        </p:txBody>
      </p:sp>
      <p:sp>
        <p:nvSpPr>
          <p:cNvPr id="91" name="Text 85"/>
          <p:cNvSpPr/>
          <p:nvPr/>
        </p:nvSpPr>
        <p:spPr>
          <a:xfrm>
            <a:off x="7614233" y="2159198"/>
            <a:ext cx="28463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"group"</a:t>
            </a:r>
            <a:endParaRPr lang="en-US" sz="568" dirty="0"/>
          </a:p>
        </p:txBody>
      </p:sp>
      <p:sp>
        <p:nvSpPr>
          <p:cNvPr id="92" name="Text 86"/>
          <p:cNvSpPr/>
          <p:nvPr/>
        </p:nvSpPr>
        <p:spPr>
          <a:xfrm>
            <a:off x="7898867" y="2159198"/>
            <a:ext cx="2040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 == \</a:t>
            </a:r>
            <a:endParaRPr lang="en-US" sz="568" dirty="0"/>
          </a:p>
        </p:txBody>
      </p:sp>
      <p:sp>
        <p:nvSpPr>
          <p:cNvPr id="93" name="Text 87"/>
          <p:cNvSpPr/>
          <p:nvPr/>
        </p:nvSpPr>
        <p:spPr>
          <a:xfrm>
            <a:off x="8102882" y="2159198"/>
            <a:ext cx="43646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"treatment"</a:t>
            </a:r>
            <a:endParaRPr lang="en-US" sz="568" dirty="0"/>
          </a:p>
        </p:txBody>
      </p:sp>
      <p:sp>
        <p:nvSpPr>
          <p:cNvPr id="94" name="Text 88"/>
          <p:cNvSpPr/>
          <p:nvPr/>
        </p:nvSpPr>
        <p:spPr>
          <a:xfrm>
            <a:off x="8539349" y="2159198"/>
            <a:ext cx="2106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:</a:t>
            </a:r>
            <a:endParaRPr lang="en-US" sz="568" dirty="0"/>
          </a:p>
        </p:txBody>
      </p:sp>
      <p:sp>
        <p:nvSpPr>
          <p:cNvPr id="95" name="Text 89"/>
          <p:cNvSpPr/>
          <p:nvPr/>
        </p:nvSpPr>
        <p:spPr>
          <a:xfrm>
            <a:off x="6179344" y="2277070"/>
            <a:ext cx="117763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Используем новый re-ranker</a:t>
            </a:r>
            <a:endParaRPr lang="en-US" sz="568" dirty="0"/>
          </a:p>
        </p:txBody>
      </p:sp>
      <p:sp>
        <p:nvSpPr>
          <p:cNvPr id="96" name="Text 90"/>
          <p:cNvSpPr/>
          <p:nvPr/>
        </p:nvSpPr>
        <p:spPr>
          <a:xfrm>
            <a:off x="7356974" y="2277070"/>
            <a:ext cx="123271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docs = use_cohere_rerank(query)</a:t>
            </a:r>
            <a:endParaRPr lang="en-US" sz="568" dirty="0"/>
          </a:p>
        </p:txBody>
      </p:sp>
      <p:sp>
        <p:nvSpPr>
          <p:cNvPr id="97" name="Text 91"/>
          <p:cNvSpPr/>
          <p:nvPr/>
        </p:nvSpPr>
        <p:spPr>
          <a:xfrm>
            <a:off x="6179344" y="2394942"/>
            <a:ext cx="14655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else</a:t>
            </a:r>
            <a:endParaRPr lang="en-US" sz="568" dirty="0"/>
          </a:p>
        </p:txBody>
      </p:sp>
      <p:sp>
        <p:nvSpPr>
          <p:cNvPr id="98" name="Text 92"/>
          <p:cNvSpPr/>
          <p:nvPr/>
        </p:nvSpPr>
        <p:spPr>
          <a:xfrm>
            <a:off x="6325902" y="2394942"/>
            <a:ext cx="4149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:</a:t>
            </a:r>
            <a:endParaRPr lang="en-US" sz="568" dirty="0"/>
          </a:p>
        </p:txBody>
      </p:sp>
      <p:sp>
        <p:nvSpPr>
          <p:cNvPr id="99" name="Text 93"/>
          <p:cNvSpPr/>
          <p:nvPr/>
        </p:nvSpPr>
        <p:spPr>
          <a:xfrm>
            <a:off x="6367397" y="2394942"/>
            <a:ext cx="62920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Старая версия</a:t>
            </a:r>
            <a:endParaRPr lang="en-US" sz="568" dirty="0"/>
          </a:p>
        </p:txBody>
      </p:sp>
      <p:sp>
        <p:nvSpPr>
          <p:cNvPr id="100" name="Text 94"/>
          <p:cNvSpPr/>
          <p:nvPr/>
        </p:nvSpPr>
        <p:spPr>
          <a:xfrm>
            <a:off x="6996605" y="2394942"/>
            <a:ext cx="12632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docs = use_default_search(query)</a:t>
            </a:r>
            <a:endParaRPr lang="en-US" sz="568" dirty="0"/>
          </a:p>
        </p:txBody>
      </p:sp>
      <p:sp>
        <p:nvSpPr>
          <p:cNvPr id="101" name="Text 95"/>
          <p:cNvSpPr/>
          <p:nvPr/>
        </p:nvSpPr>
        <p:spPr>
          <a:xfrm>
            <a:off x="6179344" y="2394942"/>
            <a:ext cx="2131321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888888"/>
                </a:solidFill>
              </a:rPr>
              <a:t># Логируем метрику</a:t>
            </a:r>
            <a:endParaRPr lang="en-US" sz="568" dirty="0"/>
          </a:p>
        </p:txBody>
      </p:sp>
      <p:sp>
        <p:nvSpPr>
          <p:cNvPr id="102" name="Text 96"/>
          <p:cNvSpPr/>
          <p:nvPr/>
        </p:nvSpPr>
        <p:spPr>
          <a:xfrm>
            <a:off x="6898937" y="2512814"/>
            <a:ext cx="87706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statsig.log_event( user,</a:t>
            </a:r>
            <a:endParaRPr lang="en-US" sz="568" dirty="0"/>
          </a:p>
        </p:txBody>
      </p:sp>
      <p:sp>
        <p:nvSpPr>
          <p:cNvPr id="103" name="Text 97"/>
          <p:cNvSpPr/>
          <p:nvPr/>
        </p:nvSpPr>
        <p:spPr>
          <a:xfrm>
            <a:off x="7776000" y="2512814"/>
            <a:ext cx="480054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D700"/>
                </a:solidFill>
              </a:rPr>
              <a:t>"thumbs_up"</a:t>
            </a:r>
            <a:endParaRPr lang="en-US" sz="568" dirty="0"/>
          </a:p>
        </p:txBody>
      </p:sp>
      <p:sp>
        <p:nvSpPr>
          <p:cNvPr id="104" name="Text 98"/>
          <p:cNvSpPr/>
          <p:nvPr/>
        </p:nvSpPr>
        <p:spPr>
          <a:xfrm>
            <a:off x="6179344" y="2512814"/>
            <a:ext cx="2097779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, value=</a:t>
            </a:r>
            <a:endParaRPr lang="en-US" sz="568" dirty="0"/>
          </a:p>
        </p:txBody>
      </p:sp>
      <p:sp>
        <p:nvSpPr>
          <p:cNvPr id="105" name="Text 99"/>
          <p:cNvSpPr/>
          <p:nvPr/>
        </p:nvSpPr>
        <p:spPr>
          <a:xfrm>
            <a:off x="6421478" y="2630686"/>
            <a:ext cx="16511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FF4F00"/>
                </a:solidFill>
              </a:rPr>
              <a:t>True</a:t>
            </a:r>
            <a:endParaRPr lang="en-US" sz="568" dirty="0"/>
          </a:p>
        </p:txBody>
      </p:sp>
      <p:sp>
        <p:nvSpPr>
          <p:cNvPr id="106" name="Text 100"/>
          <p:cNvSpPr/>
          <p:nvPr/>
        </p:nvSpPr>
        <p:spPr>
          <a:xfrm>
            <a:off x="6586593" y="2630686"/>
            <a:ext cx="4400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568" dirty="0">
                <a:solidFill>
                  <a:srgbClr val="00FF00"/>
                </a:solidFill>
              </a:rPr>
              <a:t>)</a:t>
            </a:r>
            <a:endParaRPr lang="en-US" sz="568" dirty="0"/>
          </a:p>
        </p:txBody>
      </p:sp>
      <p:sp>
        <p:nvSpPr>
          <p:cNvPr id="107" name="Shape 101"/>
          <p:cNvSpPr/>
          <p:nvPr/>
        </p:nvSpPr>
        <p:spPr>
          <a:xfrm>
            <a:off x="6072188" y="3693319"/>
            <a:ext cx="2643188" cy="590057"/>
          </a:xfrm>
          <a:prstGeom prst="rect">
            <a:avLst/>
          </a:prstGeom>
          <a:solidFill>
            <a:srgbClr val="FFF8F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8" name="Shape 102"/>
          <p:cNvSpPr/>
          <p:nvPr/>
        </p:nvSpPr>
        <p:spPr>
          <a:xfrm>
            <a:off x="6072188" y="3693319"/>
            <a:ext cx="2643188" cy="714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9" name="Text 103"/>
          <p:cNvSpPr/>
          <p:nvPr/>
        </p:nvSpPr>
        <p:spPr>
          <a:xfrm>
            <a:off x="6179344" y="3779044"/>
            <a:ext cx="2428875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34" b="1" dirty="0">
                <a:solidFill>
                  <a:srgbClr val="FF4F00"/>
                </a:solidFill>
              </a:rPr>
              <a:t>✓ Ключевое:</a:t>
            </a:r>
            <a:endParaRPr lang="en-US" sz="634" dirty="0"/>
          </a:p>
        </p:txBody>
      </p:sp>
      <p:sp>
        <p:nvSpPr>
          <p:cNvPr id="110" name="Text 104"/>
          <p:cNvSpPr/>
          <p:nvPr/>
        </p:nvSpPr>
        <p:spPr>
          <a:xfrm>
            <a:off x="6179344" y="3930486"/>
            <a:ext cx="2053437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Feature flag управляет экспериментом, легко</a:t>
            </a:r>
            <a:endParaRPr lang="en-US" sz="674" dirty="0"/>
          </a:p>
        </p:txBody>
      </p:sp>
      <p:sp>
        <p:nvSpPr>
          <p:cNvPr id="111" name="Text 105"/>
          <p:cNvSpPr/>
          <p:nvPr/>
        </p:nvSpPr>
        <p:spPr>
          <a:xfrm>
            <a:off x="6179344" y="4060496"/>
            <a:ext cx="40398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674" dirty="0">
                <a:solidFill>
                  <a:srgbClr val="333333"/>
                </a:solidFill>
              </a:rPr>
              <a:t>откатить</a:t>
            </a:r>
            <a:endParaRPr lang="en-US" sz="67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28625" y="1447502"/>
            <a:ext cx="3964781" cy="437555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Ключевые выводы</a:t>
            </a:r>
            <a:endParaRPr lang="en-US" sz="1397" dirty="0"/>
          </a:p>
        </p:txBody>
      </p:sp>
      <p:sp>
        <p:nvSpPr>
          <p:cNvPr id="5" name="Shape 1"/>
          <p:cNvSpPr/>
          <p:nvPr/>
        </p:nvSpPr>
        <p:spPr>
          <a:xfrm>
            <a:off x="428625" y="1992213"/>
            <a:ext cx="3964781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6" name="Shape 2"/>
          <p:cNvSpPr/>
          <p:nvPr/>
        </p:nvSpPr>
        <p:spPr>
          <a:xfrm>
            <a:off x="428625" y="1992213"/>
            <a:ext cx="28575" cy="65722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7" name="Text 3"/>
          <p:cNvSpPr/>
          <p:nvPr/>
        </p:nvSpPr>
        <p:spPr>
          <a:xfrm>
            <a:off x="1000125" y="2135088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Re-ranking</a:t>
            </a:r>
            <a:endParaRPr lang="en-US" sz="885" dirty="0"/>
          </a:p>
        </p:txBody>
      </p:sp>
      <p:sp>
        <p:nvSpPr>
          <p:cNvPr id="8" name="Text 4"/>
          <p:cNvSpPr/>
          <p:nvPr/>
        </p:nvSpPr>
        <p:spPr>
          <a:xfrm>
            <a:off x="1000125" y="2345829"/>
            <a:ext cx="325040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Повышает точность на 20-35%. Стоит добавить в production.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428625" y="2649438"/>
            <a:ext cx="3964781" cy="6572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0" name="Shape 6"/>
          <p:cNvSpPr/>
          <p:nvPr/>
        </p:nvSpPr>
        <p:spPr>
          <a:xfrm>
            <a:off x="428625" y="2649438"/>
            <a:ext cx="28575" cy="657225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853035"/>
            <a:ext cx="150019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125" y="2792313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Caching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1000125" y="3003054"/>
            <a:ext cx="325040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Снижает латентность и стоимость на 80-95% при cache hit.</a:t>
            </a:r>
            <a:endParaRPr lang="en-US" sz="780" dirty="0"/>
          </a:p>
        </p:txBody>
      </p:sp>
      <p:sp>
        <p:nvSpPr>
          <p:cNvPr id="14" name="Shape 9"/>
          <p:cNvSpPr/>
          <p:nvPr/>
        </p:nvSpPr>
        <p:spPr>
          <a:xfrm>
            <a:off x="428625" y="3306663"/>
            <a:ext cx="3964781" cy="81795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KZ"/>
          </a:p>
        </p:txBody>
      </p:sp>
      <p:sp>
        <p:nvSpPr>
          <p:cNvPr id="15" name="Shape 10"/>
          <p:cNvSpPr/>
          <p:nvPr/>
        </p:nvSpPr>
        <p:spPr>
          <a:xfrm>
            <a:off x="428625" y="3306663"/>
            <a:ext cx="28575" cy="817959"/>
          </a:xfrm>
          <a:prstGeom prst="rect">
            <a:avLst/>
          </a:prstGeom>
          <a:solidFill>
            <a:srgbClr val="FF4F00"/>
          </a:solidFill>
          <a:ln/>
        </p:spPr>
        <p:txBody>
          <a:bodyPr/>
          <a:lstStyle/>
          <a:p>
            <a:endParaRPr lang="ru-K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222" y="3510260"/>
            <a:ext cx="200025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125" y="3449538"/>
            <a:ext cx="32504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1A1A"/>
                </a:solidFill>
              </a:rPr>
              <a:t>A/B-Testing</a:t>
            </a:r>
            <a:endParaRPr lang="en-US" sz="885" dirty="0"/>
          </a:p>
        </p:txBody>
      </p:sp>
      <p:sp>
        <p:nvSpPr>
          <p:cNvPr id="18" name="Text 12"/>
          <p:cNvSpPr/>
          <p:nvPr/>
        </p:nvSpPr>
        <p:spPr>
          <a:xfrm>
            <a:off x="1000125" y="3660279"/>
            <a:ext cx="3250406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Единственный способ валидировать гипотезы на реальных пользователях.</a:t>
            </a:r>
            <a:endParaRPr lang="en-US" sz="780" dirty="0"/>
          </a:p>
        </p:txBody>
      </p:sp>
      <p:sp>
        <p:nvSpPr>
          <p:cNvPr id="19" name="Text 13"/>
          <p:cNvSpPr/>
          <p:nvPr/>
        </p:nvSpPr>
        <p:spPr>
          <a:xfrm>
            <a:off x="4750594" y="1099970"/>
            <a:ext cx="3964781" cy="437555"/>
          </a:xfrm>
          <a:prstGeom prst="rect">
            <a:avLst/>
          </a:prstGeom>
          <a:noFill/>
          <a:ln/>
        </p:spPr>
        <p:txBody>
          <a:bodyPr wrap="square" lIns="0" tIns="0" rIns="0" bIns="170053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1A1A1A"/>
                </a:solidFill>
              </a:rPr>
              <a:t>Best Practices</a:t>
            </a:r>
            <a:endParaRPr lang="en-US" sz="1397" dirty="0"/>
          </a:p>
        </p:txBody>
      </p:sp>
      <p:sp>
        <p:nvSpPr>
          <p:cNvPr id="20" name="Shape 14"/>
          <p:cNvSpPr/>
          <p:nvPr/>
        </p:nvSpPr>
        <p:spPr>
          <a:xfrm>
            <a:off x="4750594" y="1644681"/>
            <a:ext cx="3964781" cy="180591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1" name="Shape 15"/>
          <p:cNvSpPr/>
          <p:nvPr/>
        </p:nvSpPr>
        <p:spPr>
          <a:xfrm>
            <a:off x="4929188" y="1830419"/>
            <a:ext cx="171450" cy="171450"/>
          </a:xfrm>
          <a:prstGeom prst="rect">
            <a:avLst/>
          </a:prstGeom>
          <a:solidFill>
            <a:srgbClr val="FFF8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2" name="Text 16"/>
          <p:cNvSpPr/>
          <p:nvPr/>
        </p:nvSpPr>
        <p:spPr>
          <a:xfrm>
            <a:off x="4975873" y="1836139"/>
            <a:ext cx="7807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✓</a:t>
            </a:r>
            <a:endParaRPr lang="en-US" sz="834" dirty="0"/>
          </a:p>
        </p:txBody>
      </p:sp>
      <p:sp>
        <p:nvSpPr>
          <p:cNvPr id="23" name="Text 17"/>
          <p:cNvSpPr/>
          <p:nvPr/>
        </p:nvSpPr>
        <p:spPr>
          <a:xfrm>
            <a:off x="5186363" y="1836139"/>
            <a:ext cx="285568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Реализуйте двухэтапный поиск (Retrieve &amp; Re-rank)</a:t>
            </a:r>
            <a:endParaRPr lang="en-US" sz="834" dirty="0"/>
          </a:p>
        </p:txBody>
      </p:sp>
      <p:sp>
        <p:nvSpPr>
          <p:cNvPr id="24" name="Shape 18"/>
          <p:cNvSpPr/>
          <p:nvPr/>
        </p:nvSpPr>
        <p:spPr>
          <a:xfrm>
            <a:off x="4929188" y="2183309"/>
            <a:ext cx="171450" cy="171450"/>
          </a:xfrm>
          <a:prstGeom prst="rect">
            <a:avLst/>
          </a:prstGeom>
          <a:solidFill>
            <a:srgbClr val="FFF8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5" name="Text 19"/>
          <p:cNvSpPr/>
          <p:nvPr/>
        </p:nvSpPr>
        <p:spPr>
          <a:xfrm>
            <a:off x="4975873" y="2189029"/>
            <a:ext cx="7807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✓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5186363" y="2109025"/>
            <a:ext cx="3350419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Добавьте семантический кеш для часто повторяющихся запросов</a:t>
            </a:r>
            <a:endParaRPr lang="en-US" sz="834" dirty="0"/>
          </a:p>
        </p:txBody>
      </p:sp>
      <p:sp>
        <p:nvSpPr>
          <p:cNvPr id="27" name="Shape 21"/>
          <p:cNvSpPr/>
          <p:nvPr/>
        </p:nvSpPr>
        <p:spPr>
          <a:xfrm>
            <a:off x="4929188" y="2536199"/>
            <a:ext cx="171450" cy="171450"/>
          </a:xfrm>
          <a:prstGeom prst="rect">
            <a:avLst/>
          </a:prstGeom>
          <a:solidFill>
            <a:srgbClr val="FFF8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28" name="Text 22"/>
          <p:cNvSpPr/>
          <p:nvPr/>
        </p:nvSpPr>
        <p:spPr>
          <a:xfrm>
            <a:off x="4975873" y="2541919"/>
            <a:ext cx="7807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✓</a:t>
            </a:r>
            <a:endParaRPr lang="en-US" sz="834" dirty="0"/>
          </a:p>
        </p:txBody>
      </p:sp>
      <p:sp>
        <p:nvSpPr>
          <p:cNvPr id="29" name="Text 23"/>
          <p:cNvSpPr/>
          <p:nvPr/>
        </p:nvSpPr>
        <p:spPr>
          <a:xfrm>
            <a:off x="5186363" y="2541919"/>
            <a:ext cx="2450613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Настройте мониторинг и метрики качества</a:t>
            </a:r>
            <a:endParaRPr lang="en-US" sz="834" dirty="0"/>
          </a:p>
        </p:txBody>
      </p:sp>
      <p:sp>
        <p:nvSpPr>
          <p:cNvPr id="30" name="Shape 24"/>
          <p:cNvSpPr/>
          <p:nvPr/>
        </p:nvSpPr>
        <p:spPr>
          <a:xfrm>
            <a:off x="4929188" y="2814805"/>
            <a:ext cx="171450" cy="171450"/>
          </a:xfrm>
          <a:prstGeom prst="rect">
            <a:avLst/>
          </a:prstGeom>
          <a:solidFill>
            <a:srgbClr val="FFF8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1" name="Text 25"/>
          <p:cNvSpPr/>
          <p:nvPr/>
        </p:nvSpPr>
        <p:spPr>
          <a:xfrm>
            <a:off x="4975873" y="2820526"/>
            <a:ext cx="7807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✓</a:t>
            </a:r>
            <a:endParaRPr lang="en-US" sz="834" dirty="0"/>
          </a:p>
        </p:txBody>
      </p:sp>
      <p:sp>
        <p:nvSpPr>
          <p:cNvPr id="32" name="Text 26"/>
          <p:cNvSpPr/>
          <p:nvPr/>
        </p:nvSpPr>
        <p:spPr>
          <a:xfrm>
            <a:off x="5186363" y="2820526"/>
            <a:ext cx="273315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Запустите A/B-тесты перед выкатом в production</a:t>
            </a:r>
            <a:endParaRPr lang="en-US" sz="834" dirty="0"/>
          </a:p>
        </p:txBody>
      </p:sp>
      <p:sp>
        <p:nvSpPr>
          <p:cNvPr id="33" name="Shape 27"/>
          <p:cNvSpPr/>
          <p:nvPr/>
        </p:nvSpPr>
        <p:spPr>
          <a:xfrm>
            <a:off x="4929188" y="3093411"/>
            <a:ext cx="171450" cy="171450"/>
          </a:xfrm>
          <a:prstGeom prst="rect">
            <a:avLst/>
          </a:prstGeom>
          <a:solidFill>
            <a:srgbClr val="FFF8F0"/>
          </a:solidFill>
          <a:ln w="18288">
            <a:solidFill>
              <a:srgbClr val="FF4F00"/>
            </a:solidFill>
            <a:prstDash val="solid"/>
          </a:ln>
        </p:spPr>
        <p:txBody>
          <a:bodyPr/>
          <a:lstStyle/>
          <a:p>
            <a:endParaRPr lang="ru-KZ"/>
          </a:p>
        </p:txBody>
      </p:sp>
      <p:sp>
        <p:nvSpPr>
          <p:cNvPr id="34" name="Text 28"/>
          <p:cNvSpPr/>
          <p:nvPr/>
        </p:nvSpPr>
        <p:spPr>
          <a:xfrm>
            <a:off x="4975873" y="3099132"/>
            <a:ext cx="7807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FF4F00"/>
                </a:solidFill>
              </a:rPr>
              <a:t>✓</a:t>
            </a:r>
            <a:endParaRPr lang="en-US" sz="834" dirty="0"/>
          </a:p>
        </p:txBody>
      </p:sp>
      <p:sp>
        <p:nvSpPr>
          <p:cNvPr id="35" name="Text 29"/>
          <p:cNvSpPr/>
          <p:nvPr/>
        </p:nvSpPr>
        <p:spPr>
          <a:xfrm>
            <a:off x="5186363" y="3099132"/>
            <a:ext cx="323971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Собирайте пользовательскую обратную связь постоянно</a:t>
            </a: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2785</Words>
  <Application>Microsoft Macintosh PowerPoint</Application>
  <PresentationFormat>Экран (16:9)</PresentationFormat>
  <Paragraphs>309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Қалжанов Нұрлыхан Ерланұлы</cp:lastModifiedBy>
  <cp:revision>4</cp:revision>
  <dcterms:created xsi:type="dcterms:W3CDTF">2026-01-09T03:27:01Z</dcterms:created>
  <dcterms:modified xsi:type="dcterms:W3CDTF">2026-01-09T05:31:11Z</dcterms:modified>
</cp:coreProperties>
</file>