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5486400" cy="5486400"/>
          </a:xfrm>
          <a:prstGeom prst="ellipse">
            <a:avLst/>
          </a:prstGeom>
          <a:solidFill>
            <a:srgbClr val="1E3A5F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457200"/>
            <a:ext cx="2743200" cy="2743200"/>
          </a:xfrm>
          <a:prstGeom prst="ellipse">
            <a:avLst/>
          </a:prstGeom>
          <a:solidFill>
            <a:srgbClr val="3B82F6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1E3A5F">
              <a:alpha val="7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00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19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Наблюдаемость и отладка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 помощью LangSmith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Трассировка, отладка и оценка производительности LLM-агентов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347472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Повестка лекции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325880"/>
            <a:ext cx="685800" cy="68580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6716" y="147675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148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Наблюдаемость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560320" y="109728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0" y="1325880"/>
            <a:ext cx="685800" cy="68580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6" y="1476756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51760" y="2148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Отладка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754880" y="109728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394960" y="1325880"/>
            <a:ext cx="685800" cy="6858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5836" y="1476756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846320" y="2148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Трассировка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949440" y="109728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589520" y="1325880"/>
            <a:ext cx="685800" cy="68580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0396" y="1476756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040880" y="2148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Метрики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365760" y="306324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1005840" y="3291840"/>
            <a:ext cx="685800" cy="6858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6716" y="3442716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57200" y="4114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Оценка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2560320" y="306324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3200400" y="3291840"/>
            <a:ext cx="685800" cy="68580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1276" y="3442716"/>
            <a:ext cx="384048" cy="38404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2651760" y="4114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Мониторинг</a:t>
            </a:r>
            <a:endParaRPr lang="en-US" sz="1400" dirty="0"/>
          </a:p>
        </p:txBody>
      </p:sp>
      <p:sp>
        <p:nvSpPr>
          <p:cNvPr id="28" name="Shape 20"/>
          <p:cNvSpPr/>
          <p:nvPr/>
        </p:nvSpPr>
        <p:spPr>
          <a:xfrm>
            <a:off x="4754880" y="306324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5394960" y="3291840"/>
            <a:ext cx="685800" cy="68580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45836" y="3442716"/>
            <a:ext cx="384048" cy="38404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4846320" y="4114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Интеграция</a:t>
            </a:r>
            <a:endParaRPr lang="en-US" sz="1400" dirty="0"/>
          </a:p>
        </p:txBody>
      </p:sp>
      <p:sp>
        <p:nvSpPr>
          <p:cNvPr id="32" name="Shape 23"/>
          <p:cNvSpPr/>
          <p:nvPr/>
        </p:nvSpPr>
        <p:spPr>
          <a:xfrm>
            <a:off x="6949440" y="306324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7589520" y="3291840"/>
            <a:ext cx="685800" cy="6858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40396" y="3442716"/>
            <a:ext cx="384048" cy="38404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7040880" y="4114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Практика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3657600" cy="3657600"/>
          </a:xfrm>
          <a:prstGeom prst="ellipse">
            <a:avLst/>
          </a:prstGeom>
          <a:solidFill>
            <a:srgbClr val="1E3A5F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7432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«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7772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Вы не можете улучшить то,</a:t>
            </a:r>
            <a:endParaRPr lang="en-US" sz="2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не можете измерить.</a:t>
            </a:r>
            <a:endParaRPr lang="en-US" sz="2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 в мире LLM — то,</a:t>
            </a:r>
            <a:endParaRPr lang="en-US" sz="2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вы не можете увидеть.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3657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Наблюдаемость — это рентген для ваших AI-систем.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Почему LLM-приложения трудно отлаживать?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2743200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7899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Чёрный ящик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201168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не объясняет,</a:t>
            </a:r>
            <a:endParaRPr lang="en-US" sz="15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выбрал</a:t>
            </a:r>
            <a:endParaRPr lang="en-US" sz="15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именно этот ответ.</a:t>
            </a:r>
            <a:endParaRPr lang="en-US" sz="15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print() не поможет.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051560"/>
            <a:ext cx="274320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107899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Стохастичность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429000" y="201168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Одинаковый промпт</a:t>
            </a:r>
            <a:endParaRPr lang="en-US" sz="15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может дать разные</a:t>
            </a:r>
            <a:endParaRPr lang="en-US" sz="15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ответы. Баг или</a:t>
            </a:r>
            <a:endParaRPr lang="en-US" sz="15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фича — непонятно.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72200" y="105156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1051560"/>
            <a:ext cx="27432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107899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Цепочки вызовов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55080" y="201168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= десятки</a:t>
            </a:r>
            <a:endParaRPr lang="en-US" sz="15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шагов. Где именно</a:t>
            </a:r>
            <a:endParaRPr lang="en-US" sz="15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сломалось —</a:t>
            </a:r>
            <a:endParaRPr lang="en-US" sz="15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видно.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такое наблюдаемость (Observability)?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традиционном софте мы используем логи, метрики и алерты. Для LLM-приложений этого мало — нам нужно видеть каждый промпт, каждый ответ модели, каждое решение агента.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Наблюдаемость для LLM — это возможность в любой момент ответить на три вопроса: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2286000" cy="658368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496312"/>
            <a:ext cx="2103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произошло?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926080" y="2496312"/>
            <a:ext cx="5760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трассировка: какие промпты отправлены, какие ответы получены, в каком порядке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246120"/>
            <a:ext cx="2286000" cy="658368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3273552"/>
            <a:ext cx="2103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Почему так?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26080" y="3273552"/>
            <a:ext cx="5760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 каждого решения: какие данные видел агент, какой промпт сформировался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023360"/>
            <a:ext cx="2286000" cy="658368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4050792"/>
            <a:ext cx="2103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Хорошо ли?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926080" y="4050792"/>
            <a:ext cx="5760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качества: latency, стоимость, релевантность ответов, ошибки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столпа наблюдаемости LLM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743200" cy="37490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Трассировка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(Tracing)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94360" y="2240280"/>
            <a:ext cx="219456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46888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каждого вызова LLM, tool, retriever в виде дерева. Видна вся цепочка от запроса пользователя до финального ответа.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743200" cy="374904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1887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Оценка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(Evaluation)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520440" y="2240280"/>
            <a:ext cx="219456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246888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Автоматическая и ручная проверка качества ответов. Бенчмарки, LLM-as-judge, пользовательский фидбек.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1051560"/>
            <a:ext cx="2743200" cy="374904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11887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Мониторинг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(Monitoring)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46520" y="2240280"/>
            <a:ext cx="219456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246888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Отслеживание метрик в реальном времени: latency, costs, error rate, token usage. Алерты при аномалиях.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такое LangSmith?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— это платформа от LangChain для наблюдаемости, отладки и оценки LLM-приложений.</a:t>
            </a:r>
            <a:endParaRPr lang="en-US" sz="1600" dirty="0"/>
          </a:p>
          <a:p>
            <a:pPr indent="0" marL="0">
              <a:lnSpc>
                <a:spcPct val="145000"/>
              </a:lnSpc>
              <a:buNone/>
            </a:pPr>
            <a:endParaRPr lang="en-US" sz="16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подключаете её к вашему коду одной строкой — и получаете полную картину: каждый промпт, каждый ответ, каждое решение агента записывается как трассировка.</a:t>
            </a:r>
            <a:endParaRPr lang="en-US" sz="1600" dirty="0"/>
          </a:p>
          <a:p>
            <a:pPr indent="0" marL="0">
              <a:lnSpc>
                <a:spcPct val="145000"/>
              </a:lnSpc>
              <a:buNone/>
            </a:pPr>
            <a:endParaRPr lang="en-US" sz="16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Думайте о LangSmith как о Chrome DevTools для AI-приложений. Вы видите «Network tab» — только вместо HTTP-запросов там вызовы LLM, инструментов и retriever-ов.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411480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162" y="4225442"/>
            <a:ext cx="281635" cy="2816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41605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Трассировка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834640" y="411480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282" y="4225442"/>
            <a:ext cx="281635" cy="28163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29000" y="41605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937760" y="411480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402" y="4225442"/>
            <a:ext cx="281635" cy="28163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532120" y="41605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Мониторинг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7040880" y="411480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1522" y="4225442"/>
            <a:ext cx="281635" cy="28163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635240" y="41605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Отладка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LangSmith и альтернативы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789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Платформа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0" y="107899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Трассировка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46320" y="10789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Оценка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0" y="10789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Цена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8229600" cy="6400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508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LangSmith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0" y="1508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(LangChain native)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0" y="15087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Datasets, LLM-judge, human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0" y="1508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Бесплатный план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14884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148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LangFuse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0" y="21488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Open-source, self-host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2148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Базовая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0" y="2148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 (self-host)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788920"/>
            <a:ext cx="8229600" cy="6400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788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Weights &amp; Biases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0" y="2788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интеграцию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27889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W&amp;B Eval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0" y="2788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$50+/мес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42900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4290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Arize Phoenix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0" y="34290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Open-source, Traces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34290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Eval, Embeddings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58000" y="3429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 (OSS)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069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Helicone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743200" y="40690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Proxy-подход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46320" y="40690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Базовая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58000" y="4069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Бесплатный план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709160"/>
            <a:ext cx="8229600" cy="109728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— лучший выбор для экосистемы LangChain / LangGraph. Для остальных — LangFuse или Phoenix.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1E3A5F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3B82F6">
              <a:alpha val="7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82296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Часть 1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Трассировка (Tracing)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такое трассировка?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Трассировка (trace) — это дерево всех операций, которые произошли при обработке одного запроса. Каждый узел дерева — это «run»: вызов LLM, tool, retriever или chain.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0" y="1051560"/>
            <a:ext cx="3291840" cy="3749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0" y="10972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Trace Tree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760720" y="1508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AgentExecutor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126480" y="1828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ChatOpenAI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92240" y="2148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промпт → ответ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126480" y="2468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Tool: search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92240" y="2788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→ results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26480" y="3108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ChatOpenAI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92240" y="3429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промпт → финал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103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 каждом «run» записано: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2560320"/>
            <a:ext cx="54864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560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Вход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276148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Промпт или параметры вызова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017520" y="2560320"/>
            <a:ext cx="54864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3154680" y="2560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Выход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54680" y="276148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LLM или результат tool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063240"/>
            <a:ext cx="54864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06324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Метаданные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326440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Модель, температура, max_tokens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017520" y="3063240"/>
            <a:ext cx="54864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3154680" y="306324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Время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154680" y="326440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Начало, конец, latency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3566160"/>
            <a:ext cx="54864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356616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Токены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" y="376732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input_tokens, output_tokens, стоимость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017520" y="3566160"/>
            <a:ext cx="54864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3154680" y="356616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Ошибки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154680" y="376732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что-то упало — полный traceback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Подключение: одна строка кода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560320" cy="3474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280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Переменные среды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691640"/>
            <a:ext cx="2286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LANGCHAIN_TRACING_V2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"true"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LANGCHAIN_API_KEY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"ls-..."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LANGCHAIN_PROJECT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"my-project"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3464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280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Ваш код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29000" y="1691640"/>
            <a:ext cx="2286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Ничего менять не нужно!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/ LangGraph автоматически отправляют все трассировки в LangSmith.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Run-ы создаются для каждого вызова LLM, tool, chain.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5216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6309360" y="1188720"/>
            <a:ext cx="2560320" cy="347472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46520" y="1280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LangSmith UI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1691640"/>
            <a:ext cx="2286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Заходите на smith.langchain.com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Видите все трассировки в реальном времени.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run — кликабельный, с полным контекстом.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Анатомия трассировки агента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" y="1097280"/>
            <a:ext cx="1645920" cy="1371600"/>
          </a:xfrm>
          <a:prstGeom prst="rect">
            <a:avLst/>
          </a:prstGeom>
          <a:solidFill>
            <a:srgbClr val="94A3B8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" y="109728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Запрос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пользователя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737360" y="15087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965960" y="1097280"/>
            <a:ext cx="1645920" cy="137160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965960" y="109728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решение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66160" y="15087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794760" y="1097280"/>
            <a:ext cx="1645920" cy="137160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94760" y="109728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выполнение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94960" y="15087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623560" y="1097280"/>
            <a:ext cx="1645920" cy="137160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23560" y="109728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обработка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223760" y="15087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452360" y="1097280"/>
            <a:ext cx="1645920" cy="137160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52360" y="109728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Финальный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ответ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274320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LangSmith каждый блок — это отдельный run. Вы можете кликнуть на любой и увидеть: точный промпт, ответ модели, время выполнения, количество токенов и стоимость.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агент вызвал 3 инструмента — все 3 вызова будут дочерними run-ами, вложенными в родительский AgentExecutor. Это дерево, а не плоский лог.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видно в трассировке?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3152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124712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Точный промпт, который получила модель — не шаблон, а финальный текст с подставленными переменными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755648"/>
            <a:ext cx="73152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78308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ответ модели — включая JSON, tool calls, reasoning, function arguments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414016"/>
            <a:ext cx="73152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441448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вызовы инструментов — с аргументами и результатами. Что искал, что нашёл, что вернул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072384"/>
            <a:ext cx="73152" cy="5486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099816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каждого шага — сколько времени заняли LLM, tool, retriever. Где bottleneck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730752"/>
            <a:ext cx="73152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758184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usage и стоимость — input/output/total tokens, цена в долларах за каждый вызов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389120"/>
            <a:ext cx="73152" cy="5486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416552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Ошибки с полным traceback — если tool упал или LLM вернул невалидный JSON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1E3A5F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3B82F6">
              <a:alpha val="7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82296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Часть 2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Отладка LLM-приложений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типичных сценария отладки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4114800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972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Агент зациклился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вызывает один и тот же tool в цикле. В трассировке видно: одинаковые промпты → одинаковые решения. Проблема в промпте или в условии выхода.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51560"/>
            <a:ext cx="411480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0972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Неверный ответ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64592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ответил неправильно. Смотрим промпт — возможно, контекст неполный, инструкция нечёткая, или retriever вернул нерелевантные документы.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06324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063240"/>
            <a:ext cx="411480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1089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Медленный ответ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36576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 ждёт 30 секунд. Трассировка показывает: LLM — 2 сек, tool_1 — 25 сек. Bottleneck найден — оптимизируем tool_1.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06324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063240"/>
            <a:ext cx="411480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31089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Высокая стоимость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37760" y="36576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запрос стоит $0.50. Трассировка: 8 вызовов LLM по 4K токенов каждый. Решение: кэширование, reduce prompt size, выбор mini-модели.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Процесс отладки с LangSmith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пользователь сообщает о проблеме или вы заметили аномалию в метриках — вот ваш алгоритм действий: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7512" y="2084832"/>
            <a:ext cx="36576" cy="1828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73352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73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6459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Найти trace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8928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ID запроса, по времени или по фильтру (ошибка, медленный, дорогой)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67512" y="2679192"/>
            <a:ext cx="36576" cy="1828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267712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267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2402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Открыть дерево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24871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Развернуть трассировку и найти проблемный run в иерархии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7512" y="3273552"/>
            <a:ext cx="36576" cy="1828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862072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862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2834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Изучить вход/выход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308152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Сравнить промпт и ответ. Промпт правильный? Ответ адекватный?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7512" y="3867912"/>
            <a:ext cx="36576" cy="1828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456432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456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7280" y="34290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Сформулировать гипотезу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367588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Промпт неточный? Контекст неполный? Tool сломан? Модель глючит?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050792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050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97280" y="40233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Исправить и проверить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97280" y="427024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Изменить промпт/tool/логику, запустить снова, сравнить трассировки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LangSmith Playground: итерация промптов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3749040"/>
          </a:xfrm>
          <a:prstGeom prst="rect">
            <a:avLst/>
          </a:prstGeom>
          <a:solidFill>
            <a:srgbClr val="FFFBE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Встроенная песочница для экспериментов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76809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Нашли проблемный промпт в трассировке? Не нужно менять код, коммитить и перезапускать. Прямо из LangSmith можно открыть Playground — песочницу, где этот промпт уже загружен.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меняете текст промпта, переменные, модель, температуру — и сразу видите результат. Нашли хороший вариант? Копируете в код.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как горячая перезагрузка для промптов. Итерации, которые раньше занимали минуты (изменить → запустить → подождать → проверить), теперь занимают секунды.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Playground особенно полезен для отладки complex prompts — когда промпт включает system message, few-shot примеры и динамический контекст.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2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1E3A5F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3B82F6">
              <a:alpha val="7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82296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Часть 3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и мониторинг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ключевых метрик LLM-приложения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1051560"/>
            <a:ext cx="1645920" cy="37490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34440"/>
            <a:ext cx="914400" cy="91440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435608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22860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Latency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74320" y="2743200"/>
            <a:ext cx="1463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ответа.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P50, P95, P99.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Цель: &lt; 3 сек.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975104" y="1051560"/>
            <a:ext cx="1645920" cy="374904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340864" y="1234440"/>
            <a:ext cx="914400" cy="9144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032" y="1435608"/>
            <a:ext cx="512064" cy="5120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66544" y="22860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066544" y="2743200"/>
            <a:ext cx="1463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за запрос.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× price.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Тренд по дням.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767328" y="1051560"/>
            <a:ext cx="1645920" cy="3749040"/>
          </a:xfrm>
          <a:prstGeom prst="rect">
            <a:avLst/>
          </a:prstGeom>
          <a:solidFill>
            <a:srgbClr val="EF4444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133088" y="1234440"/>
            <a:ext cx="914400" cy="91440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256" y="1435608"/>
            <a:ext cx="512064" cy="5120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858768" y="22860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 Rate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3858768" y="2743200"/>
            <a:ext cx="1463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ошибок.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Timeout, invalid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JSON, rate limit.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559552" y="1051560"/>
            <a:ext cx="1645920" cy="374904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925312" y="1234440"/>
            <a:ext cx="914400" cy="91440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435608"/>
            <a:ext cx="512064" cy="5120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50992" y="22860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Throughput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650992" y="2743200"/>
            <a:ext cx="1463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Запросов/мин.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Пиковая нагрузка.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plan.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7351776" y="1051560"/>
            <a:ext cx="1645920" cy="3749040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717536" y="1234440"/>
            <a:ext cx="914400" cy="9144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8704" y="1435608"/>
            <a:ext cx="512064" cy="51206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443216" y="22860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7443216" y="2743200"/>
            <a:ext cx="1463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score.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LLM-judge оценка.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feedback.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Куда уходит время: разбор latency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 ждёт 8 секунд. Куда уходит время? Трассировка показывает: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6400800" cy="50292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673352"/>
            <a:ext cx="6126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LLM: первый вызов — 1.2 сек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892808"/>
            <a:ext cx="6126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какой tool вызвать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3200400" cy="50292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359152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Tool: web_search — 3.5 сек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57860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BOTTLENECK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2286000" cy="50292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0449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LLM: обработка результатов — 0.8 сек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26440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Синтез информации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703320"/>
            <a:ext cx="1371600" cy="50292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373075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Tool: calculator — 0.2 сек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395020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Быстрый инструмент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4389120"/>
            <a:ext cx="4572000" cy="50292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441655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LLM: финальный ответ — 2.3 сек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4636008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ответа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Вывод: web_search — главный bottleneck. Оптимизируем его: кэшируем результаты, используем быстрый API, добавляем таймаут.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Отслеживание стоимости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автоматически считает стоимость каждого вызова LLM на основе token usage и текущих цен модели. Вы видите расход как на уровне одного запроса, так и агрегированно по проекту.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3657600" cy="2377440"/>
          </a:xfrm>
          <a:prstGeom prst="rect">
            <a:avLst/>
          </a:prstGeom>
          <a:solidFill>
            <a:srgbClr val="EF4444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031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$2.40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/день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оптимизации: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LLM-вызовов × GPT-4o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4K tokens × $0.03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37760" y="2011680"/>
            <a:ext cx="3657600" cy="2377440"/>
          </a:xfrm>
          <a:prstGeom prst="rect">
            <a:avLst/>
          </a:prstGeom>
          <a:solidFill>
            <a:srgbClr val="10B981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120640" y="21031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$0.35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5120640" y="2926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/день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20640" y="33832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оптимизации: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Кэш + GPT-4o-mini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суммаризации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62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1E3A5F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3B82F6">
              <a:alpha val="7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82296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Часть 4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качества (Evaluation)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Зачем нужна систематическая оценка?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931920" cy="374904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3931920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Без оценки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«Я поменял промпт и вроде стало лучше»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Тестируете на 2–3 примерах вручную.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знаете, не сломался ли старый функционал.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Регрессии обнаруживаются пользователями в продакшене.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051560"/>
            <a:ext cx="3931920" cy="374904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51560"/>
            <a:ext cx="3931920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0972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 оценкой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173736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«Новый промпт: accuracy 87% → 92% на 200 примерах»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 из реальных запросов.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Автоматические тесты после каждого изменения.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Регрессии ловятся до деплоя.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метода оценки качества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18288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887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Exact Match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17830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ответа с эталоном.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Просто, но хрупко: «Москва»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«г. Москва» = fail.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51560"/>
            <a:ext cx="4114800" cy="182880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11887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LLM-as-Judge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983480" y="17830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оценивает ответ по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критериям: точность, полнота,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релевантность. Самый мощный.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063240"/>
            <a:ext cx="4114800" cy="1828800"/>
          </a:xfrm>
          <a:prstGeom prst="rect">
            <a:avLst/>
          </a:prstGeom>
          <a:solidFill>
            <a:srgbClr val="EF4444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2004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 Eval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7947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Ручная разметка экспертами.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Золотой стандарт, но дорого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медленно. Для валидации.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3063240"/>
            <a:ext cx="4114800" cy="182880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83480" y="32004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Heuristic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983480" y="37947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Программные проверки: длина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ответа, формат JSON, наличие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цитат, отсутствие запрещённых.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Datasets: основа оценки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в LangSmith — это набор пар «вход → ожидаемый выход». Вы создаёте его из реальных запросов пользователей, добавляя правильные ответы вручную или автоматически.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Типичный workflow: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2194560"/>
            <a:ext cx="2011680" cy="1280160"/>
          </a:xfrm>
          <a:prstGeom prst="rect">
            <a:avLst/>
          </a:prstGeom>
          <a:solidFill>
            <a:srgbClr val="94A3B8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22860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Собрать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трассировки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2560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560320" y="2194560"/>
            <a:ext cx="2011680" cy="128016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51760" y="22860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Выбрать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репрезентативные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26280" y="2560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846320" y="2194560"/>
            <a:ext cx="2011680" cy="12801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22860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Добавить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эталонные ответы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12280" y="2560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132320" y="2194560"/>
            <a:ext cx="2011680" cy="128016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223760" y="22860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Запустить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оценку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7490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Рекомендуемый размер: 50–200 примеров для начала. Покрывайте edge cases: длинные запросы, многоязычные, с опечатками, с неоднозначным намерением. Обновляйте dataset регулярно — добавляйте примеры из новых ошибок.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LLM-as-Judge: самый мощный метод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Идея проста: попросить сильную модель (GPT-4) оценить ответ слабой модели (GPT-4o-mini) по заданным критериям.</a:t>
            </a:r>
            <a:endParaRPr lang="en-US" sz="1500" dirty="0"/>
          </a:p>
          <a:p>
            <a:pPr indent="0" marL="0">
              <a:lnSpc>
                <a:spcPct val="145000"/>
              </a:lnSpc>
              <a:buNone/>
            </a:pPr>
            <a:endParaRPr lang="en-US" sz="15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предоставляет готовые evaluators, но лучше всего работают кастомные критерии, специфичные для вашей задачи.</a:t>
            </a:r>
            <a:endParaRPr lang="en-US" sz="1500" dirty="0"/>
          </a:p>
          <a:p>
            <a:pPr indent="0" marL="0">
              <a:lnSpc>
                <a:spcPct val="145000"/>
              </a:lnSpc>
              <a:buNone/>
            </a:pPr>
            <a:endParaRPr lang="en-US" sz="15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Например, для research-агента: «Содержит ли ответ ссылки на источники? Все ли факты подтверждены? Есть ли логические противоречия?»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3474720"/>
            <a:ext cx="146304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4747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Correctness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77440" y="3474720"/>
            <a:ext cx="146304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2377440" y="34747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Helpfulness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23360" y="3474720"/>
            <a:ext cx="146304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4023360" y="34747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Harmlessness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0" y="3474720"/>
            <a:ext cx="1463040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0" y="34747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Relevance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0" y="3474720"/>
            <a:ext cx="1463040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0" y="34747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Conciseness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критерий оценивается от 1 до 5. Средний балл — ваша метрика качества.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A/B тестирование промптов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Хотите узнать, какой промпт лучше? Запустите обе версии на одном dataset и сравните результаты в LangSmith.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3931920" cy="310896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45920"/>
            <a:ext cx="3931920" cy="502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916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Промпт A (текущий)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84%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(P50): 2.1 сек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$0.008 / запрос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«Ты — полезный ассистент.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Ответь на вопрос пользователя.»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645920"/>
            <a:ext cx="3931920" cy="310896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645920"/>
            <a:ext cx="393192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6916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Промпт B (новый)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0" y="22860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91%  ↑7%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(P50): 2.4 сек  ↑0.3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$0.012 / запрос  ↑50%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«Ты — эксперт-аналитик.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Отвечай кратко, с источниками.»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62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1E3A5F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3B82F6">
              <a:alpha val="7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82296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Часть 5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Продвинутые возможности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Online Evaluation: оценка в продакшене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Офлайн-оценка на датасете — хорошо, но реальные пользователи задают вопросы, которых нет в вашем датасете. Online evaluation запускает LLM-judge на каждый ответ в продакшене.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работает: ваш агент отвечает пользователю, параллельно LangSmith отправляет пару (вопрос, ответ) на оценку. GPT-4 ставит оценку по вашим критериям. Результат записывается в метрики.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получаете дашборд: «Сегодня средняя оценка correctness — 4.2 из 5. Вчера было 4.5. Что-то сломалось.»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раннее предупреждение: вы видите деградацию качества ещё до того, как пользователи начнут жаловаться.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Annotation Queue: ручная разметка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Иногда автоматической оценки недостаточно. LangSmith позволяет создать очередь для ручной разметки: эксперты просматривают ответы агента и ставят оценки.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полезно для: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Создания «золотого» датасета — набора эталонных ответов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Валидации LLM-as-Judge — совпадает ли автоматическая оценка с человеческой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Обнаружения edge cases — ситуаций, которые автоматика пропускает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Обучения команды — новые разметчики видят примеры хороших и плохих ответов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Теги и метаданные: организация трассировок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Каждую трассировку можно обогатить тегами и метаданными для удобного поиска и фильтрации: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82880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0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51760" y="1600200"/>
            <a:ext cx="60350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88920" y="16002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сделал запрос — для анализа по пользователям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182880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1488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session_id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51760" y="2148840"/>
            <a:ext cx="60350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88920" y="214884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Группировка запросов в рамках одной сессии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182880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697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51760" y="2697480"/>
            <a:ext cx="60350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88920" y="26974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/ staging / development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1828800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46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651760" y="3246120"/>
            <a:ext cx="60350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88920" y="324612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/ gpt-4o-mini / claude-3.5-sonnet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794760"/>
            <a:ext cx="182880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794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651760" y="3794760"/>
            <a:ext cx="60350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788920" y="379476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Версия промпта или агента: v1.2, v1.3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343400"/>
            <a:ext cx="1828800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3434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feature_flag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651760" y="4343400"/>
            <a:ext cx="60350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788920" y="4343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тест: control / treatment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62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1E3A5F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3B82F6">
              <a:alpha val="7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82296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Часть 6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в CI/CD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Оценка как часть CI/CD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PR с изменением промпта или логики агента автоматически запускает evaluation на вашем датасете. Если метрики упали — PR блокируется.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160" y="1828800"/>
            <a:ext cx="1645920" cy="1463040"/>
          </a:xfrm>
          <a:prstGeom prst="rect">
            <a:avLst/>
          </a:prstGeom>
          <a:solidFill>
            <a:srgbClr val="94A3B8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" y="182880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Разработчик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меняет промпт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37360" y="2286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965960" y="1828800"/>
            <a:ext cx="1645920" cy="146304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65960" y="182880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 запускает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66160" y="2286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794760" y="1828800"/>
            <a:ext cx="1645920" cy="14630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94760" y="182880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Сравнение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 baseline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94960" y="2286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623560" y="1828800"/>
            <a:ext cx="1645920" cy="146304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23560" y="182880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Метрики ОК?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Merge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223760" y="2286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452360" y="1828800"/>
            <a:ext cx="1645920" cy="1463040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52360" y="182880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Деплой в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продакшен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657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превращает «vibes-based development» в инженерный процесс. Вы больше не гадаете, стал ли промпт лучше — вы знаете это с точностью до процента на реальных данных.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Минимальный код: evaluation в CI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3749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143000"/>
            <a:ext cx="79552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langsmith import Client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langsmith.evaluation import evaluate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Client()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Загружаем датасет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 = client.read_dataset(dataset_name="my-eval-set")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Определяем оценщик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correctness(run, example):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prediction = run.outputs["output"]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reference = example.outputs["answer"]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 = llm_judge(prediction, reference)  # 0-1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{"key": "correctness", "score": score}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Запускаем оценку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evaluate(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my_agent,                    # Ваш агент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data=dataset,                # Датасет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evaluators=[correctness],    # Оценщики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experiment_prefix="v1.3"     # Название эксперимента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results["correctness"].mean() &gt;= 0.85  # CI gate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62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1E3A5F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3B82F6">
              <a:alpha val="7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82296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Часть 7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Лучшие практики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Лучшие практики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27432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Трассируйте всё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Включите трассировку даже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development. Привычка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окупится при первом баге.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051560"/>
            <a:ext cx="27432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2344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Именуйте проекты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17373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Отдельный проект для dev,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staging, production. Не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смешивайте трассировки.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10515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1051560"/>
            <a:ext cx="27432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2344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Создайте dataset рано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17373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примеров на старте.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Добавляйте из реальных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ошибок. Растите со временем.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06324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063240"/>
            <a:ext cx="27432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2461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Автоматизируйте eval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7490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CI/CD, не руками.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PR = evaluation.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Блокируйте при регрессии.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306324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3063240"/>
            <a:ext cx="27432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0" y="32461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Мониторьте в проде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83280" y="37490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eval + алерты.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Деградация качества видна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раньше, чем жалобы.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306324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3063240"/>
            <a:ext cx="27432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32461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Документируйте теги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09360" y="37490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схема метаданных.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user_id, session, version.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Упрощает анализ.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Подводные камни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3657600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033272"/>
            <a:ext cx="3383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Слишком маленький dataset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0" y="1033272"/>
            <a:ext cx="4114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примеров — это не evaluation, это anecdote. Минимум 50, лучше 200.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755648"/>
            <a:ext cx="365760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83080"/>
            <a:ext cx="3383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Переоптимизация на dataset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0" y="1783080"/>
            <a:ext cx="4114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Промпт «заточен» под тест, но плох на реальных запросах. Обновляйте dataset.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505456"/>
            <a:ext cx="36576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532888"/>
            <a:ext cx="3383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Игнорирование latency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2532888"/>
            <a:ext cx="4114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выросла на 3%, но latency ×2. Метрики нужно смотреть вместе.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255264"/>
            <a:ext cx="3657600" cy="640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282696"/>
            <a:ext cx="3383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Забытый мониторинг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3282696"/>
            <a:ext cx="4114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в CI есть, мониторинга в проде нет. Модель деградирует незаметно.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4005072"/>
            <a:ext cx="3657600" cy="6400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032504"/>
            <a:ext cx="3383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PII в трассировках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4032504"/>
            <a:ext cx="4114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Персональные данные пользователей записаны в LangSmith. Настройте фильтрацию!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Уровни зрелости наблюдаемости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94A3B8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33272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Уровень 0: print()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3258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Отладка через print(). Нет трассировки. «Работает на моей машине.»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755648"/>
            <a:ext cx="6858000" cy="6400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78308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Уровень 1: Трассировка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075688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подключен. Видите все промпты и ответы. Ручная отладка.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505456"/>
            <a:ext cx="5486400" cy="64008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3288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Уровень 2: Evaluation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82549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+ LLM-as-Judge. Знаете accuracy и можете сравнивать версии.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255264"/>
            <a:ext cx="4114800" cy="64008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2826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Уровень 3: CI/CD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357530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Автоматическая оценка в пайплайне. Регрессии ловятся до деплоя.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4005072"/>
            <a:ext cx="2743200" cy="640080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403250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Уровень 4: Online Monitoring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432511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Мониторинг в продакшене. Алерты. Полная наблюдаемость.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47091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этой лекции — довести вас минимум до уровня 2, а в идеале до уровня 3.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Практическое задание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3749040"/>
          </a:xfrm>
          <a:prstGeom prst="rect">
            <a:avLst/>
          </a:prstGeom>
          <a:solidFill>
            <a:srgbClr val="FFFBE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Добавьте наблюдаемость в своего агента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76809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Зарегистрируйтесь на smith.langchain.com (бесплатный план). Установите переменные среды LANGCHAIN_TRACING_V2 и LANGCHAIN_API_KEY. Запустите своего агента из лекции 5 и убедитесь, что трассировки появляются в интерфейсе.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Откройте любую трассировку и изучите дерево: найдите вызовы LLM, посмотрите промпты и ответы, проверьте latency и token usage.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Создайте dataset из 20–30 примеров. Используйте реальные запросы или придумайте репрезентативные. Добавьте эталонные ответы.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Напишите evaluator с LLM-as-Judge: пусть GPT-4o оценивает correctness ответов вашего агента по шкале 1–5.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Запустите evaluation и проанализируйте результаты. Найдите слабые места. Улучшите промпт. Запустите снова — метрики должны вырасти.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1E3A5F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3200400"/>
            <a:ext cx="3657600" cy="3657600"/>
          </a:xfrm>
          <a:prstGeom prst="ellipse">
            <a:avLst/>
          </a:prstGeom>
          <a:solidFill>
            <a:srgbClr val="3B82F6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Итоги лекции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828800" cy="4754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0584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Трассировка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60320" y="1005840"/>
            <a:ext cx="6035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каждого LLM-вызова, tool, chain в виде дерева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72768"/>
            <a:ext cx="1828800" cy="4754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7276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Отладка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60320" y="1572768"/>
            <a:ext cx="6035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Playground + фильтры + сравнение трассировок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139696"/>
            <a:ext cx="1828800" cy="4754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39696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Метрики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60320" y="2139696"/>
            <a:ext cx="6035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Latency, cost, error rate, token usage — в реальном времени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706624"/>
            <a:ext cx="1828800" cy="47548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70662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Оценка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60320" y="2706624"/>
            <a:ext cx="6035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+ LLM-as-Judge + A/B тестирование промптов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273552"/>
            <a:ext cx="1828800" cy="47548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27355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CI/CD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60320" y="3273552"/>
            <a:ext cx="6035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Автоматическая evaluation в пайплайне, блокировка при регрессии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8046720" cy="7772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251960"/>
            <a:ext cx="457200" cy="4572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371600" y="4160520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Следующая лекция: Развёртывание агентов в продакшен — инфраструктура, масштабирование, безопасность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19: Наблюдаемость и отладка с LangSmith</dc:title>
  <dc:subject>PptxGenJS Presentation</dc:subject>
  <dc:creator>PptxGenJS</dc:creator>
  <cp:lastModifiedBy>PptxGenJS</cp:lastModifiedBy>
  <cp:revision>1</cp:revision>
  <dcterms:created xsi:type="dcterms:W3CDTF">2026-03-06T13:37:29Z</dcterms:created>
  <dcterms:modified xsi:type="dcterms:W3CDTF">2026-03-06T13:37:29Z</dcterms:modified>
</cp:coreProperties>
</file>