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253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690055"/>
            <a:ext cx="6429375" cy="61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974" b="1" kern="0" spc="-2" dirty="0">
                <a:solidFill>
                  <a:srgbClr val="1A1A1A"/>
                </a:solidFill>
              </a:rPr>
              <a:t>Основы RAG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571500" y="2450139"/>
            <a:ext cx="6429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92" kern="0" spc="-1" dirty="0">
                <a:solidFill>
                  <a:srgbClr val="333333"/>
                </a:solidFill>
              </a:rPr>
              <a:t>Retrieval-Augmented Generation</a:t>
            </a:r>
            <a:endParaRPr lang="en-US" sz="2592" dirty="0"/>
          </a:p>
        </p:txBody>
      </p:sp>
      <p:sp>
        <p:nvSpPr>
          <p:cNvPr id="5" name="Text 2"/>
          <p:cNvSpPr/>
          <p:nvPr/>
        </p:nvSpPr>
        <p:spPr>
          <a:xfrm>
            <a:off x="571500" y="3344894"/>
            <a:ext cx="5715000" cy="4800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Как современные языковые модели получают доступ к актуальной информации и избегают галлюцинаций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8453847" y="4702373"/>
            <a:ext cx="261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88888"/>
                </a:solidFill>
              </a:rPr>
              <a:t>2025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9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543530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Проблема: Галлюцинации в LLM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02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42950" y="1266230"/>
            <a:ext cx="34647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Вероятностная природа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571625"/>
            <a:ext cx="346471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LLM генерируют текст, предсказывая следующий токен на основе вероятностей, а не проверяя факты. Это приводит к правдоподобным, но ложным утверждениям.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42950" y="2557463"/>
            <a:ext cx="34647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Устаревшие знания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42950" y="2862858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Модели ограничены датой окончания обучения. Пример: Ошибка Google Bard о телескопе James Webb стоила компании $100 млрд капитализации.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42950" y="3655814"/>
            <a:ext cx="34647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Выдуманные факты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42950" y="3961209"/>
            <a:ext cx="346471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Известны случаи, когда LLM придумывали несуществующие судебные прецеденты для адвокатов, что приводило к серьезным юридическим последствиям.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636294" y="1266230"/>
            <a:ext cx="3936206" cy="368081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2390980"/>
            <a:ext cx="3643313" cy="14312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95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2333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399422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Решение: Что такое RAG?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03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037630"/>
            <a:ext cx="4800600" cy="1400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FF4500"/>
                </a:solidFill>
              </a:rPr>
              <a:t>Retrieval-Augmented Generation (RAG)</a:t>
            </a:r>
            <a:r>
              <a:rPr lang="en-US" sz="1486" dirty="0">
                <a:solidFill>
                  <a:srgbClr val="333333"/>
                </a:solidFill>
              </a:rPr>
              <a:t> — это архитектурный паттерн, который оптимизирует вывод LLM, позволяя ей ссылаться на авторитетную базу знаний за пределами её обучающих данных.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5772150" y="1037630"/>
            <a:ext cx="2800350" cy="140014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5915025" y="1214438"/>
            <a:ext cx="2514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Историческая справка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915025" y="1460897"/>
            <a:ext cx="2514600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Метод был впервые представлен в исследовательской работе Facebook AI Research (FAIR) в 2020 году как способ объединить параметрическую память (LLM) и непараметрическую память (поиск).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2580652"/>
            <a:ext cx="8001000" cy="218596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815" y="2666377"/>
            <a:ext cx="3376343" cy="20002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089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2333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552831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Как RAG снижает галлюцинации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04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513582"/>
            <a:ext cx="85725" cy="857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750094" y="1456432"/>
            <a:ext cx="34575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Контекстная привязка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50094" y="1733252"/>
            <a:ext cx="3457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Ответ строится только на найденных документах; без факта — «не знаю».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2319040"/>
            <a:ext cx="85725" cy="857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750094" y="2261890"/>
            <a:ext cx="34575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Проверяемость источников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50094" y="2538710"/>
            <a:ext cx="3457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Утверждения сопровождаются ссылками на источник для верификации.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71500" y="3124498"/>
            <a:ext cx="85725" cy="8572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750094" y="3067348"/>
            <a:ext cx="34575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Актуальность данных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750094" y="3344168"/>
            <a:ext cx="34575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Свежие данные из базы знаний предотвращают ошибки устаревания.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571500" y="3958530"/>
            <a:ext cx="3636169" cy="39469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4"/>
          <p:cNvSpPr/>
          <p:nvPr/>
        </p:nvSpPr>
        <p:spPr>
          <a:xfrm>
            <a:off x="571500" y="3958530"/>
            <a:ext cx="42863" cy="394692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671513" y="4058543"/>
            <a:ext cx="34361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RAG снижает галлюцинации на 70–90%.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4636294" y="1094780"/>
            <a:ext cx="3936206" cy="362009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899512"/>
            <a:ext cx="3643313" cy="20106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13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517905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Архитектура RAG: Общий обзор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05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194792"/>
            <a:ext cx="8001000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348" y="1337667"/>
            <a:ext cx="4845304" cy="185734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1500" y="3623667"/>
            <a:ext cx="16002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571500" y="3845123"/>
            <a:ext cx="1485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Этап 01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571500" y="4052292"/>
            <a:ext cx="1485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Загрузка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71500" y="4318397"/>
            <a:ext cx="14859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Сбор и унификация исходных данных из различных источников (PDF, Web, DB).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2200275" y="3845123"/>
            <a:ext cx="1485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Этап 02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2200275" y="4052292"/>
            <a:ext cx="1485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Чанкинг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2200275" y="4318397"/>
            <a:ext cx="14859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Разбиение больших документов на семантически завершенные фрагменты.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3829050" y="3845123"/>
            <a:ext cx="1485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Этап 03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3829050" y="4052292"/>
            <a:ext cx="1485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Эмбеддинги</a:t>
            </a:r>
            <a:endParaRPr lang="en-US" sz="987" dirty="0"/>
          </a:p>
        </p:txBody>
      </p:sp>
      <p:sp>
        <p:nvSpPr>
          <p:cNvPr id="18" name="Text 14"/>
          <p:cNvSpPr/>
          <p:nvPr/>
        </p:nvSpPr>
        <p:spPr>
          <a:xfrm>
            <a:off x="3829050" y="4318397"/>
            <a:ext cx="14859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Преобразование текста в векторные представления для поиска.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5457825" y="3845123"/>
            <a:ext cx="1485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Этап 04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5457825" y="4052292"/>
            <a:ext cx="1485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Хранение</a:t>
            </a:r>
            <a:endParaRPr lang="en-US" sz="987" dirty="0"/>
          </a:p>
        </p:txBody>
      </p:sp>
      <p:sp>
        <p:nvSpPr>
          <p:cNvPr id="21" name="Text 17"/>
          <p:cNvSpPr/>
          <p:nvPr/>
        </p:nvSpPr>
        <p:spPr>
          <a:xfrm>
            <a:off x="5457825" y="4318397"/>
            <a:ext cx="14859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Индексация векторов в специализированной базе данных (Vector DB).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7086600" y="3845123"/>
            <a:ext cx="1485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Этап 05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7086600" y="4052292"/>
            <a:ext cx="14859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Извлечение</a:t>
            </a:r>
            <a:endParaRPr lang="en-US" sz="987" dirty="0"/>
          </a:p>
        </p:txBody>
      </p:sp>
      <p:sp>
        <p:nvSpPr>
          <p:cNvPr id="24" name="Text 20"/>
          <p:cNvSpPr/>
          <p:nvPr/>
        </p:nvSpPr>
        <p:spPr>
          <a:xfrm>
            <a:off x="7086600" y="4318397"/>
            <a:ext cx="14859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Поиск релевантных чанков и генерация ответа LLM с контекстом.</a:t>
            </a:r>
            <a:endParaRPr lang="en-US" sz="727" dirty="0"/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B0AE71B8-905B-4C2B-CFAD-3A10D5F3310E}"/>
              </a:ext>
            </a:extLst>
          </p:cNvPr>
          <p:cNvCxnSpPr>
            <a:cxnSpLocks/>
          </p:cNvCxnSpPr>
          <p:nvPr/>
        </p:nvCxnSpPr>
        <p:spPr>
          <a:xfrm flipV="1">
            <a:off x="3996503" y="837605"/>
            <a:ext cx="805696" cy="1080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1380D4F7-65AB-5936-0FB0-7A847FED10D0}"/>
              </a:ext>
            </a:extLst>
          </p:cNvPr>
          <p:cNvCxnSpPr>
            <a:cxnSpLocks/>
          </p:cNvCxnSpPr>
          <p:nvPr/>
        </p:nvCxnSpPr>
        <p:spPr>
          <a:xfrm>
            <a:off x="5537555" y="748145"/>
            <a:ext cx="2576946" cy="589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255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232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23330"/>
            <a:ext cx="800100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478896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Этап 1: Загрузка документов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06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137642"/>
            <a:ext cx="30289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Источники данных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1585913"/>
            <a:ext cx="3028950" cy="4518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PDF Документы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2037755"/>
            <a:ext cx="3028950" cy="4518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Веб-страницы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571500" y="2489597"/>
            <a:ext cx="3028950" cy="4518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Базы данных (SQL)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571500" y="2941439"/>
            <a:ext cx="3028950" cy="4518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Корпоративные Wiki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71500" y="3393281"/>
            <a:ext cx="3028950" cy="4518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API и JSON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4029075" y="1137642"/>
            <a:ext cx="4543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Ключевые задачи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029075" y="1585913"/>
            <a:ext cx="4543425" cy="1100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Качество исходных данных напрямую определяет качество ответов системы. Грязные или неструктурированные данные приведут к ошибкам на всех последующих этапах (принцип "Garbage In, Garbage Out").</a:t>
            </a:r>
            <a:endParaRPr lang="en-US" sz="1159" dirty="0"/>
          </a:p>
        </p:txBody>
      </p:sp>
      <p:sp>
        <p:nvSpPr>
          <p:cNvPr id="15" name="Shape 12"/>
          <p:cNvSpPr/>
          <p:nvPr/>
        </p:nvSpPr>
        <p:spPr>
          <a:xfrm>
            <a:off x="4029075" y="2828813"/>
            <a:ext cx="4543425" cy="10733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4029075" y="2828813"/>
            <a:ext cx="57150" cy="107334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157663" y="2957401"/>
            <a:ext cx="4286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Структурирование (Parsing)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157663" y="3194931"/>
            <a:ext cx="42862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Преобразование сложных форматов (например, PDF с колонками) в чистый текст или Markdown. Для сканов необходимо использовать OCR.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029075" y="4045037"/>
            <a:ext cx="4543425" cy="88046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4029075" y="4045037"/>
            <a:ext cx="57150" cy="88046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4157663" y="4173624"/>
            <a:ext cx="4286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Очистка (Cleaning)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4157663" y="4411154"/>
            <a:ext cx="4286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Удаление шума: колонтитулов, номеров страниц, рекламных блоков и служебных символов, которые могут запутать модель.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7208323" y="3925379"/>
            <a:ext cx="1507052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100"/>
              </a:lnSpc>
              <a:buNone/>
            </a:pPr>
            <a:r>
              <a:rPr lang="en-US" sz="9327" b="1" dirty="0">
                <a:solidFill>
                  <a:srgbClr val="E0E0E0"/>
                </a:solidFill>
              </a:rPr>
              <a:t>01</a:t>
            </a:r>
            <a:endParaRPr lang="en-US" sz="93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74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266255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Этап 2 - Чанкинг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07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266230"/>
            <a:ext cx="714375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Чанкинг</a:t>
            </a:r>
            <a:r>
              <a:rPr lang="en-US" sz="1704" dirty="0">
                <a:solidFill>
                  <a:srgbClr val="1A1A1A"/>
                </a:solidFill>
              </a:rPr>
              <a:t> — это критический процесс разбиения больших документов на меньшие, семантически завершенные фрагменты перед их обработкой.</a:t>
            </a:r>
            <a:endParaRPr lang="en-US" sz="1602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02443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3213209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Ограничения контекста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71500" y="3554323"/>
            <a:ext cx="2476481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LLM имеют лимит токенов (контекстное окно). Передача целых книг или длинных отчетов невозможна или слишком дорога. Чанкинг позволяет подавать только релевантные части.</a:t>
            </a:r>
            <a:endParaRPr lang="en-US" sz="942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31" y="280244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33731" y="3213209"/>
            <a:ext cx="24765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Точность поиска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3333731" y="3554323"/>
            <a:ext cx="2476509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Большие фрагменты текста смешивают множество тем, создавая "размытые" векторные представления. Маленькие, сфокусированные чанки обеспечивают более точное извлечение по смыслу.</a:t>
            </a:r>
            <a:endParaRPr lang="en-US" sz="942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1" y="2802443"/>
            <a:ext cx="2857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5991" y="3213209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Семантический баланс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6095991" y="3554323"/>
            <a:ext cx="2476481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Оптимальный чанк должен быть самодостаточным. Слишком маленький чанк теряет контекст, слишком большой — теряет фокус. Цель — сохранить "ход мысли" автора.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096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336506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Стратегии чанкинга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08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266230"/>
            <a:ext cx="8001000" cy="3900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571500" y="1266230"/>
            <a:ext cx="8001000" cy="7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571500" y="1266230"/>
            <a:ext cx="7144" cy="39004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785813" y="1512689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01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089115" y="1480542"/>
            <a:ext cx="9587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Fixed-Size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785813" y="1860947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Разбиение текста на блоки фиксированного размера (например, 512 токенов) с небольшим перекрытием.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785813" y="2546747"/>
            <a:ext cx="467832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785813" y="2546747"/>
            <a:ext cx="46783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Просто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1351090" y="2546747"/>
            <a:ext cx="468446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1351090" y="2546747"/>
            <a:ext cx="468446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Быстро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785813" y="2855714"/>
            <a:ext cx="2374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Риск разрыва предложений и потери контекста.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786313" y="1512689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02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089615" y="1480542"/>
            <a:ext cx="94272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Recursive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4786313" y="1860947"/>
            <a:ext cx="35647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Итеративное разбиение с использованием иерархии разделителей (абзацы, предложения, слова) для сохранения целостности.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786313" y="2546747"/>
            <a:ext cx="464344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4786313" y="2546747"/>
            <a:ext cx="464344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Баланс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5348101" y="2546747"/>
            <a:ext cx="592820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5348101" y="2546747"/>
            <a:ext cx="59282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Структура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4786313" y="2855714"/>
            <a:ext cx="27949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Оптимальный выбор для большинства текстовых задач.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785813" y="3459361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03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1089115" y="3427214"/>
            <a:ext cx="167161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Document-Based</a:t>
            </a:r>
            <a:endParaRPr lang="en-US" sz="1397" dirty="0"/>
          </a:p>
        </p:txBody>
      </p:sp>
      <p:sp>
        <p:nvSpPr>
          <p:cNvPr id="28" name="Text 25"/>
          <p:cNvSpPr/>
          <p:nvPr/>
        </p:nvSpPr>
        <p:spPr>
          <a:xfrm>
            <a:off x="785813" y="3807619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Использование естественной структуры документа: заголовки, списки, таблицы, секции.</a:t>
            </a:r>
            <a:endParaRPr lang="en-US" sz="942" dirty="0"/>
          </a:p>
        </p:txBody>
      </p:sp>
      <p:sp>
        <p:nvSpPr>
          <p:cNvPr id="29" name="Shape 26"/>
          <p:cNvSpPr/>
          <p:nvPr/>
        </p:nvSpPr>
        <p:spPr>
          <a:xfrm>
            <a:off x="785813" y="4493419"/>
            <a:ext cx="473748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785813" y="4493419"/>
            <a:ext cx="473748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Логика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1357006" y="4493419"/>
            <a:ext cx="641961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1357006" y="4493419"/>
            <a:ext cx="641961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Markdown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785813" y="4802386"/>
            <a:ext cx="31549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Идеально для структурированных документов и документации.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4786313" y="3459361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04</a:t>
            </a:r>
            <a:endParaRPr lang="en-US" sz="1193" dirty="0"/>
          </a:p>
        </p:txBody>
      </p:sp>
      <p:sp>
        <p:nvSpPr>
          <p:cNvPr id="35" name="Text 32"/>
          <p:cNvSpPr/>
          <p:nvPr/>
        </p:nvSpPr>
        <p:spPr>
          <a:xfrm>
            <a:off x="5089615" y="3427214"/>
            <a:ext cx="90393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Semantic</a:t>
            </a:r>
            <a:endParaRPr lang="en-US" sz="1397" dirty="0"/>
          </a:p>
        </p:txBody>
      </p:sp>
      <p:sp>
        <p:nvSpPr>
          <p:cNvPr id="36" name="Text 33"/>
          <p:cNvSpPr/>
          <p:nvPr/>
        </p:nvSpPr>
        <p:spPr>
          <a:xfrm>
            <a:off x="4786313" y="3807619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Анализ смысла текста и группировка предложений на основе семантической близости эмбеддингов.</a:t>
            </a:r>
            <a:endParaRPr lang="en-US" sz="942" dirty="0"/>
          </a:p>
        </p:txBody>
      </p:sp>
      <p:sp>
        <p:nvSpPr>
          <p:cNvPr id="37" name="Shape 34"/>
          <p:cNvSpPr/>
          <p:nvPr/>
        </p:nvSpPr>
        <p:spPr>
          <a:xfrm>
            <a:off x="4786313" y="4493419"/>
            <a:ext cx="579620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4786313" y="4493419"/>
            <a:ext cx="57962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Точность</a:t>
            </a:r>
            <a:endParaRPr lang="en-US" sz="584" dirty="0"/>
          </a:p>
        </p:txBody>
      </p:sp>
      <p:sp>
        <p:nvSpPr>
          <p:cNvPr id="39" name="Shape 36"/>
          <p:cNvSpPr/>
          <p:nvPr/>
        </p:nvSpPr>
        <p:spPr>
          <a:xfrm>
            <a:off x="5463378" y="4493419"/>
            <a:ext cx="533158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5463378" y="4493419"/>
            <a:ext cx="533158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AI-Native</a:t>
            </a:r>
            <a:endParaRPr lang="en-US" sz="584" dirty="0"/>
          </a:p>
        </p:txBody>
      </p:sp>
      <p:sp>
        <p:nvSpPr>
          <p:cNvPr id="41" name="Text 38"/>
          <p:cNvSpPr/>
          <p:nvPr/>
        </p:nvSpPr>
        <p:spPr>
          <a:xfrm>
            <a:off x="4786313" y="4802386"/>
            <a:ext cx="31287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Ресурсоемкий процесс, но дает наилучшее качество контекста.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778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333122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Этап 3 - Эмбеддинги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09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693236"/>
            <a:ext cx="3600450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368321"/>
            <a:ext cx="3314700" cy="18645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00575" y="1266230"/>
            <a:ext cx="39719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Текст → Вектор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4600575" y="1662708"/>
            <a:ext cx="3971925" cy="857250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Преобразование текста в массив чисел (вектор) в многомерном пространстве (768–1536 измерений). Модели (BERT, OpenAI) кодируют смысл, а не просто слова.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600575" y="2805708"/>
            <a:ext cx="39719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Семантический поиск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4600575" y="3186113"/>
            <a:ext cx="3971925" cy="642938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Система ищет не точное совпадение слов, а близость векторов. Это позволяет находить релевантные ответы, даже если формулировки отличаются.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00575" y="4257675"/>
            <a:ext cx="3971925" cy="107725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0"/>
          <p:cNvSpPr/>
          <p:nvPr/>
        </p:nvSpPr>
        <p:spPr>
          <a:xfrm>
            <a:off x="4779169" y="4436269"/>
            <a:ext cx="361473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Пример: Запрос </a:t>
            </a:r>
            <a:r>
              <a:rPr lang="en-US" sz="885" b="1" dirty="0">
                <a:solidFill>
                  <a:srgbClr val="FF4500"/>
                </a:solidFill>
              </a:rPr>
              <a:t>"Как приготовить пасту"</a:t>
            </a:r>
            <a:r>
              <a:rPr lang="en-US" sz="942" dirty="0">
                <a:solidFill>
                  <a:srgbClr val="FFFFFF"/>
                </a:solidFill>
              </a:rPr>
              <a:t> найдет документ о </a:t>
            </a:r>
            <a:r>
              <a:rPr lang="en-US" sz="885" b="1" dirty="0">
                <a:solidFill>
                  <a:srgbClr val="FF4500"/>
                </a:solidFill>
              </a:rPr>
              <a:t>"рецепте макарон с соусом"</a:t>
            </a:r>
            <a:r>
              <a:rPr lang="en-US" sz="942" dirty="0">
                <a:solidFill>
                  <a:srgbClr val="FFFFFF"/>
                </a:solidFill>
              </a:rPr>
              <a:t>, так как их векторы находятся рядом в семантическом пространстве.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024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540731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Этап 4 - Хранение в векторной БД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10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42950" y="1266230"/>
            <a:ext cx="3607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Специализированное хранение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571625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Векторные БД оптимизированы для хранения миллионов многомерных векторов, в отличие от традиционных реляционных баз данных.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42950" y="2364581"/>
            <a:ext cx="3607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Индексация (HNSW)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42950" y="2669977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Использование алгоритмов приближенного поиска ближайших соседей (ANN) позволяет находить похожие векторы за миллисекунды.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42950" y="3462933"/>
            <a:ext cx="3607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Метаданные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42950" y="3768328"/>
            <a:ext cx="36075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Вместе с вектором хранится контекст: источник, номер страницы, автор. Это позволяет фильтровать результаты поиска (Hybrid Search).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4704159"/>
            <a:ext cx="37790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777777"/>
                </a:solidFill>
              </a:rPr>
              <a:t>&gt; STACK: Pinecone / Milvus / Weaviate / Faiss / Qdrant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779169" y="1266230"/>
            <a:ext cx="3793331" cy="3593306"/>
          </a:xfrm>
          <a:prstGeom prst="rect">
            <a:avLst/>
          </a:prstGeom>
          <a:solidFill>
            <a:srgbClr val="000000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4786313" y="1266230"/>
            <a:ext cx="3786188" cy="35933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856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32052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Этап 5 - Извлечение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42950" y="1266230"/>
            <a:ext cx="31341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1. Векторизация запроса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535906"/>
            <a:ext cx="313415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Вопрос пользователя преобразуется в эмбеддинг с использованием той же модели, что и для документов.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42950" y="2290270"/>
            <a:ext cx="31341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2. Поиск сходства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42950" y="2559946"/>
            <a:ext cx="313415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Векторная БД ищет векторы, математически наиболее близкие к вектору запроса (Cosine Similarity).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42950" y="3314309"/>
            <a:ext cx="31341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3. Выбор Top-K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42950" y="3583986"/>
            <a:ext cx="313415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Система извлекает K (обычно 3-5) наиболее релевантных чанков для формирования контекста.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71500" y="4481224"/>
            <a:ext cx="3305603" cy="96150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714375" y="4624099"/>
            <a:ext cx="301985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Семантический поиск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14375" y="4821613"/>
            <a:ext cx="28869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В отличие от поиска по ключевым словам, система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714375" y="4981622"/>
            <a:ext cx="29114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находит документы по смыслу. Запрос "как сварить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14375" y="5141630"/>
            <a:ext cx="29806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макароны" найдет текст про "приготовление пасты".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305728" y="1266230"/>
            <a:ext cx="4266772" cy="417649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105" y="2620724"/>
            <a:ext cx="3974520" cy="1467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84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294199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Этап 6 - Генерация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12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337667"/>
            <a:ext cx="21851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4500"/>
                </a:solidFill>
              </a:rPr>
              <a:t>01. Входные данные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71500" y="1635919"/>
            <a:ext cx="2185122" cy="9379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750094" y="1814513"/>
            <a:ext cx="18279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Запрос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50094" y="2060972"/>
            <a:ext cx="182793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Исходный вопрос пользователя.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2666740"/>
            <a:ext cx="2185122" cy="9379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750094" y="2845333"/>
            <a:ext cx="18279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Контекст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50094" y="3091793"/>
            <a:ext cx="182793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Top-K релевантных чанков из векторной БД.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71500" y="3697560"/>
            <a:ext cx="2185122" cy="9379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750094" y="3876154"/>
            <a:ext cx="18279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Промпт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50094" y="4122613"/>
            <a:ext cx="182793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Инструкция: "Отвечай только на основе контекста".</a:t>
            </a:r>
            <a:endParaRPr lang="en-US" sz="834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011" y="2918724"/>
            <a:ext cx="200025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9425" y="1337667"/>
            <a:ext cx="21851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4500"/>
                </a:solidFill>
              </a:rPr>
              <a:t>02. Процесс</a:t>
            </a:r>
            <a:endParaRPr lang="en-US" sz="784" dirty="0"/>
          </a:p>
        </p:txBody>
      </p:sp>
      <p:sp>
        <p:nvSpPr>
          <p:cNvPr id="19" name="Shape 15"/>
          <p:cNvSpPr/>
          <p:nvPr/>
        </p:nvSpPr>
        <p:spPr>
          <a:xfrm>
            <a:off x="3479425" y="1635919"/>
            <a:ext cx="2185122" cy="309246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3658019" y="2363660"/>
            <a:ext cx="18279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LLM Синтез</a:t>
            </a:r>
            <a:endParaRPr lang="en-US" sz="1193" dirty="0"/>
          </a:p>
        </p:txBody>
      </p:sp>
      <p:sp>
        <p:nvSpPr>
          <p:cNvPr id="21" name="Text 17"/>
          <p:cNvSpPr/>
          <p:nvPr/>
        </p:nvSpPr>
        <p:spPr>
          <a:xfrm>
            <a:off x="3658019" y="2740493"/>
            <a:ext cx="1827935" cy="1260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Модель не использует свою "память" для фактов. Она работает как аналитический движок, обрабатывая предоставленный контекст для формирования связного ответа.</a:t>
            </a:r>
            <a:endParaRPr lang="en-US" sz="942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936" y="2918724"/>
            <a:ext cx="200025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87350" y="1337667"/>
            <a:ext cx="2185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4500"/>
                </a:solidFill>
              </a:rPr>
              <a:t>03. Результат</a:t>
            </a:r>
            <a:endParaRPr lang="en-US" sz="784" dirty="0"/>
          </a:p>
        </p:txBody>
      </p:sp>
      <p:sp>
        <p:nvSpPr>
          <p:cNvPr id="24" name="Shape 19"/>
          <p:cNvSpPr/>
          <p:nvPr/>
        </p:nvSpPr>
        <p:spPr>
          <a:xfrm>
            <a:off x="6387350" y="1635919"/>
            <a:ext cx="2185150" cy="29853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0"/>
          <p:cNvSpPr/>
          <p:nvPr/>
        </p:nvSpPr>
        <p:spPr>
          <a:xfrm>
            <a:off x="6387350" y="1635919"/>
            <a:ext cx="218515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1"/>
          <p:cNvSpPr/>
          <p:nvPr/>
        </p:nvSpPr>
        <p:spPr>
          <a:xfrm>
            <a:off x="8565356" y="1635919"/>
            <a:ext cx="7144" cy="298530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2"/>
          <p:cNvSpPr/>
          <p:nvPr/>
        </p:nvSpPr>
        <p:spPr>
          <a:xfrm>
            <a:off x="6387350" y="4614081"/>
            <a:ext cx="218515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Shape 23"/>
          <p:cNvSpPr/>
          <p:nvPr/>
        </p:nvSpPr>
        <p:spPr>
          <a:xfrm>
            <a:off x="6387350" y="1635919"/>
            <a:ext cx="28575" cy="298530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4"/>
          <p:cNvSpPr/>
          <p:nvPr/>
        </p:nvSpPr>
        <p:spPr>
          <a:xfrm>
            <a:off x="6565943" y="1814513"/>
            <a:ext cx="18279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Обоснованный ответ</a:t>
            </a:r>
            <a:endParaRPr lang="en-US" sz="885" dirty="0"/>
          </a:p>
        </p:txBody>
      </p:sp>
      <p:sp>
        <p:nvSpPr>
          <p:cNvPr id="30" name="Text 25"/>
          <p:cNvSpPr/>
          <p:nvPr/>
        </p:nvSpPr>
        <p:spPr>
          <a:xfrm>
            <a:off x="6565943" y="2060972"/>
            <a:ext cx="18279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Ответ содержит факты из документов и ссылки на источники.</a:t>
            </a:r>
            <a:endParaRPr lang="en-US" sz="834" dirty="0"/>
          </a:p>
        </p:txBody>
      </p:sp>
      <p:sp>
        <p:nvSpPr>
          <p:cNvPr id="31" name="Text 26"/>
          <p:cNvSpPr/>
          <p:nvPr/>
        </p:nvSpPr>
        <p:spPr>
          <a:xfrm>
            <a:off x="6565943" y="2649941"/>
            <a:ext cx="16473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i="1" dirty="0">
                <a:solidFill>
                  <a:srgbClr val="777777"/>
                </a:solidFill>
              </a:rPr>
              <a:t>"Согласно отчету за 2023 год</a:t>
            </a:r>
            <a:endParaRPr lang="en-US" sz="834" dirty="0"/>
          </a:p>
        </p:txBody>
      </p:sp>
      <p:sp>
        <p:nvSpPr>
          <p:cNvPr id="32" name="Shape 27"/>
          <p:cNvSpPr/>
          <p:nvPr/>
        </p:nvSpPr>
        <p:spPr>
          <a:xfrm>
            <a:off x="6601662" y="2826469"/>
            <a:ext cx="349262" cy="14856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28"/>
          <p:cNvSpPr/>
          <p:nvPr/>
        </p:nvSpPr>
        <p:spPr>
          <a:xfrm>
            <a:off x="6601662" y="2826469"/>
            <a:ext cx="349262" cy="14856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i="1" dirty="0">
                <a:solidFill>
                  <a:srgbClr val="FFFFFF"/>
                </a:solidFill>
              </a:rPr>
              <a:t>[Doc 1]</a:t>
            </a:r>
            <a:endParaRPr lang="en-US" sz="621" dirty="0"/>
          </a:p>
        </p:txBody>
      </p:sp>
      <p:sp>
        <p:nvSpPr>
          <p:cNvPr id="34" name="Text 29"/>
          <p:cNvSpPr/>
          <p:nvPr/>
        </p:nvSpPr>
        <p:spPr>
          <a:xfrm>
            <a:off x="6950925" y="2809949"/>
            <a:ext cx="11724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i="1" dirty="0">
                <a:solidFill>
                  <a:srgbClr val="777777"/>
                </a:solidFill>
              </a:rPr>
              <a:t>, прибыль выросла на</a:t>
            </a:r>
            <a:endParaRPr lang="en-US" sz="834" dirty="0"/>
          </a:p>
        </p:txBody>
      </p:sp>
      <p:sp>
        <p:nvSpPr>
          <p:cNvPr id="35" name="Text 30"/>
          <p:cNvSpPr/>
          <p:nvPr/>
        </p:nvSpPr>
        <p:spPr>
          <a:xfrm>
            <a:off x="6565943" y="2976823"/>
            <a:ext cx="3498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i="1" dirty="0">
                <a:solidFill>
                  <a:srgbClr val="777777"/>
                </a:solidFill>
              </a:rPr>
              <a:t>15%..."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13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299973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Полный цикл RAG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13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266230"/>
            <a:ext cx="3786188" cy="448270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Offline: Подготовка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71500" y="1928813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Загрузка документов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571500" y="2400300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Чанкинг (Разбиение)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71500" y="2871788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Создание эмбеддингов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571500" y="3343275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Индексация в Векторной БД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571500" y="4100513"/>
            <a:ext cx="3786188" cy="66794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714375" y="4243388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Характеристики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14375" y="4450556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Асинхронно • Ресурсоемко • Единоразово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786313" y="1266230"/>
            <a:ext cx="3786188" cy="448270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Online: Запрос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4786313" y="1928813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Запрос пользователя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786313" y="2400300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Векторизация запроса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4786313" y="2871788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Поиск (Retrieval)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4786313" y="3343275"/>
            <a:ext cx="3786188" cy="47148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Генерация ответа (LLM)</a:t>
            </a:r>
            <a:endParaRPr lang="en-US" sz="1269" dirty="0"/>
          </a:p>
        </p:txBody>
      </p:sp>
      <p:sp>
        <p:nvSpPr>
          <p:cNvPr id="20" name="Shape 17"/>
          <p:cNvSpPr/>
          <p:nvPr/>
        </p:nvSpPr>
        <p:spPr>
          <a:xfrm>
            <a:off x="4786313" y="4100513"/>
            <a:ext cx="3786188" cy="6679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4929188" y="4243388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Характеристики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929188" y="4450556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Синхронно • Быстро • Real-time</a:t>
            </a:r>
            <a:endParaRPr lang="en-US" sz="88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92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316451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Преимущества RAG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14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487686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01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571500" y="1816298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Точность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121694"/>
            <a:ext cx="2476481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Ответы формируются на основе конкретных документов, а не вероятностных предсказаний модели.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333731" y="1487686"/>
            <a:ext cx="24765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02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3333731" y="1816298"/>
            <a:ext cx="24765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Актуальность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333731" y="2121694"/>
            <a:ext cx="2476509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Система работает с данными в реальном времени, не требуя дорогостоящего переобучения модели.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95991" y="1487686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03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6095991" y="1816298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Проверяемость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095991" y="2121694"/>
            <a:ext cx="2476481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Каждый факт в ответе может быть подкреплен ссылкой на исходный документ для верификации.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1643063" y="3277530"/>
            <a:ext cx="2786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04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1643063" y="3606143"/>
            <a:ext cx="2786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Специфичность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643063" y="3911538"/>
            <a:ext cx="278606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Возможность настройки на узкие домены (медицина, право) путем загрузки профильной литературы.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714875" y="3277530"/>
            <a:ext cx="2786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FF4500"/>
                </a:solidFill>
              </a:rPr>
              <a:t>05</a:t>
            </a:r>
            <a:endParaRPr lang="en-US" sz="1808" dirty="0"/>
          </a:p>
        </p:txBody>
      </p:sp>
      <p:sp>
        <p:nvSpPr>
          <p:cNvPr id="20" name="Text 17"/>
          <p:cNvSpPr/>
          <p:nvPr/>
        </p:nvSpPr>
        <p:spPr>
          <a:xfrm>
            <a:off x="4714875" y="3606143"/>
            <a:ext cx="2786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Контролируемость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4714875" y="3911538"/>
            <a:ext cx="278606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Администраторы могут управлять базой знаний, добавляя или удаляя источники информации.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571500" y="4451589"/>
            <a:ext cx="8001000" cy="48041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571500" y="4451589"/>
            <a:ext cx="8001000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Результат: Снижение уровня галлюцинаций на 70-90% по сравнению с базовыми LLM.</a:t>
            </a:r>
            <a:endParaRPr lang="en-US" sz="98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32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392565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Практические примеры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15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266230"/>
            <a:ext cx="3857625" cy="18591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571500" y="1266230"/>
            <a:ext cx="42863" cy="1859161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78" y="1519833"/>
            <a:ext cx="150019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8719" y="1500188"/>
            <a:ext cx="228304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Корпоративный поиск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85813" y="1896666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Чат-боты с доступом к внутренним базам знаний (Confluence, Jira, Google Drive). Сотрудники мгновенно находят ответы на вопросы о политиках, коде или процессах без ручного поиска.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785813" y="2775347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999999"/>
                </a:solidFill>
              </a:rPr>
              <a:t>Internal Productivity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4714875" y="1266230"/>
            <a:ext cx="3857625" cy="18591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4714875" y="1266230"/>
            <a:ext cx="42863" cy="1859161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1519833"/>
            <a:ext cx="200025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22094" y="1500188"/>
            <a:ext cx="23266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Клиентская поддержка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4929188" y="1896666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Автоматизация первой линии поддержки. Бот отвечает на вопросы по технической документации продукта, снижая нагрузку на операторов и время ожидания ответа.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4929188" y="2775347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999999"/>
                </a:solidFill>
              </a:rPr>
              <a:t>Customer Experience</a:t>
            </a:r>
            <a:endParaRPr lang="en-US" sz="683" dirty="0"/>
          </a:p>
        </p:txBody>
      </p:sp>
      <p:sp>
        <p:nvSpPr>
          <p:cNvPr id="19" name="Shape 14"/>
          <p:cNvSpPr/>
          <p:nvPr/>
        </p:nvSpPr>
        <p:spPr>
          <a:xfrm>
            <a:off x="571500" y="3411141"/>
            <a:ext cx="3857625" cy="18591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5"/>
          <p:cNvSpPr/>
          <p:nvPr/>
        </p:nvSpPr>
        <p:spPr>
          <a:xfrm>
            <a:off x="571500" y="3411141"/>
            <a:ext cx="42863" cy="1859161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72" y="3664744"/>
            <a:ext cx="250031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8719" y="3645098"/>
            <a:ext cx="22240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Юридический анализ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785813" y="4041577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Поиск прецедентов в огромных базах судебных решений или анализ контрактов на соответствие рискам. Система выделяет конкретные пункты и ссылки на законы.</a:t>
            </a:r>
            <a:endParaRPr lang="en-US" sz="942" dirty="0"/>
          </a:p>
        </p:txBody>
      </p:sp>
      <p:sp>
        <p:nvSpPr>
          <p:cNvPr id="24" name="Text 18"/>
          <p:cNvSpPr/>
          <p:nvPr/>
        </p:nvSpPr>
        <p:spPr>
          <a:xfrm>
            <a:off x="785813" y="4920258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999999"/>
                </a:solidFill>
              </a:rPr>
              <a:t>Legal Tech</a:t>
            </a:r>
            <a:endParaRPr lang="en-US" sz="683" dirty="0"/>
          </a:p>
        </p:txBody>
      </p:sp>
      <p:sp>
        <p:nvSpPr>
          <p:cNvPr id="25" name="Shape 19"/>
          <p:cNvSpPr/>
          <p:nvPr/>
        </p:nvSpPr>
        <p:spPr>
          <a:xfrm>
            <a:off x="4714875" y="3411141"/>
            <a:ext cx="3857625" cy="18591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0"/>
          <p:cNvSpPr/>
          <p:nvPr/>
        </p:nvSpPr>
        <p:spPr>
          <a:xfrm>
            <a:off x="4714875" y="3411141"/>
            <a:ext cx="42863" cy="1859161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7" y="3664744"/>
            <a:ext cx="250031" cy="2000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22094" y="3645098"/>
            <a:ext cx="131263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Образование</a:t>
            </a:r>
            <a:endParaRPr lang="en-US" sz="1193" dirty="0"/>
          </a:p>
        </p:txBody>
      </p:sp>
      <p:sp>
        <p:nvSpPr>
          <p:cNvPr id="29" name="Text 22"/>
          <p:cNvSpPr/>
          <p:nvPr/>
        </p:nvSpPr>
        <p:spPr>
          <a:xfrm>
            <a:off x="4929188" y="4041577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Персонализированные тьюторы, которые отвечают на вопросы студентов, опираясь строго на утвержденные учебные материалы, лекции и учебники, исключая "отсебятину".</a:t>
            </a:r>
            <a:endParaRPr lang="en-US" sz="942" dirty="0"/>
          </a:p>
        </p:txBody>
      </p:sp>
      <p:sp>
        <p:nvSpPr>
          <p:cNvPr id="30" name="Text 23"/>
          <p:cNvSpPr/>
          <p:nvPr/>
        </p:nvSpPr>
        <p:spPr>
          <a:xfrm>
            <a:off x="4929188" y="4920258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999999"/>
                </a:solidFill>
              </a:rPr>
              <a:t>EdTech</a:t>
            </a:r>
            <a:endParaRPr lang="en-US" sz="6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917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39667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Вызовы и ограничения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16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266230"/>
            <a:ext cx="3857625" cy="179843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785813" y="1480542"/>
            <a:ext cx="3429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Качество чанкинга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85813" y="1821656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Сложно найти идеальный баланс. Слишком мелкие чанки теряют контекст, слишком крупные — размывают смысл для поиска. Требуется тонкая настройка под тип документов.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85813" y="2607469"/>
            <a:ext cx="3429000" cy="24288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Data Engineering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714875" y="1266230"/>
            <a:ext cx="3857625" cy="179843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4929188" y="1480542"/>
            <a:ext cx="3429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Семантический разрыв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929188" y="1821656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Универсальные модели эмбеддингов могут не улавливать специфический жаргон или нюансы узких доменов (медицина, право), снижая точность поиска.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929188" y="2607469"/>
            <a:ext cx="3429000" cy="24288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Model Limitations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571500" y="3350419"/>
            <a:ext cx="3857625" cy="179843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785813" y="3564731"/>
            <a:ext cx="3429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Масштабируемость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785813" y="3905845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Поиск по миллионам векторов создает задержки (latency). Требуются сложные индексы (HNSW) и мощная инфраструктура для сохранения real-time отклика.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785813" y="4691658"/>
            <a:ext cx="3429000" cy="24288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Infrastructure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4714875" y="3350419"/>
            <a:ext cx="3857625" cy="179843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4929188" y="3550444"/>
            <a:ext cx="3429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Остаточные галлюцинации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4929188" y="3891558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RAG не устраняет галлюцинации полностью. Модель может неправильно интерпретировать найденный контекст или объединить противоречивые факты из разных источников.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929188" y="4663083"/>
            <a:ext cx="3429000" cy="24288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Reliability</a:t>
            </a:r>
            <a:endParaRPr lang="en-US" sz="68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060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601249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Будущее RAG: Продвинутые техники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17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42950" y="1266230"/>
            <a:ext cx="40707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Hybrid Search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557338"/>
            <a:ext cx="40707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Комбинация семантического поиска (векторы) и поиска по ключевым словам (BM25). Обеспечивает точность как для абстрактных понятий, так и для конкретных терминов.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742950" y="2210991"/>
            <a:ext cx="566170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742950" y="2210991"/>
            <a:ext cx="56617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Accuracy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1395989" y="2210991"/>
            <a:ext cx="670592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1395989" y="2210991"/>
            <a:ext cx="67059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Robustness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742950" y="2598539"/>
            <a:ext cx="40707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Re-ranking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742950" y="2889647"/>
            <a:ext cx="40707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Двухэтапный процесс: быстрый поиск кандидатов, затем точная пересортировка с помощью Cross-Encoder модели для удаления нерелевантного шума.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742950" y="3543300"/>
            <a:ext cx="579202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742950" y="3543300"/>
            <a:ext cx="57920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Precision</a:t>
            </a:r>
            <a:endParaRPr lang="en-US" sz="584" dirty="0"/>
          </a:p>
        </p:txBody>
      </p:sp>
      <p:sp>
        <p:nvSpPr>
          <p:cNvPr id="17" name="Shape 14"/>
          <p:cNvSpPr/>
          <p:nvPr/>
        </p:nvSpPr>
        <p:spPr>
          <a:xfrm>
            <a:off x="1409021" y="3543300"/>
            <a:ext cx="490575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1409021" y="3543300"/>
            <a:ext cx="49057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Quality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742950" y="3930848"/>
            <a:ext cx="40707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Agentic RAG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742950" y="4221956"/>
            <a:ext cx="40707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Использование автономных агентов, которые могут планировать поиск, разбивать сложные вопросы на подзадачи и использовать инструменты (Web Search, SQL).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742950" y="4875609"/>
            <a:ext cx="626697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742950" y="4875609"/>
            <a:ext cx="626697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Autonomy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1456516" y="4875609"/>
            <a:ext cx="628315" cy="1732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1456516" y="4875609"/>
            <a:ext cx="628315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Reasoning</a:t>
            </a:r>
            <a:endParaRPr lang="en-US" sz="584" dirty="0"/>
          </a:p>
        </p:txBody>
      </p:sp>
      <p:sp>
        <p:nvSpPr>
          <p:cNvPr id="25" name="Shape 22"/>
          <p:cNvSpPr/>
          <p:nvPr/>
        </p:nvSpPr>
        <p:spPr>
          <a:xfrm>
            <a:off x="5242313" y="1266230"/>
            <a:ext cx="3330187" cy="399692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531" y="2412020"/>
            <a:ext cx="3036094" cy="17053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88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71500" y="980480"/>
            <a:ext cx="800100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210115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Заключение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76354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18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409105"/>
            <a:ext cx="714375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4500"/>
                </a:solidFill>
              </a:rPr>
              <a:t>RAG — это не просто опция, это стандарт для создания надежных корпоративных AI-систем.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571500" y="3507888"/>
            <a:ext cx="23812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A1A1A"/>
                </a:solidFill>
              </a:rPr>
              <a:t>Мост к данным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849002"/>
            <a:ext cx="238124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Единственный надежный способ безопасно объединить мощь LLM с вашими приватными данными.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381366" y="3507888"/>
            <a:ext cx="23812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A1A1A"/>
                </a:solidFill>
              </a:rPr>
              <a:t>Доверие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381366" y="3849002"/>
            <a:ext cx="238124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Превращает "черный ящик" нейросети в прозрачный инструмент с проверяемыми источниками.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191231" y="3507888"/>
            <a:ext cx="23812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A1A1A"/>
                </a:solidFill>
              </a:rPr>
              <a:t>Эволюция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6191231" y="3849002"/>
            <a:ext cx="238126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Фундамент для перехода от простых чат-ботов к сложным агентным системам принятия решений.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4620527"/>
            <a:ext cx="8001000" cy="441127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99999"/>
                </a:solidFill>
              </a:rPr>
              <a:t>Будущее AI — это контекст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1487</Words>
  <Application>Microsoft Macintosh PowerPoint</Application>
  <PresentationFormat>Экран (16:9)</PresentationFormat>
  <Paragraphs>244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Қалжанов Нұрлыхан Ерланұлы</cp:lastModifiedBy>
  <cp:revision>2</cp:revision>
  <dcterms:created xsi:type="dcterms:W3CDTF">2025-12-05T04:17:06Z</dcterms:created>
  <dcterms:modified xsi:type="dcterms:W3CDTF">2025-12-06T08:46:43Z</dcterms:modified>
</cp:coreProperties>
</file>