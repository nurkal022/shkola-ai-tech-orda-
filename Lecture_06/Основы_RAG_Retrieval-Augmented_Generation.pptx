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690055"/>
            <a:ext cx="6429375" cy="61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900"/>
              </a:lnSpc>
              <a:buNone/>
            </a:pPr>
            <a:r>
              <a:rPr lang="en-US" sz="4974" b="1" spc="-2" kern="0" dirty="0">
                <a:solidFill>
                  <a:srgbClr val="1A1A1A"/>
                </a:solidFill>
              </a:rPr>
              <a:t>Основы RAG</a:t>
            </a:r>
            <a:endParaRPr lang="en-US" sz="4974" dirty="0"/>
          </a:p>
        </p:txBody>
      </p:sp>
      <p:sp>
        <p:nvSpPr>
          <p:cNvPr id="4" name="Text 1"/>
          <p:cNvSpPr/>
          <p:nvPr/>
        </p:nvSpPr>
        <p:spPr>
          <a:xfrm>
            <a:off x="571500" y="2450139"/>
            <a:ext cx="6429375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592" spc="-1" kern="0" dirty="0">
                <a:solidFill>
                  <a:srgbClr val="333333"/>
                </a:solidFill>
              </a:rPr>
              <a:t>Retrieval-Augmented Generation</a:t>
            </a:r>
            <a:endParaRPr lang="en-US" sz="2592" dirty="0"/>
          </a:p>
        </p:txBody>
      </p:sp>
      <p:sp>
        <p:nvSpPr>
          <p:cNvPr id="5" name="Text 2"/>
          <p:cNvSpPr/>
          <p:nvPr/>
        </p:nvSpPr>
        <p:spPr>
          <a:xfrm>
            <a:off x="571500" y="3344894"/>
            <a:ext cx="5715000" cy="480027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Как современные языковые модели получают доступ к актуальной информации и избегают галлюцинаций</a:t>
            </a:r>
            <a:endParaRPr lang="en-US" sz="1269" dirty="0"/>
          </a:p>
        </p:txBody>
      </p:sp>
      <p:sp>
        <p:nvSpPr>
          <p:cNvPr id="6" name="Text 3"/>
          <p:cNvSpPr/>
          <p:nvPr/>
        </p:nvSpPr>
        <p:spPr>
          <a:xfrm>
            <a:off x="8453847" y="4702373"/>
            <a:ext cx="26152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888888"/>
                </a:solidFill>
              </a:rPr>
              <a:t>2025</a:t>
            </a:r>
            <a:endParaRPr lang="en-US" sz="78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8995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5435305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Проблема: Галлюцинации в LLM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02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742950" y="1266230"/>
            <a:ext cx="346471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Вероятностная природа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742950" y="1571625"/>
            <a:ext cx="346471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LLM генерируют текст, предсказывая следующий токен на основе вероятностей, а не проверяя факты. Это приводит к правдоподобным, но ложным утверждениям.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742950" y="2557463"/>
            <a:ext cx="346471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Устаревшие знания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42950" y="2862858"/>
            <a:ext cx="3464719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Модели ограничены датой окончания обучения. Пример: Ошибка Google Bard о телескопе James Webb стоила компании $100 млрд капитализации.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742950" y="3655814"/>
            <a:ext cx="346471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Выдуманные факты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742950" y="3961209"/>
            <a:ext cx="3464719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Известны случаи, когда LLM придумывали несуществующие судебные прецеденты для адвокатов, что приводило к серьезным юридическим последствиям.</a:t>
            </a: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4636294" y="1266230"/>
            <a:ext cx="3936206" cy="3680817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313" y="2390980"/>
            <a:ext cx="3643313" cy="14312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095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2333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994221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Решение: Что такое RAG?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03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037630"/>
            <a:ext cx="4800600" cy="140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397" b="1" dirty="0">
                <a:solidFill>
                  <a:srgbClr val="FF4500"/>
                </a:solidFill>
              </a:rPr>
              <a:t>Retrieval-Augmented Generation (RAG)</a:t>
            </a:r>
            <a:pPr algn="l" indent="0" marL="0">
              <a:lnSpc>
                <a:spcPts val="2200"/>
              </a:lnSpc>
              <a:buNone/>
            </a:pPr>
            <a:r>
              <a:rPr lang="en-US" sz="1486" dirty="0">
                <a:solidFill>
                  <a:srgbClr val="333333"/>
                </a:solidFill>
              </a:rPr>
              <a:t> — это </a:t>
            </a:r>
            <a:pPr algn="l" indent="0" marL="0">
              <a:lnSpc>
                <a:spcPts val="2200"/>
              </a:lnSpc>
              <a:buNone/>
            </a:pPr>
            <a:r>
              <a:rPr lang="en-US" sz="1486" dirty="0">
                <a:solidFill>
                  <a:srgbClr val="333333"/>
                </a:solidFill>
              </a:rPr>
              <a:t>архитектурный паттерн, который оптимизирует </a:t>
            </a:r>
            <a:pPr algn="l" indent="0" marL="0">
              <a:lnSpc>
                <a:spcPts val="2200"/>
              </a:lnSpc>
              <a:buNone/>
            </a:pPr>
            <a:r>
              <a:rPr lang="en-US" sz="1486" dirty="0">
                <a:solidFill>
                  <a:srgbClr val="333333"/>
                </a:solidFill>
              </a:rPr>
              <a:t>вывод LLM, позволяя ей ссылаться на </a:t>
            </a:r>
            <a:pPr algn="l" indent="0" marL="0">
              <a:lnSpc>
                <a:spcPts val="2200"/>
              </a:lnSpc>
              <a:buNone/>
            </a:pPr>
            <a:r>
              <a:rPr lang="en-US" sz="1486" dirty="0">
                <a:solidFill>
                  <a:srgbClr val="333333"/>
                </a:solidFill>
              </a:rPr>
              <a:t>авторитетную базу знаний за пределами её </a:t>
            </a:r>
            <a:pPr algn="l" indent="0" marL="0">
              <a:lnSpc>
                <a:spcPts val="2200"/>
              </a:lnSpc>
              <a:buNone/>
            </a:pPr>
            <a:r>
              <a:rPr lang="en-US" sz="1486" dirty="0">
                <a:solidFill>
                  <a:srgbClr val="333333"/>
                </a:solidFill>
              </a:rPr>
              <a:t>обучающих данных.</a:t>
            </a:r>
            <a:endParaRPr lang="en-US" sz="1397" dirty="0"/>
          </a:p>
        </p:txBody>
      </p:sp>
      <p:sp>
        <p:nvSpPr>
          <p:cNvPr id="8" name="Shape 5"/>
          <p:cNvSpPr/>
          <p:nvPr/>
        </p:nvSpPr>
        <p:spPr>
          <a:xfrm>
            <a:off x="5772150" y="1037630"/>
            <a:ext cx="2800350" cy="1400147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9" name="Text 6"/>
          <p:cNvSpPr/>
          <p:nvPr/>
        </p:nvSpPr>
        <p:spPr>
          <a:xfrm>
            <a:off x="5915025" y="1214438"/>
            <a:ext cx="251460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Историческая справка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5915025" y="1460897"/>
            <a:ext cx="2514600" cy="80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1A1A1A"/>
                </a:solidFill>
              </a:rPr>
              <a:t>Метод был впервые представлен в исследовательской работе Facebook AI Research (FAIR) в 2020 году как способ объединить параметрическую память (LLM) и непараметрическую память (поиск).</a:t>
            </a:r>
            <a:endParaRPr lang="en-US" sz="834" dirty="0"/>
          </a:p>
        </p:txBody>
      </p:sp>
      <p:sp>
        <p:nvSpPr>
          <p:cNvPr id="11" name="Shape 8"/>
          <p:cNvSpPr/>
          <p:nvPr/>
        </p:nvSpPr>
        <p:spPr>
          <a:xfrm>
            <a:off x="571500" y="2580652"/>
            <a:ext cx="8001000" cy="2185960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815" y="2666377"/>
            <a:ext cx="3376343" cy="20002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2333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5528314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Как RAG снижает галлюцинации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04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571500" y="1513582"/>
            <a:ext cx="85725" cy="85725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8" name="Text 5"/>
          <p:cNvSpPr/>
          <p:nvPr/>
        </p:nvSpPr>
        <p:spPr>
          <a:xfrm>
            <a:off x="750094" y="1456432"/>
            <a:ext cx="345757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Контекстная привязка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750094" y="1733252"/>
            <a:ext cx="34575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Ответ строится только на найденных документах; без факта — «не знаю».</a:t>
            </a:r>
            <a:endParaRPr lang="en-US" sz="942" dirty="0"/>
          </a:p>
        </p:txBody>
      </p:sp>
      <p:sp>
        <p:nvSpPr>
          <p:cNvPr id="10" name="Shape 7"/>
          <p:cNvSpPr/>
          <p:nvPr/>
        </p:nvSpPr>
        <p:spPr>
          <a:xfrm>
            <a:off x="571500" y="2319040"/>
            <a:ext cx="85725" cy="85725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1" name="Text 8"/>
          <p:cNvSpPr/>
          <p:nvPr/>
        </p:nvSpPr>
        <p:spPr>
          <a:xfrm>
            <a:off x="750094" y="2261890"/>
            <a:ext cx="345757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Проверяемость источников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750094" y="2538710"/>
            <a:ext cx="34575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Утверждения сопровождаются ссылками на источник для верификации.</a:t>
            </a: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571500" y="3124498"/>
            <a:ext cx="85725" cy="85725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4" name="Text 11"/>
          <p:cNvSpPr/>
          <p:nvPr/>
        </p:nvSpPr>
        <p:spPr>
          <a:xfrm>
            <a:off x="750094" y="3067348"/>
            <a:ext cx="345757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Актуальность данных</a:t>
            </a:r>
            <a:endParaRPr lang="en-US" sz="1193" dirty="0"/>
          </a:p>
        </p:txBody>
      </p:sp>
      <p:sp>
        <p:nvSpPr>
          <p:cNvPr id="15" name="Text 12"/>
          <p:cNvSpPr/>
          <p:nvPr/>
        </p:nvSpPr>
        <p:spPr>
          <a:xfrm>
            <a:off x="750094" y="3344168"/>
            <a:ext cx="34575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Свежие данные из базы знаний предотвращают ошибки устаревания.</a:t>
            </a:r>
            <a:endParaRPr lang="en-US" sz="942" dirty="0"/>
          </a:p>
        </p:txBody>
      </p:sp>
      <p:sp>
        <p:nvSpPr>
          <p:cNvPr id="16" name="Shape 13"/>
          <p:cNvSpPr/>
          <p:nvPr/>
        </p:nvSpPr>
        <p:spPr>
          <a:xfrm>
            <a:off x="571500" y="3958530"/>
            <a:ext cx="3636169" cy="39469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Shape 14"/>
          <p:cNvSpPr/>
          <p:nvPr/>
        </p:nvSpPr>
        <p:spPr>
          <a:xfrm>
            <a:off x="571500" y="3958530"/>
            <a:ext cx="42863" cy="394692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1513" y="4058543"/>
            <a:ext cx="343614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</a:rPr>
              <a:t>RAG снижает галлюцинации на 70–90%.</a:t>
            </a:r>
            <a:endParaRPr lang="en-US" sz="987" dirty="0"/>
          </a:p>
        </p:txBody>
      </p:sp>
      <p:sp>
        <p:nvSpPr>
          <p:cNvPr id="19" name="Shape 16"/>
          <p:cNvSpPr/>
          <p:nvPr/>
        </p:nvSpPr>
        <p:spPr>
          <a:xfrm>
            <a:off x="4636294" y="1094780"/>
            <a:ext cx="3936206" cy="3620095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313" y="1899512"/>
            <a:ext cx="3643313" cy="20106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813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5179051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Архитектура RAG: Общий обзор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05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571500" y="1194792"/>
            <a:ext cx="8001000" cy="2143125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348" y="1337667"/>
            <a:ext cx="4845304" cy="185734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71500" y="3623667"/>
            <a:ext cx="1600200" cy="28575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0" name="Text 6"/>
          <p:cNvSpPr/>
          <p:nvPr/>
        </p:nvSpPr>
        <p:spPr>
          <a:xfrm>
            <a:off x="571500" y="3845123"/>
            <a:ext cx="14859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4500"/>
                </a:solidFill>
              </a:rPr>
              <a:t>Этап 01</a:t>
            </a:r>
            <a:endParaRPr lang="en-US" sz="683" dirty="0"/>
          </a:p>
        </p:txBody>
      </p:sp>
      <p:sp>
        <p:nvSpPr>
          <p:cNvPr id="11" name="Text 7"/>
          <p:cNvSpPr/>
          <p:nvPr/>
        </p:nvSpPr>
        <p:spPr>
          <a:xfrm>
            <a:off x="571500" y="4052292"/>
            <a:ext cx="14859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Загрузка</a:t>
            </a:r>
            <a:endParaRPr lang="en-US" sz="987" dirty="0"/>
          </a:p>
        </p:txBody>
      </p:sp>
      <p:sp>
        <p:nvSpPr>
          <p:cNvPr id="12" name="Text 8"/>
          <p:cNvSpPr/>
          <p:nvPr/>
        </p:nvSpPr>
        <p:spPr>
          <a:xfrm>
            <a:off x="571500" y="4318397"/>
            <a:ext cx="1485900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Сбор и унификация исходных данных из различных источников (PDF, Web, DB).</a:t>
            </a:r>
            <a:endParaRPr lang="en-US" sz="727" dirty="0"/>
          </a:p>
        </p:txBody>
      </p:sp>
      <p:sp>
        <p:nvSpPr>
          <p:cNvPr id="13" name="Text 9"/>
          <p:cNvSpPr/>
          <p:nvPr/>
        </p:nvSpPr>
        <p:spPr>
          <a:xfrm>
            <a:off x="2200275" y="3845123"/>
            <a:ext cx="14859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4500"/>
                </a:solidFill>
              </a:rPr>
              <a:t>Этап 02</a:t>
            </a:r>
            <a:endParaRPr lang="en-US" sz="683" dirty="0"/>
          </a:p>
        </p:txBody>
      </p:sp>
      <p:sp>
        <p:nvSpPr>
          <p:cNvPr id="14" name="Text 10"/>
          <p:cNvSpPr/>
          <p:nvPr/>
        </p:nvSpPr>
        <p:spPr>
          <a:xfrm>
            <a:off x="2200275" y="4052292"/>
            <a:ext cx="14859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Чанкинг</a:t>
            </a:r>
            <a:endParaRPr lang="en-US" sz="987" dirty="0"/>
          </a:p>
        </p:txBody>
      </p:sp>
      <p:sp>
        <p:nvSpPr>
          <p:cNvPr id="15" name="Text 11"/>
          <p:cNvSpPr/>
          <p:nvPr/>
        </p:nvSpPr>
        <p:spPr>
          <a:xfrm>
            <a:off x="2200275" y="4318397"/>
            <a:ext cx="1485900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Разбиение больших документов на семантически завершенные фрагменты.</a:t>
            </a:r>
            <a:endParaRPr lang="en-US" sz="727" dirty="0"/>
          </a:p>
        </p:txBody>
      </p:sp>
      <p:sp>
        <p:nvSpPr>
          <p:cNvPr id="16" name="Text 12"/>
          <p:cNvSpPr/>
          <p:nvPr/>
        </p:nvSpPr>
        <p:spPr>
          <a:xfrm>
            <a:off x="3829050" y="3845123"/>
            <a:ext cx="14859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4500"/>
                </a:solidFill>
              </a:rPr>
              <a:t>Этап 03</a:t>
            </a:r>
            <a:endParaRPr lang="en-US" sz="683" dirty="0"/>
          </a:p>
        </p:txBody>
      </p:sp>
      <p:sp>
        <p:nvSpPr>
          <p:cNvPr id="17" name="Text 13"/>
          <p:cNvSpPr/>
          <p:nvPr/>
        </p:nvSpPr>
        <p:spPr>
          <a:xfrm>
            <a:off x="3829050" y="4052292"/>
            <a:ext cx="14859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Эмбеддинги</a:t>
            </a:r>
            <a:endParaRPr lang="en-US" sz="987" dirty="0"/>
          </a:p>
        </p:txBody>
      </p:sp>
      <p:sp>
        <p:nvSpPr>
          <p:cNvPr id="18" name="Text 14"/>
          <p:cNvSpPr/>
          <p:nvPr/>
        </p:nvSpPr>
        <p:spPr>
          <a:xfrm>
            <a:off x="3829050" y="4318397"/>
            <a:ext cx="1485900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Преобразование текста в векторные представления для поиска.</a:t>
            </a:r>
            <a:endParaRPr lang="en-US" sz="727" dirty="0"/>
          </a:p>
        </p:txBody>
      </p:sp>
      <p:sp>
        <p:nvSpPr>
          <p:cNvPr id="19" name="Text 15"/>
          <p:cNvSpPr/>
          <p:nvPr/>
        </p:nvSpPr>
        <p:spPr>
          <a:xfrm>
            <a:off x="5457825" y="3845123"/>
            <a:ext cx="14859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4500"/>
                </a:solidFill>
              </a:rPr>
              <a:t>Этап 04</a:t>
            </a:r>
            <a:endParaRPr lang="en-US" sz="683" dirty="0"/>
          </a:p>
        </p:txBody>
      </p:sp>
      <p:sp>
        <p:nvSpPr>
          <p:cNvPr id="20" name="Text 16"/>
          <p:cNvSpPr/>
          <p:nvPr/>
        </p:nvSpPr>
        <p:spPr>
          <a:xfrm>
            <a:off x="5457825" y="4052292"/>
            <a:ext cx="14859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Хранение</a:t>
            </a:r>
            <a:endParaRPr lang="en-US" sz="987" dirty="0"/>
          </a:p>
        </p:txBody>
      </p:sp>
      <p:sp>
        <p:nvSpPr>
          <p:cNvPr id="21" name="Text 17"/>
          <p:cNvSpPr/>
          <p:nvPr/>
        </p:nvSpPr>
        <p:spPr>
          <a:xfrm>
            <a:off x="5457825" y="4318397"/>
            <a:ext cx="1485900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Индексация векторов в специализированной базе данных (Vector DB).</a:t>
            </a:r>
            <a:endParaRPr lang="en-US" sz="727" dirty="0"/>
          </a:p>
        </p:txBody>
      </p:sp>
      <p:sp>
        <p:nvSpPr>
          <p:cNvPr id="22" name="Text 18"/>
          <p:cNvSpPr/>
          <p:nvPr/>
        </p:nvSpPr>
        <p:spPr>
          <a:xfrm>
            <a:off x="7086600" y="3845123"/>
            <a:ext cx="14859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4500"/>
                </a:solidFill>
              </a:rPr>
              <a:t>Этап 05</a:t>
            </a:r>
            <a:endParaRPr lang="en-US" sz="683" dirty="0"/>
          </a:p>
        </p:txBody>
      </p:sp>
      <p:sp>
        <p:nvSpPr>
          <p:cNvPr id="23" name="Text 19"/>
          <p:cNvSpPr/>
          <p:nvPr/>
        </p:nvSpPr>
        <p:spPr>
          <a:xfrm>
            <a:off x="7086600" y="4052292"/>
            <a:ext cx="14859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Извлечение</a:t>
            </a:r>
            <a:endParaRPr lang="en-US" sz="987" dirty="0"/>
          </a:p>
        </p:txBody>
      </p:sp>
      <p:sp>
        <p:nvSpPr>
          <p:cNvPr id="24" name="Text 20"/>
          <p:cNvSpPr/>
          <p:nvPr/>
        </p:nvSpPr>
        <p:spPr>
          <a:xfrm>
            <a:off x="7086600" y="4318397"/>
            <a:ext cx="1485900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Поиск релевантных чанков и генерация ответа LLM с контекстом.</a:t>
            </a:r>
            <a:endParaRPr lang="en-US" sz="72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2557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232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23330"/>
            <a:ext cx="8001000" cy="285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4788964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Этап 1: Загрузка документов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06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137642"/>
            <a:ext cx="30289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4500"/>
                </a:solidFill>
              </a:rPr>
              <a:t>Источники данных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571500" y="1585913"/>
            <a:ext cx="3028950" cy="451842"/>
          </a:xfrm>
          <a:prstGeom prst="rect">
            <a:avLst/>
          </a:prstGeom>
          <a:noFill/>
          <a:ln/>
        </p:spPr>
        <p:txBody>
          <a:bodyPr wrap="square" lIns="0" tIns="102108" rIns="0" bIns="102108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PDF Документы</a:t>
            </a:r>
            <a:endParaRPr lang="en-US" sz="1397" dirty="0"/>
          </a:p>
        </p:txBody>
      </p:sp>
      <p:sp>
        <p:nvSpPr>
          <p:cNvPr id="9" name="Text 6"/>
          <p:cNvSpPr/>
          <p:nvPr/>
        </p:nvSpPr>
        <p:spPr>
          <a:xfrm>
            <a:off x="571500" y="2037755"/>
            <a:ext cx="3028950" cy="451842"/>
          </a:xfrm>
          <a:prstGeom prst="rect">
            <a:avLst/>
          </a:prstGeom>
          <a:noFill/>
          <a:ln/>
        </p:spPr>
        <p:txBody>
          <a:bodyPr wrap="square" lIns="0" tIns="102108" rIns="0" bIns="102108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Веб-страницы</a:t>
            </a:r>
            <a:endParaRPr lang="en-US" sz="1397" dirty="0"/>
          </a:p>
        </p:txBody>
      </p:sp>
      <p:sp>
        <p:nvSpPr>
          <p:cNvPr id="10" name="Text 7"/>
          <p:cNvSpPr/>
          <p:nvPr/>
        </p:nvSpPr>
        <p:spPr>
          <a:xfrm>
            <a:off x="571500" y="2489597"/>
            <a:ext cx="3028950" cy="451842"/>
          </a:xfrm>
          <a:prstGeom prst="rect">
            <a:avLst/>
          </a:prstGeom>
          <a:noFill/>
          <a:ln/>
        </p:spPr>
        <p:txBody>
          <a:bodyPr wrap="square" lIns="0" tIns="102108" rIns="0" bIns="102108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Базы данных (SQL)</a:t>
            </a:r>
            <a:endParaRPr lang="en-US" sz="1397" dirty="0"/>
          </a:p>
        </p:txBody>
      </p:sp>
      <p:sp>
        <p:nvSpPr>
          <p:cNvPr id="11" name="Text 8"/>
          <p:cNvSpPr/>
          <p:nvPr/>
        </p:nvSpPr>
        <p:spPr>
          <a:xfrm>
            <a:off x="571500" y="2941439"/>
            <a:ext cx="3028950" cy="451842"/>
          </a:xfrm>
          <a:prstGeom prst="rect">
            <a:avLst/>
          </a:prstGeom>
          <a:noFill/>
          <a:ln/>
        </p:spPr>
        <p:txBody>
          <a:bodyPr wrap="square" lIns="0" tIns="102108" rIns="0" bIns="102108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Корпоративные Wiki</a:t>
            </a:r>
            <a:endParaRPr lang="en-US" sz="1397" dirty="0"/>
          </a:p>
        </p:txBody>
      </p:sp>
      <p:sp>
        <p:nvSpPr>
          <p:cNvPr id="12" name="Text 9"/>
          <p:cNvSpPr/>
          <p:nvPr/>
        </p:nvSpPr>
        <p:spPr>
          <a:xfrm>
            <a:off x="571500" y="3393281"/>
            <a:ext cx="3028950" cy="451842"/>
          </a:xfrm>
          <a:prstGeom prst="rect">
            <a:avLst/>
          </a:prstGeom>
          <a:noFill/>
          <a:ln/>
        </p:spPr>
        <p:txBody>
          <a:bodyPr wrap="square" lIns="0" tIns="102108" rIns="0" bIns="102108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API и JSON</a:t>
            </a:r>
            <a:endParaRPr lang="en-US" sz="1397" dirty="0"/>
          </a:p>
        </p:txBody>
      </p:sp>
      <p:sp>
        <p:nvSpPr>
          <p:cNvPr id="13" name="Text 10"/>
          <p:cNvSpPr/>
          <p:nvPr/>
        </p:nvSpPr>
        <p:spPr>
          <a:xfrm>
            <a:off x="4029075" y="1137642"/>
            <a:ext cx="45434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4500"/>
                </a:solidFill>
              </a:rPr>
              <a:t>Ключевые задачи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4029075" y="1585913"/>
            <a:ext cx="4543425" cy="1100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9" dirty="0">
                <a:solidFill>
                  <a:srgbClr val="1A1A1A"/>
                </a:solidFill>
              </a:rPr>
              <a:t>Качество исходных данных напрямую определяет качество ответов системы. Грязные или неструктурированные данные приведут к ошибкам на всех последующих этапах (принцип "Garbage In, Garbage Out").</a:t>
            </a:r>
            <a:endParaRPr lang="en-US" sz="1159" dirty="0"/>
          </a:p>
        </p:txBody>
      </p:sp>
      <p:sp>
        <p:nvSpPr>
          <p:cNvPr id="15" name="Shape 12"/>
          <p:cNvSpPr/>
          <p:nvPr/>
        </p:nvSpPr>
        <p:spPr>
          <a:xfrm>
            <a:off x="4029075" y="2828813"/>
            <a:ext cx="4543425" cy="1073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4029075" y="2828813"/>
            <a:ext cx="57150" cy="1073348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57663" y="2957401"/>
            <a:ext cx="428625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Структурирование (Parsing)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4157663" y="3194931"/>
            <a:ext cx="428625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Преобразование сложных форматов (например, PDF с колонками) в чистый текст или Markdown. Для сканов необходимо использовать OCR.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029075" y="4045037"/>
            <a:ext cx="4543425" cy="8804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7"/>
          <p:cNvSpPr/>
          <p:nvPr/>
        </p:nvSpPr>
        <p:spPr>
          <a:xfrm>
            <a:off x="4029075" y="4045037"/>
            <a:ext cx="57150" cy="880467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21" name="Text 18"/>
          <p:cNvSpPr/>
          <p:nvPr/>
        </p:nvSpPr>
        <p:spPr>
          <a:xfrm>
            <a:off x="4157663" y="4173624"/>
            <a:ext cx="428625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A1A1A"/>
                </a:solidFill>
              </a:rPr>
              <a:t>Очистка (Cleaning)</a:t>
            </a:r>
            <a:endParaRPr lang="en-US" sz="987" dirty="0"/>
          </a:p>
        </p:txBody>
      </p:sp>
      <p:sp>
        <p:nvSpPr>
          <p:cNvPr id="22" name="Text 19"/>
          <p:cNvSpPr/>
          <p:nvPr/>
        </p:nvSpPr>
        <p:spPr>
          <a:xfrm>
            <a:off x="4157663" y="4411154"/>
            <a:ext cx="4286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Удаление шума: колонтитулов, номеров страниц, рекламных блоков и служебных символов, которые могут запутать модель.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7208323" y="3925379"/>
            <a:ext cx="1507052" cy="1285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100"/>
              </a:lnSpc>
              <a:buNone/>
            </a:pPr>
            <a:r>
              <a:rPr lang="en-US" sz="9327" b="1" dirty="0">
                <a:solidFill>
                  <a:srgbClr val="E0E0E0"/>
                </a:solidFill>
              </a:rPr>
              <a:t>01</a:t>
            </a:r>
            <a:endParaRPr lang="en-US" sz="9327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474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2662554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Этап 2 - Чанкинг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07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266230"/>
            <a:ext cx="7143750" cy="891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FF4500"/>
                </a:solidFill>
              </a:rPr>
              <a:t>Чанкинг</a:t>
            </a:r>
            <a:pPr algn="l" indent="0" marL="0">
              <a:lnSpc>
                <a:spcPts val="2300"/>
              </a:lnSpc>
              <a:buNone/>
            </a:pPr>
            <a:r>
              <a:rPr lang="en-US" sz="1704" dirty="0">
                <a:solidFill>
                  <a:srgbClr val="1A1A1A"/>
                </a:solidFill>
              </a:rPr>
              <a:t> — это критический процесс разбиения больших </a:t>
            </a:r>
            <a:pPr algn="l" indent="0" marL="0">
              <a:lnSpc>
                <a:spcPts val="2300"/>
              </a:lnSpc>
              <a:buNone/>
            </a:pPr>
            <a:r>
              <a:rPr lang="en-US" sz="1704" dirty="0">
                <a:solidFill>
                  <a:srgbClr val="1A1A1A"/>
                </a:solidFill>
              </a:rPr>
              <a:t>документов на меньшие, семантически завершенные фрагменты </a:t>
            </a:r>
            <a:pPr algn="l" indent="0" marL="0">
              <a:lnSpc>
                <a:spcPts val="2300"/>
              </a:lnSpc>
              <a:buNone/>
            </a:pPr>
            <a:r>
              <a:rPr lang="en-US" sz="1704" dirty="0">
                <a:solidFill>
                  <a:srgbClr val="1A1A1A"/>
                </a:solidFill>
              </a:rPr>
              <a:t>перед их обработкой.</a:t>
            </a:r>
            <a:endParaRPr lang="en-US" sz="1602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802443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71500" y="3213209"/>
            <a:ext cx="247648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Ограничения контекста</a:t>
            </a:r>
            <a:endParaRPr lang="en-US" sz="1193" dirty="0"/>
          </a:p>
        </p:txBody>
      </p:sp>
      <p:sp>
        <p:nvSpPr>
          <p:cNvPr id="10" name="Text 6"/>
          <p:cNvSpPr/>
          <p:nvPr/>
        </p:nvSpPr>
        <p:spPr>
          <a:xfrm>
            <a:off x="571500" y="3554323"/>
            <a:ext cx="2476481" cy="1157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LLM имеют лимит токенов (контекстное окно). Передача целых книг или длинных отчетов невозможна или слишком дорога. Чанкинг позволяет подавать только релевантные части.</a:t>
            </a:r>
            <a:endParaRPr lang="en-US" sz="942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31" y="2802443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333731" y="3213209"/>
            <a:ext cx="247650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Точность поиска</a:t>
            </a:r>
            <a:endParaRPr lang="en-US" sz="1193" dirty="0"/>
          </a:p>
        </p:txBody>
      </p:sp>
      <p:sp>
        <p:nvSpPr>
          <p:cNvPr id="13" name="Text 8"/>
          <p:cNvSpPr/>
          <p:nvPr/>
        </p:nvSpPr>
        <p:spPr>
          <a:xfrm>
            <a:off x="3333731" y="3554323"/>
            <a:ext cx="2476509" cy="1350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Большие фрагменты текста смешивают множество тем, создавая "размытые" векторные представления. Маленькие, сфокусированные чанки обеспечивают более точное извлечение по смыслу.</a:t>
            </a:r>
            <a:endParaRPr lang="en-US" sz="942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1" y="2802443"/>
            <a:ext cx="28575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095991" y="3213209"/>
            <a:ext cx="247648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Семантический баланс</a:t>
            </a:r>
            <a:endParaRPr lang="en-US" sz="1193" dirty="0"/>
          </a:p>
        </p:txBody>
      </p:sp>
      <p:sp>
        <p:nvSpPr>
          <p:cNvPr id="16" name="Text 10"/>
          <p:cNvSpPr/>
          <p:nvPr/>
        </p:nvSpPr>
        <p:spPr>
          <a:xfrm>
            <a:off x="6095991" y="3554323"/>
            <a:ext cx="2476481" cy="1157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Оптимальный чанк должен быть самодостаточным. Слишком маленький чанк теряет контекст, слишком большой — теряет фокус. Цель — сохранить "ход мысли" автора.</a:t>
            </a:r>
            <a:endParaRPr lang="en-US" sz="942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0963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365069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Стратегии чанкинга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08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571500" y="1266230"/>
            <a:ext cx="8001000" cy="390048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571500" y="1266230"/>
            <a:ext cx="8001000" cy="71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" name="Shape 6"/>
          <p:cNvSpPr/>
          <p:nvPr/>
        </p:nvSpPr>
        <p:spPr>
          <a:xfrm>
            <a:off x="571500" y="1266230"/>
            <a:ext cx="7144" cy="39004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" name="Text 7"/>
          <p:cNvSpPr/>
          <p:nvPr/>
        </p:nvSpPr>
        <p:spPr>
          <a:xfrm>
            <a:off x="785813" y="1512689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01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1089115" y="1480542"/>
            <a:ext cx="958741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Fixed-Size</a:t>
            </a:r>
            <a:endParaRPr lang="en-US" sz="1397" dirty="0"/>
          </a:p>
        </p:txBody>
      </p:sp>
      <p:sp>
        <p:nvSpPr>
          <p:cNvPr id="12" name="Text 9"/>
          <p:cNvSpPr/>
          <p:nvPr/>
        </p:nvSpPr>
        <p:spPr>
          <a:xfrm>
            <a:off x="785813" y="1860947"/>
            <a:ext cx="3564731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Разбиение текста на блоки фиксированного размера (например, 512 токенов) с небольшим перекрытием.</a:t>
            </a: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785813" y="2546747"/>
            <a:ext cx="467832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85813" y="2546747"/>
            <a:ext cx="467832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Просто</a:t>
            </a:r>
            <a:endParaRPr lang="en-US" sz="584" dirty="0"/>
          </a:p>
        </p:txBody>
      </p:sp>
      <p:sp>
        <p:nvSpPr>
          <p:cNvPr id="15" name="Shape 12"/>
          <p:cNvSpPr/>
          <p:nvPr/>
        </p:nvSpPr>
        <p:spPr>
          <a:xfrm>
            <a:off x="1351090" y="2546747"/>
            <a:ext cx="468446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Text 13"/>
          <p:cNvSpPr/>
          <p:nvPr/>
        </p:nvSpPr>
        <p:spPr>
          <a:xfrm>
            <a:off x="1351090" y="2546747"/>
            <a:ext cx="468446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Быстро</a:t>
            </a:r>
            <a:endParaRPr lang="en-US" sz="584" dirty="0"/>
          </a:p>
        </p:txBody>
      </p:sp>
      <p:sp>
        <p:nvSpPr>
          <p:cNvPr id="17" name="Text 14"/>
          <p:cNvSpPr/>
          <p:nvPr/>
        </p:nvSpPr>
        <p:spPr>
          <a:xfrm>
            <a:off x="785813" y="2855714"/>
            <a:ext cx="237451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777777"/>
                </a:solidFill>
              </a:rPr>
              <a:t>Риск разрыва предложений и потери контекста.</a:t>
            </a:r>
            <a:endParaRPr lang="en-US" sz="727" dirty="0"/>
          </a:p>
        </p:txBody>
      </p:sp>
      <p:sp>
        <p:nvSpPr>
          <p:cNvPr id="18" name="Text 15"/>
          <p:cNvSpPr/>
          <p:nvPr/>
        </p:nvSpPr>
        <p:spPr>
          <a:xfrm>
            <a:off x="4786313" y="1512689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02</a:t>
            </a:r>
            <a:endParaRPr lang="en-US" sz="1193" dirty="0"/>
          </a:p>
        </p:txBody>
      </p:sp>
      <p:sp>
        <p:nvSpPr>
          <p:cNvPr id="19" name="Text 16"/>
          <p:cNvSpPr/>
          <p:nvPr/>
        </p:nvSpPr>
        <p:spPr>
          <a:xfrm>
            <a:off x="5089615" y="1480542"/>
            <a:ext cx="942724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Recursive</a:t>
            </a:r>
            <a:endParaRPr lang="en-US" sz="1397" dirty="0"/>
          </a:p>
        </p:txBody>
      </p:sp>
      <p:sp>
        <p:nvSpPr>
          <p:cNvPr id="20" name="Text 17"/>
          <p:cNvSpPr/>
          <p:nvPr/>
        </p:nvSpPr>
        <p:spPr>
          <a:xfrm>
            <a:off x="4786313" y="1860947"/>
            <a:ext cx="3564731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Итеративное разбиение с использованием иерархии разделителей (абзацы, предложения, слова) для сохранения целостности.</a:t>
            </a:r>
            <a:endParaRPr lang="en-US" sz="942" dirty="0"/>
          </a:p>
        </p:txBody>
      </p:sp>
      <p:sp>
        <p:nvSpPr>
          <p:cNvPr id="21" name="Shape 18"/>
          <p:cNvSpPr/>
          <p:nvPr/>
        </p:nvSpPr>
        <p:spPr>
          <a:xfrm>
            <a:off x="4786313" y="2546747"/>
            <a:ext cx="464344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2" name="Text 19"/>
          <p:cNvSpPr/>
          <p:nvPr/>
        </p:nvSpPr>
        <p:spPr>
          <a:xfrm>
            <a:off x="4786313" y="2546747"/>
            <a:ext cx="464344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Баланс</a:t>
            </a:r>
            <a:endParaRPr lang="en-US" sz="584" dirty="0"/>
          </a:p>
        </p:txBody>
      </p:sp>
      <p:sp>
        <p:nvSpPr>
          <p:cNvPr id="23" name="Shape 20"/>
          <p:cNvSpPr/>
          <p:nvPr/>
        </p:nvSpPr>
        <p:spPr>
          <a:xfrm>
            <a:off x="5348101" y="2546747"/>
            <a:ext cx="592820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1"/>
          <p:cNvSpPr/>
          <p:nvPr/>
        </p:nvSpPr>
        <p:spPr>
          <a:xfrm>
            <a:off x="5348101" y="2546747"/>
            <a:ext cx="592820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Структура</a:t>
            </a:r>
            <a:endParaRPr lang="en-US" sz="584" dirty="0"/>
          </a:p>
        </p:txBody>
      </p:sp>
      <p:sp>
        <p:nvSpPr>
          <p:cNvPr id="25" name="Text 22"/>
          <p:cNvSpPr/>
          <p:nvPr/>
        </p:nvSpPr>
        <p:spPr>
          <a:xfrm>
            <a:off x="4786313" y="2855714"/>
            <a:ext cx="279496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777777"/>
                </a:solidFill>
              </a:rPr>
              <a:t>Оптимальный выбор для большинства текстовых задач.</a:t>
            </a:r>
            <a:endParaRPr lang="en-US" sz="727" dirty="0"/>
          </a:p>
        </p:txBody>
      </p:sp>
      <p:sp>
        <p:nvSpPr>
          <p:cNvPr id="26" name="Text 23"/>
          <p:cNvSpPr/>
          <p:nvPr/>
        </p:nvSpPr>
        <p:spPr>
          <a:xfrm>
            <a:off x="785813" y="3459361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03</a:t>
            </a:r>
            <a:endParaRPr lang="en-US" sz="1193" dirty="0"/>
          </a:p>
        </p:txBody>
      </p:sp>
      <p:sp>
        <p:nvSpPr>
          <p:cNvPr id="27" name="Text 24"/>
          <p:cNvSpPr/>
          <p:nvPr/>
        </p:nvSpPr>
        <p:spPr>
          <a:xfrm>
            <a:off x="1089115" y="3427214"/>
            <a:ext cx="1671610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Document-Based</a:t>
            </a:r>
            <a:endParaRPr lang="en-US" sz="1397" dirty="0"/>
          </a:p>
        </p:txBody>
      </p:sp>
      <p:sp>
        <p:nvSpPr>
          <p:cNvPr id="28" name="Text 25"/>
          <p:cNvSpPr/>
          <p:nvPr/>
        </p:nvSpPr>
        <p:spPr>
          <a:xfrm>
            <a:off x="785813" y="3807619"/>
            <a:ext cx="3564731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Использование естественной структуры документа: заголовки, списки, таблицы, секции.</a:t>
            </a:r>
            <a:endParaRPr lang="en-US" sz="942" dirty="0"/>
          </a:p>
        </p:txBody>
      </p:sp>
      <p:sp>
        <p:nvSpPr>
          <p:cNvPr id="29" name="Shape 26"/>
          <p:cNvSpPr/>
          <p:nvPr/>
        </p:nvSpPr>
        <p:spPr>
          <a:xfrm>
            <a:off x="785813" y="4493419"/>
            <a:ext cx="473748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0" name="Text 27"/>
          <p:cNvSpPr/>
          <p:nvPr/>
        </p:nvSpPr>
        <p:spPr>
          <a:xfrm>
            <a:off x="785813" y="4493419"/>
            <a:ext cx="473748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Логика</a:t>
            </a:r>
            <a:endParaRPr lang="en-US" sz="584" dirty="0"/>
          </a:p>
        </p:txBody>
      </p:sp>
      <p:sp>
        <p:nvSpPr>
          <p:cNvPr id="31" name="Shape 28"/>
          <p:cNvSpPr/>
          <p:nvPr/>
        </p:nvSpPr>
        <p:spPr>
          <a:xfrm>
            <a:off x="1357006" y="4493419"/>
            <a:ext cx="641961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2" name="Text 29"/>
          <p:cNvSpPr/>
          <p:nvPr/>
        </p:nvSpPr>
        <p:spPr>
          <a:xfrm>
            <a:off x="1357006" y="4493419"/>
            <a:ext cx="641961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Markdown</a:t>
            </a:r>
            <a:endParaRPr lang="en-US" sz="584" dirty="0"/>
          </a:p>
        </p:txBody>
      </p:sp>
      <p:sp>
        <p:nvSpPr>
          <p:cNvPr id="33" name="Text 30"/>
          <p:cNvSpPr/>
          <p:nvPr/>
        </p:nvSpPr>
        <p:spPr>
          <a:xfrm>
            <a:off x="785813" y="4802386"/>
            <a:ext cx="315491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777777"/>
                </a:solidFill>
              </a:rPr>
              <a:t>Идеально для структурированных документов и документации.</a:t>
            </a:r>
            <a:endParaRPr lang="en-US" sz="727" dirty="0"/>
          </a:p>
        </p:txBody>
      </p:sp>
      <p:sp>
        <p:nvSpPr>
          <p:cNvPr id="34" name="Text 31"/>
          <p:cNvSpPr/>
          <p:nvPr/>
        </p:nvSpPr>
        <p:spPr>
          <a:xfrm>
            <a:off x="4786313" y="3459361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04</a:t>
            </a:r>
            <a:endParaRPr lang="en-US" sz="1193" dirty="0"/>
          </a:p>
        </p:txBody>
      </p:sp>
      <p:sp>
        <p:nvSpPr>
          <p:cNvPr id="35" name="Text 32"/>
          <p:cNvSpPr/>
          <p:nvPr/>
        </p:nvSpPr>
        <p:spPr>
          <a:xfrm>
            <a:off x="5089615" y="3427214"/>
            <a:ext cx="903936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Semantic</a:t>
            </a:r>
            <a:endParaRPr lang="en-US" sz="1397" dirty="0"/>
          </a:p>
        </p:txBody>
      </p:sp>
      <p:sp>
        <p:nvSpPr>
          <p:cNvPr id="36" name="Text 33"/>
          <p:cNvSpPr/>
          <p:nvPr/>
        </p:nvSpPr>
        <p:spPr>
          <a:xfrm>
            <a:off x="4786313" y="3807619"/>
            <a:ext cx="3564731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Анализ смысла текста и группировка предложений на основе семантической близости эмбеддингов.</a:t>
            </a:r>
            <a:endParaRPr lang="en-US" sz="942" dirty="0"/>
          </a:p>
        </p:txBody>
      </p:sp>
      <p:sp>
        <p:nvSpPr>
          <p:cNvPr id="37" name="Shape 34"/>
          <p:cNvSpPr/>
          <p:nvPr/>
        </p:nvSpPr>
        <p:spPr>
          <a:xfrm>
            <a:off x="4786313" y="4493419"/>
            <a:ext cx="579620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8" name="Text 35"/>
          <p:cNvSpPr/>
          <p:nvPr/>
        </p:nvSpPr>
        <p:spPr>
          <a:xfrm>
            <a:off x="4786313" y="4493419"/>
            <a:ext cx="579620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Точность</a:t>
            </a:r>
            <a:endParaRPr lang="en-US" sz="584" dirty="0"/>
          </a:p>
        </p:txBody>
      </p:sp>
      <p:sp>
        <p:nvSpPr>
          <p:cNvPr id="39" name="Shape 36"/>
          <p:cNvSpPr/>
          <p:nvPr/>
        </p:nvSpPr>
        <p:spPr>
          <a:xfrm>
            <a:off x="5463378" y="4493419"/>
            <a:ext cx="533158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0" name="Text 37"/>
          <p:cNvSpPr/>
          <p:nvPr/>
        </p:nvSpPr>
        <p:spPr>
          <a:xfrm>
            <a:off x="5463378" y="4493419"/>
            <a:ext cx="533158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777777"/>
                </a:solidFill>
              </a:rPr>
              <a:t>AI-Native</a:t>
            </a:r>
            <a:endParaRPr lang="en-US" sz="584" dirty="0"/>
          </a:p>
        </p:txBody>
      </p:sp>
      <p:sp>
        <p:nvSpPr>
          <p:cNvPr id="41" name="Text 38"/>
          <p:cNvSpPr/>
          <p:nvPr/>
        </p:nvSpPr>
        <p:spPr>
          <a:xfrm>
            <a:off x="4786313" y="4802386"/>
            <a:ext cx="312871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777777"/>
                </a:solidFill>
              </a:rPr>
              <a:t>Ресурсоемкий процесс, но дает наилучшее качество контекста.</a:t>
            </a:r>
            <a:endParaRPr lang="en-US" sz="727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77784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331220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Этап 3 - Эмбеддинги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09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571500" y="1693236"/>
            <a:ext cx="3600450" cy="3214688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368321"/>
            <a:ext cx="3314700" cy="18645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00575" y="1266230"/>
            <a:ext cx="3971925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Текст → Вектор</a:t>
            </a:r>
            <a:endParaRPr lang="en-US" sz="1397" dirty="0"/>
          </a:p>
        </p:txBody>
      </p:sp>
      <p:sp>
        <p:nvSpPr>
          <p:cNvPr id="10" name="Text 6"/>
          <p:cNvSpPr/>
          <p:nvPr/>
        </p:nvSpPr>
        <p:spPr>
          <a:xfrm>
            <a:off x="4600575" y="1662708"/>
            <a:ext cx="3971925" cy="857250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Преобразование текста в массив чисел (вектор) в многомерном пространстве (768–1536 измерений). Модели (BERT, OpenAI) кодируют смысл, а не просто слова.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4600575" y="2805708"/>
            <a:ext cx="3971925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1A1A1A"/>
                </a:solidFill>
              </a:rPr>
              <a:t>Семантический поиск</a:t>
            </a:r>
            <a:endParaRPr lang="en-US" sz="1397" dirty="0"/>
          </a:p>
        </p:txBody>
      </p:sp>
      <p:sp>
        <p:nvSpPr>
          <p:cNvPr id="12" name="Text 8"/>
          <p:cNvSpPr/>
          <p:nvPr/>
        </p:nvSpPr>
        <p:spPr>
          <a:xfrm>
            <a:off x="4600575" y="3186113"/>
            <a:ext cx="3971925" cy="642938"/>
          </a:xfrm>
          <a:prstGeom prst="rect">
            <a:avLst/>
          </a:prstGeom>
          <a:noFill/>
          <a:ln/>
        </p:spPr>
        <p:txBody>
          <a:bodyPr wrap="square" lIns="195580" tIns="0" rIns="0" bIns="0" rtlCol="0" anchor="t">
            <a:spAutoFit/>
          </a:bodyPr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Система ищет не точное совпадение слов, а близость векторов. Это позволяет находить релевантные ответы, даже если формулировки отличаются.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600575" y="4257675"/>
            <a:ext cx="3971925" cy="107725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0"/>
          <p:cNvSpPr/>
          <p:nvPr/>
        </p:nvSpPr>
        <p:spPr>
          <a:xfrm>
            <a:off x="4779169" y="4436269"/>
            <a:ext cx="3614738" cy="720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Пример: Запрос </a:t>
            </a:r>
            <a:pPr algn="l" indent="0" marL="0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"Как приготовить пасту"</a:t>
            </a:r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 найдет </a:t>
            </a:r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документ о </a:t>
            </a:r>
            <a:pPr algn="l" indent="0" marL="0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"рецепте макарон с соусом"</a:t>
            </a:r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, так как их </a:t>
            </a:r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векторы находятся рядом в семантическом </a:t>
            </a:r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пространстве.</a:t>
            </a:r>
            <a:endParaRPr lang="en-US" sz="942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024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5407316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Этап 4 - Хранение в векторной БД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10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742950" y="1266230"/>
            <a:ext cx="360759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Специализированное хранение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742950" y="1571625"/>
            <a:ext cx="360759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Векторные БД оптимизированы для хранения миллионов многомерных векторов, в отличие от традиционных реляционных баз данных.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742950" y="2364581"/>
            <a:ext cx="360759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Индексация (HNSW)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42950" y="2669977"/>
            <a:ext cx="360759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Использование алгоритмов приближенного поиска ближайших соседей (ANN) позволяет находить похожие векторы за миллисекунды.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742950" y="3462933"/>
            <a:ext cx="360759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Метаданные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742950" y="3768328"/>
            <a:ext cx="360759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Вместе с вектором хранится контекст: источник, номер страницы, автор. Это позволяет фильтровать результаты поиска (Hybrid Search).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571500" y="4704159"/>
            <a:ext cx="377904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77777"/>
                </a:solidFill>
              </a:rPr>
              <a:t>&gt; STACK: Pinecone / Milvus / Weaviate / Faiss / Qdrant</a:t>
            </a:r>
            <a:endParaRPr lang="en-US" sz="834" dirty="0"/>
          </a:p>
        </p:txBody>
      </p:sp>
      <p:sp>
        <p:nvSpPr>
          <p:cNvPr id="14" name="Shape 11"/>
          <p:cNvSpPr/>
          <p:nvPr/>
        </p:nvSpPr>
        <p:spPr>
          <a:xfrm>
            <a:off x="4779169" y="1266230"/>
            <a:ext cx="3793331" cy="3593306"/>
          </a:xfrm>
          <a:prstGeom prst="rect">
            <a:avLst/>
          </a:prstGeom>
          <a:solidFill>
            <a:srgbClr val="000000"/>
          </a:solidFill>
          <a:ln w="9144">
            <a:solidFill>
              <a:srgbClr val="1A1A1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4786313" y="1266230"/>
            <a:ext cx="3786188" cy="35933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88564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205200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Этап 5 - Извлечение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11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742950" y="1266230"/>
            <a:ext cx="313415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1. Векторизация запроса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742950" y="1535906"/>
            <a:ext cx="313415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Вопрос пользователя преобразуется в эмбеддинг с использованием той же модели, что и для документов.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742950" y="2290270"/>
            <a:ext cx="313415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2. Поиск сходства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742950" y="2559946"/>
            <a:ext cx="313415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Векторная БД ищет векторы, математически наиболее близкие к вектору запроса (Cosine Similarity).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742950" y="3314309"/>
            <a:ext cx="313415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3. Выбор Top-K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742950" y="3583986"/>
            <a:ext cx="313415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Система извлекает K (обычно 3-5) наиболее релевантных чанков для формирования контекста.</a:t>
            </a:r>
            <a:endParaRPr lang="en-US" sz="942" dirty="0"/>
          </a:p>
        </p:txBody>
      </p:sp>
      <p:sp>
        <p:nvSpPr>
          <p:cNvPr id="13" name="Shape 10"/>
          <p:cNvSpPr/>
          <p:nvPr/>
        </p:nvSpPr>
        <p:spPr>
          <a:xfrm>
            <a:off x="571500" y="4481224"/>
            <a:ext cx="3305603" cy="96150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14375" y="4624099"/>
            <a:ext cx="301985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FF4500"/>
                </a:solidFill>
              </a:rPr>
              <a:t>Семантический поиск</a:t>
            </a:r>
            <a:endParaRPr lang="en-US" sz="784" dirty="0"/>
          </a:p>
        </p:txBody>
      </p:sp>
      <p:sp>
        <p:nvSpPr>
          <p:cNvPr id="15" name="Text 12"/>
          <p:cNvSpPr/>
          <p:nvPr/>
        </p:nvSpPr>
        <p:spPr>
          <a:xfrm>
            <a:off x="714375" y="4821613"/>
            <a:ext cx="288699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В отличие от поиска по ключевым словам, система</a:t>
            </a:r>
            <a:endParaRPr lang="en-US" sz="834" dirty="0"/>
          </a:p>
        </p:txBody>
      </p:sp>
      <p:sp>
        <p:nvSpPr>
          <p:cNvPr id="16" name="Text 13"/>
          <p:cNvSpPr/>
          <p:nvPr/>
        </p:nvSpPr>
        <p:spPr>
          <a:xfrm>
            <a:off x="714375" y="4981622"/>
            <a:ext cx="291146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находит документы по смыслу. Запрос "как сварить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714375" y="5141630"/>
            <a:ext cx="298061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макароны" найдет текст про "приготовление пасты".</a:t>
            </a:r>
            <a:endParaRPr lang="en-US" sz="834" dirty="0"/>
          </a:p>
        </p:txBody>
      </p:sp>
      <p:sp>
        <p:nvSpPr>
          <p:cNvPr id="18" name="Shape 15"/>
          <p:cNvSpPr/>
          <p:nvPr/>
        </p:nvSpPr>
        <p:spPr>
          <a:xfrm>
            <a:off x="4305728" y="1266230"/>
            <a:ext cx="4266772" cy="4176499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105" y="2620724"/>
            <a:ext cx="3974520" cy="14675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284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8043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285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2941997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Этап 6 - Генерация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12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337667"/>
            <a:ext cx="218512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spc="1" kern="0" dirty="0">
                <a:solidFill>
                  <a:srgbClr val="FF4500"/>
                </a:solidFill>
              </a:rPr>
              <a:t>01. Входные данные</a:t>
            </a:r>
            <a:endParaRPr lang="en-US" sz="784" dirty="0"/>
          </a:p>
        </p:txBody>
      </p:sp>
      <p:sp>
        <p:nvSpPr>
          <p:cNvPr id="8" name="Shape 5"/>
          <p:cNvSpPr/>
          <p:nvPr/>
        </p:nvSpPr>
        <p:spPr>
          <a:xfrm>
            <a:off x="571500" y="1635919"/>
            <a:ext cx="2185122" cy="937952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0094" y="1814513"/>
            <a:ext cx="182793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Запрос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750094" y="2060972"/>
            <a:ext cx="182793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Исходный вопрос пользователя.</a:t>
            </a:r>
            <a:endParaRPr lang="en-US" sz="834" dirty="0"/>
          </a:p>
        </p:txBody>
      </p:sp>
      <p:sp>
        <p:nvSpPr>
          <p:cNvPr id="11" name="Shape 8"/>
          <p:cNvSpPr/>
          <p:nvPr/>
        </p:nvSpPr>
        <p:spPr>
          <a:xfrm>
            <a:off x="571500" y="2666740"/>
            <a:ext cx="2185122" cy="937952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0094" y="2845333"/>
            <a:ext cx="182793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Контекст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750094" y="3091793"/>
            <a:ext cx="182793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Top-K релевантных чанков из векторной БД.</a:t>
            </a:r>
            <a:endParaRPr lang="en-US" sz="834" dirty="0"/>
          </a:p>
        </p:txBody>
      </p:sp>
      <p:sp>
        <p:nvSpPr>
          <p:cNvPr id="14" name="Shape 11"/>
          <p:cNvSpPr/>
          <p:nvPr/>
        </p:nvSpPr>
        <p:spPr>
          <a:xfrm>
            <a:off x="571500" y="3697560"/>
            <a:ext cx="2185122" cy="937952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0094" y="3876154"/>
            <a:ext cx="182793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Промпт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750094" y="4122613"/>
            <a:ext cx="182793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Инструкция: "Отвечай только на основе контекста".</a:t>
            </a:r>
            <a:endParaRPr lang="en-US" sz="834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011" y="2918724"/>
            <a:ext cx="200025" cy="2286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479425" y="1337667"/>
            <a:ext cx="218512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spc="1" kern="0" dirty="0">
                <a:solidFill>
                  <a:srgbClr val="FF4500"/>
                </a:solidFill>
              </a:rPr>
              <a:t>02. Процесс</a:t>
            </a:r>
            <a:endParaRPr lang="en-US" sz="784" dirty="0"/>
          </a:p>
        </p:txBody>
      </p:sp>
      <p:sp>
        <p:nvSpPr>
          <p:cNvPr id="19" name="Shape 15"/>
          <p:cNvSpPr/>
          <p:nvPr/>
        </p:nvSpPr>
        <p:spPr>
          <a:xfrm>
            <a:off x="3479425" y="1635919"/>
            <a:ext cx="2185122" cy="309246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6"/>
          <p:cNvSpPr/>
          <p:nvPr/>
        </p:nvSpPr>
        <p:spPr>
          <a:xfrm>
            <a:off x="3658019" y="2363660"/>
            <a:ext cx="182793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</a:rPr>
              <a:t>LLM Синтез</a:t>
            </a:r>
            <a:endParaRPr lang="en-US" sz="1193" dirty="0"/>
          </a:p>
        </p:txBody>
      </p:sp>
      <p:sp>
        <p:nvSpPr>
          <p:cNvPr id="21" name="Text 17"/>
          <p:cNvSpPr/>
          <p:nvPr/>
        </p:nvSpPr>
        <p:spPr>
          <a:xfrm>
            <a:off x="3658019" y="2740493"/>
            <a:ext cx="1827935" cy="1260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CCCCC"/>
                </a:solidFill>
              </a:rPr>
              <a:t>Модель не использует свою "память" для фактов. Она работает как аналитический движок, обрабатывая предоставленный контекст для формирования связного ответа.</a:t>
            </a:r>
            <a:endParaRPr lang="en-US" sz="942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936" y="2918724"/>
            <a:ext cx="200025" cy="2286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87350" y="1337667"/>
            <a:ext cx="21851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spc="1" kern="0" dirty="0">
                <a:solidFill>
                  <a:srgbClr val="FF4500"/>
                </a:solidFill>
              </a:rPr>
              <a:t>03. Результат</a:t>
            </a:r>
            <a:endParaRPr lang="en-US" sz="784" dirty="0"/>
          </a:p>
        </p:txBody>
      </p:sp>
      <p:sp>
        <p:nvSpPr>
          <p:cNvPr id="24" name="Shape 19"/>
          <p:cNvSpPr/>
          <p:nvPr/>
        </p:nvSpPr>
        <p:spPr>
          <a:xfrm>
            <a:off x="6387350" y="1635919"/>
            <a:ext cx="2185150" cy="29853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0"/>
          <p:cNvSpPr/>
          <p:nvPr/>
        </p:nvSpPr>
        <p:spPr>
          <a:xfrm>
            <a:off x="6387350" y="1635919"/>
            <a:ext cx="21851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6" name="Shape 21"/>
          <p:cNvSpPr/>
          <p:nvPr/>
        </p:nvSpPr>
        <p:spPr>
          <a:xfrm>
            <a:off x="8565356" y="1635919"/>
            <a:ext cx="7144" cy="298530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Shape 22"/>
          <p:cNvSpPr/>
          <p:nvPr/>
        </p:nvSpPr>
        <p:spPr>
          <a:xfrm>
            <a:off x="6387350" y="4614081"/>
            <a:ext cx="2185150" cy="7144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Shape 23"/>
          <p:cNvSpPr/>
          <p:nvPr/>
        </p:nvSpPr>
        <p:spPr>
          <a:xfrm>
            <a:off x="6387350" y="1635919"/>
            <a:ext cx="28575" cy="2985306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5943" y="1814513"/>
            <a:ext cx="18279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Обоснованный ответ</a:t>
            </a:r>
            <a:endParaRPr lang="en-US" sz="885" dirty="0"/>
          </a:p>
        </p:txBody>
      </p:sp>
      <p:sp>
        <p:nvSpPr>
          <p:cNvPr id="30" name="Text 25"/>
          <p:cNvSpPr/>
          <p:nvPr/>
        </p:nvSpPr>
        <p:spPr>
          <a:xfrm>
            <a:off x="6565943" y="2060972"/>
            <a:ext cx="1827963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Ответ содержит факты из документов и ссылки на источники.</a:t>
            </a:r>
            <a:endParaRPr lang="en-US" sz="834" dirty="0"/>
          </a:p>
        </p:txBody>
      </p:sp>
      <p:sp>
        <p:nvSpPr>
          <p:cNvPr id="31" name="Text 26"/>
          <p:cNvSpPr/>
          <p:nvPr/>
        </p:nvSpPr>
        <p:spPr>
          <a:xfrm>
            <a:off x="6565943" y="2649941"/>
            <a:ext cx="164730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i="1" dirty="0">
                <a:solidFill>
                  <a:srgbClr val="777777"/>
                </a:solidFill>
              </a:rPr>
              <a:t>"Согласно отчету за 2023 год</a:t>
            </a:r>
            <a:endParaRPr lang="en-US" sz="834" dirty="0"/>
          </a:p>
        </p:txBody>
      </p:sp>
      <p:sp>
        <p:nvSpPr>
          <p:cNvPr id="32" name="Shape 27"/>
          <p:cNvSpPr/>
          <p:nvPr/>
        </p:nvSpPr>
        <p:spPr>
          <a:xfrm>
            <a:off x="6601662" y="2826469"/>
            <a:ext cx="349262" cy="148568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33" name="Text 28"/>
          <p:cNvSpPr/>
          <p:nvPr/>
        </p:nvSpPr>
        <p:spPr>
          <a:xfrm>
            <a:off x="6601662" y="2826469"/>
            <a:ext cx="349262" cy="148568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i="1" dirty="0">
                <a:solidFill>
                  <a:srgbClr val="FFFFFF"/>
                </a:solidFill>
              </a:rPr>
              <a:t>[Doc 1]</a:t>
            </a:r>
            <a:endParaRPr lang="en-US" sz="621" dirty="0"/>
          </a:p>
        </p:txBody>
      </p:sp>
      <p:sp>
        <p:nvSpPr>
          <p:cNvPr id="34" name="Text 29"/>
          <p:cNvSpPr/>
          <p:nvPr/>
        </p:nvSpPr>
        <p:spPr>
          <a:xfrm>
            <a:off x="6950925" y="2809949"/>
            <a:ext cx="117249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i="1" dirty="0">
                <a:solidFill>
                  <a:srgbClr val="777777"/>
                </a:solidFill>
              </a:rPr>
              <a:t>, прибыль выросла на</a:t>
            </a:r>
            <a:endParaRPr lang="en-US" sz="834" dirty="0"/>
          </a:p>
        </p:txBody>
      </p:sp>
      <p:sp>
        <p:nvSpPr>
          <p:cNvPr id="35" name="Text 30"/>
          <p:cNvSpPr/>
          <p:nvPr/>
        </p:nvSpPr>
        <p:spPr>
          <a:xfrm>
            <a:off x="6565943" y="2976823"/>
            <a:ext cx="34987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i="1" dirty="0">
                <a:solidFill>
                  <a:srgbClr val="777777"/>
                </a:solidFill>
              </a:rPr>
              <a:t>15%..."</a:t>
            </a:r>
            <a:endParaRPr lang="en-US" sz="834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1136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2999733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Полный цикл RAG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13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266230"/>
            <a:ext cx="3786188" cy="448270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Offline: Подготовка</a:t>
            </a:r>
            <a:endParaRPr lang="en-US" sz="1602" dirty="0"/>
          </a:p>
        </p:txBody>
      </p:sp>
      <p:sp>
        <p:nvSpPr>
          <p:cNvPr id="8" name="Text 5"/>
          <p:cNvSpPr/>
          <p:nvPr/>
        </p:nvSpPr>
        <p:spPr>
          <a:xfrm>
            <a:off x="571500" y="1928813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Загрузка документов</a:t>
            </a:r>
            <a:endParaRPr lang="en-US" sz="1269" dirty="0"/>
          </a:p>
        </p:txBody>
      </p:sp>
      <p:sp>
        <p:nvSpPr>
          <p:cNvPr id="9" name="Text 6"/>
          <p:cNvSpPr/>
          <p:nvPr/>
        </p:nvSpPr>
        <p:spPr>
          <a:xfrm>
            <a:off x="571500" y="2400300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Чанкинг (Разбиение)</a:t>
            </a:r>
            <a:endParaRPr lang="en-US" sz="1269" dirty="0"/>
          </a:p>
        </p:txBody>
      </p:sp>
      <p:sp>
        <p:nvSpPr>
          <p:cNvPr id="10" name="Text 7"/>
          <p:cNvSpPr/>
          <p:nvPr/>
        </p:nvSpPr>
        <p:spPr>
          <a:xfrm>
            <a:off x="571500" y="2871788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Создание эмбеддингов</a:t>
            </a:r>
            <a:endParaRPr lang="en-US" sz="1269" dirty="0"/>
          </a:p>
        </p:txBody>
      </p:sp>
      <p:sp>
        <p:nvSpPr>
          <p:cNvPr id="11" name="Text 8"/>
          <p:cNvSpPr/>
          <p:nvPr/>
        </p:nvSpPr>
        <p:spPr>
          <a:xfrm>
            <a:off x="571500" y="3343275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Индексация в Векторной БД</a:t>
            </a:r>
            <a:endParaRPr lang="en-US" sz="1269" dirty="0"/>
          </a:p>
        </p:txBody>
      </p:sp>
      <p:sp>
        <p:nvSpPr>
          <p:cNvPr id="12" name="Shape 9"/>
          <p:cNvSpPr/>
          <p:nvPr/>
        </p:nvSpPr>
        <p:spPr>
          <a:xfrm>
            <a:off x="571500" y="4100513"/>
            <a:ext cx="3786188" cy="667941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3" name="Text 10"/>
          <p:cNvSpPr/>
          <p:nvPr/>
        </p:nvSpPr>
        <p:spPr>
          <a:xfrm>
            <a:off x="714375" y="4243388"/>
            <a:ext cx="35004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555555"/>
                </a:solidFill>
              </a:rPr>
              <a:t>Характеристики</a:t>
            </a:r>
            <a:endParaRPr lang="en-US" sz="683" dirty="0"/>
          </a:p>
        </p:txBody>
      </p:sp>
      <p:sp>
        <p:nvSpPr>
          <p:cNvPr id="14" name="Text 11"/>
          <p:cNvSpPr/>
          <p:nvPr/>
        </p:nvSpPr>
        <p:spPr>
          <a:xfrm>
            <a:off x="714375" y="4450556"/>
            <a:ext cx="350043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1A1A1A"/>
                </a:solidFill>
              </a:rPr>
              <a:t>Асинхронно • Ресурсоемко • Единоразово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4786313" y="1266230"/>
            <a:ext cx="3786188" cy="448270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1A1A1A"/>
                </a:solidFill>
              </a:rPr>
              <a:t>Online: Запрос</a:t>
            </a:r>
            <a:endParaRPr lang="en-US" sz="1602" dirty="0"/>
          </a:p>
        </p:txBody>
      </p:sp>
      <p:sp>
        <p:nvSpPr>
          <p:cNvPr id="16" name="Text 13"/>
          <p:cNvSpPr/>
          <p:nvPr/>
        </p:nvSpPr>
        <p:spPr>
          <a:xfrm>
            <a:off x="4786313" y="1928813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Запрос пользователя</a:t>
            </a:r>
            <a:endParaRPr lang="en-US" sz="1269" dirty="0"/>
          </a:p>
        </p:txBody>
      </p:sp>
      <p:sp>
        <p:nvSpPr>
          <p:cNvPr id="17" name="Text 14"/>
          <p:cNvSpPr/>
          <p:nvPr/>
        </p:nvSpPr>
        <p:spPr>
          <a:xfrm>
            <a:off x="4786313" y="2400300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Векторизация запроса</a:t>
            </a:r>
            <a:endParaRPr lang="en-US" sz="1269" dirty="0"/>
          </a:p>
        </p:txBody>
      </p:sp>
      <p:sp>
        <p:nvSpPr>
          <p:cNvPr id="18" name="Text 15"/>
          <p:cNvSpPr/>
          <p:nvPr/>
        </p:nvSpPr>
        <p:spPr>
          <a:xfrm>
            <a:off x="4786313" y="2871788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Поиск (Retrieval)</a:t>
            </a:r>
            <a:endParaRPr lang="en-US" sz="1269" dirty="0"/>
          </a:p>
        </p:txBody>
      </p:sp>
      <p:sp>
        <p:nvSpPr>
          <p:cNvPr id="19" name="Text 16"/>
          <p:cNvSpPr/>
          <p:nvPr/>
        </p:nvSpPr>
        <p:spPr>
          <a:xfrm>
            <a:off x="4786313" y="3343275"/>
            <a:ext cx="3786188" cy="471488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1A1A1A"/>
                </a:solidFill>
              </a:rPr>
              <a:t>Генерация ответа (LLM)</a:t>
            </a:r>
            <a:endParaRPr lang="en-US" sz="1269" dirty="0"/>
          </a:p>
        </p:txBody>
      </p:sp>
      <p:sp>
        <p:nvSpPr>
          <p:cNvPr id="20" name="Shape 17"/>
          <p:cNvSpPr/>
          <p:nvPr/>
        </p:nvSpPr>
        <p:spPr>
          <a:xfrm>
            <a:off x="4786313" y="4100513"/>
            <a:ext cx="3786188" cy="66794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8"/>
          <p:cNvSpPr/>
          <p:nvPr/>
        </p:nvSpPr>
        <p:spPr>
          <a:xfrm>
            <a:off x="4929188" y="4243388"/>
            <a:ext cx="35004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99999"/>
                </a:solidFill>
              </a:rPr>
              <a:t>Характеристики</a:t>
            </a:r>
            <a:endParaRPr lang="en-US" sz="683" dirty="0"/>
          </a:p>
        </p:txBody>
      </p:sp>
      <p:sp>
        <p:nvSpPr>
          <p:cNvPr id="22" name="Text 19"/>
          <p:cNvSpPr/>
          <p:nvPr/>
        </p:nvSpPr>
        <p:spPr>
          <a:xfrm>
            <a:off x="4929188" y="4450556"/>
            <a:ext cx="350043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Синхронно • Быстро • Real-time</a:t>
            </a:r>
            <a:endParaRPr lang="en-US" sz="88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8920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8043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285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164514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Преимущества RAG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14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487686"/>
            <a:ext cx="247648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FF4500"/>
                </a:solidFill>
              </a:rPr>
              <a:t>01</a:t>
            </a:r>
            <a:endParaRPr lang="en-US" sz="1808" dirty="0"/>
          </a:p>
        </p:txBody>
      </p:sp>
      <p:sp>
        <p:nvSpPr>
          <p:cNvPr id="8" name="Text 5"/>
          <p:cNvSpPr/>
          <p:nvPr/>
        </p:nvSpPr>
        <p:spPr>
          <a:xfrm>
            <a:off x="571500" y="1816298"/>
            <a:ext cx="247648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Точность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571500" y="2121694"/>
            <a:ext cx="2476481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Ответы формируются на основе конкретных документов, а не вероятностных предсказаний модели.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3333731" y="1487686"/>
            <a:ext cx="247650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FF4500"/>
                </a:solidFill>
              </a:rPr>
              <a:t>02</a:t>
            </a:r>
            <a:endParaRPr lang="en-US" sz="1808" dirty="0"/>
          </a:p>
        </p:txBody>
      </p:sp>
      <p:sp>
        <p:nvSpPr>
          <p:cNvPr id="11" name="Text 8"/>
          <p:cNvSpPr/>
          <p:nvPr/>
        </p:nvSpPr>
        <p:spPr>
          <a:xfrm>
            <a:off x="3333731" y="1816298"/>
            <a:ext cx="247650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Актуальность</a:t>
            </a:r>
            <a:endParaRPr lang="en-US" sz="1193" dirty="0"/>
          </a:p>
        </p:txBody>
      </p:sp>
      <p:sp>
        <p:nvSpPr>
          <p:cNvPr id="12" name="Text 9"/>
          <p:cNvSpPr/>
          <p:nvPr/>
        </p:nvSpPr>
        <p:spPr>
          <a:xfrm>
            <a:off x="3333731" y="2121694"/>
            <a:ext cx="2476509" cy="720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Система работает с данными в реальном времени, не требуя дорогостоящего переобучения модели.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6095991" y="1487686"/>
            <a:ext cx="2476481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FF4500"/>
                </a:solidFill>
              </a:rPr>
              <a:t>03</a:t>
            </a:r>
            <a:endParaRPr lang="en-US" sz="1808" dirty="0"/>
          </a:p>
        </p:txBody>
      </p:sp>
      <p:sp>
        <p:nvSpPr>
          <p:cNvPr id="14" name="Text 11"/>
          <p:cNvSpPr/>
          <p:nvPr/>
        </p:nvSpPr>
        <p:spPr>
          <a:xfrm>
            <a:off x="6095991" y="1816298"/>
            <a:ext cx="247648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Проверяемость</a:t>
            </a:r>
            <a:endParaRPr lang="en-US" sz="1193" dirty="0"/>
          </a:p>
        </p:txBody>
      </p:sp>
      <p:sp>
        <p:nvSpPr>
          <p:cNvPr id="15" name="Text 12"/>
          <p:cNvSpPr/>
          <p:nvPr/>
        </p:nvSpPr>
        <p:spPr>
          <a:xfrm>
            <a:off x="6095991" y="2121694"/>
            <a:ext cx="2476481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Каждый факт в ответе может быть подкреплен ссылкой на исходный документ для верификации.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1643063" y="3277530"/>
            <a:ext cx="27860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FF4500"/>
                </a:solidFill>
              </a:rPr>
              <a:t>04</a:t>
            </a:r>
            <a:endParaRPr lang="en-US" sz="1808" dirty="0"/>
          </a:p>
        </p:txBody>
      </p:sp>
      <p:sp>
        <p:nvSpPr>
          <p:cNvPr id="17" name="Text 14"/>
          <p:cNvSpPr/>
          <p:nvPr/>
        </p:nvSpPr>
        <p:spPr>
          <a:xfrm>
            <a:off x="1643063" y="3606143"/>
            <a:ext cx="278606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Специфичность</a:t>
            </a:r>
            <a:endParaRPr lang="en-US" sz="1193" dirty="0"/>
          </a:p>
        </p:txBody>
      </p:sp>
      <p:sp>
        <p:nvSpPr>
          <p:cNvPr id="18" name="Text 15"/>
          <p:cNvSpPr/>
          <p:nvPr/>
        </p:nvSpPr>
        <p:spPr>
          <a:xfrm>
            <a:off x="1643063" y="3911538"/>
            <a:ext cx="278606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Возможность настройки на узкие домены (медицина, право) путем загрузки профильной литературы.</a:t>
            </a:r>
            <a:endParaRPr lang="en-US" sz="942" dirty="0"/>
          </a:p>
        </p:txBody>
      </p:sp>
      <p:sp>
        <p:nvSpPr>
          <p:cNvPr id="19" name="Text 16"/>
          <p:cNvSpPr/>
          <p:nvPr/>
        </p:nvSpPr>
        <p:spPr>
          <a:xfrm>
            <a:off x="4714875" y="3277530"/>
            <a:ext cx="278606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808" b="1" dirty="0">
                <a:solidFill>
                  <a:srgbClr val="FF4500"/>
                </a:solidFill>
              </a:rPr>
              <a:t>05</a:t>
            </a:r>
            <a:endParaRPr lang="en-US" sz="1808" dirty="0"/>
          </a:p>
        </p:txBody>
      </p:sp>
      <p:sp>
        <p:nvSpPr>
          <p:cNvPr id="20" name="Text 17"/>
          <p:cNvSpPr/>
          <p:nvPr/>
        </p:nvSpPr>
        <p:spPr>
          <a:xfrm>
            <a:off x="4714875" y="3606143"/>
            <a:ext cx="278606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Контролируемость</a:t>
            </a:r>
            <a:endParaRPr lang="en-US" sz="1193" dirty="0"/>
          </a:p>
        </p:txBody>
      </p:sp>
      <p:sp>
        <p:nvSpPr>
          <p:cNvPr id="21" name="Text 18"/>
          <p:cNvSpPr/>
          <p:nvPr/>
        </p:nvSpPr>
        <p:spPr>
          <a:xfrm>
            <a:off x="4714875" y="3911538"/>
            <a:ext cx="2786063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Администраторы могут управлять базой знаний, добавляя или удаляя источники информации.</a:t>
            </a:r>
            <a:endParaRPr lang="en-US" sz="942" dirty="0"/>
          </a:p>
        </p:txBody>
      </p:sp>
      <p:sp>
        <p:nvSpPr>
          <p:cNvPr id="22" name="Shape 19"/>
          <p:cNvSpPr/>
          <p:nvPr/>
        </p:nvSpPr>
        <p:spPr>
          <a:xfrm>
            <a:off x="571500" y="4451589"/>
            <a:ext cx="8001000" cy="480417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20"/>
          <p:cNvSpPr/>
          <p:nvPr/>
        </p:nvSpPr>
        <p:spPr>
          <a:xfrm>
            <a:off x="571500" y="4451589"/>
            <a:ext cx="8001000" cy="480417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Результат: Снижение уровня галлюцинаций на </a:t>
            </a:r>
            <a:pPr algn="ctr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70-90%</a:t>
            </a:r>
            <a:pPr algn="ctr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 по сравнению с базовыми LLM.</a:t>
            </a:r>
            <a:endParaRPr lang="en-US" sz="987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71321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925658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Практические примеры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15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571500" y="1266230"/>
            <a:ext cx="3857625" cy="1859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571500" y="1266230"/>
            <a:ext cx="42863" cy="1859161"/>
          </a:xfrm>
          <a:prstGeom prst="rect">
            <a:avLst/>
          </a:prstGeom>
          <a:solidFill>
            <a:srgbClr val="FF450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78" y="1519833"/>
            <a:ext cx="150019" cy="2000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78719" y="1500188"/>
            <a:ext cx="228304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Корпоративный поиск</a:t>
            </a:r>
            <a:endParaRPr lang="en-US" sz="1193" dirty="0"/>
          </a:p>
        </p:txBody>
      </p:sp>
      <p:sp>
        <p:nvSpPr>
          <p:cNvPr id="11" name="Text 7"/>
          <p:cNvSpPr/>
          <p:nvPr/>
        </p:nvSpPr>
        <p:spPr>
          <a:xfrm>
            <a:off x="785813" y="1896666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Чат-боты с доступом к внутренним базам знаний (Confluence, Jira, Google Drive). Сотрудники мгновенно находят ответы на вопросы о политиках, коде или процессах без ручного поиска.</a:t>
            </a:r>
            <a:endParaRPr lang="en-US" sz="942" dirty="0"/>
          </a:p>
        </p:txBody>
      </p:sp>
      <p:sp>
        <p:nvSpPr>
          <p:cNvPr id="12" name="Text 8"/>
          <p:cNvSpPr/>
          <p:nvPr/>
        </p:nvSpPr>
        <p:spPr>
          <a:xfrm>
            <a:off x="785813" y="2775347"/>
            <a:ext cx="34290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999999"/>
                </a:solidFill>
              </a:rPr>
              <a:t>Internal Productivity</a:t>
            </a:r>
            <a:endParaRPr lang="en-US" sz="683" dirty="0"/>
          </a:p>
        </p:txBody>
      </p:sp>
      <p:sp>
        <p:nvSpPr>
          <p:cNvPr id="13" name="Shape 9"/>
          <p:cNvSpPr/>
          <p:nvPr/>
        </p:nvSpPr>
        <p:spPr>
          <a:xfrm>
            <a:off x="4714875" y="1266230"/>
            <a:ext cx="3857625" cy="1859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4714875" y="1266230"/>
            <a:ext cx="42863" cy="1859161"/>
          </a:xfrm>
          <a:prstGeom prst="rect">
            <a:avLst/>
          </a:prstGeom>
          <a:solidFill>
            <a:srgbClr val="FF450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519833"/>
            <a:ext cx="200025" cy="2000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22094" y="1500188"/>
            <a:ext cx="232660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Клиентская поддержка</a:t>
            </a:r>
            <a:endParaRPr lang="en-US" sz="1193" dirty="0"/>
          </a:p>
        </p:txBody>
      </p:sp>
      <p:sp>
        <p:nvSpPr>
          <p:cNvPr id="17" name="Text 12"/>
          <p:cNvSpPr/>
          <p:nvPr/>
        </p:nvSpPr>
        <p:spPr>
          <a:xfrm>
            <a:off x="4929188" y="1896666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Автоматизация первой линии поддержки. Бот отвечает на вопросы по технической документации продукта, снижая нагрузку на операторов и время ожидания ответа.</a:t>
            </a:r>
            <a:endParaRPr lang="en-US" sz="942" dirty="0"/>
          </a:p>
        </p:txBody>
      </p:sp>
      <p:sp>
        <p:nvSpPr>
          <p:cNvPr id="18" name="Text 13"/>
          <p:cNvSpPr/>
          <p:nvPr/>
        </p:nvSpPr>
        <p:spPr>
          <a:xfrm>
            <a:off x="4929188" y="2775347"/>
            <a:ext cx="34290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999999"/>
                </a:solidFill>
              </a:rPr>
              <a:t>Customer Experience</a:t>
            </a:r>
            <a:endParaRPr lang="en-US" sz="683" dirty="0"/>
          </a:p>
        </p:txBody>
      </p:sp>
      <p:sp>
        <p:nvSpPr>
          <p:cNvPr id="19" name="Shape 14"/>
          <p:cNvSpPr/>
          <p:nvPr/>
        </p:nvSpPr>
        <p:spPr>
          <a:xfrm>
            <a:off x="571500" y="3411141"/>
            <a:ext cx="3857625" cy="1859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571500" y="3411141"/>
            <a:ext cx="42863" cy="1859161"/>
          </a:xfrm>
          <a:prstGeom prst="rect">
            <a:avLst/>
          </a:prstGeom>
          <a:solidFill>
            <a:srgbClr val="FF450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72" y="3664744"/>
            <a:ext cx="250031" cy="2000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8719" y="3645098"/>
            <a:ext cx="22240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Юридический анализ</a:t>
            </a:r>
            <a:endParaRPr lang="en-US" sz="1193" dirty="0"/>
          </a:p>
        </p:txBody>
      </p:sp>
      <p:sp>
        <p:nvSpPr>
          <p:cNvPr id="23" name="Text 17"/>
          <p:cNvSpPr/>
          <p:nvPr/>
        </p:nvSpPr>
        <p:spPr>
          <a:xfrm>
            <a:off x="785813" y="4041577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Поиск прецедентов в огромных базах судебных решений или анализ контрактов на соответствие рискам. Система выделяет конкретные пункты и ссылки на законы.</a:t>
            </a:r>
            <a:endParaRPr lang="en-US" sz="942" dirty="0"/>
          </a:p>
        </p:txBody>
      </p:sp>
      <p:sp>
        <p:nvSpPr>
          <p:cNvPr id="24" name="Text 18"/>
          <p:cNvSpPr/>
          <p:nvPr/>
        </p:nvSpPr>
        <p:spPr>
          <a:xfrm>
            <a:off x="785813" y="4920258"/>
            <a:ext cx="34290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999999"/>
                </a:solidFill>
              </a:rPr>
              <a:t>Legal Tech</a:t>
            </a:r>
            <a:endParaRPr lang="en-US" sz="683" dirty="0"/>
          </a:p>
        </p:txBody>
      </p:sp>
      <p:sp>
        <p:nvSpPr>
          <p:cNvPr id="25" name="Shape 19"/>
          <p:cNvSpPr/>
          <p:nvPr/>
        </p:nvSpPr>
        <p:spPr>
          <a:xfrm>
            <a:off x="4714875" y="3411141"/>
            <a:ext cx="3857625" cy="1859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0"/>
          <p:cNvSpPr/>
          <p:nvPr/>
        </p:nvSpPr>
        <p:spPr>
          <a:xfrm>
            <a:off x="4714875" y="3411141"/>
            <a:ext cx="42863" cy="1859161"/>
          </a:xfrm>
          <a:prstGeom prst="rect">
            <a:avLst/>
          </a:prstGeom>
          <a:solidFill>
            <a:srgbClr val="FF4500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7047" y="3664744"/>
            <a:ext cx="250031" cy="20002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22094" y="3645098"/>
            <a:ext cx="131263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Образование</a:t>
            </a:r>
            <a:endParaRPr lang="en-US" sz="1193" dirty="0"/>
          </a:p>
        </p:txBody>
      </p:sp>
      <p:sp>
        <p:nvSpPr>
          <p:cNvPr id="29" name="Text 22"/>
          <p:cNvSpPr/>
          <p:nvPr/>
        </p:nvSpPr>
        <p:spPr>
          <a:xfrm>
            <a:off x="4929188" y="4041577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Персонализированные тьюторы, которые отвечают на вопросы студентов, опираясь строго на утвержденные учебные материалы, лекции и учебники, исключая "отсебятину".</a:t>
            </a:r>
            <a:endParaRPr lang="en-US" sz="942" dirty="0"/>
          </a:p>
        </p:txBody>
      </p:sp>
      <p:sp>
        <p:nvSpPr>
          <p:cNvPr id="30" name="Text 23"/>
          <p:cNvSpPr/>
          <p:nvPr/>
        </p:nvSpPr>
        <p:spPr>
          <a:xfrm>
            <a:off x="4929188" y="4920258"/>
            <a:ext cx="34290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999999"/>
                </a:solidFill>
              </a:rPr>
              <a:t>EdTech</a:t>
            </a:r>
            <a:endParaRPr lang="en-US" sz="68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9177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3966763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Вызовы и ограничения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16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571500" y="1266230"/>
            <a:ext cx="3857625" cy="1798439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5813" y="1480542"/>
            <a:ext cx="3429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Качество чанкинга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785813" y="1821656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Сложно найти идеальный баланс. Слишком мелкие чанки теряют контекст, слишком крупные — размывают смысл для поиска. Требуется тонкая настройка под тип документов.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785813" y="2607469"/>
            <a:ext cx="3429000" cy="242888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99999"/>
                </a:solidFill>
              </a:rPr>
              <a:t>Data Engineering</a:t>
            </a:r>
            <a:endParaRPr lang="en-US" sz="683" dirty="0"/>
          </a:p>
        </p:txBody>
      </p:sp>
      <p:sp>
        <p:nvSpPr>
          <p:cNvPr id="11" name="Shape 8"/>
          <p:cNvSpPr/>
          <p:nvPr/>
        </p:nvSpPr>
        <p:spPr>
          <a:xfrm>
            <a:off x="4714875" y="1266230"/>
            <a:ext cx="3857625" cy="1798439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29188" y="1480542"/>
            <a:ext cx="3429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Семантический разрыв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4929188" y="1821656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Универсальные модели эмбеддингов могут не улавливать специфический жаргон или нюансы узких доменов (медицина, право), снижая точность поиска.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4929188" y="2607469"/>
            <a:ext cx="3429000" cy="242888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99999"/>
                </a:solidFill>
              </a:rPr>
              <a:t>Model Limitations</a:t>
            </a:r>
            <a:endParaRPr lang="en-US" sz="683" dirty="0"/>
          </a:p>
        </p:txBody>
      </p:sp>
      <p:sp>
        <p:nvSpPr>
          <p:cNvPr id="15" name="Shape 12"/>
          <p:cNvSpPr/>
          <p:nvPr/>
        </p:nvSpPr>
        <p:spPr>
          <a:xfrm>
            <a:off x="571500" y="3350419"/>
            <a:ext cx="3857625" cy="1798439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5813" y="3564731"/>
            <a:ext cx="3429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Масштабируемость</a:t>
            </a:r>
            <a:endParaRPr lang="en-US" sz="1193" dirty="0"/>
          </a:p>
        </p:txBody>
      </p:sp>
      <p:sp>
        <p:nvSpPr>
          <p:cNvPr id="17" name="Text 14"/>
          <p:cNvSpPr/>
          <p:nvPr/>
        </p:nvSpPr>
        <p:spPr>
          <a:xfrm>
            <a:off x="785813" y="3905845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Поиск по миллионам векторов создает задержки (latency). Требуются сложные индексы (HNSW) и мощная инфраструктура для сохранения real-time отклика.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785813" y="4691658"/>
            <a:ext cx="3429000" cy="242888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99999"/>
                </a:solidFill>
              </a:rPr>
              <a:t>Infrastructure</a:t>
            </a:r>
            <a:endParaRPr lang="en-US" sz="683" dirty="0"/>
          </a:p>
        </p:txBody>
      </p:sp>
      <p:sp>
        <p:nvSpPr>
          <p:cNvPr id="19" name="Shape 16"/>
          <p:cNvSpPr/>
          <p:nvPr/>
        </p:nvSpPr>
        <p:spPr>
          <a:xfrm>
            <a:off x="4714875" y="3350419"/>
            <a:ext cx="3857625" cy="1798439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29188" y="3550444"/>
            <a:ext cx="3429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Остаточные галлюцинации</a:t>
            </a:r>
            <a:endParaRPr lang="en-US" sz="1193" dirty="0"/>
          </a:p>
        </p:txBody>
      </p:sp>
      <p:sp>
        <p:nvSpPr>
          <p:cNvPr id="21" name="Text 18"/>
          <p:cNvSpPr/>
          <p:nvPr/>
        </p:nvSpPr>
        <p:spPr>
          <a:xfrm>
            <a:off x="4929188" y="3891558"/>
            <a:ext cx="34290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RAG не устраняет галлюцинации полностью. Модель может неправильно интерпретировать найденный контекст или объединить противоречивые факты из разных источников.</a:t>
            </a:r>
            <a:endParaRPr lang="en-US" sz="942" dirty="0"/>
          </a:p>
        </p:txBody>
      </p:sp>
      <p:sp>
        <p:nvSpPr>
          <p:cNvPr id="22" name="Text 19"/>
          <p:cNvSpPr/>
          <p:nvPr/>
        </p:nvSpPr>
        <p:spPr>
          <a:xfrm>
            <a:off x="4929188" y="4663083"/>
            <a:ext cx="3429000" cy="242888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99999"/>
                </a:solidFill>
              </a:rPr>
              <a:t>Reliability</a:t>
            </a:r>
            <a:endParaRPr lang="en-US" sz="68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70607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142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6012498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Будущее RAG: Продвинутые техники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17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742950" y="1266230"/>
            <a:ext cx="4070738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Hybrid Search</a:t>
            </a:r>
            <a:endParaRPr lang="en-US" sz="1193" dirty="0"/>
          </a:p>
        </p:txBody>
      </p:sp>
      <p:sp>
        <p:nvSpPr>
          <p:cNvPr id="8" name="Text 5"/>
          <p:cNvSpPr/>
          <p:nvPr/>
        </p:nvSpPr>
        <p:spPr>
          <a:xfrm>
            <a:off x="742950" y="1557338"/>
            <a:ext cx="407073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Комбинация семантического поиска (векторы) и поиска по ключевым словам (BM25). Обеспечивает точность как для абстрактных понятий, так и для конкретных терминов.</a:t>
            </a:r>
            <a:endParaRPr lang="en-US" sz="942" dirty="0"/>
          </a:p>
        </p:txBody>
      </p:sp>
      <p:sp>
        <p:nvSpPr>
          <p:cNvPr id="9" name="Shape 6"/>
          <p:cNvSpPr/>
          <p:nvPr/>
        </p:nvSpPr>
        <p:spPr>
          <a:xfrm>
            <a:off x="742950" y="2210991"/>
            <a:ext cx="566170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7"/>
          <p:cNvSpPr/>
          <p:nvPr/>
        </p:nvSpPr>
        <p:spPr>
          <a:xfrm>
            <a:off x="742950" y="2210991"/>
            <a:ext cx="566170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555555"/>
                </a:solidFill>
              </a:rPr>
              <a:t>Accuracy</a:t>
            </a:r>
            <a:endParaRPr lang="en-US" sz="584" dirty="0"/>
          </a:p>
        </p:txBody>
      </p:sp>
      <p:sp>
        <p:nvSpPr>
          <p:cNvPr id="11" name="Shape 8"/>
          <p:cNvSpPr/>
          <p:nvPr/>
        </p:nvSpPr>
        <p:spPr>
          <a:xfrm>
            <a:off x="1395989" y="2210991"/>
            <a:ext cx="670592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2" name="Text 9"/>
          <p:cNvSpPr/>
          <p:nvPr/>
        </p:nvSpPr>
        <p:spPr>
          <a:xfrm>
            <a:off x="1395989" y="2210991"/>
            <a:ext cx="670592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555555"/>
                </a:solidFill>
              </a:rPr>
              <a:t>Robustness</a:t>
            </a:r>
            <a:endParaRPr lang="en-US" sz="584" dirty="0"/>
          </a:p>
        </p:txBody>
      </p:sp>
      <p:sp>
        <p:nvSpPr>
          <p:cNvPr id="13" name="Text 10"/>
          <p:cNvSpPr/>
          <p:nvPr/>
        </p:nvSpPr>
        <p:spPr>
          <a:xfrm>
            <a:off x="742950" y="2598539"/>
            <a:ext cx="4070738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Re-ranking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742950" y="2889647"/>
            <a:ext cx="407073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Двухэтапный процесс: быстрый поиск кандидатов, затем точная пересортировка с помощью Cross-Encoder модели для удаления нерелевантного шума.</a:t>
            </a:r>
            <a:endParaRPr lang="en-US" sz="942" dirty="0"/>
          </a:p>
        </p:txBody>
      </p:sp>
      <p:sp>
        <p:nvSpPr>
          <p:cNvPr id="15" name="Shape 12"/>
          <p:cNvSpPr/>
          <p:nvPr/>
        </p:nvSpPr>
        <p:spPr>
          <a:xfrm>
            <a:off x="742950" y="3543300"/>
            <a:ext cx="579202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Text 13"/>
          <p:cNvSpPr/>
          <p:nvPr/>
        </p:nvSpPr>
        <p:spPr>
          <a:xfrm>
            <a:off x="742950" y="3543300"/>
            <a:ext cx="579202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555555"/>
                </a:solidFill>
              </a:rPr>
              <a:t>Precision</a:t>
            </a:r>
            <a:endParaRPr lang="en-US" sz="584" dirty="0"/>
          </a:p>
        </p:txBody>
      </p:sp>
      <p:sp>
        <p:nvSpPr>
          <p:cNvPr id="17" name="Shape 14"/>
          <p:cNvSpPr/>
          <p:nvPr/>
        </p:nvSpPr>
        <p:spPr>
          <a:xfrm>
            <a:off x="1409021" y="3543300"/>
            <a:ext cx="490575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Text 15"/>
          <p:cNvSpPr/>
          <p:nvPr/>
        </p:nvSpPr>
        <p:spPr>
          <a:xfrm>
            <a:off x="1409021" y="3543300"/>
            <a:ext cx="490575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555555"/>
                </a:solidFill>
              </a:rPr>
              <a:t>Quality</a:t>
            </a:r>
            <a:endParaRPr lang="en-US" sz="584" dirty="0"/>
          </a:p>
        </p:txBody>
      </p:sp>
      <p:sp>
        <p:nvSpPr>
          <p:cNvPr id="19" name="Text 16"/>
          <p:cNvSpPr/>
          <p:nvPr/>
        </p:nvSpPr>
        <p:spPr>
          <a:xfrm>
            <a:off x="742950" y="3930848"/>
            <a:ext cx="4070738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1A1A1A"/>
                </a:solidFill>
              </a:rPr>
              <a:t>Agentic RAG</a:t>
            </a:r>
            <a:endParaRPr lang="en-US" sz="1193" dirty="0"/>
          </a:p>
        </p:txBody>
      </p:sp>
      <p:sp>
        <p:nvSpPr>
          <p:cNvPr id="20" name="Text 17"/>
          <p:cNvSpPr/>
          <p:nvPr/>
        </p:nvSpPr>
        <p:spPr>
          <a:xfrm>
            <a:off x="742950" y="4221956"/>
            <a:ext cx="4070738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Использование автономных агентов, которые могут планировать поиск, разбивать сложные вопросы на подзадачи и использовать инструменты (Web Search, SQL).</a:t>
            </a:r>
            <a:endParaRPr lang="en-US" sz="942" dirty="0"/>
          </a:p>
        </p:txBody>
      </p:sp>
      <p:sp>
        <p:nvSpPr>
          <p:cNvPr id="21" name="Shape 18"/>
          <p:cNvSpPr/>
          <p:nvPr/>
        </p:nvSpPr>
        <p:spPr>
          <a:xfrm>
            <a:off x="742950" y="4875609"/>
            <a:ext cx="626697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2" name="Text 19"/>
          <p:cNvSpPr/>
          <p:nvPr/>
        </p:nvSpPr>
        <p:spPr>
          <a:xfrm>
            <a:off x="742950" y="4875609"/>
            <a:ext cx="626697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555555"/>
                </a:solidFill>
              </a:rPr>
              <a:t>Autonomy</a:t>
            </a:r>
            <a:endParaRPr lang="en-US" sz="584" dirty="0"/>
          </a:p>
        </p:txBody>
      </p:sp>
      <p:sp>
        <p:nvSpPr>
          <p:cNvPr id="23" name="Shape 20"/>
          <p:cNvSpPr/>
          <p:nvPr/>
        </p:nvSpPr>
        <p:spPr>
          <a:xfrm>
            <a:off x="1456516" y="4875609"/>
            <a:ext cx="628315" cy="17323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1"/>
          <p:cNvSpPr/>
          <p:nvPr/>
        </p:nvSpPr>
        <p:spPr>
          <a:xfrm>
            <a:off x="1456516" y="4875609"/>
            <a:ext cx="628315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555555"/>
                </a:solidFill>
              </a:rPr>
              <a:t>Reasoning</a:t>
            </a:r>
            <a:endParaRPr lang="en-US" sz="584" dirty="0"/>
          </a:p>
        </p:txBody>
      </p:sp>
      <p:sp>
        <p:nvSpPr>
          <p:cNvPr id="25" name="Shape 22"/>
          <p:cNvSpPr/>
          <p:nvPr/>
        </p:nvSpPr>
        <p:spPr>
          <a:xfrm>
            <a:off x="5242313" y="1266230"/>
            <a:ext cx="3330187" cy="3996928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531" y="2412020"/>
            <a:ext cx="3036094" cy="1705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1885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8043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980480"/>
            <a:ext cx="8001000" cy="285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428625"/>
            <a:ext cx="2101155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spc="-1" kern="0" dirty="0">
                <a:solidFill>
                  <a:srgbClr val="1A1A1A"/>
                </a:solidFill>
              </a:rPr>
              <a:t>Заключение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8376354" y="603647"/>
            <a:ext cx="19614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4500"/>
                </a:solidFill>
              </a:rPr>
              <a:t>18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571500" y="1409105"/>
            <a:ext cx="7143750" cy="12343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4500"/>
                </a:solidFill>
              </a:rPr>
              <a:t>RAG — это не просто опция, это </a:t>
            </a:r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4500"/>
                </a:solidFill>
              </a:rPr>
              <a:t>стандарт</a:t>
            </a:r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4500"/>
                </a:solidFill>
              </a:rPr>
              <a:t> для создания надежных </a:t>
            </a:r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4500"/>
                </a:solidFill>
              </a:rPr>
              <a:t>корпоративных AI-систем.</a:t>
            </a:r>
            <a:endParaRPr lang="en-US" sz="2436" dirty="0"/>
          </a:p>
        </p:txBody>
      </p:sp>
      <p:sp>
        <p:nvSpPr>
          <p:cNvPr id="8" name="Text 5"/>
          <p:cNvSpPr/>
          <p:nvPr/>
        </p:nvSpPr>
        <p:spPr>
          <a:xfrm>
            <a:off x="571500" y="3507888"/>
            <a:ext cx="238124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Мост к данным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571500" y="3849002"/>
            <a:ext cx="2381241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Единственный надежный способ безопасно объединить мощь LLM с вашими приватными данными.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3381366" y="3507888"/>
            <a:ext cx="238124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Доверие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3381366" y="3849002"/>
            <a:ext cx="2381241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Превращает "черный ящик" нейросети в прозрачный инструмент с проверяемыми источниками.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6191231" y="3507888"/>
            <a:ext cx="238126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Эволюция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6191231" y="3849002"/>
            <a:ext cx="2381269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Фундамент для перехода от простых чат-ботов к сложным агентным системам принятия решений.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571500" y="4620527"/>
            <a:ext cx="8001000" cy="441127"/>
          </a:xfrm>
          <a:prstGeom prst="rect">
            <a:avLst/>
          </a:prstGeom>
          <a:noFill/>
          <a:ln/>
        </p:spPr>
        <p:txBody>
          <a:bodyPr wrap="square" lIns="0" tIns="340233" rIns="0" bIns="0" rtlCol="0" anchor="t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999999"/>
                </a:solidFill>
              </a:rPr>
              <a:t>Будущее AI — это контекст</a:t>
            </a:r>
            <a:endParaRPr lang="en-US" sz="7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2025-12-05T04:17:06Z</dcterms:created>
  <dcterms:modified xsi:type="dcterms:W3CDTF">2025-12-05T04:17:06Z</dcterms:modified>
</cp:coreProperties>
</file>