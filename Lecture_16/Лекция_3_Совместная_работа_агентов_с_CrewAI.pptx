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e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image" Target="../media/image-30-8.png"/><Relationship Id="rId9" Type="http://schemas.openxmlformats.org/officeDocument/2006/relationships/image" Target="../media/image-30-9.png"/><Relationship Id="rId10" Type="http://schemas.openxmlformats.org/officeDocument/2006/relationships/image" Target="../media/image-3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9874" y="2151162"/>
            <a:ext cx="8384251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4F4F"/>
                </a:solidFill>
              </a:rPr>
              <a:t>Лекция 3:</a:t>
            </a:r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</a:rPr>
              <a:t> Совместная работа агентов с CrewAI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379874" y="2688729"/>
            <a:ext cx="838425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Orchestrating Role-Based AI Agents</a:t>
            </a:r>
            <a:endParaRPr lang="en-US" sz="94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233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94755"/>
            <a:ext cx="9144000" cy="28575"/>
          </a:xfrm>
          <a:prstGeom prst="rect">
            <a:avLst/>
          </a:prstGeom>
          <a:solidFill>
            <a:srgbClr val="FF4F4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609005"/>
          </a:xfrm>
          <a:prstGeom prst="rect">
            <a:avLst/>
          </a:prstGeom>
          <a:noFill/>
          <a:ln/>
        </p:spPr>
        <p:txBody>
          <a:bodyPr wrap="none" lIns="0" tIns="0" rIns="0" bIns="170053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</a:rPr>
              <a:t>План лекции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428625" y="1180505"/>
            <a:ext cx="2619356" cy="557213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180505"/>
            <a:ext cx="35719" cy="557213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9" y="1359098"/>
            <a:ext cx="150019" cy="2000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4394" y="1361777"/>
            <a:ext cx="122702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2937"/>
                </a:solidFill>
              </a:rPr>
              <a:t>1. Intro to CrewAI</a:t>
            </a:r>
            <a:endParaRPr lang="en-US" sz="987" dirty="0"/>
          </a:p>
        </p:txBody>
      </p:sp>
      <p:sp>
        <p:nvSpPr>
          <p:cNvPr id="10" name="Shape 6"/>
          <p:cNvSpPr/>
          <p:nvPr/>
        </p:nvSpPr>
        <p:spPr>
          <a:xfrm>
            <a:off x="3262294" y="1180505"/>
            <a:ext cx="2619384" cy="557213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" name="Shape 7"/>
          <p:cNvSpPr/>
          <p:nvPr/>
        </p:nvSpPr>
        <p:spPr>
          <a:xfrm>
            <a:off x="3262294" y="1180505"/>
            <a:ext cx="35719" cy="557213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888" y="1359098"/>
            <a:ext cx="250031" cy="2000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98075" y="1361777"/>
            <a:ext cx="140505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2937"/>
                </a:solidFill>
              </a:rPr>
              <a:t>2. Core Components</a:t>
            </a:r>
            <a:endParaRPr lang="en-US" sz="987" dirty="0"/>
          </a:p>
        </p:txBody>
      </p:sp>
      <p:sp>
        <p:nvSpPr>
          <p:cNvPr id="14" name="Shape 9"/>
          <p:cNvSpPr/>
          <p:nvPr/>
        </p:nvSpPr>
        <p:spPr>
          <a:xfrm>
            <a:off x="6095991" y="1180505"/>
            <a:ext cx="2619356" cy="557213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5" name="Shape 10"/>
          <p:cNvSpPr/>
          <p:nvPr/>
        </p:nvSpPr>
        <p:spPr>
          <a:xfrm>
            <a:off x="6095991" y="1180505"/>
            <a:ext cx="35719" cy="557213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584" y="1359098"/>
            <a:ext cx="225028" cy="2000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06769" y="1361777"/>
            <a:ext cx="112572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2937"/>
                </a:solidFill>
              </a:rPr>
              <a:t>3. Process Types</a:t>
            </a:r>
            <a:endParaRPr lang="en-US" sz="987" dirty="0"/>
          </a:p>
        </p:txBody>
      </p:sp>
      <p:sp>
        <p:nvSpPr>
          <p:cNvPr id="18" name="Shape 12"/>
          <p:cNvSpPr/>
          <p:nvPr/>
        </p:nvSpPr>
        <p:spPr>
          <a:xfrm>
            <a:off x="428625" y="3126284"/>
            <a:ext cx="2619356" cy="557213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9" name="Shape 13"/>
          <p:cNvSpPr/>
          <p:nvPr/>
        </p:nvSpPr>
        <p:spPr>
          <a:xfrm>
            <a:off x="428625" y="3126284"/>
            <a:ext cx="35719" cy="557213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19" y="3304877"/>
            <a:ext cx="175022" cy="20002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89397" y="3307556"/>
            <a:ext cx="146033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2937"/>
                </a:solidFill>
              </a:rPr>
              <a:t>4. Practical Examples</a:t>
            </a:r>
            <a:endParaRPr lang="en-US" sz="987" dirty="0"/>
          </a:p>
        </p:txBody>
      </p:sp>
      <p:sp>
        <p:nvSpPr>
          <p:cNvPr id="22" name="Shape 15"/>
          <p:cNvSpPr/>
          <p:nvPr/>
        </p:nvSpPr>
        <p:spPr>
          <a:xfrm>
            <a:off x="3262294" y="3126284"/>
            <a:ext cx="2619384" cy="557213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3" name="Shape 16"/>
          <p:cNvSpPr/>
          <p:nvPr/>
        </p:nvSpPr>
        <p:spPr>
          <a:xfrm>
            <a:off x="3262294" y="3126284"/>
            <a:ext cx="35719" cy="557213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0888" y="3304877"/>
            <a:ext cx="200025" cy="20002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748069" y="3307556"/>
            <a:ext cx="112929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2937"/>
                </a:solidFill>
              </a:rPr>
              <a:t>5. Best Practices</a:t>
            </a:r>
            <a:endParaRPr lang="en-US" sz="98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816173"/>
            <a:ext cx="571500" cy="42863"/>
          </a:xfrm>
          <a:prstGeom prst="roundRect">
            <a:avLst/>
          </a:prstGeom>
          <a:solidFill>
            <a:srgbClr val="FF4F4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3233551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</a:rPr>
              <a:t>Что такое CrewAI?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428625" y="1798997"/>
            <a:ext cx="8286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CrewAI - это фреймворк для оркестровки ролевых агентов, который позволяет создавать сложные системы искусственного интеллекта, способные к автономному взаимодействию и выполнению задач.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428625" y="2624770"/>
            <a:ext cx="2619356" cy="154305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9" y="2824795"/>
            <a:ext cx="214313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8688" y="2803364"/>
            <a:ext cx="19407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</a:rPr>
              <a:t>Ролевой дизайн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928688" y="3089114"/>
            <a:ext cx="19407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Агенты с четко определенными ролями, целями и предысторией, имитирующие командную работу.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3262294" y="2624770"/>
            <a:ext cx="2619384" cy="154305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888" y="2824795"/>
            <a:ext cx="214313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62356" y="2803364"/>
            <a:ext cx="194072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</a:rPr>
              <a:t>Автономное делегирование</a:t>
            </a:r>
            <a:endParaRPr lang="en-US" sz="1090" dirty="0"/>
          </a:p>
        </p:txBody>
      </p:sp>
      <p:sp>
        <p:nvSpPr>
          <p:cNvPr id="13" name="Text 8"/>
          <p:cNvSpPr/>
          <p:nvPr/>
        </p:nvSpPr>
        <p:spPr>
          <a:xfrm>
            <a:off x="3762356" y="3303426"/>
            <a:ext cx="1940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Агенты могут самостоятельно делегировать задачи друг другу, обеспечивая эффективное сотрудничество.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6095991" y="2624770"/>
            <a:ext cx="2619356" cy="154305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584" y="2824795"/>
            <a:ext cx="171450" cy="1714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53191" y="2803364"/>
            <a:ext cx="19835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</a:rPr>
              <a:t>Гибкое управление задачами</a:t>
            </a:r>
            <a:endParaRPr lang="en-US" sz="1090" dirty="0"/>
          </a:p>
        </p:txBody>
      </p:sp>
      <p:sp>
        <p:nvSpPr>
          <p:cNvPr id="17" name="Text 11"/>
          <p:cNvSpPr/>
          <p:nvPr/>
        </p:nvSpPr>
        <p:spPr>
          <a:xfrm>
            <a:off x="6553191" y="3303426"/>
            <a:ext cx="19835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Настраиваемые процессы для выполнения задач, от простых последовательностей до сложных иерархий.</a:t>
            </a:r>
            <a:endParaRPr lang="en-US" sz="8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4874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4008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4" name="Shape 1"/>
          <p:cNvSpPr/>
          <p:nvPr/>
        </p:nvSpPr>
        <p:spPr>
          <a:xfrm>
            <a:off x="357188" y="804370"/>
            <a:ext cx="571500" cy="35719"/>
          </a:xfrm>
          <a:prstGeom prst="rect">
            <a:avLst/>
          </a:prstGeom>
          <a:solidFill>
            <a:srgbClr val="FF4F4F"/>
          </a:solidFill>
          <a:ln/>
        </p:spPr>
      </p:sp>
      <p:sp>
        <p:nvSpPr>
          <p:cNvPr id="5" name="Text 2"/>
          <p:cNvSpPr/>
          <p:nvPr/>
        </p:nvSpPr>
        <p:spPr>
          <a:xfrm>
            <a:off x="357188" y="214313"/>
            <a:ext cx="8429625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Ролевой дизайн (Role-Based Design)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357188" y="1125838"/>
            <a:ext cx="3756747" cy="2238003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88384"/>
            <a:ext cx="214313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7250" y="1340151"/>
            <a:ext cx="3042372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Концепция "Агенты как Сотрудники"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571500" y="1915223"/>
            <a:ext cx="3328122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В CrewAI, агенты рассматриваются как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6B7280"/>
                </a:solidFill>
              </a:rPr>
              <a:t>виртуальные сотрудники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, каждый из которых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обладает уникальными характеристиками и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обязанностями. Этот подход позволяет создавать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сложные системы, где каждый компонент вносит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свой вклад в достижение общей цели.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357188" y="3578154"/>
            <a:ext cx="3756747" cy="2909292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23720"/>
            <a:ext cx="128588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1525" y="3792466"/>
            <a:ext cx="236653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Ключевые Атрибуты Роли</a:t>
            </a:r>
            <a:endParaRPr lang="en-US" sz="1193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55011"/>
            <a:ext cx="178594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57250" y="4133580"/>
            <a:ext cx="403510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F2937"/>
                </a:solidFill>
              </a:rPr>
              <a:t>Роль (Role):</a:t>
            </a:r>
            <a:endParaRPr lang="en-US" sz="885" dirty="0"/>
          </a:p>
        </p:txBody>
      </p:sp>
      <p:sp>
        <p:nvSpPr>
          <p:cNvPr id="15" name="Text 9"/>
          <p:cNvSpPr/>
          <p:nvPr/>
        </p:nvSpPr>
        <p:spPr>
          <a:xfrm>
            <a:off x="1367917" y="4133580"/>
            <a:ext cx="2531706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F2937"/>
                </a:solidFill>
              </a:rPr>
              <a:t>Определяет основную функцию агента в команде (например, "Исследователь", "Аналитик", "Писатель").</a:t>
            </a:r>
            <a:endParaRPr lang="en-US" sz="942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87233"/>
            <a:ext cx="142875" cy="1428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21531" y="4765802"/>
            <a:ext cx="413417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F2937"/>
                </a:solidFill>
              </a:rPr>
              <a:t>Цель (Goal):</a:t>
            </a:r>
            <a:endParaRPr lang="en-US" sz="885" dirty="0"/>
          </a:p>
        </p:txBody>
      </p:sp>
      <p:sp>
        <p:nvSpPr>
          <p:cNvPr id="18" name="Text 11"/>
          <p:cNvSpPr/>
          <p:nvPr/>
        </p:nvSpPr>
        <p:spPr>
          <a:xfrm>
            <a:off x="1342104" y="4765802"/>
            <a:ext cx="2557518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F2937"/>
                </a:solidFill>
              </a:rPr>
              <a:t>Четко сформулированная задача, которую агент должен выполнить (например, "Найти последние тенденции в ИИ").</a:t>
            </a:r>
            <a:endParaRPr lang="en-US" sz="942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594477"/>
            <a:ext cx="125016" cy="14287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03672" y="5573046"/>
            <a:ext cx="913619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F2937"/>
                </a:solidFill>
              </a:rPr>
              <a:t>Предыстория (Backstory):</a:t>
            </a:r>
            <a:endParaRPr lang="en-US" sz="885" dirty="0"/>
          </a:p>
        </p:txBody>
      </p:sp>
      <p:sp>
        <p:nvSpPr>
          <p:cNvPr id="21" name="Text 13"/>
          <p:cNvSpPr/>
          <p:nvPr/>
        </p:nvSpPr>
        <p:spPr>
          <a:xfrm>
            <a:off x="1824447" y="5573046"/>
            <a:ext cx="2075176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F2937"/>
                </a:solidFill>
              </a:rPr>
              <a:t>Описание опыта и компетенций агента, помогающее ему принимать решения и выполнять задачи.</a:t>
            </a:r>
            <a:endParaRPr lang="en-US" sz="942" dirty="0"/>
          </a:p>
        </p:txBody>
      </p:sp>
      <p:sp>
        <p:nvSpPr>
          <p:cNvPr id="22" name="Shape 14"/>
          <p:cNvSpPr/>
          <p:nvPr/>
        </p:nvSpPr>
        <p:spPr>
          <a:xfrm>
            <a:off x="4399685" y="1125838"/>
            <a:ext cx="4387128" cy="345858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3997" y="1371405"/>
            <a:ext cx="214313" cy="17145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899747" y="1340151"/>
            <a:ext cx="288311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Отличие от Обычных Чат-ботов</a:t>
            </a:r>
            <a:endParaRPr lang="en-US" sz="1193" dirty="0"/>
          </a:p>
        </p:txBody>
      </p:sp>
      <p:sp>
        <p:nvSpPr>
          <p:cNvPr id="25" name="Text 16"/>
          <p:cNvSpPr/>
          <p:nvPr/>
        </p:nvSpPr>
        <p:spPr>
          <a:xfrm>
            <a:off x="4613997" y="1681265"/>
            <a:ext cx="395850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В отличие от традиционных чат-ботов, которые часто являются универсальными и реагируют на запросы в рамках одной модели, агенты CrewAI:</a:t>
            </a:r>
            <a:endParaRPr lang="en-US" sz="942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3997" y="2427005"/>
            <a:ext cx="142875" cy="142875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4864029" y="2405574"/>
            <a:ext cx="6381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F2937"/>
                </a:solidFill>
              </a:rPr>
              <a:t>Обладают</a:t>
            </a:r>
            <a:endParaRPr lang="en-US" sz="942" dirty="0"/>
          </a:p>
        </p:txBody>
      </p:sp>
      <p:sp>
        <p:nvSpPr>
          <p:cNvPr id="28" name="Text 18"/>
          <p:cNvSpPr/>
          <p:nvPr/>
        </p:nvSpPr>
        <p:spPr>
          <a:xfrm>
            <a:off x="5609379" y="2405574"/>
            <a:ext cx="1624338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F2937"/>
                </a:solidFill>
              </a:rPr>
              <a:t>специализированными знаниями</a:t>
            </a:r>
            <a:endParaRPr lang="en-US" sz="885" dirty="0"/>
          </a:p>
        </p:txBody>
      </p:sp>
      <p:sp>
        <p:nvSpPr>
          <p:cNvPr id="29" name="Text 19"/>
          <p:cNvSpPr/>
          <p:nvPr/>
        </p:nvSpPr>
        <p:spPr>
          <a:xfrm>
            <a:off x="7340873" y="2405574"/>
            <a:ext cx="1231627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F2937"/>
                </a:solidFill>
              </a:rPr>
              <a:t>и навыками, соответствующими их роли.</a:t>
            </a:r>
            <a:endParaRPr lang="en-US" sz="942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3997" y="3059227"/>
            <a:ext cx="178594" cy="142875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4899747" y="3037796"/>
            <a:ext cx="3769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F2937"/>
                </a:solidFill>
              </a:rPr>
              <a:t>Могут</a:t>
            </a:r>
            <a:endParaRPr lang="en-US" sz="942" dirty="0"/>
          </a:p>
        </p:txBody>
      </p:sp>
      <p:sp>
        <p:nvSpPr>
          <p:cNvPr id="32" name="Text 21"/>
          <p:cNvSpPr/>
          <p:nvPr/>
        </p:nvSpPr>
        <p:spPr>
          <a:xfrm>
            <a:off x="5383820" y="3037796"/>
            <a:ext cx="1370874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F2937"/>
                </a:solidFill>
              </a:rPr>
              <a:t>автономно взаимодействовать</a:t>
            </a:r>
            <a:endParaRPr lang="en-US" sz="885" dirty="0"/>
          </a:p>
        </p:txBody>
      </p:sp>
      <p:sp>
        <p:nvSpPr>
          <p:cNvPr id="33" name="Text 22"/>
          <p:cNvSpPr/>
          <p:nvPr/>
        </p:nvSpPr>
        <p:spPr>
          <a:xfrm>
            <a:off x="6861851" y="3037796"/>
            <a:ext cx="1710649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F2937"/>
                </a:solidFill>
              </a:rPr>
              <a:t>друг с другом, делегировать задачи и обмениваться информацией.</a:t>
            </a:r>
            <a:endParaRPr lang="en-US" sz="942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3997" y="3866471"/>
            <a:ext cx="178594" cy="142875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4899747" y="3845040"/>
            <a:ext cx="73720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F2937"/>
                </a:solidFill>
              </a:rPr>
              <a:t>Выполняют</a:t>
            </a:r>
            <a:endParaRPr lang="en-US" sz="942" dirty="0"/>
          </a:p>
        </p:txBody>
      </p:sp>
      <p:sp>
        <p:nvSpPr>
          <p:cNvPr id="36" name="Text 24"/>
          <p:cNvSpPr/>
          <p:nvPr/>
        </p:nvSpPr>
        <p:spPr>
          <a:xfrm>
            <a:off x="5744105" y="3845040"/>
            <a:ext cx="1025017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F2937"/>
                </a:solidFill>
              </a:rPr>
              <a:t>сложные многоэтапные процессы</a:t>
            </a:r>
            <a:endParaRPr lang="en-US" sz="885" dirty="0"/>
          </a:p>
        </p:txBody>
      </p:sp>
      <p:sp>
        <p:nvSpPr>
          <p:cNvPr id="37" name="Text 25"/>
          <p:cNvSpPr/>
          <p:nvPr/>
        </p:nvSpPr>
        <p:spPr>
          <a:xfrm>
            <a:off x="6876278" y="3845040"/>
            <a:ext cx="1696222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F2937"/>
                </a:solidFill>
              </a:rPr>
              <a:t>, требующие координации и последовательности действий.</a:t>
            </a:r>
            <a:endParaRPr lang="en-US" sz="942" dirty="0"/>
          </a:p>
        </p:txBody>
      </p:sp>
      <p:sp>
        <p:nvSpPr>
          <p:cNvPr id="38" name="Shape 26"/>
          <p:cNvSpPr/>
          <p:nvPr/>
        </p:nvSpPr>
        <p:spPr>
          <a:xfrm>
            <a:off x="4399685" y="4798730"/>
            <a:ext cx="4387128" cy="1359098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39" name="Text 27"/>
          <p:cNvSpPr/>
          <p:nvPr/>
        </p:nvSpPr>
        <p:spPr>
          <a:xfrm>
            <a:off x="4578279" y="4977324"/>
            <a:ext cx="402994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2937"/>
                </a:solidFill>
              </a:rPr>
              <a:t>CrewAI Агент vs. Обычный Чат-бот</a:t>
            </a:r>
            <a:endParaRPr lang="en-US" sz="987" dirty="0"/>
          </a:p>
        </p:txBody>
      </p:sp>
      <p:sp>
        <p:nvSpPr>
          <p:cNvPr id="40" name="Text 28"/>
          <p:cNvSpPr/>
          <p:nvPr/>
        </p:nvSpPr>
        <p:spPr>
          <a:xfrm>
            <a:off x="4578279" y="5279148"/>
            <a:ext cx="40299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B7280"/>
                </a:solidFill>
              </a:rPr>
              <a:t>CrewAI Агент: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 Специализированный, ролевой, автономный, 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командный игрок.</a:t>
            </a:r>
            <a:endParaRPr lang="en-US" sz="784" dirty="0"/>
          </a:p>
        </p:txBody>
      </p:sp>
      <p:sp>
        <p:nvSpPr>
          <p:cNvPr id="41" name="Text 29"/>
          <p:cNvSpPr/>
          <p:nvPr/>
        </p:nvSpPr>
        <p:spPr>
          <a:xfrm>
            <a:off x="4578279" y="5622048"/>
            <a:ext cx="40299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B7280"/>
                </a:solidFill>
              </a:rPr>
              <a:t>Обычный Чат-бот: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 Универсальный, реактивный, одиночный, 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ограниченный контекст.</a:t>
            </a:r>
            <a:endParaRPr lang="en-US" sz="78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6763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16605" y="285750"/>
            <a:ext cx="5510761" cy="609005"/>
          </a:xfrm>
          <a:prstGeom prst="rect">
            <a:avLst/>
          </a:prstGeom>
          <a:noFill/>
          <a:ln/>
        </p:spPr>
        <p:txBody>
          <a:bodyPr wrap="none" lIns="0" tIns="170053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</a:rPr>
              <a:t>Основные компоненты CrewAI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768622" y="1307948"/>
            <a:ext cx="360675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Визуальная схема взаимодействия ключевых элементов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321469" y="1983032"/>
            <a:ext cx="1500188" cy="85725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Text 3"/>
          <p:cNvSpPr/>
          <p:nvPr/>
        </p:nvSpPr>
        <p:spPr>
          <a:xfrm>
            <a:off x="321469" y="1983032"/>
            <a:ext cx="1500188" cy="857250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</a:rPr>
              <a:t>Agents</a:t>
            </a:r>
            <a:endParaRPr lang="en-US" sz="109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969" y="2272354"/>
            <a:ext cx="250031" cy="2857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500313" y="1983032"/>
            <a:ext cx="1500188" cy="85725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" name="Text 5"/>
          <p:cNvSpPr/>
          <p:nvPr/>
        </p:nvSpPr>
        <p:spPr>
          <a:xfrm>
            <a:off x="2500313" y="1983032"/>
            <a:ext cx="1500188" cy="857250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</a:rPr>
              <a:t>Tasks</a:t>
            </a:r>
            <a:endParaRPr lang="en-US" sz="109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813" y="2272354"/>
            <a:ext cx="250031" cy="28575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679156" y="1983032"/>
            <a:ext cx="1500188" cy="85725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Text 7"/>
          <p:cNvSpPr/>
          <p:nvPr/>
        </p:nvSpPr>
        <p:spPr>
          <a:xfrm>
            <a:off x="4679156" y="1983032"/>
            <a:ext cx="1500188" cy="857250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</a:rPr>
              <a:t>Crew</a:t>
            </a:r>
            <a:endParaRPr lang="en-US" sz="109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3656" y="2272354"/>
            <a:ext cx="250031" cy="28575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858000" y="1983032"/>
            <a:ext cx="1500188" cy="85725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Text 9"/>
          <p:cNvSpPr/>
          <p:nvPr/>
        </p:nvSpPr>
        <p:spPr>
          <a:xfrm>
            <a:off x="6858000" y="1983032"/>
            <a:ext cx="1500188" cy="857250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</a:rPr>
              <a:t>Process</a:t>
            </a:r>
            <a:endParaRPr lang="en-US" sz="109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2272354"/>
            <a:ext cx="250031" cy="28575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3821906" y="3054595"/>
            <a:ext cx="1500188" cy="85725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8" name="Text 11"/>
          <p:cNvSpPr/>
          <p:nvPr/>
        </p:nvSpPr>
        <p:spPr>
          <a:xfrm>
            <a:off x="3821906" y="3054595"/>
            <a:ext cx="1500188" cy="857250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</a:rPr>
              <a:t>Output</a:t>
            </a:r>
            <a:endParaRPr lang="en-US" sz="1090" dirty="0"/>
          </a:p>
        </p:txBody>
      </p:sp>
      <p:sp>
        <p:nvSpPr>
          <p:cNvPr id="19" name="Shape 12"/>
          <p:cNvSpPr/>
          <p:nvPr/>
        </p:nvSpPr>
        <p:spPr>
          <a:xfrm>
            <a:off x="1535906" y="4197595"/>
            <a:ext cx="6072188" cy="21930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3"/>
          <p:cNvSpPr/>
          <p:nvPr/>
        </p:nvSpPr>
        <p:spPr>
          <a:xfrm>
            <a:off x="1714500" y="4376189"/>
            <a:ext cx="5715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FF4F4F"/>
                </a:solidFill>
              </a:rPr>
              <a:t>Как это работает?</a:t>
            </a:r>
            <a:endParaRPr lang="en-US" sz="1193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4500" y="4757654"/>
            <a:ext cx="160734" cy="150019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946672" y="4757654"/>
            <a:ext cx="432867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F2937"/>
                </a:solidFill>
              </a:rPr>
              <a:t>Agents:</a:t>
            </a:r>
            <a:endParaRPr lang="en-US" sz="784" dirty="0"/>
          </a:p>
        </p:txBody>
      </p:sp>
      <p:sp>
        <p:nvSpPr>
          <p:cNvPr id="23" name="Text 15"/>
          <p:cNvSpPr/>
          <p:nvPr/>
        </p:nvSpPr>
        <p:spPr>
          <a:xfrm>
            <a:off x="2379538" y="4757654"/>
            <a:ext cx="4257787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F2937"/>
                </a:solidFill>
              </a:rPr>
              <a:t>Автономные сущности с определенными ролями, целями и предысторией.</a:t>
            </a:r>
            <a:endParaRPr lang="en-US" sz="834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4500" y="5011955"/>
            <a:ext cx="128588" cy="150019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914525" y="5011955"/>
            <a:ext cx="343151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F2937"/>
                </a:solidFill>
              </a:rPr>
              <a:t>Tasks:</a:t>
            </a:r>
            <a:endParaRPr lang="en-US" sz="784" dirty="0"/>
          </a:p>
        </p:txBody>
      </p:sp>
      <p:sp>
        <p:nvSpPr>
          <p:cNvPr id="26" name="Text 17"/>
          <p:cNvSpPr/>
          <p:nvPr/>
        </p:nvSpPr>
        <p:spPr>
          <a:xfrm>
            <a:off x="2257676" y="5011955"/>
            <a:ext cx="5171824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F2937"/>
                </a:solidFill>
              </a:rPr>
              <a:t>Четко определенные задачи, которые агенты должны выполнить, с ожидаемым результатом.</a:t>
            </a:r>
            <a:endParaRPr lang="en-US" sz="834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4500" y="5449119"/>
            <a:ext cx="160734" cy="150019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946672" y="5449119"/>
            <a:ext cx="31812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F2937"/>
                </a:solidFill>
              </a:rPr>
              <a:t>Crew:</a:t>
            </a:r>
            <a:endParaRPr lang="en-US" sz="784" dirty="0"/>
          </a:p>
        </p:txBody>
      </p:sp>
      <p:sp>
        <p:nvSpPr>
          <p:cNvPr id="29" name="Text 19"/>
          <p:cNvSpPr/>
          <p:nvPr/>
        </p:nvSpPr>
        <p:spPr>
          <a:xfrm>
            <a:off x="2264792" y="5449119"/>
            <a:ext cx="3767212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F2937"/>
                </a:solidFill>
              </a:rPr>
              <a:t>Объединяет агентов и задачи, оркестрируя их совместную работу.</a:t>
            </a:r>
            <a:endParaRPr lang="en-US" sz="834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4500" y="5703419"/>
            <a:ext cx="160734" cy="150019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946672" y="5703419"/>
            <a:ext cx="464651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F2937"/>
                </a:solidFill>
              </a:rPr>
              <a:t>Process:</a:t>
            </a:r>
            <a:endParaRPr lang="en-US" sz="784" dirty="0"/>
          </a:p>
        </p:txBody>
      </p:sp>
      <p:sp>
        <p:nvSpPr>
          <p:cNvPr id="32" name="Text 21"/>
          <p:cNvSpPr/>
          <p:nvPr/>
        </p:nvSpPr>
        <p:spPr>
          <a:xfrm>
            <a:off x="2411323" y="5703419"/>
            <a:ext cx="500668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F2937"/>
                </a:solidFill>
              </a:rPr>
              <a:t>Определяет логику выполнения задач (последовательный, иерархический, гибридный).</a:t>
            </a:r>
            <a:endParaRPr lang="en-US" sz="834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14500" y="5957720"/>
            <a:ext cx="96441" cy="150019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1882378" y="5957720"/>
            <a:ext cx="445312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F2937"/>
                </a:solidFill>
              </a:rPr>
              <a:t>Output:</a:t>
            </a:r>
            <a:endParaRPr lang="en-US" sz="784" dirty="0"/>
          </a:p>
        </p:txBody>
      </p:sp>
      <p:sp>
        <p:nvSpPr>
          <p:cNvPr id="35" name="Text 23"/>
          <p:cNvSpPr/>
          <p:nvPr/>
        </p:nvSpPr>
        <p:spPr>
          <a:xfrm>
            <a:off x="2327690" y="5957720"/>
            <a:ext cx="430854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F2937"/>
                </a:solidFill>
              </a:rPr>
              <a:t>Конечный результат работы команды, часто в структурированном формате.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4253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56106"/>
            <a:ext cx="6095070" cy="5804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</a:rPr>
              <a:t>Анатомия агента (Agent Anatomy)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1507973"/>
            <a:ext cx="8286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Detailed card showing Agent attributes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428625" y="2240207"/>
            <a:ext cx="2619356" cy="158552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284" y="2454520"/>
            <a:ext cx="300038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51840" y="2940295"/>
            <a:ext cx="37292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Role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642938" y="3245690"/>
            <a:ext cx="219073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Defines the agent's primary function and expertise.</a:t>
            </a:r>
            <a:endParaRPr lang="en-US" sz="834" dirty="0"/>
          </a:p>
        </p:txBody>
      </p:sp>
      <p:sp>
        <p:nvSpPr>
          <p:cNvPr id="9" name="Shape 5"/>
          <p:cNvSpPr/>
          <p:nvPr/>
        </p:nvSpPr>
        <p:spPr>
          <a:xfrm>
            <a:off x="3262294" y="2240207"/>
            <a:ext cx="2619384" cy="158552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22" y="2454520"/>
            <a:ext cx="342900" cy="342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378923" y="2940295"/>
            <a:ext cx="3861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Goal</a:t>
            </a:r>
            <a:endParaRPr lang="en-US" sz="1193" dirty="0"/>
          </a:p>
        </p:txBody>
      </p:sp>
      <p:sp>
        <p:nvSpPr>
          <p:cNvPr id="12" name="Text 7"/>
          <p:cNvSpPr/>
          <p:nvPr/>
        </p:nvSpPr>
        <p:spPr>
          <a:xfrm>
            <a:off x="3476606" y="3245690"/>
            <a:ext cx="219075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The specific objective the agent aims to achieve.</a:t>
            </a:r>
            <a:endParaRPr lang="en-US" sz="834" dirty="0"/>
          </a:p>
        </p:txBody>
      </p:sp>
      <p:sp>
        <p:nvSpPr>
          <p:cNvPr id="13" name="Shape 8"/>
          <p:cNvSpPr/>
          <p:nvPr/>
        </p:nvSpPr>
        <p:spPr>
          <a:xfrm>
            <a:off x="6095991" y="2240207"/>
            <a:ext cx="2619356" cy="158552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5650" y="2454520"/>
            <a:ext cx="300038" cy="3429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78495" y="2940295"/>
            <a:ext cx="85434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Backstory</a:t>
            </a:r>
            <a:endParaRPr lang="en-US" sz="1193" dirty="0"/>
          </a:p>
        </p:txBody>
      </p:sp>
      <p:sp>
        <p:nvSpPr>
          <p:cNvPr id="16" name="Text 10"/>
          <p:cNvSpPr/>
          <p:nvPr/>
        </p:nvSpPr>
        <p:spPr>
          <a:xfrm>
            <a:off x="6310303" y="3245690"/>
            <a:ext cx="219073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Provides context and personality, influencing decision-making.</a:t>
            </a:r>
            <a:endParaRPr lang="en-US" sz="834" dirty="0"/>
          </a:p>
        </p:txBody>
      </p:sp>
      <p:sp>
        <p:nvSpPr>
          <p:cNvPr id="17" name="Shape 11"/>
          <p:cNvSpPr/>
          <p:nvPr/>
        </p:nvSpPr>
        <p:spPr>
          <a:xfrm>
            <a:off x="428625" y="4040042"/>
            <a:ext cx="2619356" cy="158552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6853" y="4254354"/>
            <a:ext cx="342900" cy="3429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19777" y="4740129"/>
            <a:ext cx="4370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Tools</a:t>
            </a:r>
            <a:endParaRPr lang="en-US" sz="1193" dirty="0"/>
          </a:p>
        </p:txBody>
      </p:sp>
      <p:sp>
        <p:nvSpPr>
          <p:cNvPr id="20" name="Text 13"/>
          <p:cNvSpPr/>
          <p:nvPr/>
        </p:nvSpPr>
        <p:spPr>
          <a:xfrm>
            <a:off x="642938" y="5045525"/>
            <a:ext cx="219073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Specific functionalities or external resources the agent can use.</a:t>
            </a:r>
            <a:endParaRPr lang="en-US" sz="834" dirty="0"/>
          </a:p>
        </p:txBody>
      </p:sp>
      <p:sp>
        <p:nvSpPr>
          <p:cNvPr id="21" name="Shape 14"/>
          <p:cNvSpPr/>
          <p:nvPr/>
        </p:nvSpPr>
        <p:spPr>
          <a:xfrm>
            <a:off x="3262294" y="4040042"/>
            <a:ext cx="2619384" cy="158552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0522" y="4254354"/>
            <a:ext cx="342900" cy="3429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215538" y="4740129"/>
            <a:ext cx="71289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Memory</a:t>
            </a:r>
            <a:endParaRPr lang="en-US" sz="1193" dirty="0"/>
          </a:p>
        </p:txBody>
      </p:sp>
      <p:sp>
        <p:nvSpPr>
          <p:cNvPr id="24" name="Text 16"/>
          <p:cNvSpPr/>
          <p:nvPr/>
        </p:nvSpPr>
        <p:spPr>
          <a:xfrm>
            <a:off x="3476606" y="5045525"/>
            <a:ext cx="219075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Stores past interactions and learned information for future use.</a:t>
            </a:r>
            <a:endParaRPr lang="en-US" sz="834" dirty="0"/>
          </a:p>
        </p:txBody>
      </p:sp>
      <p:sp>
        <p:nvSpPr>
          <p:cNvPr id="25" name="Shape 17"/>
          <p:cNvSpPr/>
          <p:nvPr/>
        </p:nvSpPr>
        <p:spPr>
          <a:xfrm>
            <a:off x="6095991" y="4040042"/>
            <a:ext cx="2619356" cy="158552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2788" y="4254354"/>
            <a:ext cx="385763" cy="3429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677509" y="4740129"/>
            <a:ext cx="145632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Allow Delegation</a:t>
            </a:r>
            <a:endParaRPr lang="en-US" sz="1193" dirty="0"/>
          </a:p>
        </p:txBody>
      </p:sp>
      <p:sp>
        <p:nvSpPr>
          <p:cNvPr id="28" name="Text 19"/>
          <p:cNvSpPr/>
          <p:nvPr/>
        </p:nvSpPr>
        <p:spPr>
          <a:xfrm>
            <a:off x="6310303" y="5045525"/>
            <a:ext cx="219073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Enables the agent to assign tasks or collaborate with other agents.</a:t>
            </a:r>
            <a:endParaRPr lang="en-US" sz="834" dirty="0"/>
          </a:p>
        </p:txBody>
      </p:sp>
      <p:sp>
        <p:nvSpPr>
          <p:cNvPr id="29" name="Shape 20"/>
          <p:cNvSpPr/>
          <p:nvPr/>
        </p:nvSpPr>
        <p:spPr>
          <a:xfrm>
            <a:off x="3262294" y="5839876"/>
            <a:ext cx="2619384" cy="158552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0522" y="6054189"/>
            <a:ext cx="342900" cy="3429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4227788" y="6539964"/>
            <a:ext cx="68839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Verbose</a:t>
            </a:r>
            <a:endParaRPr lang="en-US" sz="1193" dirty="0"/>
          </a:p>
        </p:txBody>
      </p:sp>
      <p:sp>
        <p:nvSpPr>
          <p:cNvPr id="32" name="Text 22"/>
          <p:cNvSpPr/>
          <p:nvPr/>
        </p:nvSpPr>
        <p:spPr>
          <a:xfrm>
            <a:off x="3476606" y="6845359"/>
            <a:ext cx="2190759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Controls the level of detail in the agent's output and logging.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80782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0356"/>
            <a:ext cx="5780466" cy="5661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</a:rPr>
              <a:t>Определение задач </a:t>
            </a:r>
            <a:pPr algn="l" indent="0" marL="0">
              <a:lnSpc>
                <a:spcPts val="3200"/>
              </a:lnSpc>
              <a:buNone/>
            </a:pPr>
            <a:r>
              <a:rPr lang="en-US" sz="1808" b="1" dirty="0">
                <a:solidFill>
                  <a:srgbClr val="6B7280"/>
                </a:solidFill>
              </a:rPr>
              <a:t>(Task Definition)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1714500" y="1207936"/>
            <a:ext cx="5715000" cy="11454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813" y="1422248"/>
            <a:ext cx="214313" cy="2357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0" y="1422248"/>
            <a:ext cx="49291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Описание задачи (Description)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2286000" y="1727643"/>
            <a:ext cx="49291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F2937"/>
                </a:solidFill>
              </a:rPr>
              <a:t>Четкое и краткое изложение того, что должен выполнить агент. Это основа для понимания и выполнения.</a:t>
            </a:r>
            <a:endParaRPr lang="en-US" sz="942" dirty="0"/>
          </a:p>
        </p:txBody>
      </p:sp>
      <p:sp>
        <p:nvSpPr>
          <p:cNvPr id="8" name="Shape 4"/>
          <p:cNvSpPr/>
          <p:nvPr/>
        </p:nvSpPr>
        <p:spPr>
          <a:xfrm>
            <a:off x="1714500" y="2531985"/>
            <a:ext cx="5715000" cy="11454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813" y="2746297"/>
            <a:ext cx="214313" cy="235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86000" y="2746297"/>
            <a:ext cx="49291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Ожидаемый результат (Expected Output)</a:t>
            </a:r>
            <a:endParaRPr lang="en-US" sz="1193" dirty="0"/>
          </a:p>
        </p:txBody>
      </p:sp>
      <p:sp>
        <p:nvSpPr>
          <p:cNvPr id="11" name="Text 6"/>
          <p:cNvSpPr/>
          <p:nvPr/>
        </p:nvSpPr>
        <p:spPr>
          <a:xfrm>
            <a:off x="2286000" y="3051693"/>
            <a:ext cx="49291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F2937"/>
                </a:solidFill>
              </a:rPr>
              <a:t>Конкретный, измеримый результат, который должен быть достигнут.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4F4F"/>
                </a:solidFill>
              </a:rPr>
              <a:t>Обязательно для успешного завершения.</a:t>
            </a:r>
            <a:endParaRPr lang="en-US" sz="942" dirty="0"/>
          </a:p>
        </p:txBody>
      </p:sp>
      <p:sp>
        <p:nvSpPr>
          <p:cNvPr id="12" name="Shape 7"/>
          <p:cNvSpPr/>
          <p:nvPr/>
        </p:nvSpPr>
        <p:spPr>
          <a:xfrm>
            <a:off x="1714500" y="3856034"/>
            <a:ext cx="5715000" cy="11454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8813" y="4070347"/>
            <a:ext cx="214313" cy="235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286000" y="4070347"/>
            <a:ext cx="49291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Назначенный агент (Assigned Agent)</a:t>
            </a:r>
            <a:endParaRPr lang="en-US" sz="1193" dirty="0"/>
          </a:p>
        </p:txBody>
      </p:sp>
      <p:sp>
        <p:nvSpPr>
          <p:cNvPr id="15" name="Text 9"/>
          <p:cNvSpPr/>
          <p:nvPr/>
        </p:nvSpPr>
        <p:spPr>
          <a:xfrm>
            <a:off x="2286000" y="4375742"/>
            <a:ext cx="49291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F2937"/>
                </a:solidFill>
              </a:rPr>
              <a:t>Агент, ответственный за выполнение данной задачи. Выбор правильного агента критичен для эффективности.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1714500" y="5180084"/>
            <a:ext cx="5715000" cy="11454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8813" y="5394396"/>
            <a:ext cx="214313" cy="2357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286000" y="5394396"/>
            <a:ext cx="49291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Инструменты (Tools)</a:t>
            </a:r>
            <a:endParaRPr lang="en-US" sz="1193" dirty="0"/>
          </a:p>
        </p:txBody>
      </p:sp>
      <p:sp>
        <p:nvSpPr>
          <p:cNvPr id="19" name="Text 12"/>
          <p:cNvSpPr/>
          <p:nvPr/>
        </p:nvSpPr>
        <p:spPr>
          <a:xfrm>
            <a:off x="2286000" y="5699792"/>
            <a:ext cx="49291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F2937"/>
                </a:solidFill>
              </a:rPr>
              <a:t>Набор инструментов, доступных агенту для выполнения задачи. Расширяет возможности агента.</a:t>
            </a:r>
            <a:endParaRPr lang="en-US" sz="942" dirty="0"/>
          </a:p>
        </p:txBody>
      </p:sp>
      <p:sp>
        <p:nvSpPr>
          <p:cNvPr id="20" name="Shape 13"/>
          <p:cNvSpPr/>
          <p:nvPr/>
        </p:nvSpPr>
        <p:spPr>
          <a:xfrm>
            <a:off x="1714500" y="6504133"/>
            <a:ext cx="5715000" cy="114545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8813" y="6718446"/>
            <a:ext cx="214313" cy="23574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2286000" y="6718446"/>
            <a:ext cx="49291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Ключевой принцип: Ясность и Специфичность</a:t>
            </a:r>
            <a:endParaRPr lang="en-US" sz="1193" dirty="0"/>
          </a:p>
        </p:txBody>
      </p:sp>
      <p:sp>
        <p:nvSpPr>
          <p:cNvPr id="23" name="Text 15"/>
          <p:cNvSpPr/>
          <p:nvPr/>
        </p:nvSpPr>
        <p:spPr>
          <a:xfrm>
            <a:off x="2286000" y="7023841"/>
            <a:ext cx="49291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F2937"/>
                </a:solidFill>
              </a:rPr>
              <a:t>Чем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4F4F"/>
                </a:solidFill>
              </a:rPr>
              <a:t>яснее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F2937"/>
                </a:solidFill>
              </a:rPr>
              <a:t> и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4F4F"/>
                </a:solidFill>
              </a:rPr>
              <a:t>специфичнее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F2937"/>
                </a:solidFill>
              </a:rPr>
              <a:t> определена задача, тем выше вероятность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F2937"/>
                </a:solidFill>
              </a:rPr>
              <a:t>успешного и точного выполнения.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9324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85750"/>
            <a:ext cx="9144000" cy="56466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85750"/>
            <a:ext cx="9144000" cy="96619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066205"/>
            <a:ext cx="571500" cy="42863"/>
          </a:xfrm>
          <a:prstGeom prst="roundRect">
            <a:avLst/>
          </a:prstGeom>
          <a:solidFill>
            <a:srgbClr val="FF4F4F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571500"/>
            <a:ext cx="7737211" cy="537567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Оркестровка команды (Crew Orchestration)</a:t>
            </a:r>
            <a:endParaRPr lang="en-US" sz="2436" dirty="0"/>
          </a:p>
        </p:txBody>
      </p:sp>
      <p:sp>
        <p:nvSpPr>
          <p:cNvPr id="7" name="Text 4"/>
          <p:cNvSpPr/>
          <p:nvPr/>
        </p:nvSpPr>
        <p:spPr>
          <a:xfrm>
            <a:off x="428625" y="1618059"/>
            <a:ext cx="53687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How the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965495" y="1637705"/>
            <a:ext cx="31653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0B981"/>
                </a:solidFill>
              </a:rPr>
              <a:t>Crew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1282024" y="1618059"/>
            <a:ext cx="32951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class manages the execution flow of agents and tasks.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428625" y="2298502"/>
            <a:ext cx="2619356" cy="161836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428625" y="2298502"/>
            <a:ext cx="2619356" cy="35719"/>
          </a:xfrm>
          <a:prstGeom prst="rect">
            <a:avLst/>
          </a:prstGeom>
          <a:solidFill>
            <a:srgbClr val="FF4F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2544961"/>
            <a:ext cx="214313" cy="1714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7250" y="2512814"/>
            <a:ext cx="64500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Agents</a:t>
            </a:r>
            <a:endParaRPr lang="en-US" sz="1193" dirty="0"/>
          </a:p>
        </p:txBody>
      </p:sp>
      <p:sp>
        <p:nvSpPr>
          <p:cNvPr id="14" name="Text 10"/>
          <p:cNvSpPr/>
          <p:nvPr/>
        </p:nvSpPr>
        <p:spPr>
          <a:xfrm>
            <a:off x="642938" y="3153966"/>
            <a:ext cx="219073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F2937"/>
                </a:solidFill>
              </a:rPr>
              <a:t>The collection of individual AI agents participating in the crew, each with their defined roles, goals, and backstories.</a:t>
            </a:r>
            <a:endParaRPr lang="en-US" sz="834" dirty="0"/>
          </a:p>
        </p:txBody>
      </p:sp>
      <p:sp>
        <p:nvSpPr>
          <p:cNvPr id="15" name="Shape 11"/>
          <p:cNvSpPr/>
          <p:nvPr/>
        </p:nvSpPr>
        <p:spPr>
          <a:xfrm>
            <a:off x="3262294" y="2298502"/>
            <a:ext cx="2619384" cy="161836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3262294" y="2298502"/>
            <a:ext cx="2619384" cy="35719"/>
          </a:xfrm>
          <a:prstGeom prst="rect">
            <a:avLst/>
          </a:prstGeom>
          <a:solidFill>
            <a:srgbClr val="FF4F4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606" y="2544961"/>
            <a:ext cx="171450" cy="1714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648056" y="2512814"/>
            <a:ext cx="51041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Tasks</a:t>
            </a:r>
            <a:endParaRPr lang="en-US" sz="1193" dirty="0"/>
          </a:p>
        </p:txBody>
      </p:sp>
      <p:sp>
        <p:nvSpPr>
          <p:cNvPr id="19" name="Text 14"/>
          <p:cNvSpPr/>
          <p:nvPr/>
        </p:nvSpPr>
        <p:spPr>
          <a:xfrm>
            <a:off x="3476606" y="3153966"/>
            <a:ext cx="2190759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F2937"/>
                </a:solidFill>
              </a:rPr>
              <a:t>A list of specific tasks that the crew needs to accomplish, with clear descriptions and expected outputs.</a:t>
            </a:r>
            <a:endParaRPr lang="en-US" sz="834" dirty="0"/>
          </a:p>
        </p:txBody>
      </p:sp>
      <p:sp>
        <p:nvSpPr>
          <p:cNvPr id="20" name="Shape 15"/>
          <p:cNvSpPr/>
          <p:nvPr/>
        </p:nvSpPr>
        <p:spPr>
          <a:xfrm>
            <a:off x="6095991" y="2298502"/>
            <a:ext cx="2619356" cy="161836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6"/>
          <p:cNvSpPr/>
          <p:nvPr/>
        </p:nvSpPr>
        <p:spPr>
          <a:xfrm>
            <a:off x="6095991" y="2298502"/>
            <a:ext cx="2619356" cy="35719"/>
          </a:xfrm>
          <a:prstGeom prst="rect">
            <a:avLst/>
          </a:prstGeom>
          <a:solidFill>
            <a:srgbClr val="FF4F4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0303" y="2544961"/>
            <a:ext cx="214313" cy="1714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524616" y="2512814"/>
            <a:ext cx="69266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Process</a:t>
            </a:r>
            <a:endParaRPr lang="en-US" sz="1193" dirty="0"/>
          </a:p>
        </p:txBody>
      </p:sp>
      <p:sp>
        <p:nvSpPr>
          <p:cNvPr id="24" name="Text 18"/>
          <p:cNvSpPr/>
          <p:nvPr/>
        </p:nvSpPr>
        <p:spPr>
          <a:xfrm>
            <a:off x="6310303" y="3118247"/>
            <a:ext cx="219073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F2937"/>
                </a:solidFill>
              </a:rPr>
              <a:t>Defines the orchestration strategy for the crew, such as sequential, hierarchical, or a custom process flow.</a:t>
            </a:r>
            <a:endParaRPr lang="en-US" sz="834" dirty="0"/>
          </a:p>
        </p:txBody>
      </p:sp>
      <p:sp>
        <p:nvSpPr>
          <p:cNvPr id="25" name="Shape 19"/>
          <p:cNvSpPr/>
          <p:nvPr/>
        </p:nvSpPr>
        <p:spPr>
          <a:xfrm>
            <a:off x="428625" y="4095462"/>
            <a:ext cx="2619356" cy="18012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0"/>
          <p:cNvSpPr/>
          <p:nvPr/>
        </p:nvSpPr>
        <p:spPr>
          <a:xfrm>
            <a:off x="428625" y="4095462"/>
            <a:ext cx="2619356" cy="35719"/>
          </a:xfrm>
          <a:prstGeom prst="rect">
            <a:avLst/>
          </a:prstGeom>
          <a:solidFill>
            <a:srgbClr val="FF4F4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4341921"/>
            <a:ext cx="171450" cy="17145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14388" y="4309774"/>
            <a:ext cx="121371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Manager LLM</a:t>
            </a:r>
            <a:endParaRPr lang="en-US" sz="1193" dirty="0"/>
          </a:p>
        </p:txBody>
      </p:sp>
      <p:sp>
        <p:nvSpPr>
          <p:cNvPr id="29" name="Text 22"/>
          <p:cNvSpPr/>
          <p:nvPr/>
        </p:nvSpPr>
        <p:spPr>
          <a:xfrm>
            <a:off x="642938" y="4915207"/>
            <a:ext cx="2190731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F2937"/>
                </a:solidFill>
              </a:rPr>
              <a:t>The Large Language Model responsible for overseeing and coordinating the agents, especially in hierarchical processes.</a:t>
            </a:r>
            <a:endParaRPr lang="en-US" sz="8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77873" y="428625"/>
            <a:ext cx="5588254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</a:rPr>
              <a:t>Типы процессов (Process Types)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647290" y="966192"/>
            <a:ext cx="38494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Visual comparison of how agents collaborate and execute tasks.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357188" y="1426964"/>
            <a:ext cx="2666991" cy="29289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1233915" y="1812727"/>
            <a:ext cx="91350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Sequential</a:t>
            </a:r>
            <a:endParaRPr lang="en-US" sz="1193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954" y="2526934"/>
            <a:ext cx="312539" cy="357188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931" y="2562653"/>
            <a:ext cx="250031" cy="2857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4399" y="2526934"/>
            <a:ext cx="312539" cy="357188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8376" y="2562653"/>
            <a:ext cx="250031" cy="285750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9845" y="2526934"/>
            <a:ext cx="312539" cy="357188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571500" y="3478671"/>
            <a:ext cx="223836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Agents execute tasks one after another in a predefined order. Simple, predictable, and ideal for linear workflows.</a:t>
            </a:r>
            <a:endParaRPr lang="en-US" sz="834" dirty="0"/>
          </a:p>
        </p:txBody>
      </p:sp>
      <p:sp>
        <p:nvSpPr>
          <p:cNvPr id="13" name="Shape 5"/>
          <p:cNvSpPr/>
          <p:nvPr/>
        </p:nvSpPr>
        <p:spPr>
          <a:xfrm>
            <a:off x="3238491" y="1426964"/>
            <a:ext cx="2666991" cy="29289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6"/>
          <p:cNvSpPr/>
          <p:nvPr/>
        </p:nvSpPr>
        <p:spPr>
          <a:xfrm>
            <a:off x="4054887" y="1812727"/>
            <a:ext cx="103419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Hierarchical</a:t>
            </a:r>
            <a:endParaRPr lang="en-US" sz="1193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9921" y="2435516"/>
            <a:ext cx="446484" cy="357188"/>
          </a:xfrm>
          <a:prstGeom prst="rect">
            <a:avLst/>
          </a:prstGeom>
        </p:spPr>
      </p:pic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6406" y="2435516"/>
            <a:ext cx="312539" cy="357188"/>
          </a:xfrm>
          <a:prstGeom prst="rect">
            <a:avLst/>
          </a:prstGeom>
        </p:spPr>
      </p:pic>
      <p:pic>
        <p:nvPicPr>
          <p:cNvPr id="1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8945" y="2435516"/>
            <a:ext cx="312539" cy="357188"/>
          </a:xfrm>
          <a:prstGeom prst="rect">
            <a:avLst/>
          </a:prstGeom>
        </p:spPr>
      </p:pic>
      <p:pic>
        <p:nvPicPr>
          <p:cNvPr id="1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1484" y="2435516"/>
            <a:ext cx="312539" cy="357188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3452803" y="3295836"/>
            <a:ext cx="2238366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A manager agent delegates tasks to worker agents. Best for complex, dynamic problems requiring oversight and coordination.</a:t>
            </a:r>
            <a:endParaRPr lang="en-US" sz="834" dirty="0"/>
          </a:p>
        </p:txBody>
      </p:sp>
      <p:sp>
        <p:nvSpPr>
          <p:cNvPr id="20" name="Shape 8"/>
          <p:cNvSpPr/>
          <p:nvPr/>
        </p:nvSpPr>
        <p:spPr>
          <a:xfrm>
            <a:off x="6119794" y="1426964"/>
            <a:ext cx="2666991" cy="29289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9"/>
          <p:cNvSpPr/>
          <p:nvPr/>
        </p:nvSpPr>
        <p:spPr>
          <a:xfrm>
            <a:off x="7165321" y="1812727"/>
            <a:ext cx="57590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Hybrid</a:t>
            </a:r>
            <a:endParaRPr lang="en-US" sz="1193" dirty="0"/>
          </a:p>
        </p:txBody>
      </p:sp>
      <p:pic>
        <p:nvPicPr>
          <p:cNvPr id="2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1041" y="2435516"/>
            <a:ext cx="312539" cy="357188"/>
          </a:xfrm>
          <a:prstGeom prst="rect">
            <a:avLst/>
          </a:prstGeom>
        </p:spPr>
      </p:pic>
      <p:pic>
        <p:nvPicPr>
          <p:cNvPr id="2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05017" y="2471235"/>
            <a:ext cx="250031" cy="285750"/>
          </a:xfrm>
          <a:prstGeom prst="rect">
            <a:avLst/>
          </a:prstGeom>
        </p:spPr>
      </p:pic>
      <p:pic>
        <p:nvPicPr>
          <p:cNvPr id="2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26486" y="2435516"/>
            <a:ext cx="446484" cy="357188"/>
          </a:xfrm>
          <a:prstGeom prst="rect">
            <a:avLst/>
          </a:prstGeom>
        </p:spPr>
      </p:pic>
      <p:pic>
        <p:nvPicPr>
          <p:cNvPr id="2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72971" y="2435516"/>
            <a:ext cx="312539" cy="357188"/>
          </a:xfrm>
          <a:prstGeom prst="rect">
            <a:avLst/>
          </a:prstGeom>
        </p:spPr>
      </p:pic>
      <p:sp>
        <p:nvSpPr>
          <p:cNvPr id="26" name="Text 10"/>
          <p:cNvSpPr/>
          <p:nvPr/>
        </p:nvSpPr>
        <p:spPr>
          <a:xfrm>
            <a:off x="6334106" y="3295836"/>
            <a:ext cx="2238366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Combines sequential and hierarchical approaches. Offers flexibility to switch between direct execution and delegated management as needed.</a:t>
            </a:r>
            <a:endParaRPr lang="en-US" sz="83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615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40088"/>
            <a:ext cx="9144000" cy="21431"/>
          </a:xfrm>
          <a:prstGeom prst="rect">
            <a:avLst/>
          </a:prstGeom>
          <a:solidFill>
            <a:srgbClr val="FF4F4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</a:rPr>
              <a:t>Последовательный процесс (Sequential)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3093355" y="1601651"/>
            <a:ext cx="295726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Линейный поток выполнения задач агентами.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1142274" y="2191010"/>
            <a:ext cx="1643537" cy="832247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99449" y="2376748"/>
            <a:ext cx="112918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Agent A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1399449" y="2682143"/>
            <a:ext cx="11291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Выполняет задачу 1</a:t>
            </a:r>
            <a:endParaRPr lang="en-US" sz="834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855" y="2464259"/>
            <a:ext cx="250031" cy="2857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743074" y="2191010"/>
            <a:ext cx="1643537" cy="832247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000249" y="2376748"/>
            <a:ext cx="112918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Agent B</a:t>
            </a:r>
            <a:endParaRPr lang="en-US" sz="1193" dirty="0"/>
          </a:p>
        </p:txBody>
      </p:sp>
      <p:sp>
        <p:nvSpPr>
          <p:cNvPr id="13" name="Text 9"/>
          <p:cNvSpPr/>
          <p:nvPr/>
        </p:nvSpPr>
        <p:spPr>
          <a:xfrm>
            <a:off x="4000249" y="2682143"/>
            <a:ext cx="11291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Выполняет задачу 2</a:t>
            </a:r>
            <a:endParaRPr lang="en-US" sz="834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6654" y="2464259"/>
            <a:ext cx="250031" cy="28575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343873" y="2191010"/>
            <a:ext cx="1643537" cy="832247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601048" y="2376748"/>
            <a:ext cx="112918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Agent C</a:t>
            </a:r>
            <a:endParaRPr lang="en-US" sz="1193" dirty="0"/>
          </a:p>
        </p:txBody>
      </p:sp>
      <p:sp>
        <p:nvSpPr>
          <p:cNvPr id="17" name="Text 12"/>
          <p:cNvSpPr/>
          <p:nvPr/>
        </p:nvSpPr>
        <p:spPr>
          <a:xfrm>
            <a:off x="6601048" y="2682143"/>
            <a:ext cx="11291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Выполняет задачу 3</a:t>
            </a:r>
            <a:endParaRPr lang="en-US" sz="834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3611891"/>
            <a:ext cx="157163" cy="15716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78819" y="3587614"/>
            <a:ext cx="436904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F2937"/>
                </a:solidFill>
              </a:rPr>
              <a:t>**Default mode:** Задачи выполняются агентами строго по порядку.</a:t>
            </a:r>
            <a:endParaRPr lang="en-US" sz="942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500" y="4027624"/>
            <a:ext cx="157163" cy="15716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978819" y="3900488"/>
            <a:ext cx="545068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F2937"/>
                </a:solidFill>
              </a:rPr>
              <a:t>**Simple and predictable:** Идеально подходит для четко определенных, пошаговых рабочих процессов.</a:t>
            </a:r>
            <a:endParaRPr lang="en-US" sz="942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4500" y="4443357"/>
            <a:ext cx="157163" cy="157163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978819" y="4419079"/>
            <a:ext cx="503525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F2937"/>
                </a:solidFill>
              </a:rPr>
              <a:t>Каждый агент передает результат своей работы следующему агенту в цепочке.</a:t>
            </a:r>
            <a:endParaRPr lang="en-US" sz="94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494062"/>
            <a:ext cx="771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'''</a:t>
            </a:r>
            <a:endParaRPr lang="en-US" sz="834" dirty="0"/>
          </a:p>
        </p:txBody>
      </p:sp>
      <p:sp>
        <p:nvSpPr>
          <p:cNvPr id="4" name="Shape 1"/>
          <p:cNvSpPr/>
          <p:nvPr/>
        </p:nvSpPr>
        <p:spPr>
          <a:xfrm>
            <a:off x="77158" y="-185319"/>
            <a:ext cx="8989684" cy="55141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1173333" y="171869"/>
            <a:ext cx="6797306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</a:rPr>
              <a:t>Иерархический процесс (Hierarchical)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3650345" y="1244073"/>
            <a:ext cx="1843283" cy="1210866"/>
          </a:xfrm>
          <a:prstGeom prst="rect">
            <a:avLst/>
          </a:prstGeom>
          <a:solidFill>
            <a:srgbClr val="FF4F4F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6956" y="1429810"/>
            <a:ext cx="250031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07520" y="1822717"/>
            <a:ext cx="132893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Manager Agent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4150770" y="2113824"/>
            <a:ext cx="84240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Delegates tasks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1370484" y="3126451"/>
            <a:ext cx="1848585" cy="1210866"/>
          </a:xfrm>
          <a:prstGeom prst="rect">
            <a:avLst/>
          </a:prstGeom>
          <a:solidFill>
            <a:srgbClr val="E0F2F1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169" y="3312189"/>
            <a:ext cx="357188" cy="285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27659" y="3705095"/>
            <a:ext cx="133423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Worker Agent 1</a:t>
            </a:r>
            <a:endParaRPr lang="en-US" sz="1193" dirty="0"/>
          </a:p>
        </p:txBody>
      </p:sp>
      <p:sp>
        <p:nvSpPr>
          <p:cNvPr id="13" name="Text 8"/>
          <p:cNvSpPr/>
          <p:nvPr/>
        </p:nvSpPr>
        <p:spPr>
          <a:xfrm>
            <a:off x="1692232" y="3996203"/>
            <a:ext cx="12050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Executes specific tasks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3640550" y="3126451"/>
            <a:ext cx="1848585" cy="1210866"/>
          </a:xfrm>
          <a:prstGeom prst="rect">
            <a:avLst/>
          </a:prstGeom>
          <a:solidFill>
            <a:srgbClr val="E0F2F1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6235" y="3312189"/>
            <a:ext cx="357188" cy="2857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897725" y="3705095"/>
            <a:ext cx="133423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Worker Agent 2</a:t>
            </a:r>
            <a:endParaRPr lang="en-US" sz="1193" dirty="0"/>
          </a:p>
        </p:txBody>
      </p:sp>
      <p:sp>
        <p:nvSpPr>
          <p:cNvPr id="17" name="Text 11"/>
          <p:cNvSpPr/>
          <p:nvPr/>
        </p:nvSpPr>
        <p:spPr>
          <a:xfrm>
            <a:off x="3962298" y="3996203"/>
            <a:ext cx="12050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Executes specific tasks</a:t>
            </a:r>
            <a:endParaRPr lang="en-US" sz="834" dirty="0"/>
          </a:p>
        </p:txBody>
      </p:sp>
      <p:sp>
        <p:nvSpPr>
          <p:cNvPr id="18" name="Shape 12"/>
          <p:cNvSpPr/>
          <p:nvPr/>
        </p:nvSpPr>
        <p:spPr>
          <a:xfrm>
            <a:off x="5910616" y="3126451"/>
            <a:ext cx="1848585" cy="1210866"/>
          </a:xfrm>
          <a:prstGeom prst="rect">
            <a:avLst/>
          </a:prstGeom>
          <a:solidFill>
            <a:srgbClr val="E0F2F1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301" y="3312189"/>
            <a:ext cx="357188" cy="2857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167791" y="3705095"/>
            <a:ext cx="133423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Worker Agent 3</a:t>
            </a:r>
            <a:endParaRPr lang="en-US" sz="1193" dirty="0"/>
          </a:p>
        </p:txBody>
      </p:sp>
      <p:sp>
        <p:nvSpPr>
          <p:cNvPr id="21" name="Text 14"/>
          <p:cNvSpPr/>
          <p:nvPr/>
        </p:nvSpPr>
        <p:spPr>
          <a:xfrm>
            <a:off x="6232364" y="3996203"/>
            <a:ext cx="12050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Executes specific tasks</a:t>
            </a:r>
            <a:endParaRPr lang="en-US" sz="834" dirty="0"/>
          </a:p>
        </p:txBody>
      </p:sp>
      <p:sp>
        <p:nvSpPr>
          <p:cNvPr id="22" name="Text 15"/>
          <p:cNvSpPr/>
          <p:nvPr/>
        </p:nvSpPr>
        <p:spPr>
          <a:xfrm>
            <a:off x="1714500" y="4651642"/>
            <a:ext cx="571500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В иерархическом процессе </a:t>
            </a:r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4F4F"/>
                </a:solidFill>
              </a:rPr>
              <a:t>Manager Agent</a:t>
            </a:r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 делегирует задачи рабочим агентам. Это требует </a:t>
            </a:r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использования </a:t>
            </a:r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manager_llm</a:t>
            </a:r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 и идеально подходит для сложных, динамических задач, где </a:t>
            </a:r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требуется координация и распределение работы.</a:t>
            </a:r>
            <a:endParaRPr lang="en-US" sz="784" dirty="0"/>
          </a:p>
        </p:txBody>
      </p:sp>
      <p:sp>
        <p:nvSpPr>
          <p:cNvPr id="23" name="Text 16"/>
          <p:cNvSpPr/>
          <p:nvPr/>
        </p:nvSpPr>
        <p:spPr>
          <a:xfrm>
            <a:off x="9066842" y="2494062"/>
            <a:ext cx="771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'''</a:t>
            </a:r>
            <a:endParaRPr lang="en-US" sz="83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5085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215135"/>
            <a:ext cx="9144000" cy="35719"/>
          </a:xfrm>
          <a:prstGeom prst="rect">
            <a:avLst/>
          </a:prstGeom>
          <a:solidFill>
            <a:srgbClr val="FF4F4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</a:rPr>
              <a:t>Интеграция инструментов (Tools Integration)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428625" y="768651"/>
            <a:ext cx="8286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How to empower agents with external capabilities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428625" y="1500885"/>
            <a:ext cx="8286750" cy="289143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715198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1544" y="1715198"/>
            <a:ext cx="1279122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2937"/>
                </a:solidFill>
              </a:rPr>
              <a:t>Наделение агентов навыками: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2200666" y="1715198"/>
            <a:ext cx="6300397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Инструменты позволяют агентам взаимодействовать с внешним миром, выполнять действия и получать информацию, выходящую за рамки их базовых знаний.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2406355"/>
            <a:ext cx="171450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1544" y="2406355"/>
            <a:ext cx="1415216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2937"/>
                </a:solidFill>
              </a:rPr>
              <a:t>Встроенные инструменты:</a:t>
            </a:r>
            <a:endParaRPr lang="en-US" sz="987" dirty="0"/>
          </a:p>
        </p:txBody>
      </p:sp>
      <p:sp>
        <p:nvSpPr>
          <p:cNvPr id="13" name="Text 8"/>
          <p:cNvSpPr/>
          <p:nvPr/>
        </p:nvSpPr>
        <p:spPr>
          <a:xfrm>
            <a:off x="2336760" y="2406355"/>
            <a:ext cx="3912543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CrewAI поставляется с готовыми инструментами для общих задач, такими как: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302" y="2406355"/>
            <a:ext cx="171450" cy="1714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27909" y="2406355"/>
            <a:ext cx="11144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SerperDevTool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7642334" y="2406355"/>
            <a:ext cx="858729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: Для поиска в интернете.</a:t>
            </a:r>
            <a:endParaRPr lang="en-US" sz="10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9302" y="3097513"/>
            <a:ext cx="128588" cy="1714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485046" y="3097513"/>
            <a:ext cx="10287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FileReadTool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7513746" y="3097513"/>
            <a:ext cx="987316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: Для чтения файлов.</a:t>
            </a:r>
            <a:endParaRPr lang="en-US" sz="10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3594004"/>
            <a:ext cx="150019" cy="1714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00113" y="3594004"/>
            <a:ext cx="1409747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2937"/>
                </a:solidFill>
              </a:rPr>
              <a:t>Пользовательские инструменты:</a:t>
            </a:r>
            <a:endParaRPr lang="en-US" sz="987" dirty="0"/>
          </a:p>
        </p:txBody>
      </p:sp>
      <p:sp>
        <p:nvSpPr>
          <p:cNvPr id="22" name="Text 14"/>
          <p:cNvSpPr/>
          <p:nvPr/>
        </p:nvSpPr>
        <p:spPr>
          <a:xfrm>
            <a:off x="2309859" y="3594004"/>
            <a:ext cx="6191203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Вы можете создавать свои собственные инструменты, совместимые с экосистемами LangChain и LlamaIndex, для удовлетворения уникальных потребностей ваших агентов.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494062"/>
            <a:ext cx="3259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f""""""</a:t>
            </a:r>
            <a:endParaRPr lang="en-US" sz="834" dirty="0"/>
          </a:p>
        </p:txBody>
      </p:sp>
      <p:sp>
        <p:nvSpPr>
          <p:cNvPr id="4" name="Shape 1"/>
          <p:cNvSpPr/>
          <p:nvPr/>
        </p:nvSpPr>
        <p:spPr>
          <a:xfrm>
            <a:off x="325989" y="0"/>
            <a:ext cx="8818011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325989" y="0"/>
            <a:ext cx="8818011" cy="875807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Shape 3"/>
          <p:cNvSpPr/>
          <p:nvPr/>
        </p:nvSpPr>
        <p:spPr>
          <a:xfrm>
            <a:off x="325989" y="840088"/>
            <a:ext cx="8818011" cy="35719"/>
          </a:xfrm>
          <a:prstGeom prst="rect">
            <a:avLst/>
          </a:prstGeom>
          <a:solidFill>
            <a:srgbClr val="FF4F4F"/>
          </a:solidFill>
          <a:ln/>
        </p:spPr>
      </p:sp>
      <p:sp>
        <p:nvSpPr>
          <p:cNvPr id="7" name="Text 4"/>
          <p:cNvSpPr/>
          <p:nvPr/>
        </p:nvSpPr>
        <p:spPr>
          <a:xfrm>
            <a:off x="754614" y="285750"/>
            <a:ext cx="7960761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Система памяти (Memory System)</a:t>
            </a:r>
            <a:endParaRPr lang="en-US" sz="2436" dirty="0"/>
          </a:p>
        </p:txBody>
      </p:sp>
      <p:sp>
        <p:nvSpPr>
          <p:cNvPr id="8" name="Shape 5"/>
          <p:cNvSpPr/>
          <p:nvPr/>
        </p:nvSpPr>
        <p:spPr>
          <a:xfrm>
            <a:off x="754614" y="1125838"/>
            <a:ext cx="2510693" cy="280749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27" y="1372298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0377" y="1340151"/>
            <a:ext cx="140779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Краткосрочная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968927" y="1574109"/>
            <a:ext cx="66180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память</a:t>
            </a:r>
            <a:endParaRPr lang="en-US" sz="1193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927" y="2350991"/>
            <a:ext cx="142875" cy="2143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18958" y="2350991"/>
            <a:ext cx="1832037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F2937"/>
                </a:solidFill>
              </a:rPr>
              <a:t>**Текущий запуск:** Сохраняет контекст и историю взаимодействий в рамках одного выполнения задачи.</a:t>
            </a:r>
            <a:endParaRPr lang="en-US" sz="942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927" y="3297538"/>
            <a:ext cx="142875" cy="21431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18958" y="3297538"/>
            <a:ext cx="1832037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F2937"/>
                </a:solidFill>
              </a:rPr>
              <a:t>**Эфемерна:** Очищается после завершения задачи.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3479620" y="1125838"/>
            <a:ext cx="2510721" cy="280749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3933" y="1372298"/>
            <a:ext cx="171450" cy="1714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865383" y="1340151"/>
            <a:ext cx="131090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Долгосрочная</a:t>
            </a:r>
            <a:endParaRPr lang="en-US" sz="1193" dirty="0"/>
          </a:p>
        </p:txBody>
      </p:sp>
      <p:sp>
        <p:nvSpPr>
          <p:cNvPr id="19" name="Text 12"/>
          <p:cNvSpPr/>
          <p:nvPr/>
        </p:nvSpPr>
        <p:spPr>
          <a:xfrm>
            <a:off x="3693933" y="1574109"/>
            <a:ext cx="66180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память</a:t>
            </a:r>
            <a:endParaRPr lang="en-US" sz="1193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3933" y="2000948"/>
            <a:ext cx="142875" cy="21431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943964" y="2000948"/>
            <a:ext cx="1832065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F2937"/>
                </a:solidFill>
              </a:rPr>
              <a:t>**Векторные базы данных:** Используется для хранения и извлечения информации из прошлых взаимодействий.</a:t>
            </a:r>
            <a:endParaRPr lang="en-US" sz="942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3933" y="2947495"/>
            <a:ext cx="142875" cy="214313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943964" y="2947495"/>
            <a:ext cx="1832065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F2937"/>
                </a:solidFill>
              </a:rPr>
              <a:t>**Постоянна:** Сохраняется между запусками, позволяя агентам учиться и адаптироваться.</a:t>
            </a:r>
            <a:endParaRPr lang="en-US" sz="942" dirty="0"/>
          </a:p>
        </p:txBody>
      </p:sp>
      <p:sp>
        <p:nvSpPr>
          <p:cNvPr id="24" name="Shape 15"/>
          <p:cNvSpPr/>
          <p:nvPr/>
        </p:nvSpPr>
        <p:spPr>
          <a:xfrm>
            <a:off x="6204654" y="1125838"/>
            <a:ext cx="2510693" cy="280749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966" y="1372298"/>
            <a:ext cx="214313" cy="17145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633279" y="1340151"/>
            <a:ext cx="174709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Память сущностей</a:t>
            </a:r>
            <a:endParaRPr lang="en-US" sz="1193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8966" y="2175970"/>
            <a:ext cx="142875" cy="214313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6668998" y="2175970"/>
            <a:ext cx="1832037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F2937"/>
                </a:solidFill>
              </a:rPr>
              <a:t>**Факты о сущностях:** Хранит конкретные данные о людях, местах, событиях и т.д.</a:t>
            </a:r>
            <a:endParaRPr lang="en-US" sz="942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8966" y="2947495"/>
            <a:ext cx="142875" cy="214313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6668998" y="2947495"/>
            <a:ext cx="1832037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F2937"/>
                </a:solidFill>
              </a:rPr>
              <a:t>**Структурирована:** Позволяет агентам быстро получать доступ к релевантной информации.</a:t>
            </a:r>
            <a:endParaRPr lang="en-US" sz="942" dirty="0"/>
          </a:p>
        </p:txBody>
      </p:sp>
      <p:sp>
        <p:nvSpPr>
          <p:cNvPr id="31" name="Text 19"/>
          <p:cNvSpPr/>
          <p:nvPr/>
        </p:nvSpPr>
        <p:spPr>
          <a:xfrm>
            <a:off x="754614" y="4147645"/>
            <a:ext cx="7960761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**Удержание контекста:** Эффективное управление памятью обеспечивает согласованность и релевантность ответов агентов на протяжении всего взаимодействия.</a:t>
            </a:r>
            <a:endParaRPr lang="en-US" sz="94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686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40088"/>
            <a:ext cx="9144000" cy="28575"/>
          </a:xfrm>
          <a:prstGeom prst="rect">
            <a:avLst/>
          </a:prstGeom>
          <a:solidFill>
            <a:srgbClr val="FF4F4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</a:rPr>
              <a:t>Механизм делегирования (Delegation)</a:t>
            </a:r>
            <a:endParaRPr lang="en-US" sz="2436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2727461"/>
            <a:ext cx="214313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0094" y="2706030"/>
            <a:ext cx="445343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Feature allowing agents to assign tasks to others or ask questions.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3048930"/>
            <a:ext cx="192881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28663" y="3027499"/>
            <a:ext cx="123846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Enabled by setting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1967126" y="3027499"/>
            <a:ext cx="18002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allow_delegation=True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3767351" y="3027499"/>
            <a:ext cx="153119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in agent configuration.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370399"/>
            <a:ext cx="214313" cy="171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0094" y="3348968"/>
            <a:ext cx="605176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Fosters autonomous collaboration among agents, enhancing problem-solving capabilities.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715375" cy="114121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285750"/>
            <a:ext cx="57150" cy="1141214"/>
          </a:xfrm>
          <a:prstGeom prst="rect">
            <a:avLst/>
          </a:prstGeom>
          <a:solidFill>
            <a:srgbClr val="FF4F4F"/>
          </a:solidFill>
          <a:ln/>
        </p:spPr>
      </p:sp>
      <p:sp>
        <p:nvSpPr>
          <p:cNvPr id="5" name="Text 2"/>
          <p:cNvSpPr/>
          <p:nvPr/>
        </p:nvSpPr>
        <p:spPr>
          <a:xfrm>
            <a:off x="857250" y="571500"/>
            <a:ext cx="785812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</a:rPr>
              <a:t>Конфигурация через YAML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857250" y="1109067"/>
            <a:ext cx="78581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Best Practice: Разделение логики и конфигурации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428625" y="2402979"/>
            <a:ext cx="285750" cy="285750"/>
          </a:xfrm>
          <a:prstGeom prst="rect">
            <a:avLst/>
          </a:prstGeom>
          <a:solidFill>
            <a:srgbClr val="FF4F4F">
              <a:alpha val="10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43" y="2481560"/>
            <a:ext cx="112514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7250" y="2352973"/>
            <a:ext cx="165509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74151"/>
                </a:solidFill>
              </a:rPr>
              <a:t>Separation of Concerns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857250" y="2583359"/>
            <a:ext cx="209102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Логика Python отделена от промптов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428625" y="2967335"/>
            <a:ext cx="285750" cy="285750"/>
          </a:xfrm>
          <a:prstGeom prst="rect">
            <a:avLst/>
          </a:prstGeom>
          <a:solidFill>
            <a:srgbClr val="FF4F4F">
              <a:alpha val="10000"/>
            </a:srgb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133" y="3045916"/>
            <a:ext cx="160734" cy="1285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7250" y="2917329"/>
            <a:ext cx="93998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74151"/>
                </a:solidFill>
              </a:rPr>
              <a:t>Cleaner Code</a:t>
            </a:r>
            <a:endParaRPr lang="en-US" sz="987" dirty="0"/>
          </a:p>
        </p:txBody>
      </p:sp>
      <p:sp>
        <p:nvSpPr>
          <p:cNvPr id="14" name="Text 9"/>
          <p:cNvSpPr/>
          <p:nvPr/>
        </p:nvSpPr>
        <p:spPr>
          <a:xfrm>
            <a:off x="857250" y="3147715"/>
            <a:ext cx="268353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Код становится более читаемым и компактным</a:t>
            </a:r>
            <a:endParaRPr lang="en-US" sz="834" dirty="0"/>
          </a:p>
        </p:txBody>
      </p:sp>
      <p:sp>
        <p:nvSpPr>
          <p:cNvPr id="15" name="Shape 10"/>
          <p:cNvSpPr/>
          <p:nvPr/>
        </p:nvSpPr>
        <p:spPr>
          <a:xfrm>
            <a:off x="428625" y="3531691"/>
            <a:ext cx="285750" cy="285750"/>
          </a:xfrm>
          <a:prstGeom prst="rect">
            <a:avLst/>
          </a:prstGeom>
          <a:solidFill>
            <a:srgbClr val="FF4F4F">
              <a:alpha val="10000"/>
            </a:srgbClr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06" y="3610273"/>
            <a:ext cx="128588" cy="1285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7250" y="3481685"/>
            <a:ext cx="84698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74151"/>
                </a:solidFill>
              </a:rPr>
              <a:t>Easy Tuning</a:t>
            </a:r>
            <a:endParaRPr lang="en-US" sz="987" dirty="0"/>
          </a:p>
        </p:txBody>
      </p:sp>
      <p:sp>
        <p:nvSpPr>
          <p:cNvPr id="18" name="Text 12"/>
          <p:cNvSpPr/>
          <p:nvPr/>
        </p:nvSpPr>
        <p:spPr>
          <a:xfrm>
            <a:off x="857250" y="3712071"/>
            <a:ext cx="253804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Легко менять роли и задачи без правки кода</a:t>
            </a:r>
            <a:endParaRPr lang="en-US" sz="834" dirty="0"/>
          </a:p>
        </p:txBody>
      </p:sp>
      <p:sp>
        <p:nvSpPr>
          <p:cNvPr id="19" name="Shape 13"/>
          <p:cNvSpPr/>
          <p:nvPr/>
        </p:nvSpPr>
        <p:spPr>
          <a:xfrm>
            <a:off x="4964906" y="2228850"/>
            <a:ext cx="3500438" cy="1827014"/>
          </a:xfrm>
          <a:prstGeom prst="rect">
            <a:avLst/>
          </a:prstGeom>
          <a:solidFill>
            <a:srgbClr val="1F2937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7781" y="2392263"/>
            <a:ext cx="85725" cy="1143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64944" y="2371725"/>
            <a:ext cx="6855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5E7EB"/>
                </a:solidFill>
              </a:rPr>
              <a:t>agents.yaml</a:t>
            </a:r>
            <a:endParaRPr lang="en-US" sz="784" dirty="0"/>
          </a:p>
        </p:txBody>
      </p:sp>
      <p:sp>
        <p:nvSpPr>
          <p:cNvPr id="22" name="Text 15"/>
          <p:cNvSpPr/>
          <p:nvPr/>
        </p:nvSpPr>
        <p:spPr>
          <a:xfrm>
            <a:off x="5107781" y="2712839"/>
            <a:ext cx="3214688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F4F4F"/>
                </a:solidFill>
              </a:rPr>
              <a:t>researcher: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1D5DB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1D5DB"/>
                </a:solidFill>
              </a:rPr>
              <a:t> role: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"Senior Data Researcher"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1D5DB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1D5DB"/>
                </a:solidFill>
              </a:rPr>
              <a:t> goal: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"Uncover latest trends in {topic}"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1D5DB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1D5DB"/>
                </a:solidFill>
              </a:rPr>
              <a:t> backstory: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"You are an expert..."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1D5DB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1D5DB"/>
                </a:solidFill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1D5DB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1D5DB"/>
                </a:solidFill>
              </a:rPr>
              <a:t>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F4F4F"/>
                </a:solidFill>
              </a:rPr>
              <a:t>writer: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1D5DB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1D5DB"/>
                </a:solidFill>
              </a:rPr>
              <a:t> role: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"Tech Content Strategist"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1D5DB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1D5DB"/>
                </a:solidFill>
              </a:rPr>
              <a:t> goal: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"Craft compelling content"</a:t>
            </a:r>
            <a:pPr algn="l" indent="0" marL="0">
              <a:lnSpc>
                <a:spcPts val="1200"/>
              </a:lnSpc>
              <a:buNone/>
            </a:pPr>
            <a:endParaRPr lang="en-US" sz="727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667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75" y="142875"/>
            <a:ext cx="8858250" cy="53810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142875" y="142875"/>
            <a:ext cx="8858250" cy="130552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5" name="Shape 2"/>
          <p:cNvSpPr/>
          <p:nvPr/>
        </p:nvSpPr>
        <p:spPr>
          <a:xfrm>
            <a:off x="142875" y="1412677"/>
            <a:ext cx="8858250" cy="35719"/>
          </a:xfrm>
          <a:prstGeom prst="rect">
            <a:avLst/>
          </a:prstGeom>
          <a:solidFill>
            <a:srgbClr val="FF4F4F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357188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</a:rPr>
              <a:t>Код: YAML конфигурация</a:t>
            </a:r>
            <a:endParaRPr lang="en-US" sz="2436" dirty="0"/>
          </a:p>
        </p:txBody>
      </p:sp>
      <p:sp>
        <p:nvSpPr>
          <p:cNvPr id="7" name="Text 4"/>
          <p:cNvSpPr/>
          <p:nvPr/>
        </p:nvSpPr>
        <p:spPr>
          <a:xfrm>
            <a:off x="428625" y="951905"/>
            <a:ext cx="8286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Split screen showing agents.yaml and tasks.yaml examples. Syntax highlighting.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428625" y="1698427"/>
            <a:ext cx="5015889" cy="37897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642938" y="1912739"/>
            <a:ext cx="4587264" cy="31968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1F2937"/>
                </a:solidFill>
              </a:rPr>
              <a:t>agents.yaml</a:t>
            </a:r>
            <a:endParaRPr lang="en-US" sz="1269" dirty="0"/>
          </a:p>
        </p:txBody>
      </p:sp>
      <p:sp>
        <p:nvSpPr>
          <p:cNvPr id="10" name="Shape 7"/>
          <p:cNvSpPr/>
          <p:nvPr/>
        </p:nvSpPr>
        <p:spPr>
          <a:xfrm>
            <a:off x="642938" y="2375297"/>
            <a:ext cx="4587264" cy="2898577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1" name="Text 8"/>
          <p:cNvSpPr/>
          <p:nvPr/>
        </p:nvSpPr>
        <p:spPr>
          <a:xfrm>
            <a:off x="642938" y="2375297"/>
            <a:ext cx="4587264" cy="289857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i="1" dirty="0">
                <a:solidFill>
                  <a:srgbClr val="999999"/>
                </a:solidFill>
              </a:rPr>
              <a:t># Define your agents with their roles, goals, and backstories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C99CD"/>
                </a:solidFill>
              </a:rPr>
              <a:t>agents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: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 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06C75"/>
                </a:solidFill>
              </a:rPr>
              <a:t>- role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7EC699"/>
                </a:solidFill>
              </a:rPr>
              <a:t>'Research Analyst'</a:t>
            </a:r>
            <a:pPr algn="l" indent="0" marL="0">
              <a:lnSpc>
                <a:spcPts val="1200"/>
              </a:lnSpc>
              <a:buNone/>
            </a:pP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    </a:t>
            </a: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06C75"/>
                </a:solidFill>
              </a:rPr>
              <a:t>goal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7EC699"/>
                </a:solidFill>
              </a:rPr>
              <a:t>'Uncover critical insights about the latest AI advancements'</a:t>
            </a:r>
            <a:pPr algn="l" indent="0" marL="0">
              <a:lnSpc>
                <a:spcPts val="1200"/>
              </a:lnSpc>
              <a:buNone/>
            </a:pP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    </a:t>
            </a: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06C75"/>
                </a:solidFill>
              </a:rPr>
              <a:t>backstory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7EC699"/>
                </a:solidFill>
              </a:rPr>
              <a:t>'A meticulous researcher with a knack for identifying groundbreaking trends.'</a:t>
            </a:r>
            <a:pPr algn="l" indent="0" marL="0">
              <a:lnSpc>
                <a:spcPts val="1200"/>
              </a:lnSpc>
              <a:buNone/>
            </a:pP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    </a:t>
            </a: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06C75"/>
                </a:solidFill>
              </a:rPr>
              <a:t>tools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: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     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06C75"/>
                </a:solidFill>
              </a:rPr>
              <a:t>- SerperDevTool</a:t>
            </a:r>
            <a:pPr algn="l" indent="0" marL="0">
              <a:lnSpc>
                <a:spcPts val="1200"/>
              </a:lnSpc>
              <a:buNone/>
            </a:pP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      </a:t>
            </a: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06C75"/>
                </a:solidFill>
              </a:rPr>
              <a:t>- FileReadTool</a:t>
            </a:r>
            <a:pPr algn="l" indent="0" marL="0">
              <a:lnSpc>
                <a:spcPts val="1200"/>
              </a:lnSpc>
              <a:buNone/>
            </a:pP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    </a:t>
            </a: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06C75"/>
                </a:solidFill>
              </a:rPr>
              <a:t>allow_delegation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08D49"/>
                </a:solidFill>
              </a:rPr>
              <a:t>True</a:t>
            </a:r>
            <a:pPr algn="l" indent="0" marL="0">
              <a:lnSpc>
                <a:spcPts val="1200"/>
              </a:lnSpc>
              <a:buNone/>
            </a:pP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    </a:t>
            </a: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06C75"/>
                </a:solidFill>
              </a:rPr>
              <a:t>verbose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08D49"/>
                </a:solidFill>
              </a:rPr>
              <a:t>True</a:t>
            </a:r>
            <a:pPr algn="l" indent="0" marL="0">
              <a:lnSpc>
                <a:spcPts val="1200"/>
              </a:lnSpc>
              <a:buNone/>
            </a:pP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  </a:t>
            </a: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06C75"/>
                </a:solidFill>
              </a:rPr>
              <a:t>- role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7EC699"/>
                </a:solidFill>
              </a:rPr>
              <a:t>'Report Writer'</a:t>
            </a:r>
            <a:pPr algn="l" indent="0" marL="0">
              <a:lnSpc>
                <a:spcPts val="1200"/>
              </a:lnSpc>
              <a:buNone/>
            </a:pP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    </a:t>
            </a: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06C75"/>
                </a:solidFill>
              </a:rPr>
              <a:t>goal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7EC699"/>
                </a:solidFill>
              </a:rPr>
              <a:t>'Craft compelling and informative reports based on research findings'</a:t>
            </a:r>
            <a:pPr algn="l" indent="0" marL="0">
              <a:lnSpc>
                <a:spcPts val="1200"/>
              </a:lnSpc>
              <a:buNone/>
            </a:pP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    </a:t>
            </a: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06C75"/>
                </a:solidFill>
              </a:rPr>
              <a:t>backstory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7EC699"/>
                </a:solidFill>
              </a:rPr>
              <a:t>'A skilled writer who transforms complex data into engaging narratives.'</a:t>
            </a:r>
            <a:pPr algn="l" indent="0" marL="0">
              <a:lnSpc>
                <a:spcPts val="1200"/>
              </a:lnSpc>
              <a:buNone/>
            </a:pP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    </a:t>
            </a: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06C75"/>
                </a:solidFill>
              </a:rPr>
              <a:t>allow_delegation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08D49"/>
                </a:solidFill>
              </a:rPr>
              <a:t>False</a:t>
            </a:r>
            <a:pPr algn="l" indent="0" marL="0">
              <a:lnSpc>
                <a:spcPts val="1200"/>
              </a:lnSpc>
              <a:buNone/>
            </a:pP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    </a:t>
            </a: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06C75"/>
                </a:solidFill>
              </a:rPr>
              <a:t>verbose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08D49"/>
                </a:solidFill>
              </a:rPr>
              <a:t>True</a:t>
            </a:r>
            <a:pPr algn="l" indent="0" marL="0">
              <a:lnSpc>
                <a:spcPts val="1200"/>
              </a:lnSpc>
              <a:buNone/>
            </a:pPr>
            <a:endParaRPr lang="en-US" sz="727" dirty="0"/>
          </a:p>
        </p:txBody>
      </p:sp>
      <p:sp>
        <p:nvSpPr>
          <p:cNvPr id="12" name="Shape 9"/>
          <p:cNvSpPr/>
          <p:nvPr/>
        </p:nvSpPr>
        <p:spPr>
          <a:xfrm>
            <a:off x="5658827" y="1698427"/>
            <a:ext cx="5819505" cy="37897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5873139" y="1912739"/>
            <a:ext cx="5390880" cy="31968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1F2937"/>
                </a:solidFill>
              </a:rPr>
              <a:t>tasks.yaml</a:t>
            </a:r>
            <a:endParaRPr lang="en-US" sz="1269" dirty="0"/>
          </a:p>
        </p:txBody>
      </p:sp>
      <p:sp>
        <p:nvSpPr>
          <p:cNvPr id="14" name="Shape 11"/>
          <p:cNvSpPr/>
          <p:nvPr/>
        </p:nvSpPr>
        <p:spPr>
          <a:xfrm>
            <a:off x="5873139" y="2375297"/>
            <a:ext cx="5390880" cy="2730698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5" name="Text 12"/>
          <p:cNvSpPr/>
          <p:nvPr/>
        </p:nvSpPr>
        <p:spPr>
          <a:xfrm>
            <a:off x="5873139" y="2375297"/>
            <a:ext cx="5390880" cy="273069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i="1" dirty="0">
                <a:solidFill>
                  <a:srgbClr val="999999"/>
                </a:solidFill>
              </a:rPr>
              <a:t># Define the tasks for your crew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C99CD"/>
                </a:solidFill>
              </a:rPr>
              <a:t>tasks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: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 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06C75"/>
                </a:solidFill>
              </a:rPr>
              <a:t>- description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7EC699"/>
                </a:solidFill>
              </a:rPr>
              <a:t>'Identify the top 5 emerging AI technologies in 2024.'</a:t>
            </a:r>
            <a:pPr algn="l" indent="0" marL="0">
              <a:lnSpc>
                <a:spcPts val="1200"/>
              </a:lnSpc>
              <a:buNone/>
            </a:pP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    </a:t>
            </a: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06C75"/>
                </a:solidFill>
              </a:rPr>
              <a:t>expected_output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7EC699"/>
                </a:solidFill>
              </a:rPr>
              <a:t>'A detailed list of 5 AI technologies with brief descriptions and potential impact.'</a:t>
            </a:r>
            <a:pPr algn="l" indent="0" marL="0">
              <a:lnSpc>
                <a:spcPts val="1200"/>
              </a:lnSpc>
              <a:buNone/>
            </a:pP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    </a:t>
            </a: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06C75"/>
                </a:solidFill>
              </a:rPr>
              <a:t>agent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7EC699"/>
                </a:solidFill>
              </a:rPr>
              <a:t>'Research Analyst'</a:t>
            </a:r>
            <a:pPr algn="l" indent="0" marL="0">
              <a:lnSpc>
                <a:spcPts val="1200"/>
              </a:lnSpc>
              <a:buNone/>
            </a:pP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    </a:t>
            </a: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06C75"/>
                </a:solidFill>
              </a:rPr>
              <a:t>tools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: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     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06C75"/>
                </a:solidFill>
              </a:rPr>
              <a:t>- SerperDevTool</a:t>
            </a:r>
            <a:pPr algn="l" indent="0" marL="0">
              <a:lnSpc>
                <a:spcPts val="1200"/>
              </a:lnSpc>
              <a:buNone/>
            </a:pP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  </a:t>
            </a: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06C75"/>
                </a:solidFill>
              </a:rPr>
              <a:t>- description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7EC699"/>
                </a:solidFill>
              </a:rPr>
              <a:t>'Analyze the gathered information and summarize key findings.'</a:t>
            </a:r>
            <a:pPr algn="l" indent="0" marL="0">
              <a:lnSpc>
                <a:spcPts val="1200"/>
              </a:lnSpc>
              <a:buNone/>
            </a:pP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    </a:t>
            </a: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06C75"/>
                </a:solidFill>
              </a:rPr>
              <a:t>expected_output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7EC699"/>
                </a:solidFill>
              </a:rPr>
              <a:t>'A concise summary of the research, highlighting crucial insights.'</a:t>
            </a:r>
            <a:pPr algn="l" indent="0" marL="0">
              <a:lnSpc>
                <a:spcPts val="1200"/>
              </a:lnSpc>
              <a:buNone/>
            </a:pP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    </a:t>
            </a: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06C75"/>
                </a:solidFill>
              </a:rPr>
              <a:t>agent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7EC699"/>
                </a:solidFill>
              </a:rPr>
              <a:t>'Research Analyst'</a:t>
            </a:r>
            <a:pPr algn="l" indent="0" marL="0">
              <a:lnSpc>
                <a:spcPts val="1200"/>
              </a:lnSpc>
              <a:buNone/>
            </a:pP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  </a:t>
            </a: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06C75"/>
                </a:solidFill>
              </a:rPr>
              <a:t>- description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7EC699"/>
                </a:solidFill>
              </a:rPr>
              <a:t>'Write a comprehensive report based on the research analyst\'s summary.'</a:t>
            </a:r>
            <a:pPr algn="l" indent="0" marL="0">
              <a:lnSpc>
                <a:spcPts val="1200"/>
              </a:lnSpc>
              <a:buNone/>
            </a:pP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    </a:t>
            </a: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06C75"/>
                </a:solidFill>
              </a:rPr>
              <a:t>expected_output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7EC699"/>
                </a:solidFill>
              </a:rPr>
              <a:t>'A well-structured report, ready for publication, covering the emerging AI technologies.'</a:t>
            </a:r>
            <a:pPr algn="l" indent="0" marL="0">
              <a:lnSpc>
                <a:spcPts val="1200"/>
              </a:lnSpc>
              <a:buNone/>
            </a:pP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    </a:t>
            </a:r>
            <a:endParaRPr lang="en-US" sz="727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06C75"/>
                </a:solidFill>
              </a:rPr>
              <a:t>agent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8F8F2"/>
                </a:solidFill>
              </a:rPr>
              <a:t>: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7EC699"/>
                </a:solidFill>
              </a:rPr>
              <a:t>'Report Writer'</a:t>
            </a:r>
            <a:pPr algn="l" indent="0" marL="0">
              <a:lnSpc>
                <a:spcPts val="1200"/>
              </a:lnSpc>
              <a:buNone/>
            </a:pPr>
            <a:endParaRPr lang="en-US" sz="727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051272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142875"/>
            <a:ext cx="571500" cy="57150"/>
          </a:xfrm>
          <a:prstGeom prst="roundRect">
            <a:avLst/>
          </a:prstGeom>
          <a:solidFill>
            <a:srgbClr val="FF4F4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428625"/>
            <a:ext cx="828675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</a:rPr>
              <a:t>Код: Python реализация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428625" y="1054401"/>
            <a:ext cx="8286750" cy="94583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642938" y="1268713"/>
            <a:ext cx="7858125" cy="90297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7" name="Text 4"/>
          <p:cNvSpPr/>
          <p:nvPr/>
        </p:nvSpPr>
        <p:spPr>
          <a:xfrm>
            <a:off x="785813" y="1411588"/>
            <a:ext cx="7572375" cy="8743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834" i="1" dirty="0">
                <a:solidFill>
                  <a:srgbClr val="6272A4"/>
                </a:solidFill>
              </a:rPr>
              <a:t># main.py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from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BE9FD"/>
                </a:solidFill>
              </a:rPr>
              <a:t>crewai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import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BE9FD"/>
                </a:solidFill>
              </a:rPr>
              <a:t>Crew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,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BE9FD"/>
                </a:solidFill>
              </a:rPr>
              <a:t>Agent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,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BE9FD"/>
                </a:solidFill>
              </a:rPr>
              <a:t>Task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,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BE9FD"/>
                </a:solidFill>
              </a:rPr>
              <a:t>Process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from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BE9FD"/>
                </a:solidFill>
              </a:rPr>
              <a:t>crewai_tools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import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BE9FD"/>
                </a:solidFill>
              </a:rPr>
              <a:t>SerperDevTool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from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BE9FD"/>
                </a:solidFill>
              </a:rPr>
              <a:t>crewai_tools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import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BE9FD"/>
                </a:solidFill>
              </a:rPr>
              <a:t>FileReadTool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i="1" dirty="0">
                <a:solidFill>
                  <a:srgbClr val="6272A4"/>
                </a:solidFill>
              </a:rPr>
              <a:t># Initialize tools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search_tool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BE9FD"/>
                </a:solidFill>
              </a:rPr>
              <a:t>SerperDevTool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()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file_read_tool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BE9FD"/>
                </a:solidFill>
              </a:rPr>
              <a:t>FileReadTool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()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i="1" dirty="0">
                <a:solidFill>
                  <a:srgbClr val="6272A4"/>
                </a:solidFill>
              </a:rPr>
              <a:t># Define Agents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researcher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BE9FD"/>
                </a:solidFill>
              </a:rPr>
              <a:t>Agent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(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  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role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1FA8C"/>
                </a:solidFill>
              </a:rPr>
              <a:t>'Senior Researcher'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,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  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goal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1FA8C"/>
                </a:solidFill>
              </a:rPr>
              <a:t>'Uncover cutting-edge developments in AI and data science'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,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  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backstory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1FA8C"/>
                </a:solidFill>
              </a:rPr>
              <a:t>'An expert in AI research, capable of dissecting complex topics.'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,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  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tools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[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search_tool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],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  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verbose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BE9FD"/>
                </a:solidFill>
              </a:rPr>
              <a:t>True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)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writer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BE9FD"/>
                </a:solidFill>
              </a:rPr>
              <a:t>Agent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(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  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role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1FA8C"/>
                </a:solidFill>
              </a:rPr>
              <a:t>'Content Writer'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,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  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goal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1FA8C"/>
                </a:solidFill>
              </a:rPr>
              <a:t>'Craft compelling content on AI advancements'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,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  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backstory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1FA8C"/>
                </a:solidFill>
              </a:rPr>
              <a:t>'A skilled writer, able to translate complex technical concepts into engaging narratives.'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,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  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verbose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BE9FD"/>
                </a:solidFill>
              </a:rPr>
              <a:t>True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)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i="1" dirty="0">
                <a:solidFill>
                  <a:srgbClr val="6272A4"/>
                </a:solidFill>
              </a:rPr>
              <a:t># Define Tasks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research_task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BE9FD"/>
                </a:solidFill>
              </a:rPr>
              <a:t>Task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(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  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description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1FA8C"/>
                </a:solidFill>
              </a:rPr>
              <a:t>'Investigate the latest trends in large language models.'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,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  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expected_output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1FA8C"/>
                </a:solidFill>
              </a:rPr>
              <a:t>'A comprehensive report on LLM trends.'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,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  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agent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researcher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)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write_task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BE9FD"/>
                </a:solidFill>
              </a:rPr>
              <a:t>Task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(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  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description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1FA8C"/>
                </a:solidFill>
              </a:rPr>
              <a:t>'Write a blog post based on the LLM trends report.'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,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  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expected_output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1FA8C"/>
                </a:solidFill>
              </a:rPr>
              <a:t>'A 800-word blog post in markdown format.'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,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  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agent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writer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)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i="1" dirty="0">
                <a:solidFill>
                  <a:srgbClr val="6272A4"/>
                </a:solidFill>
              </a:rPr>
              <a:t># Instantiate your crew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crew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BE9FD"/>
                </a:solidFill>
              </a:rPr>
              <a:t>Crew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(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  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agents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[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researcher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,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writer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],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  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tasks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[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research_task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,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write_task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],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  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process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BE9FD"/>
                </a:solidFill>
              </a:rPr>
              <a:t>Process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.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BE9FD"/>
                </a:solidFill>
              </a:rPr>
              <a:t>sequential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,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  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verbose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BE9FD"/>
                </a:solidFill>
              </a:rPr>
              <a:t>True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)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i="1" dirty="0">
                <a:solidFill>
                  <a:srgbClr val="6272A4"/>
                </a:solidFill>
              </a:rPr>
              <a:t># Kickoff the crew's work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result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79C6"/>
                </a:solidFill>
              </a:rPr>
              <a:t>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crew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.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0FA7B"/>
                </a:solidFill>
              </a:rPr>
              <a:t>kickoff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()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BE9FD"/>
                </a:solidFill>
              </a:rPr>
              <a:t>print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(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BD93F9"/>
                </a:solidFill>
              </a:rPr>
              <a:t>result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8F8F2"/>
                </a:solidFill>
              </a:rPr>
              <a:t>)
</a:t>
            </a:r>
            <a:pPr algn="l" indent="0" marL="0">
              <a:lnSpc>
                <a:spcPts val="1400"/>
              </a:lnSpc>
              <a:buNone/>
            </a:pPr>
            <a:endParaRPr lang="en-US" sz="834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57632" y="989102"/>
            <a:ext cx="428625" cy="28575"/>
          </a:xfrm>
          <a:prstGeom prst="roundRect">
            <a:avLst/>
          </a:prstGeom>
          <a:solidFill>
            <a:srgbClr val="FF4F4F"/>
          </a:solidFill>
          <a:ln/>
        </p:spPr>
      </p:sp>
      <p:sp>
        <p:nvSpPr>
          <p:cNvPr id="4" name="Text 1"/>
          <p:cNvSpPr/>
          <p:nvPr/>
        </p:nvSpPr>
        <p:spPr>
          <a:xfrm>
            <a:off x="1118639" y="480110"/>
            <a:ext cx="6906695" cy="537567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</a:rPr>
              <a:t>Case Study: Исследовательская группа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1143000" y="1446302"/>
            <a:ext cx="2143125" cy="277238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113" y="1660615"/>
            <a:ext cx="342900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57313" y="2317840"/>
            <a:ext cx="171450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Исследователь (Researcher)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1357313" y="3007212"/>
            <a:ext cx="1714500" cy="1097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Отвечает за сбор и проверку информации из различных источников. Использует инструменты для поиска в интернете и доступа к базам данных.</a:t>
            </a:r>
            <a:endParaRPr lang="en-US" sz="834" dirty="0"/>
          </a:p>
        </p:txBody>
      </p:sp>
      <p:sp>
        <p:nvSpPr>
          <p:cNvPr id="9" name="Shape 5"/>
          <p:cNvSpPr/>
          <p:nvPr/>
        </p:nvSpPr>
        <p:spPr>
          <a:xfrm>
            <a:off x="3500438" y="1446302"/>
            <a:ext cx="2143125" cy="2538431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50" y="1660615"/>
            <a:ext cx="342900" cy="342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722703" y="2317840"/>
            <a:ext cx="169856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Аналитик (Analyst)</a:t>
            </a:r>
            <a:endParaRPr lang="en-US" sz="1193" dirty="0"/>
          </a:p>
        </p:txBody>
      </p:sp>
      <p:sp>
        <p:nvSpPr>
          <p:cNvPr id="12" name="Text 7"/>
          <p:cNvSpPr/>
          <p:nvPr/>
        </p:nvSpPr>
        <p:spPr>
          <a:xfrm>
            <a:off x="3714750" y="2773254"/>
            <a:ext cx="1714500" cy="1097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Обрабатывает и интерпретирует собранные данные, выявляя ключевые тенденции, закономерности и инсайты. Готовит отчеты и визуализации.</a:t>
            </a:r>
            <a:endParaRPr lang="en-US" sz="834" dirty="0"/>
          </a:p>
        </p:txBody>
      </p:sp>
      <p:sp>
        <p:nvSpPr>
          <p:cNvPr id="13" name="Shape 8"/>
          <p:cNvSpPr/>
          <p:nvPr/>
        </p:nvSpPr>
        <p:spPr>
          <a:xfrm>
            <a:off x="5857875" y="1446302"/>
            <a:ext cx="2143125" cy="2538431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988" y="1660615"/>
            <a:ext cx="342900" cy="3429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48564" y="2317840"/>
            <a:ext cx="156174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Писатель (Writer)</a:t>
            </a:r>
            <a:endParaRPr lang="en-US" sz="1193" dirty="0"/>
          </a:p>
        </p:txBody>
      </p:sp>
      <p:sp>
        <p:nvSpPr>
          <p:cNvPr id="16" name="Text 10"/>
          <p:cNvSpPr/>
          <p:nvPr/>
        </p:nvSpPr>
        <p:spPr>
          <a:xfrm>
            <a:off x="6072188" y="2773254"/>
            <a:ext cx="1714500" cy="1097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Создает связные и информативные отчеты на основе анализа данных. Обеспечивает ясность, точность и соответствие целевой аудитории.</a:t>
            </a:r>
            <a:endParaRPr lang="en-US" sz="834" dirty="0"/>
          </a:p>
        </p:txBody>
      </p:sp>
      <p:sp>
        <p:nvSpPr>
          <p:cNvPr id="17" name="Shape 11"/>
          <p:cNvSpPr/>
          <p:nvPr/>
        </p:nvSpPr>
        <p:spPr>
          <a:xfrm>
            <a:off x="1405505" y="4575879"/>
            <a:ext cx="1880397" cy="30182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099" y="4708931"/>
            <a:ext cx="142875" cy="1428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798411" y="4683035"/>
            <a:ext cx="130889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Сбор информации</a:t>
            </a:r>
            <a:endParaRPr lang="en-US" sz="10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4496" y="4619634"/>
            <a:ext cx="187523" cy="214313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3830613" y="4575879"/>
            <a:ext cx="1647499" cy="30182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9206" y="4708931"/>
            <a:ext cx="142875" cy="14287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223519" y="4683035"/>
            <a:ext cx="107599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Анализ данных</a:t>
            </a:r>
            <a:endParaRPr lang="en-US" sz="10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6706" y="4619634"/>
            <a:ext cx="187523" cy="214313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6022823" y="4575879"/>
            <a:ext cx="1715644" cy="30182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1417" y="4708931"/>
            <a:ext cx="107156" cy="142875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380011" y="4683035"/>
            <a:ext cx="11798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Создание отчета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442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22" y="794742"/>
            <a:ext cx="571500" cy="28575"/>
          </a:xfrm>
          <a:prstGeom prst="roundRect">
            <a:avLst/>
          </a:prstGeom>
          <a:solidFill>
            <a:srgbClr val="FF4F4F"/>
          </a:solidFill>
          <a:ln/>
        </p:spPr>
      </p:sp>
      <p:sp>
        <p:nvSpPr>
          <p:cNvPr id="4" name="Text 1"/>
          <p:cNvSpPr/>
          <p:nvPr/>
        </p:nvSpPr>
        <p:spPr>
          <a:xfrm>
            <a:off x="1509731" y="285750"/>
            <a:ext cx="6124538" cy="537567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</a:rPr>
              <a:t>Case Study: Маркетинговый отдел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0" y="894755"/>
            <a:ext cx="9144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Example team: Strategist, Copywriter, SEO Specialist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714375" y="1698427"/>
            <a:ext cx="2428875" cy="1680567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8" y="1944886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00138" y="1912739"/>
            <a:ext cx="88761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F4F"/>
                </a:solidFill>
              </a:rPr>
              <a:t>Strategist</a:t>
            </a:r>
            <a:endParaRPr lang="en-US" sz="1193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88" y="2253853"/>
            <a:ext cx="128588" cy="19288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28713" y="2253853"/>
            <a:ext cx="152134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F2937"/>
                </a:solidFill>
              </a:rPr>
              <a:t>Develops campaign strategy</a:t>
            </a:r>
            <a:endParaRPr lang="en-US" sz="834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88" y="2518172"/>
            <a:ext cx="128588" cy="19288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28713" y="2518172"/>
            <a:ext cx="128247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F2937"/>
                </a:solidFill>
              </a:rPr>
              <a:t>Defines target audience</a:t>
            </a:r>
            <a:endParaRPr lang="en-US" sz="834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88" y="2782491"/>
            <a:ext cx="128588" cy="19288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28713" y="2782491"/>
            <a:ext cx="172376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F2937"/>
                </a:solidFill>
              </a:rPr>
              <a:t>Sets key performance indicators</a:t>
            </a:r>
            <a:endParaRPr lang="en-US" sz="834" dirty="0"/>
          </a:p>
        </p:txBody>
      </p:sp>
      <p:sp>
        <p:nvSpPr>
          <p:cNvPr id="15" name="Shape 8"/>
          <p:cNvSpPr/>
          <p:nvPr/>
        </p:nvSpPr>
        <p:spPr>
          <a:xfrm>
            <a:off x="3357563" y="1698427"/>
            <a:ext cx="2428875" cy="1680567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1875" y="1944886"/>
            <a:ext cx="171450" cy="1714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3743325" y="1912739"/>
            <a:ext cx="99306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F4F"/>
                </a:solidFill>
              </a:rPr>
              <a:t>Copywriter</a:t>
            </a:r>
            <a:endParaRPr lang="en-US" sz="1193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1875" y="2253853"/>
            <a:ext cx="128588" cy="192881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3771900" y="2253853"/>
            <a:ext cx="13903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F2937"/>
                </a:solidFill>
              </a:rPr>
              <a:t>Creates engaging ad copy</a:t>
            </a:r>
            <a:endParaRPr lang="en-US" sz="834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1875" y="2518172"/>
            <a:ext cx="128588" cy="192881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3771900" y="2518172"/>
            <a:ext cx="12286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F2937"/>
                </a:solidFill>
              </a:rPr>
              <a:t>Writes website content</a:t>
            </a:r>
            <a:endParaRPr lang="en-US" sz="834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71875" y="2782491"/>
            <a:ext cx="128588" cy="192881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3771900" y="2782491"/>
            <a:ext cx="15083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F2937"/>
                </a:solidFill>
              </a:rPr>
              <a:t>Develops social media posts</a:t>
            </a:r>
            <a:endParaRPr lang="en-US" sz="834" dirty="0"/>
          </a:p>
        </p:txBody>
      </p:sp>
      <p:sp>
        <p:nvSpPr>
          <p:cNvPr id="24" name="Shape 13"/>
          <p:cNvSpPr/>
          <p:nvPr/>
        </p:nvSpPr>
        <p:spPr>
          <a:xfrm>
            <a:off x="6000750" y="1698427"/>
            <a:ext cx="2428875" cy="1680567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5063" y="1944886"/>
            <a:ext cx="171450" cy="17145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6386513" y="1912739"/>
            <a:ext cx="12286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F4F"/>
                </a:solidFill>
              </a:rPr>
              <a:t>SEO Specialist</a:t>
            </a:r>
            <a:endParaRPr lang="en-US" sz="1193" dirty="0"/>
          </a:p>
        </p:txBody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5063" y="2253853"/>
            <a:ext cx="128588" cy="192881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6415088" y="2253853"/>
            <a:ext cx="180022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F2937"/>
                </a:solidFill>
              </a:rPr>
              <a:t>Optimizes content for search engines</a:t>
            </a:r>
            <a:endParaRPr lang="en-US" sz="834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5063" y="2636044"/>
            <a:ext cx="128588" cy="192881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6415088" y="2636044"/>
            <a:ext cx="148213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F2937"/>
                </a:solidFill>
              </a:rPr>
              <a:t>Conducts keyword research</a:t>
            </a:r>
            <a:endParaRPr lang="en-US" sz="834" dirty="0"/>
          </a:p>
        </p:txBody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5063" y="2900363"/>
            <a:ext cx="128588" cy="192881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6415088" y="2900363"/>
            <a:ext cx="13644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F2937"/>
                </a:solidFill>
              </a:rPr>
              <a:t>Monitors search rankings</a:t>
            </a:r>
            <a:endParaRPr lang="en-US" sz="834" dirty="0"/>
          </a:p>
        </p:txBody>
      </p:sp>
      <p:sp>
        <p:nvSpPr>
          <p:cNvPr id="33" name="Shape 18"/>
          <p:cNvSpPr/>
          <p:nvPr/>
        </p:nvSpPr>
        <p:spPr>
          <a:xfrm>
            <a:off x="2143125" y="3736181"/>
            <a:ext cx="4857750" cy="1422276"/>
          </a:xfrm>
          <a:prstGeom prst="rect">
            <a:avLst/>
          </a:prstGeom>
          <a:solidFill>
            <a:srgbClr val="FF4F4F"/>
          </a:solidFill>
          <a:ln/>
        </p:spPr>
      </p:sp>
      <p:pic>
        <p:nvPicPr>
          <p:cNvPr id="3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01218" y="3988752"/>
            <a:ext cx="171450" cy="171450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2844105" y="3914775"/>
            <a:ext cx="3698677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Goal: Launch a successful marketing</a:t>
            </a:r>
            <a:endParaRPr lang="en-US" sz="1397" dirty="0"/>
          </a:p>
        </p:txBody>
      </p:sp>
      <p:sp>
        <p:nvSpPr>
          <p:cNvPr id="36" name="Text 20"/>
          <p:cNvSpPr/>
          <p:nvPr/>
        </p:nvSpPr>
        <p:spPr>
          <a:xfrm>
            <a:off x="4078718" y="4188023"/>
            <a:ext cx="98653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campaign</a:t>
            </a:r>
            <a:endParaRPr lang="en-US" sz="1397" dirty="0"/>
          </a:p>
        </p:txBody>
      </p:sp>
      <p:sp>
        <p:nvSpPr>
          <p:cNvPr id="37" name="Text 21"/>
          <p:cNvSpPr/>
          <p:nvPr/>
        </p:nvSpPr>
        <p:spPr>
          <a:xfrm>
            <a:off x="2428875" y="4568428"/>
            <a:ext cx="42862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The CrewAI marketing team collaborates autonomously to plan, create, and optimize content for maximum impact.</a:t>
            </a:r>
            <a:endParaRPr lang="en-US" sz="942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769014"/>
            <a:ext cx="9144000" cy="66815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4286222" y="25729"/>
            <a:ext cx="571500" cy="28575"/>
          </a:xfrm>
          <a:prstGeom prst="roundRect">
            <a:avLst/>
          </a:prstGeom>
          <a:solidFill>
            <a:srgbClr val="FF4F4F"/>
          </a:solidFill>
          <a:ln/>
        </p:spPr>
      </p:sp>
      <p:sp>
        <p:nvSpPr>
          <p:cNvPr id="5" name="Text 2"/>
          <p:cNvSpPr/>
          <p:nvPr/>
        </p:nvSpPr>
        <p:spPr>
          <a:xfrm>
            <a:off x="550459" y="-483264"/>
            <a:ext cx="8043081" cy="537567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</a:rPr>
              <a:t>Взаимодействие с человеком (Human Input)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2497494" y="325766"/>
            <a:ext cx="4149012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Интеграция человеческого контроля в рабочий процесс агентов.</a:t>
            </a:r>
            <a:endParaRPr lang="en-US" sz="942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75" y="831521"/>
            <a:ext cx="214313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50344" y="817234"/>
            <a:ext cx="396478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Human-in-the-loop features для контроля и утверждения.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875" y="1338728"/>
            <a:ext cx="214313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750344" y="1324440"/>
            <a:ext cx="139872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Активация через параметр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4149068" y="1324440"/>
            <a:ext cx="1371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ADD8E6"/>
                </a:solidFill>
              </a:rPr>
              <a:t>human_input=True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5520668" y="1324440"/>
            <a:ext cx="119445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в определении задачи.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8875" y="1845934"/>
            <a:ext cx="128588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664619" y="1831646"/>
            <a:ext cx="405050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Позволяет человеку просматривать и одобрять действия агентов перед выполнением.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8875" y="2353140"/>
            <a:ext cx="214313" cy="1714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750344" y="2338853"/>
            <a:ext cx="396478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Обеспечивает гибкость и безопасность в критически важных задачах.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2350657" y="3060371"/>
            <a:ext cx="4442659" cy="23520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8" name="Text 11"/>
          <p:cNvSpPr/>
          <p:nvPr/>
        </p:nvSpPr>
        <p:spPr>
          <a:xfrm>
            <a:off x="2350657" y="3060371"/>
            <a:ext cx="4442659" cy="235208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4F4F"/>
                </a:solidFill>
              </a:rPr>
              <a:t>from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 crewai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4F4F"/>
                </a:solidFill>
              </a:rPr>
              <a:t>import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 Task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88888"/>
                </a:solidFill>
              </a:rPr>
              <a:t># Define a task that requires human input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my_task = Task(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    description=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D700"/>
                </a:solidFill>
              </a:rPr>
              <a:t>"Review the generated marketing copy and provide feedback."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,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    expected_output=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D700"/>
                </a:solidFill>
              </a:rPr>
              <a:t>"Approved marketing copy or detailed revision notes."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,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    agent=copywriter_agent,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   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DD8E6"/>
                </a:solidFill>
              </a:rPr>
              <a:t>human_input=True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 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88888"/>
                </a:solidFill>
              </a:rPr>
              <a:t># This line enables human intervention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)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0E0E0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888888"/>
                </a:solidFill>
              </a:rPr>
              <a:t># When this task is executed, the agent will pause and wait for human input.</a:t>
            </a:r>
            <a:pPr algn="l" indent="0" marL="0">
              <a:lnSpc>
                <a:spcPts val="1400"/>
              </a:lnSpc>
              <a:buNone/>
            </a:pPr>
            <a:endParaRPr lang="en-US" sz="834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5793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57313" y="1260872"/>
            <a:ext cx="571500" cy="28575"/>
          </a:xfrm>
          <a:prstGeom prst="roundRect">
            <a:avLst/>
          </a:prstGeom>
          <a:solidFill>
            <a:srgbClr val="FF4F4F"/>
          </a:solidFill>
          <a:ln/>
        </p:spPr>
      </p:sp>
      <p:sp>
        <p:nvSpPr>
          <p:cNvPr id="4" name="Text 1"/>
          <p:cNvSpPr/>
          <p:nvPr/>
        </p:nvSpPr>
        <p:spPr>
          <a:xfrm>
            <a:off x="1357313" y="285750"/>
            <a:ext cx="6429375" cy="100369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</a:rPr>
              <a:t>Структурированный вывод </a:t>
            </a:r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</a:rPr>
              <a:t>(Structured Output)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2260439" y="1396603"/>
            <a:ext cx="462312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Обеспечение типобезопасности и предсказуемости результатов агентов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1714500" y="2286000"/>
            <a:ext cx="57150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CrewAI позволяет агентам генерировать </a:t>
            </a:r>
            <a:pPr algn="ctr" indent="0" marL="0">
              <a:lnSpc>
                <a:spcPts val="1900"/>
              </a:lnSpc>
              <a:buNone/>
            </a:pPr>
            <a:r>
              <a:rPr lang="en-US" sz="987" b="1" dirty="0">
                <a:solidFill>
                  <a:srgbClr val="1F2937"/>
                </a:solidFill>
              </a:rPr>
              <a:t>структурированный вывод</a:t>
            </a:r>
            <a:pPr algn="ctr"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, </a:t>
            </a:r>
            <a:pPr algn="ctr"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используя модели Pydantic. Это гарантирует, что результаты работы агентов </a:t>
            </a:r>
            <a:pPr algn="ctr"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будут предсказуемыми, типобезопасными и легко обрабатываемыми другими </a:t>
            </a:r>
            <a:pPr algn="ctr"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системами или последующими агентами.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688" y="3471863"/>
            <a:ext cx="142875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21719" y="3471863"/>
            <a:ext cx="127610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F2937"/>
                </a:solidFill>
              </a:rPr>
              <a:t>Типобезопасность:</a:t>
            </a:r>
            <a:endParaRPr lang="en-US" sz="885" dirty="0"/>
          </a:p>
        </p:txBody>
      </p:sp>
      <p:sp>
        <p:nvSpPr>
          <p:cNvPr id="9" name="Text 5"/>
          <p:cNvSpPr/>
          <p:nvPr/>
        </p:nvSpPr>
        <p:spPr>
          <a:xfrm>
            <a:off x="3597827" y="3471863"/>
            <a:ext cx="347448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F2937"/>
                </a:solidFill>
              </a:rPr>
              <a:t>Определяйте ожидаемый формат данных с помощью Pydantic, предотвращая ошибки и несоответствия.</a:t>
            </a:r>
            <a:endParaRPr lang="en-US" sz="942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688" y="4000500"/>
            <a:ext cx="178594" cy="14287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357438" y="4014788"/>
            <a:ext cx="1244129" cy="185738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</p:sp>
      <p:sp>
        <p:nvSpPr>
          <p:cNvPr id="12" name="Text 7"/>
          <p:cNvSpPr/>
          <p:nvPr/>
        </p:nvSpPr>
        <p:spPr>
          <a:xfrm>
            <a:off x="2357438" y="4014788"/>
            <a:ext cx="1244129" cy="185738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F2937"/>
                </a:solidFill>
              </a:rPr>
              <a:t>output_pydantic</a:t>
            </a:r>
            <a:endParaRPr lang="en-US" sz="885" dirty="0"/>
          </a:p>
        </p:txBody>
      </p:sp>
      <p:sp>
        <p:nvSpPr>
          <p:cNvPr id="13" name="Text 8"/>
          <p:cNvSpPr/>
          <p:nvPr/>
        </p:nvSpPr>
        <p:spPr>
          <a:xfrm>
            <a:off x="3601566" y="4009430"/>
            <a:ext cx="3666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F2937"/>
                </a:solidFill>
              </a:rPr>
              <a:t>:</a:t>
            </a:r>
            <a:endParaRPr lang="en-US" sz="885" dirty="0"/>
          </a:p>
        </p:txBody>
      </p:sp>
      <p:sp>
        <p:nvSpPr>
          <p:cNvPr id="14" name="Text 9"/>
          <p:cNvSpPr/>
          <p:nvPr/>
        </p:nvSpPr>
        <p:spPr>
          <a:xfrm>
            <a:off x="3638234" y="4000500"/>
            <a:ext cx="343407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F2937"/>
                </a:solidFill>
              </a:rPr>
              <a:t>Используйте этот параметр в определении задачи для указания Pydantic модели, которой должен соответствовать вывод.</a:t>
            </a:r>
            <a:endParaRPr lang="en-US" sz="942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1688" y="4722019"/>
            <a:ext cx="107156" cy="142875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86000" y="4736306"/>
            <a:ext cx="927599" cy="185738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2286000" y="4736306"/>
            <a:ext cx="927599" cy="185738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F2937"/>
                </a:solidFill>
              </a:rPr>
              <a:t>output_json</a:t>
            </a:r>
            <a:endParaRPr lang="en-US" sz="885" dirty="0"/>
          </a:p>
        </p:txBody>
      </p:sp>
      <p:sp>
        <p:nvSpPr>
          <p:cNvPr id="18" name="Text 12"/>
          <p:cNvSpPr/>
          <p:nvPr/>
        </p:nvSpPr>
        <p:spPr>
          <a:xfrm>
            <a:off x="3213599" y="4730948"/>
            <a:ext cx="3666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F2937"/>
                </a:solidFill>
              </a:rPr>
              <a:t>:</a:t>
            </a:r>
            <a:endParaRPr lang="en-US" sz="885" dirty="0"/>
          </a:p>
        </p:txBody>
      </p:sp>
      <p:sp>
        <p:nvSpPr>
          <p:cNvPr id="19" name="Text 13"/>
          <p:cNvSpPr/>
          <p:nvPr/>
        </p:nvSpPr>
        <p:spPr>
          <a:xfrm>
            <a:off x="3250267" y="4722019"/>
            <a:ext cx="382204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F2937"/>
                </a:solidFill>
              </a:rPr>
              <a:t>Альтернативно, требуйте вывод в формате JSON, соответствующем заданной схеме.</a:t>
            </a:r>
            <a:endParaRPr lang="en-US" sz="942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1688" y="5250656"/>
            <a:ext cx="142875" cy="14287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321719" y="5250656"/>
            <a:ext cx="8512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F2937"/>
                </a:solidFill>
              </a:rPr>
              <a:t>Интеграция:</a:t>
            </a:r>
            <a:endParaRPr lang="en-US" sz="885" dirty="0"/>
          </a:p>
        </p:txBody>
      </p:sp>
      <p:sp>
        <p:nvSpPr>
          <p:cNvPr id="22" name="Text 15"/>
          <p:cNvSpPr/>
          <p:nvPr/>
        </p:nvSpPr>
        <p:spPr>
          <a:xfrm>
            <a:off x="3172969" y="5250656"/>
            <a:ext cx="389934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F2937"/>
                </a:solidFill>
              </a:rPr>
              <a:t>Упрощает интеграцию с другими частями вашей системы или внешними API, ожидающими конкретный формат данных.</a:t>
            </a:r>
            <a:endParaRPr lang="en-US" sz="942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1688" y="5972175"/>
            <a:ext cx="178594" cy="14287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2357438" y="5972175"/>
            <a:ext cx="86721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F2937"/>
                </a:solidFill>
              </a:rPr>
              <a:t>Надежность:</a:t>
            </a:r>
            <a:endParaRPr lang="en-US" sz="885" dirty="0"/>
          </a:p>
        </p:txBody>
      </p:sp>
      <p:sp>
        <p:nvSpPr>
          <p:cNvPr id="25" name="Text 17"/>
          <p:cNvSpPr/>
          <p:nvPr/>
        </p:nvSpPr>
        <p:spPr>
          <a:xfrm>
            <a:off x="3224650" y="5972175"/>
            <a:ext cx="38476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F2937"/>
                </a:solidFill>
              </a:rPr>
              <a:t>Повышает надежность и стабильность работы агентов, обеспечивая согласованность данных.</a:t>
            </a:r>
            <a:endParaRPr lang="en-US" sz="942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0181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</a:rPr>
              <a:t>CrewAI Enterprise &amp; AMP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0" y="823317"/>
            <a:ext cx="9144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Overview of the commercial platform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1357313" y="1526977"/>
            <a:ext cx="3107531" cy="2046991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1741289"/>
            <a:ext cx="321469" cy="2571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71625" y="2277070"/>
            <a:ext cx="250901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Agent Management Platform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1571625" y="2696766"/>
            <a:ext cx="267890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Centralized control and orchestration for all your AI agents, ensuring seamless collaboration and efficient resource allocation.</a:t>
            </a:r>
            <a:endParaRPr lang="en-US" sz="834" dirty="0"/>
          </a:p>
        </p:txBody>
      </p:sp>
      <p:sp>
        <p:nvSpPr>
          <p:cNvPr id="9" name="Shape 5"/>
          <p:cNvSpPr/>
          <p:nvPr/>
        </p:nvSpPr>
        <p:spPr>
          <a:xfrm>
            <a:off x="4679156" y="1526977"/>
            <a:ext cx="3107531" cy="2046991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469" y="1741289"/>
            <a:ext cx="321469" cy="2571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93469" y="2277070"/>
            <a:ext cx="18756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Deployment &amp; Scaling</a:t>
            </a:r>
            <a:endParaRPr lang="en-US" sz="1193" dirty="0"/>
          </a:p>
        </p:txBody>
      </p:sp>
      <p:sp>
        <p:nvSpPr>
          <p:cNvPr id="12" name="Text 7"/>
          <p:cNvSpPr/>
          <p:nvPr/>
        </p:nvSpPr>
        <p:spPr>
          <a:xfrm>
            <a:off x="4893469" y="2696766"/>
            <a:ext cx="267890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Effortlessly deploy and scale your CrewAI solutions across various environments, with robust infrastructure management.</a:t>
            </a:r>
            <a:endParaRPr lang="en-US" sz="834" dirty="0"/>
          </a:p>
        </p:txBody>
      </p:sp>
      <p:sp>
        <p:nvSpPr>
          <p:cNvPr id="13" name="Shape 8"/>
          <p:cNvSpPr/>
          <p:nvPr/>
        </p:nvSpPr>
        <p:spPr>
          <a:xfrm>
            <a:off x="1357313" y="3788280"/>
            <a:ext cx="3107531" cy="2229855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625" y="4002593"/>
            <a:ext cx="257175" cy="2571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71625" y="4538374"/>
            <a:ext cx="196670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Monitoring &amp; Analytics</a:t>
            </a:r>
            <a:endParaRPr lang="en-US" sz="1193" dirty="0"/>
          </a:p>
        </p:txBody>
      </p:sp>
      <p:sp>
        <p:nvSpPr>
          <p:cNvPr id="16" name="Text 10"/>
          <p:cNvSpPr/>
          <p:nvPr/>
        </p:nvSpPr>
        <p:spPr>
          <a:xfrm>
            <a:off x="1571625" y="4958069"/>
            <a:ext cx="2678906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Gain deep insights into agent performance, task execution, and system health with comprehensive monitoring and analytics dashboards.</a:t>
            </a:r>
            <a:endParaRPr lang="en-US" sz="834" dirty="0"/>
          </a:p>
        </p:txBody>
      </p:sp>
      <p:sp>
        <p:nvSpPr>
          <p:cNvPr id="17" name="Shape 11"/>
          <p:cNvSpPr/>
          <p:nvPr/>
        </p:nvSpPr>
        <p:spPr>
          <a:xfrm>
            <a:off x="4679156" y="3788280"/>
            <a:ext cx="3107531" cy="2229855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4002593"/>
            <a:ext cx="225028" cy="2571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893469" y="4538374"/>
            <a:ext cx="247542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Event Triggers &amp; Automation</a:t>
            </a:r>
            <a:endParaRPr lang="en-US" sz="1193" dirty="0"/>
          </a:p>
        </p:txBody>
      </p:sp>
      <p:sp>
        <p:nvSpPr>
          <p:cNvPr id="20" name="Text 13"/>
          <p:cNvSpPr/>
          <p:nvPr/>
        </p:nvSpPr>
        <p:spPr>
          <a:xfrm>
            <a:off x="4893469" y="4958069"/>
            <a:ext cx="267890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Automate workflows and respond to real-time events with configurable triggers, enabling dynamic and adaptive agent behaviors.</a:t>
            </a:r>
            <a:endParaRPr lang="en-US" sz="834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95079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801886"/>
            <a:ext cx="571500" cy="57150"/>
          </a:xfrm>
          <a:prstGeom prst="roundRect">
            <a:avLst/>
          </a:prstGeom>
          <a:solidFill>
            <a:srgbClr val="FF4F4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4308211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</a:rPr>
              <a:t>Visual Builders (No-Code)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428625" y="930473"/>
            <a:ext cx="82867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Empowering users to design and deploy AI agents with intuitive visual interfaces.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1714500" y="1466255"/>
            <a:ext cx="5715000" cy="39922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688" y="1680567"/>
            <a:ext cx="428625" cy="4286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139511" y="2252067"/>
            <a:ext cx="286497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F2937"/>
                </a:solidFill>
              </a:rPr>
              <a:t>Drag-and-Drop Agent Design</a:t>
            </a:r>
            <a:endParaRPr lang="en-US" sz="1397" dirty="0"/>
          </a:p>
        </p:txBody>
      </p:sp>
      <p:sp>
        <p:nvSpPr>
          <p:cNvPr id="9" name="Text 5"/>
          <p:cNvSpPr/>
          <p:nvPr/>
        </p:nvSpPr>
        <p:spPr>
          <a:xfrm>
            <a:off x="1928813" y="2761059"/>
            <a:ext cx="52863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Visually construct agent workflows, define roles, goals, and backstories without writing a single line of code. Intuitive interfaces make complex configurations accessible.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1928813" y="3458245"/>
            <a:ext cx="5286375" cy="178593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Text 7"/>
          <p:cNvSpPr/>
          <p:nvPr/>
        </p:nvSpPr>
        <p:spPr>
          <a:xfrm>
            <a:off x="1928813" y="3458245"/>
            <a:ext cx="5286375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6B7280"/>
                </a:solidFill>
              </a:rPr>
              <a:t>[Placeholder for Screenshot: Visual interface for agent creation]</a:t>
            </a:r>
            <a:endParaRPr lang="en-US" sz="834" dirty="0"/>
          </a:p>
        </p:txBody>
      </p:sp>
      <p:sp>
        <p:nvSpPr>
          <p:cNvPr id="12" name="Shape 8"/>
          <p:cNvSpPr/>
          <p:nvPr/>
        </p:nvSpPr>
        <p:spPr>
          <a:xfrm>
            <a:off x="1714500" y="5672807"/>
            <a:ext cx="5715000" cy="39922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688" y="5887120"/>
            <a:ext cx="428625" cy="4286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019490" y="6458620"/>
            <a:ext cx="310499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F2937"/>
                </a:solidFill>
              </a:rPr>
              <a:t>Streamlined Task Management</a:t>
            </a:r>
            <a:endParaRPr lang="en-US" sz="1397" dirty="0"/>
          </a:p>
        </p:txBody>
      </p:sp>
      <p:sp>
        <p:nvSpPr>
          <p:cNvPr id="15" name="Text 10"/>
          <p:cNvSpPr/>
          <p:nvPr/>
        </p:nvSpPr>
        <p:spPr>
          <a:xfrm>
            <a:off x="1928813" y="6967612"/>
            <a:ext cx="52863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Define and link tasks graphically, assigning them to specific agents. Monitor progress and visualize the flow of information and delegation in real-time.</a:t>
            </a:r>
            <a:endParaRPr lang="en-US" sz="942" dirty="0"/>
          </a:p>
        </p:txBody>
      </p:sp>
      <p:sp>
        <p:nvSpPr>
          <p:cNvPr id="16" name="Shape 11"/>
          <p:cNvSpPr/>
          <p:nvPr/>
        </p:nvSpPr>
        <p:spPr>
          <a:xfrm>
            <a:off x="1928813" y="7664797"/>
            <a:ext cx="5286375" cy="178593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2"/>
          <p:cNvSpPr/>
          <p:nvPr/>
        </p:nvSpPr>
        <p:spPr>
          <a:xfrm>
            <a:off x="1928813" y="7664797"/>
            <a:ext cx="5286375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6B7280"/>
                </a:solidFill>
              </a:rPr>
              <a:t>[Placeholder for Screenshot: Visual task flow editor]</a:t>
            </a:r>
            <a:endParaRPr lang="en-US" sz="834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428625"/>
            <a:ext cx="7858125" cy="350107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928688" y="1500829"/>
            <a:ext cx="571500" cy="35719"/>
          </a:xfrm>
          <a:prstGeom prst="rect">
            <a:avLst/>
          </a:prstGeom>
          <a:solidFill>
            <a:srgbClr val="FF4F4F"/>
          </a:solidFill>
          <a:ln/>
        </p:spPr>
      </p:sp>
      <p:sp>
        <p:nvSpPr>
          <p:cNvPr id="5" name="Text 2"/>
          <p:cNvSpPr/>
          <p:nvPr/>
        </p:nvSpPr>
        <p:spPr>
          <a:xfrm>
            <a:off x="928688" y="998981"/>
            <a:ext cx="7286625" cy="537567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</a:rPr>
              <a:t>Сравнение с LangGraph и AutoGen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928688" y="1750861"/>
            <a:ext cx="4448770" cy="428625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7" name="Text 4"/>
          <p:cNvSpPr/>
          <p:nvPr/>
        </p:nvSpPr>
        <p:spPr>
          <a:xfrm>
            <a:off x="928688" y="1750861"/>
            <a:ext cx="4448770" cy="42862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Feature</a:t>
            </a:r>
            <a:endParaRPr lang="en-US" sz="987" dirty="0"/>
          </a:p>
        </p:txBody>
      </p:sp>
      <p:sp>
        <p:nvSpPr>
          <p:cNvPr id="8" name="Shape 5"/>
          <p:cNvSpPr/>
          <p:nvPr/>
        </p:nvSpPr>
        <p:spPr>
          <a:xfrm>
            <a:off x="5377458" y="1750861"/>
            <a:ext cx="807244" cy="428625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9" name="Text 6"/>
          <p:cNvSpPr/>
          <p:nvPr/>
        </p:nvSpPr>
        <p:spPr>
          <a:xfrm>
            <a:off x="5377458" y="1750861"/>
            <a:ext cx="807244" cy="42862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CrewAI</a:t>
            </a:r>
            <a:endParaRPr lang="en-US" sz="987" dirty="0"/>
          </a:p>
        </p:txBody>
      </p:sp>
      <p:sp>
        <p:nvSpPr>
          <p:cNvPr id="10" name="Shape 7"/>
          <p:cNvSpPr/>
          <p:nvPr/>
        </p:nvSpPr>
        <p:spPr>
          <a:xfrm>
            <a:off x="6184702" y="1750861"/>
            <a:ext cx="1107281" cy="428625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1" name="Text 8"/>
          <p:cNvSpPr/>
          <p:nvPr/>
        </p:nvSpPr>
        <p:spPr>
          <a:xfrm>
            <a:off x="6184702" y="1750861"/>
            <a:ext cx="1107281" cy="42862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LangGraph</a:t>
            </a:r>
            <a:endParaRPr lang="en-US" sz="987" dirty="0"/>
          </a:p>
        </p:txBody>
      </p:sp>
      <p:sp>
        <p:nvSpPr>
          <p:cNvPr id="12" name="Shape 9"/>
          <p:cNvSpPr/>
          <p:nvPr/>
        </p:nvSpPr>
        <p:spPr>
          <a:xfrm>
            <a:off x="7291983" y="1750861"/>
            <a:ext cx="923330" cy="428625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3" name="Text 10"/>
          <p:cNvSpPr/>
          <p:nvPr/>
        </p:nvSpPr>
        <p:spPr>
          <a:xfrm>
            <a:off x="7291983" y="1750861"/>
            <a:ext cx="923330" cy="42862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AutoGen</a:t>
            </a:r>
            <a:endParaRPr lang="en-US" sz="987" dirty="0"/>
          </a:p>
        </p:txBody>
      </p:sp>
      <p:sp>
        <p:nvSpPr>
          <p:cNvPr id="14" name="Shape 11"/>
          <p:cNvSpPr/>
          <p:nvPr/>
        </p:nvSpPr>
        <p:spPr>
          <a:xfrm>
            <a:off x="1000125" y="2179486"/>
            <a:ext cx="826443" cy="423267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Shape 12"/>
          <p:cNvSpPr/>
          <p:nvPr/>
        </p:nvSpPr>
        <p:spPr>
          <a:xfrm>
            <a:off x="1000125" y="2179486"/>
            <a:ext cx="82644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6" name="Shape 13"/>
          <p:cNvSpPr/>
          <p:nvPr/>
        </p:nvSpPr>
        <p:spPr>
          <a:xfrm>
            <a:off x="1000125" y="2595609"/>
            <a:ext cx="82644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7" name="Shape 14"/>
          <p:cNvSpPr/>
          <p:nvPr/>
        </p:nvSpPr>
        <p:spPr>
          <a:xfrm>
            <a:off x="1000125" y="2179486"/>
            <a:ext cx="7144" cy="423267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8" name="Text 15"/>
          <p:cNvSpPr/>
          <p:nvPr/>
        </p:nvSpPr>
        <p:spPr>
          <a:xfrm>
            <a:off x="1000125" y="2179486"/>
            <a:ext cx="826443" cy="423267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2937"/>
                </a:solidFill>
              </a:rPr>
              <a:t>Philosophy</a:t>
            </a:r>
            <a:endParaRPr lang="en-US" sz="987" dirty="0"/>
          </a:p>
        </p:txBody>
      </p:sp>
      <p:sp>
        <p:nvSpPr>
          <p:cNvPr id="19" name="Shape 16"/>
          <p:cNvSpPr/>
          <p:nvPr/>
        </p:nvSpPr>
        <p:spPr>
          <a:xfrm>
            <a:off x="1969443" y="2179486"/>
            <a:ext cx="826443" cy="61793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1969443" y="2179486"/>
            <a:ext cx="82644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1" name="Shape 18"/>
          <p:cNvSpPr/>
          <p:nvPr/>
        </p:nvSpPr>
        <p:spPr>
          <a:xfrm>
            <a:off x="1969443" y="2790276"/>
            <a:ext cx="82644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2" name="Text 19"/>
          <p:cNvSpPr/>
          <p:nvPr/>
        </p:nvSpPr>
        <p:spPr>
          <a:xfrm>
            <a:off x="1969443" y="2179486"/>
            <a:ext cx="826443" cy="61793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0B981"/>
                </a:solidFill>
              </a:rPr>
              <a:t>Role-based</a:t>
            </a:r>
            <a:endParaRPr lang="en-US" sz="987" dirty="0"/>
          </a:p>
        </p:txBody>
      </p:sp>
      <p:sp>
        <p:nvSpPr>
          <p:cNvPr id="23" name="Shape 20"/>
          <p:cNvSpPr/>
          <p:nvPr/>
        </p:nvSpPr>
        <p:spPr>
          <a:xfrm>
            <a:off x="2938760" y="2179486"/>
            <a:ext cx="826443" cy="61793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2938760" y="2179486"/>
            <a:ext cx="82644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5" name="Shape 22"/>
          <p:cNvSpPr/>
          <p:nvPr/>
        </p:nvSpPr>
        <p:spPr>
          <a:xfrm>
            <a:off x="2938760" y="2790276"/>
            <a:ext cx="82644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6" name="Text 23"/>
          <p:cNvSpPr/>
          <p:nvPr/>
        </p:nvSpPr>
        <p:spPr>
          <a:xfrm>
            <a:off x="2938760" y="2179486"/>
            <a:ext cx="826443" cy="61793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Graph-based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908078" y="2179486"/>
            <a:ext cx="826443" cy="61793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3908078" y="2179486"/>
            <a:ext cx="82644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9" name="Shape 26"/>
          <p:cNvSpPr/>
          <p:nvPr/>
        </p:nvSpPr>
        <p:spPr>
          <a:xfrm>
            <a:off x="4727377" y="2179486"/>
            <a:ext cx="7144" cy="61793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0" name="Shape 27"/>
          <p:cNvSpPr/>
          <p:nvPr/>
        </p:nvSpPr>
        <p:spPr>
          <a:xfrm>
            <a:off x="3908078" y="2790276"/>
            <a:ext cx="82644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1" name="Text 28"/>
          <p:cNvSpPr/>
          <p:nvPr/>
        </p:nvSpPr>
        <p:spPr>
          <a:xfrm>
            <a:off x="3908078" y="2179486"/>
            <a:ext cx="826443" cy="61793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Chat-based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1000125" y="2783132"/>
            <a:ext cx="826443" cy="423267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3" name="Shape 30"/>
          <p:cNvSpPr/>
          <p:nvPr/>
        </p:nvSpPr>
        <p:spPr>
          <a:xfrm>
            <a:off x="1000125" y="2783132"/>
            <a:ext cx="82644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4" name="Shape 31"/>
          <p:cNvSpPr/>
          <p:nvPr/>
        </p:nvSpPr>
        <p:spPr>
          <a:xfrm>
            <a:off x="1000125" y="3199256"/>
            <a:ext cx="82644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5" name="Shape 32"/>
          <p:cNvSpPr/>
          <p:nvPr/>
        </p:nvSpPr>
        <p:spPr>
          <a:xfrm>
            <a:off x="1000125" y="2783132"/>
            <a:ext cx="7144" cy="423267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6" name="Text 33"/>
          <p:cNvSpPr/>
          <p:nvPr/>
        </p:nvSpPr>
        <p:spPr>
          <a:xfrm>
            <a:off x="1000125" y="2783132"/>
            <a:ext cx="826443" cy="423267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2937"/>
                </a:solidFill>
              </a:rPr>
              <a:t>Control</a:t>
            </a:r>
            <a:endParaRPr lang="en-US" sz="987" dirty="0"/>
          </a:p>
        </p:txBody>
      </p:sp>
      <p:sp>
        <p:nvSpPr>
          <p:cNvPr id="37" name="Shape 34"/>
          <p:cNvSpPr/>
          <p:nvPr/>
        </p:nvSpPr>
        <p:spPr>
          <a:xfrm>
            <a:off x="1969443" y="2783132"/>
            <a:ext cx="826443" cy="4232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5"/>
          <p:cNvSpPr/>
          <p:nvPr/>
        </p:nvSpPr>
        <p:spPr>
          <a:xfrm>
            <a:off x="1969443" y="2783132"/>
            <a:ext cx="82644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9" name="Shape 36"/>
          <p:cNvSpPr/>
          <p:nvPr/>
        </p:nvSpPr>
        <p:spPr>
          <a:xfrm>
            <a:off x="1969443" y="3199256"/>
            <a:ext cx="82644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0" name="Text 37"/>
          <p:cNvSpPr/>
          <p:nvPr/>
        </p:nvSpPr>
        <p:spPr>
          <a:xfrm>
            <a:off x="1969443" y="2783132"/>
            <a:ext cx="826443" cy="423267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0B981"/>
                </a:solidFill>
              </a:rPr>
              <a:t>High</a:t>
            </a:r>
            <a:endParaRPr lang="en-US" sz="987" dirty="0"/>
          </a:p>
        </p:txBody>
      </p:sp>
      <p:sp>
        <p:nvSpPr>
          <p:cNvPr id="41" name="Shape 38"/>
          <p:cNvSpPr/>
          <p:nvPr/>
        </p:nvSpPr>
        <p:spPr>
          <a:xfrm>
            <a:off x="2938760" y="2783132"/>
            <a:ext cx="826443" cy="4232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9"/>
          <p:cNvSpPr/>
          <p:nvPr/>
        </p:nvSpPr>
        <p:spPr>
          <a:xfrm>
            <a:off x="2938760" y="2783132"/>
            <a:ext cx="82644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3" name="Shape 40"/>
          <p:cNvSpPr/>
          <p:nvPr/>
        </p:nvSpPr>
        <p:spPr>
          <a:xfrm>
            <a:off x="2938760" y="3199256"/>
            <a:ext cx="82644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4" name="Text 41"/>
          <p:cNvSpPr/>
          <p:nvPr/>
        </p:nvSpPr>
        <p:spPr>
          <a:xfrm>
            <a:off x="2938760" y="2783132"/>
            <a:ext cx="826443" cy="423267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Medium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3908078" y="2783132"/>
            <a:ext cx="826443" cy="4232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3"/>
          <p:cNvSpPr/>
          <p:nvPr/>
        </p:nvSpPr>
        <p:spPr>
          <a:xfrm>
            <a:off x="3908078" y="2783132"/>
            <a:ext cx="82644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7" name="Shape 44"/>
          <p:cNvSpPr/>
          <p:nvPr/>
        </p:nvSpPr>
        <p:spPr>
          <a:xfrm>
            <a:off x="4727377" y="2783132"/>
            <a:ext cx="7144" cy="423267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8" name="Shape 45"/>
          <p:cNvSpPr/>
          <p:nvPr/>
        </p:nvSpPr>
        <p:spPr>
          <a:xfrm>
            <a:off x="3908078" y="3199256"/>
            <a:ext cx="82644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9" name="Text 46"/>
          <p:cNvSpPr/>
          <p:nvPr/>
        </p:nvSpPr>
        <p:spPr>
          <a:xfrm>
            <a:off x="3908078" y="2783132"/>
            <a:ext cx="826443" cy="423267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Low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1000125" y="3192112"/>
            <a:ext cx="826443" cy="423267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1" name="Shape 48"/>
          <p:cNvSpPr/>
          <p:nvPr/>
        </p:nvSpPr>
        <p:spPr>
          <a:xfrm>
            <a:off x="1000125" y="3192112"/>
            <a:ext cx="82644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2" name="Shape 49"/>
          <p:cNvSpPr/>
          <p:nvPr/>
        </p:nvSpPr>
        <p:spPr>
          <a:xfrm>
            <a:off x="1000125" y="3608236"/>
            <a:ext cx="82644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3" name="Shape 50"/>
          <p:cNvSpPr/>
          <p:nvPr/>
        </p:nvSpPr>
        <p:spPr>
          <a:xfrm>
            <a:off x="1000125" y="3192112"/>
            <a:ext cx="7144" cy="423267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4" name="Text 51"/>
          <p:cNvSpPr/>
          <p:nvPr/>
        </p:nvSpPr>
        <p:spPr>
          <a:xfrm>
            <a:off x="1000125" y="3192112"/>
            <a:ext cx="826443" cy="423267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F2937"/>
                </a:solidFill>
              </a:rPr>
              <a:t>Complexity</a:t>
            </a:r>
            <a:endParaRPr lang="en-US" sz="987" dirty="0"/>
          </a:p>
        </p:txBody>
      </p:sp>
      <p:sp>
        <p:nvSpPr>
          <p:cNvPr id="55" name="Shape 52"/>
          <p:cNvSpPr/>
          <p:nvPr/>
        </p:nvSpPr>
        <p:spPr>
          <a:xfrm>
            <a:off x="1969443" y="3192112"/>
            <a:ext cx="826443" cy="4232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3"/>
          <p:cNvSpPr/>
          <p:nvPr/>
        </p:nvSpPr>
        <p:spPr>
          <a:xfrm>
            <a:off x="1969443" y="3192112"/>
            <a:ext cx="82644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7" name="Shape 54"/>
          <p:cNvSpPr/>
          <p:nvPr/>
        </p:nvSpPr>
        <p:spPr>
          <a:xfrm>
            <a:off x="1969443" y="3608236"/>
            <a:ext cx="82644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8" name="Text 55"/>
          <p:cNvSpPr/>
          <p:nvPr/>
        </p:nvSpPr>
        <p:spPr>
          <a:xfrm>
            <a:off x="1969443" y="3192112"/>
            <a:ext cx="826443" cy="423267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0B981"/>
                </a:solidFill>
              </a:rPr>
              <a:t>Medium</a:t>
            </a:r>
            <a:endParaRPr lang="en-US" sz="987" dirty="0"/>
          </a:p>
        </p:txBody>
      </p:sp>
      <p:sp>
        <p:nvSpPr>
          <p:cNvPr id="59" name="Shape 56"/>
          <p:cNvSpPr/>
          <p:nvPr/>
        </p:nvSpPr>
        <p:spPr>
          <a:xfrm>
            <a:off x="2938760" y="3192112"/>
            <a:ext cx="826443" cy="4232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57"/>
          <p:cNvSpPr/>
          <p:nvPr/>
        </p:nvSpPr>
        <p:spPr>
          <a:xfrm>
            <a:off x="2938760" y="3192112"/>
            <a:ext cx="82644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1" name="Shape 58"/>
          <p:cNvSpPr/>
          <p:nvPr/>
        </p:nvSpPr>
        <p:spPr>
          <a:xfrm>
            <a:off x="2938760" y="3608236"/>
            <a:ext cx="82644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2" name="Text 59"/>
          <p:cNvSpPr/>
          <p:nvPr/>
        </p:nvSpPr>
        <p:spPr>
          <a:xfrm>
            <a:off x="2938760" y="3192112"/>
            <a:ext cx="826443" cy="423267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High</a:t>
            </a:r>
            <a:endParaRPr lang="en-US" sz="1050" dirty="0"/>
          </a:p>
        </p:txBody>
      </p:sp>
      <p:sp>
        <p:nvSpPr>
          <p:cNvPr id="63" name="Shape 60"/>
          <p:cNvSpPr/>
          <p:nvPr/>
        </p:nvSpPr>
        <p:spPr>
          <a:xfrm>
            <a:off x="3908078" y="3192112"/>
            <a:ext cx="826443" cy="4232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Shape 61"/>
          <p:cNvSpPr/>
          <p:nvPr/>
        </p:nvSpPr>
        <p:spPr>
          <a:xfrm>
            <a:off x="3908078" y="3192112"/>
            <a:ext cx="82644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5" name="Shape 62"/>
          <p:cNvSpPr/>
          <p:nvPr/>
        </p:nvSpPr>
        <p:spPr>
          <a:xfrm>
            <a:off x="4727377" y="3192112"/>
            <a:ext cx="7144" cy="423267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6" name="Shape 63"/>
          <p:cNvSpPr/>
          <p:nvPr/>
        </p:nvSpPr>
        <p:spPr>
          <a:xfrm>
            <a:off x="3908078" y="3608236"/>
            <a:ext cx="826443" cy="7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7" name="Text 64"/>
          <p:cNvSpPr/>
          <p:nvPr/>
        </p:nvSpPr>
        <p:spPr>
          <a:xfrm>
            <a:off x="3908078" y="3192112"/>
            <a:ext cx="826443" cy="423267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Medium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1651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780455"/>
            <a:ext cx="571500" cy="42863"/>
          </a:xfrm>
          <a:prstGeom prst="roundRect">
            <a:avLst/>
          </a:prstGeom>
          <a:solidFill>
            <a:srgbClr val="FF4F4F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285750"/>
            <a:ext cx="4591673" cy="466130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</a:rPr>
              <a:t>Best Practices для CrewAI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428625" y="1109067"/>
            <a:ext cx="2619356" cy="1996567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323380"/>
            <a:ext cx="228600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14413" y="1323380"/>
            <a:ext cx="181925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Specific Goals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1014413" y="1628775"/>
            <a:ext cx="1819256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Define clear, concise, and achievable goals for each agent and the overall crew to ensure focused execution.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3262294" y="1109067"/>
            <a:ext cx="2619384" cy="1996567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606" y="1323380"/>
            <a:ext cx="200025" cy="26431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819506" y="1323380"/>
            <a:ext cx="184785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Specialized Roles</a:t>
            </a:r>
            <a:endParaRPr lang="en-US" sz="1193" dirty="0"/>
          </a:p>
        </p:txBody>
      </p:sp>
      <p:sp>
        <p:nvSpPr>
          <p:cNvPr id="12" name="Text 7"/>
          <p:cNvSpPr/>
          <p:nvPr/>
        </p:nvSpPr>
        <p:spPr>
          <a:xfrm>
            <a:off x="3819506" y="1628775"/>
            <a:ext cx="1847859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Assign distinct and specialized roles to agents, treating them like individual team members with unique expertise.</a:t>
            </a:r>
            <a:endParaRPr lang="en-US" sz="942" dirty="0"/>
          </a:p>
        </p:txBody>
      </p:sp>
      <p:sp>
        <p:nvSpPr>
          <p:cNvPr id="13" name="Shape 8"/>
          <p:cNvSpPr/>
          <p:nvPr/>
        </p:nvSpPr>
        <p:spPr>
          <a:xfrm>
            <a:off x="6095991" y="1109067"/>
            <a:ext cx="2619356" cy="1996567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0303" y="1323380"/>
            <a:ext cx="228600" cy="26431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81778" y="1323380"/>
            <a:ext cx="1819256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Minimal Tools per Agent</a:t>
            </a:r>
            <a:endParaRPr lang="en-US" sz="1193" dirty="0"/>
          </a:p>
        </p:txBody>
      </p:sp>
      <p:sp>
        <p:nvSpPr>
          <p:cNvPr id="16" name="Text 10"/>
          <p:cNvSpPr/>
          <p:nvPr/>
        </p:nvSpPr>
        <p:spPr>
          <a:xfrm>
            <a:off x="6681778" y="1862733"/>
            <a:ext cx="1819256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Equip agents with only the essential tools required for their specific tasks to avoid unnecessary complexity and confusion.</a:t>
            </a:r>
            <a:endParaRPr lang="en-US" sz="942" dirty="0"/>
          </a:p>
        </p:txBody>
      </p:sp>
      <p:sp>
        <p:nvSpPr>
          <p:cNvPr id="17" name="Shape 11"/>
          <p:cNvSpPr/>
          <p:nvPr/>
        </p:nvSpPr>
        <p:spPr>
          <a:xfrm>
            <a:off x="428625" y="3319946"/>
            <a:ext cx="2619356" cy="1996567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3534259"/>
            <a:ext cx="171450" cy="26431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57263" y="3534259"/>
            <a:ext cx="1876406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Use YAML for Configuration</a:t>
            </a:r>
            <a:endParaRPr lang="en-US" sz="1193" dirty="0"/>
          </a:p>
        </p:txBody>
      </p:sp>
      <p:sp>
        <p:nvSpPr>
          <p:cNvPr id="20" name="Text 13"/>
          <p:cNvSpPr/>
          <p:nvPr/>
        </p:nvSpPr>
        <p:spPr>
          <a:xfrm>
            <a:off x="957263" y="4073612"/>
            <a:ext cx="1876406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Leverage YAML files for defining agents and tasks to maintain separation of concerns and improve readability.</a:t>
            </a:r>
            <a:endParaRPr lang="en-US" sz="942" dirty="0"/>
          </a:p>
        </p:txBody>
      </p:sp>
      <p:sp>
        <p:nvSpPr>
          <p:cNvPr id="21" name="Shape 14"/>
          <p:cNvSpPr/>
          <p:nvPr/>
        </p:nvSpPr>
        <p:spPr>
          <a:xfrm>
            <a:off x="3262294" y="3319946"/>
            <a:ext cx="2619384" cy="1996567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6606" y="3534259"/>
            <a:ext cx="228600" cy="264319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848081" y="3534259"/>
            <a:ext cx="1819284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Test with Verbose Mode</a:t>
            </a:r>
            <a:endParaRPr lang="en-US" sz="1193" dirty="0"/>
          </a:p>
        </p:txBody>
      </p:sp>
      <p:sp>
        <p:nvSpPr>
          <p:cNvPr id="24" name="Text 16"/>
          <p:cNvSpPr/>
          <p:nvPr/>
        </p:nvSpPr>
        <p:spPr>
          <a:xfrm>
            <a:off x="3848081" y="4087899"/>
            <a:ext cx="122018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Run your crews with</a:t>
            </a:r>
            <a:endParaRPr lang="en-US" sz="942" dirty="0"/>
          </a:p>
        </p:txBody>
      </p:sp>
      <p:sp>
        <p:nvSpPr>
          <p:cNvPr id="25" name="Text 17"/>
          <p:cNvSpPr/>
          <p:nvPr/>
        </p:nvSpPr>
        <p:spPr>
          <a:xfrm>
            <a:off x="3848081" y="4293617"/>
            <a:ext cx="92584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verbose=True</a:t>
            </a:r>
            <a:endParaRPr lang="en-US" sz="942" dirty="0"/>
          </a:p>
        </p:txBody>
      </p:sp>
      <p:sp>
        <p:nvSpPr>
          <p:cNvPr id="26" name="Text 18"/>
          <p:cNvSpPr/>
          <p:nvPr/>
        </p:nvSpPr>
        <p:spPr>
          <a:xfrm>
            <a:off x="4773923" y="4293617"/>
            <a:ext cx="45496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to gain</a:t>
            </a:r>
            <a:endParaRPr lang="en-US" sz="942" dirty="0"/>
          </a:p>
        </p:txBody>
      </p:sp>
      <p:sp>
        <p:nvSpPr>
          <p:cNvPr id="27" name="Text 19"/>
          <p:cNvSpPr/>
          <p:nvPr/>
        </p:nvSpPr>
        <p:spPr>
          <a:xfrm>
            <a:off x="3848081" y="4499335"/>
            <a:ext cx="164889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insights into agent thought</a:t>
            </a:r>
            <a:endParaRPr lang="en-US" sz="942" dirty="0"/>
          </a:p>
        </p:txBody>
      </p:sp>
      <p:sp>
        <p:nvSpPr>
          <p:cNvPr id="28" name="Text 20"/>
          <p:cNvSpPr/>
          <p:nvPr/>
        </p:nvSpPr>
        <p:spPr>
          <a:xfrm>
            <a:off x="3848081" y="4705052"/>
            <a:ext cx="12857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processes and debug</a:t>
            </a:r>
            <a:endParaRPr lang="en-US" sz="942" dirty="0"/>
          </a:p>
        </p:txBody>
      </p:sp>
      <p:sp>
        <p:nvSpPr>
          <p:cNvPr id="29" name="Text 21"/>
          <p:cNvSpPr/>
          <p:nvPr/>
        </p:nvSpPr>
        <p:spPr>
          <a:xfrm>
            <a:off x="3848081" y="4910770"/>
            <a:ext cx="64076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effectively.</a:t>
            </a:r>
            <a:endParaRPr lang="en-US" sz="942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615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40088"/>
            <a:ext cx="9144000" cy="21431"/>
          </a:xfrm>
          <a:prstGeom prst="rect">
            <a:avLst/>
          </a:prstGeom>
          <a:solidFill>
            <a:srgbClr val="FF4F4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</a:rPr>
              <a:t>Типичные ошибки и решения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1000125" y="1268713"/>
            <a:ext cx="3429000" cy="2480667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4"/>
          <p:cNvSpPr/>
          <p:nvPr/>
        </p:nvSpPr>
        <p:spPr>
          <a:xfrm>
            <a:off x="1214438" y="1683051"/>
            <a:ext cx="3000375" cy="35897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F2937"/>
                </a:solidFill>
              </a:rPr>
              <a:t>Проблемы</a:t>
            </a:r>
            <a:endParaRPr lang="en-US" sz="1397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8" y="2206330"/>
            <a:ext cx="157163" cy="1571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78756" y="2184899"/>
            <a:ext cx="18248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Нечеткие описания задач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438" y="2513512"/>
            <a:ext cx="196453" cy="1571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18047" y="2492080"/>
            <a:ext cx="166178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Перегруженные агенты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438" y="2820693"/>
            <a:ext cx="157163" cy="15716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78756" y="2799262"/>
            <a:ext cx="142676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Бесконечные циклы</a:t>
            </a:r>
            <a:endParaRPr lang="en-US" sz="1050" dirty="0"/>
          </a:p>
        </p:txBody>
      </p:sp>
      <p:sp>
        <p:nvSpPr>
          <p:cNvPr id="14" name="Shape 8"/>
          <p:cNvSpPr/>
          <p:nvPr/>
        </p:nvSpPr>
        <p:spPr>
          <a:xfrm>
            <a:off x="4714875" y="1268713"/>
            <a:ext cx="3429000" cy="2480667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Text 9"/>
          <p:cNvSpPr/>
          <p:nvPr/>
        </p:nvSpPr>
        <p:spPr>
          <a:xfrm>
            <a:off x="4929188" y="1683051"/>
            <a:ext cx="3000375" cy="35897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F2937"/>
                </a:solidFill>
              </a:rPr>
              <a:t>Решения</a:t>
            </a:r>
            <a:endParaRPr lang="en-US" sz="1397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2206330"/>
            <a:ext cx="117872" cy="15716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154216" y="2184899"/>
            <a:ext cx="158178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Улучшенные промпты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2513512"/>
            <a:ext cx="117872" cy="15716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54216" y="2492080"/>
            <a:ext cx="234758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Ограничение итераций (Max iter)</a:t>
            </a:r>
            <a:endParaRPr lang="en-US" sz="10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2820693"/>
            <a:ext cx="176808" cy="157163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213152" y="2799262"/>
            <a:ext cx="259362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Ограничение скорости (Rate limiting)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494062"/>
            <a:ext cx="3259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f""""""</a:t>
            </a:r>
            <a:endParaRPr lang="en-US" sz="834" dirty="0"/>
          </a:p>
        </p:txBody>
      </p:sp>
      <p:sp>
        <p:nvSpPr>
          <p:cNvPr id="4" name="Shape 1"/>
          <p:cNvSpPr/>
          <p:nvPr/>
        </p:nvSpPr>
        <p:spPr>
          <a:xfrm>
            <a:off x="325989" y="0"/>
            <a:ext cx="8678094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754614" y="780455"/>
            <a:ext cx="571500" cy="42863"/>
          </a:xfrm>
          <a:prstGeom prst="roundRect">
            <a:avLst/>
          </a:prstGeom>
          <a:solidFill>
            <a:srgbClr val="FF4F4F"/>
          </a:solidFill>
          <a:ln/>
        </p:spPr>
      </p:sp>
      <p:sp>
        <p:nvSpPr>
          <p:cNvPr id="6" name="Text 3"/>
          <p:cNvSpPr/>
          <p:nvPr/>
        </p:nvSpPr>
        <p:spPr>
          <a:xfrm>
            <a:off x="754614" y="285750"/>
            <a:ext cx="2888614" cy="537567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</a:rPr>
              <a:t>Будущее CrewAI</a:t>
            </a:r>
            <a:endParaRPr lang="en-US" sz="2436" dirty="0"/>
          </a:p>
        </p:txBody>
      </p:sp>
      <p:sp>
        <p:nvSpPr>
          <p:cNvPr id="7" name="Text 4"/>
          <p:cNvSpPr/>
          <p:nvPr/>
        </p:nvSpPr>
        <p:spPr>
          <a:xfrm>
            <a:off x="754614" y="2388691"/>
            <a:ext cx="782084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Upcoming features and strategic directions for CrewAI.</a:t>
            </a:r>
            <a:endParaRPr lang="en-US" sz="942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614" y="2792313"/>
            <a:ext cx="192881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4652" y="2778026"/>
            <a:ext cx="496649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Flows: New orchestration paradigms for more complex agent interactions.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614" y="3099495"/>
            <a:ext cx="171450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33221" y="3085207"/>
            <a:ext cx="546326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Better Memory: Enhanced short-term and long-term memory systems for agents.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614" y="3406676"/>
            <a:ext cx="128588" cy="171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0358" y="3392388"/>
            <a:ext cx="63676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Enterprise Features: Advanced capabilities for large-scale deployments and team collaboration.</a:t>
            </a:r>
            <a:endParaRPr lang="en-US" sz="10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614" y="3713857"/>
            <a:ext cx="128588" cy="1714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90358" y="3699570"/>
            <a:ext cx="561286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More Integrations: Expanding compatibility with various tools, platforms, and LLMs.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9004083" y="2494062"/>
            <a:ext cx="13991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000000"/>
                </a:solidFill>
              </a:rPr>
              <a:t>"""</a:t>
            </a:r>
            <a:endParaRPr lang="en-US" sz="834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88000" y="357188"/>
            <a:ext cx="3367971" cy="5661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</a:rPr>
              <a:t>Полезные ресурсы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1357313" y="2280056"/>
            <a:ext cx="3107531" cy="1009055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2655996"/>
            <a:ext cx="264570" cy="2571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79070" y="2494369"/>
            <a:ext cx="227146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Документация CrewAI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1979070" y="2764045"/>
            <a:ext cx="2271461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Официальная документация и руководства</a:t>
            </a:r>
            <a:endParaRPr lang="en-US" sz="834" dirty="0"/>
          </a:p>
        </p:txBody>
      </p:sp>
      <p:sp>
        <p:nvSpPr>
          <p:cNvPr id="8" name="Shape 4"/>
          <p:cNvSpPr/>
          <p:nvPr/>
        </p:nvSpPr>
        <p:spPr>
          <a:xfrm>
            <a:off x="4679156" y="2280056"/>
            <a:ext cx="3107531" cy="1009055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469" y="2655996"/>
            <a:ext cx="285750" cy="2571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22094" y="2572057"/>
            <a:ext cx="200574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Репозиторий GitHub</a:t>
            </a:r>
            <a:endParaRPr lang="en-US" sz="1193" dirty="0"/>
          </a:p>
        </p:txBody>
      </p:sp>
      <p:sp>
        <p:nvSpPr>
          <p:cNvPr id="11" name="Text 6"/>
          <p:cNvSpPr/>
          <p:nvPr/>
        </p:nvSpPr>
        <p:spPr>
          <a:xfrm>
            <a:off x="5322094" y="2841734"/>
            <a:ext cx="200574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Исходный код и примеры проектов</a:t>
            </a:r>
            <a:endParaRPr lang="en-US" sz="834" dirty="0"/>
          </a:p>
        </p:txBody>
      </p:sp>
      <p:sp>
        <p:nvSpPr>
          <p:cNvPr id="12" name="Shape 7"/>
          <p:cNvSpPr/>
          <p:nvPr/>
        </p:nvSpPr>
        <p:spPr>
          <a:xfrm>
            <a:off x="1357313" y="3503423"/>
            <a:ext cx="3107531" cy="853678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625" y="3801675"/>
            <a:ext cx="285750" cy="2571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000250" y="3717736"/>
            <a:ext cx="196676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Сообщество Discord</a:t>
            </a:r>
            <a:endParaRPr lang="en-US" sz="1193" dirty="0"/>
          </a:p>
        </p:txBody>
      </p:sp>
      <p:sp>
        <p:nvSpPr>
          <p:cNvPr id="15" name="Text 9"/>
          <p:cNvSpPr/>
          <p:nvPr/>
        </p:nvSpPr>
        <p:spPr>
          <a:xfrm>
            <a:off x="2000250" y="3987412"/>
            <a:ext cx="19667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Обсуждения, поддержка и новости</a:t>
            </a:r>
            <a:endParaRPr lang="en-US" sz="834" dirty="0"/>
          </a:p>
        </p:txBody>
      </p:sp>
      <p:sp>
        <p:nvSpPr>
          <p:cNvPr id="16" name="Shape 10"/>
          <p:cNvSpPr/>
          <p:nvPr/>
        </p:nvSpPr>
        <p:spPr>
          <a:xfrm>
            <a:off x="4679156" y="3503423"/>
            <a:ext cx="3107531" cy="853678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3801675"/>
            <a:ext cx="285750" cy="2571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22094" y="3717736"/>
            <a:ext cx="163231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Уроки на YouTube</a:t>
            </a:r>
            <a:endParaRPr lang="en-US" sz="1193" dirty="0"/>
          </a:p>
        </p:txBody>
      </p:sp>
      <p:sp>
        <p:nvSpPr>
          <p:cNvPr id="19" name="Text 12"/>
          <p:cNvSpPr/>
          <p:nvPr/>
        </p:nvSpPr>
        <p:spPr>
          <a:xfrm>
            <a:off x="5322094" y="3987412"/>
            <a:ext cx="16323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Видеоуроки и демонстрации</a:t>
            </a:r>
            <a:endParaRPr lang="en-US" sz="834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8798" y="2218441"/>
            <a:ext cx="3286376" cy="5804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</a:rPr>
              <a:t>Вопросы и ответы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285750" y="2906027"/>
            <a:ext cx="85725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Ask anything about CrewAI</a:t>
            </a:r>
            <a:endParaRPr lang="en-US" sz="942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540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54867" y="570356"/>
            <a:ext cx="4034237" cy="5661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</a:rPr>
              <a:t>Спасибо за внимание!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914400" y="1407961"/>
            <a:ext cx="73152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B7280"/>
                </a:solidFill>
              </a:rPr>
              <a:t>Мы ценим ваше время и интерес к CrewAI.</a:t>
            </a:r>
            <a:endParaRPr lang="en-US" sz="942" dirty="0"/>
          </a:p>
        </p:txBody>
      </p:sp>
      <p:sp>
        <p:nvSpPr>
          <p:cNvPr id="5" name="Shape 2"/>
          <p:cNvSpPr/>
          <p:nvPr/>
        </p:nvSpPr>
        <p:spPr>
          <a:xfrm>
            <a:off x="1893094" y="1868732"/>
            <a:ext cx="2571750" cy="1622636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406" y="2115192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78856" y="2083045"/>
            <a:ext cx="92447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Контакты</a:t>
            </a:r>
            <a:endParaRPr lang="en-US" sz="119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406" y="2465236"/>
            <a:ext cx="142875" cy="114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321719" y="2443804"/>
            <a:ext cx="81463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F2937"/>
                </a:solidFill>
              </a:rPr>
              <a:t>Имя Фамилия</a:t>
            </a:r>
            <a:endParaRPr lang="en-US" sz="834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7406" y="2719536"/>
            <a:ext cx="142875" cy="1143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321719" y="2698105"/>
            <a:ext cx="114632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F2937"/>
                </a:solidFill>
              </a:rPr>
              <a:t>email@example.com</a:t>
            </a:r>
            <a:endParaRPr lang="en-US" sz="834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7406" y="2973837"/>
            <a:ext cx="142875" cy="1143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321719" y="2952406"/>
            <a:ext cx="8083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F2937"/>
                </a:solidFill>
              </a:rPr>
              <a:t>+123 456 7890</a:t>
            </a:r>
            <a:endParaRPr lang="en-US" sz="834" dirty="0"/>
          </a:p>
        </p:txBody>
      </p:sp>
      <p:sp>
        <p:nvSpPr>
          <p:cNvPr id="14" name="Shape 7"/>
          <p:cNvSpPr/>
          <p:nvPr/>
        </p:nvSpPr>
        <p:spPr>
          <a:xfrm>
            <a:off x="4679156" y="1868732"/>
            <a:ext cx="2571750" cy="1622636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3469" y="2115192"/>
            <a:ext cx="166092" cy="17145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059561" y="2083045"/>
            <a:ext cx="64776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GitHub</a:t>
            </a:r>
            <a:endParaRPr lang="en-US" sz="1193" dirty="0"/>
          </a:p>
        </p:txBody>
      </p:sp>
      <p:sp>
        <p:nvSpPr>
          <p:cNvPr id="17" name="Text 9"/>
          <p:cNvSpPr/>
          <p:nvPr/>
        </p:nvSpPr>
        <p:spPr>
          <a:xfrm>
            <a:off x="4893469" y="2431303"/>
            <a:ext cx="214312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F2937"/>
                </a:solidFill>
              </a:rPr>
              <a:t>Посетите наш профиль GitHub для получения дополнительной информации и примеров:</a:t>
            </a:r>
            <a:endParaRPr lang="en-US" sz="834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469" y="3128125"/>
            <a:ext cx="110728" cy="1143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004197" y="3106694"/>
            <a:ext cx="137093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4F4F"/>
                </a:solidFill>
              </a:rPr>
              <a:t>github.com/your-profile</a:t>
            </a:r>
            <a:endParaRPr lang="en-US" sz="784" dirty="0"/>
          </a:p>
        </p:txBody>
      </p:sp>
      <p:sp>
        <p:nvSpPr>
          <p:cNvPr id="20" name="Shape 11"/>
          <p:cNvSpPr/>
          <p:nvPr/>
        </p:nvSpPr>
        <p:spPr>
          <a:xfrm>
            <a:off x="3286125" y="3705681"/>
            <a:ext cx="2571750" cy="1948374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0438" y="3952140"/>
            <a:ext cx="150019" cy="17145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3650456" y="3919993"/>
            <a:ext cx="180725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</a:rPr>
              <a:t>Следующая лекция</a:t>
            </a:r>
            <a:endParaRPr lang="en-US" sz="1193" dirty="0"/>
          </a:p>
        </p:txBody>
      </p:sp>
      <p:sp>
        <p:nvSpPr>
          <p:cNvPr id="23" name="Text 13"/>
          <p:cNvSpPr/>
          <p:nvPr/>
        </p:nvSpPr>
        <p:spPr>
          <a:xfrm>
            <a:off x="3500438" y="4268251"/>
            <a:ext cx="214312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F2937"/>
                </a:solidFill>
              </a:rPr>
              <a:t>Присоединяйтесь к нам на следующей лекции:</a:t>
            </a:r>
            <a:endParaRPr lang="en-US" sz="834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0438" y="4782210"/>
            <a:ext cx="142875" cy="1143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3714750" y="4760779"/>
            <a:ext cx="13851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F2937"/>
                </a:solidFill>
              </a:rPr>
              <a:t>Дата: 20 февраля 2026 г.</a:t>
            </a:r>
            <a:endParaRPr lang="en-US" sz="834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00438" y="5036511"/>
            <a:ext cx="142875" cy="11430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3500438" y="5015080"/>
            <a:ext cx="1910758" cy="338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F2937"/>
                </a:solidFill>
              </a:rPr>
              <a:t>Тема: Продвинутые паттерны CrewAI</a:t>
            </a:r>
            <a:endParaRPr lang="en-US" sz="834" dirty="0"/>
          </a:p>
        </p:txBody>
      </p:sp>
      <p:sp>
        <p:nvSpPr>
          <p:cNvPr id="28" name="Text 16"/>
          <p:cNvSpPr/>
          <p:nvPr/>
        </p:nvSpPr>
        <p:spPr>
          <a:xfrm>
            <a:off x="3840156" y="5375449"/>
            <a:ext cx="146368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CrewAI Lecture Series | © 2026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2026-02-13T09:58:45Z</dcterms:created>
  <dcterms:modified xsi:type="dcterms:W3CDTF">2026-02-13T09:58:45Z</dcterms:modified>
</cp:coreProperties>
</file>